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8c7c3646-7686-02b0-2fad-785b3f98015d}">
          <p14:sldIdLst>
            <p14:sldId id="256"/>
            <p14:sldId id="257"/>
            <p14:sldId id="258"/>
            <p14:sldId id="259"/>
            <p14:sldId id="260"/>
            <p14:sldId id="261"/>
            <p14:sldId id="262"/>
          </p14:sldIdLst>
        </p14:section>
        <p14:section name="Problem" id="{d2f62175-2100-491d-ac1e-7a63c1d67cb6}">
          <p14:sldIdLst>
            <p14:sldId id="263"/>
            <p14:sldId id="264"/>
            <p14:sldId id="265"/>
            <p14:sldId id="266"/>
          </p14:sldIdLst>
        </p14:section>
        <p14:section name="Results" id="{a19f5749-4f02-46bc-8616-dabd6c807c31}">
          <p14:sldIdLst>
            <p14:sldId id="267"/>
            <p14:sldId id="268"/>
            <p14:sldId id="269"/>
            <p14:sldId id="270"/>
            <p14:sldId id="271"/>
          </p14:sldIdLst>
        </p14:section>
        <p14:section name="Quantum" id="{c0f1d5a5-a968-2fdc-dfe9-970808e4ee32}">
          <p14:sldIdLst>
            <p14:sldId id="272"/>
            <p14:sldId id="273"/>
          </p14:sldIdLst>
        </p14:section>
        <p14:section name="Close" id="{27b3c442-9abc-8b89-a473-bdeb68a41f30}">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Other baskets</c:v>
                </c:pt>
              </c:strCache>
            </c:strRef>
          </c:tx>
          <c:spPr>
            <a:solidFill>
              <a:srgbClr val="CBD5E1"/>
            </a:solidFill>
            <a:ln>
              <a:noFill/>
            </a:ln>
            <a:effectLst/>
          </c:spPr>
          <c:marker>
            <c:symbol val="circle"/>
            <c:size val="11"/>
            <c:spPr>
              <a:solidFill>
                <a:srgbClr val="CBD5E1"/>
              </a:solidFill>
              <a:ln w="9525" cap="flat">
                <a:solidFill>
                  <a:srgbClr val="CBD5E1"/>
                </a:solidFill>
                <a:prstDash val="solid"/>
                <a:round/>
              </a:ln>
              <a:effectLst/>
            </c:spPr>
          </c:marker>
          <c:xVal>
            <c:numRef>
              <c:f>Sheet1!$A$2:$A$21</c:f>
              <c:numCache>
                <c:formatCode>General</c:formatCode>
                <c:ptCount val="20"/>
                <c:pt idx="0">
                  <c:v>3.051</c:v>
                </c:pt>
                <c:pt idx="1">
                  <c:v>2.887</c:v>
                </c:pt>
                <c:pt idx="2">
                  <c:v>3.182</c:v>
                </c:pt>
                <c:pt idx="3">
                  <c:v>3.384</c:v>
                </c:pt>
                <c:pt idx="4">
                  <c:v>2.711</c:v>
                </c:pt>
                <c:pt idx="5">
                  <c:v>3.023</c:v>
                </c:pt>
                <c:pt idx="6">
                  <c:v>2.823</c:v>
                </c:pt>
                <c:pt idx="7">
                  <c:v>3.532</c:v>
                </c:pt>
                <c:pt idx="8">
                  <c:v>3.864</c:v>
                </c:pt>
                <c:pt idx="9">
                  <c:v>3.367</c:v>
                </c:pt>
                <c:pt idx="10">
                  <c:v>3.51</c:v>
                </c:pt>
                <c:pt idx="11">
                  <c:v>3.362</c:v>
                </c:pt>
                <c:pt idx="12">
                  <c:v>3.799</c:v>
                </c:pt>
                <c:pt idx="13">
                  <c:v>3.234</c:v>
                </c:pt>
                <c:pt idx="14">
                  <c:v>4.07</c:v>
                </c:pt>
                <c:pt idx="15">
                  <c:v>3.642</c:v>
                </c:pt>
                <c:pt idx="16">
                  <c:v>3.583</c:v>
                </c:pt>
                <c:pt idx="17">
                  <c:v>4.302</c:v>
                </c:pt>
                <c:pt idx="18">
                  <c:v>3.873</c:v>
                </c:pt>
                <c:pt idx="19">
                  <c:v>4.163</c:v>
                </c:pt>
              </c:numCache>
            </c:numRef>
          </c:xVal>
          <c:yVal>
            <c:numRef>
              <c:f>Sheet1!$B$2:$B$21</c:f>
              <c:numCache>
                <c:formatCode>General</c:formatCode>
                <c:ptCount val="20"/>
                <c:pt idx="0">
                  <c:v/>
                </c:pt>
                <c:pt idx="1">
                  <c:v>0.946</c:v>
                </c:pt>
                <c:pt idx="2">
                  <c:v>1.017</c:v>
                </c:pt>
                <c:pt idx="3">
                  <c:v>1.009</c:v>
                </c:pt>
                <c:pt idx="4">
                  <c:v/>
                </c:pt>
                <c:pt idx="5">
                  <c:v>0.804</c:v>
                </c:pt>
                <c:pt idx="6">
                  <c:v>0.73</c:v>
                </c:pt>
                <c:pt idx="7">
                  <c:v>1.007</c:v>
                </c:pt>
                <c:pt idx="8">
                  <c:v>1.08</c:v>
                </c:pt>
                <c:pt idx="9">
                  <c:v>0.793</c:v>
                </c:pt>
                <c:pt idx="10">
                  <c:v>0.737</c:v>
                </c:pt>
                <c:pt idx="11">
                  <c:v>0.524</c:v>
                </c:pt>
                <c:pt idx="12">
                  <c:v>0.727</c:v>
                </c:pt>
                <c:pt idx="13">
                  <c:v>0.451</c:v>
                </c:pt>
                <c:pt idx="14">
                  <c:v>0.8</c:v>
                </c:pt>
                <c:pt idx="15">
                  <c:v>0.514</c:v>
                </c:pt>
                <c:pt idx="16">
                  <c:v>0.522</c:v>
                </c:pt>
                <c:pt idx="17">
                  <c:v>0.798</c:v>
                </c:pt>
                <c:pt idx="18">
                  <c:v>0.512</c:v>
                </c:pt>
                <c:pt idx="19">
                  <c:v>0.585</c:v>
                </c:pt>
              </c:numCache>
            </c:numRef>
          </c:yVal>
          <c:smooth val="0"/>
        </c:ser>
        <c:ser>
          <c:idx val="1"/>
          <c:order val="1"/>
          <c:tx>
            <c:strRef>
              <c:f>Sheet1!$C$1</c:f>
              <c:strCache>
                <c:ptCount val="1"/>
                <c:pt idx="0">
                  <c:v>Today: staples + health + utilities</c:v>
                </c:pt>
              </c:strCache>
            </c:strRef>
          </c:tx>
          <c:spPr>
            <a:solidFill>
              <a:srgbClr val="2563EB"/>
            </a:solidFill>
            <a:ln>
              <a:noFill/>
            </a:ln>
            <a:effectLst/>
          </c:spPr>
          <c:marker>
            <c:symbol val="circle"/>
            <c:size val="11"/>
            <c:spPr>
              <a:solidFill>
                <a:srgbClr val="2563EB"/>
              </a:solidFill>
              <a:ln w="9525" cap="flat">
                <a:solidFill>
                  <a:srgbClr val="2563EB"/>
                </a:solidFill>
                <a:prstDash val="solid"/>
                <a:round/>
              </a:ln>
              <a:effectLst/>
            </c:spPr>
          </c:marker>
          <c:xVal>
            <c:numRef>
              <c:f>Sheet1!$A$2:$A$21</c:f>
              <c:numCache>
                <c:formatCode>General</c:formatCode>
                <c:ptCount val="20"/>
                <c:pt idx="0">
                  <c:v>3.051</c:v>
                </c:pt>
                <c:pt idx="1">
                  <c:v>2.887</c:v>
                </c:pt>
                <c:pt idx="2">
                  <c:v>3.182</c:v>
                </c:pt>
                <c:pt idx="3">
                  <c:v>3.384</c:v>
                </c:pt>
                <c:pt idx="4">
                  <c:v>2.711</c:v>
                </c:pt>
                <c:pt idx="5">
                  <c:v>3.023</c:v>
                </c:pt>
                <c:pt idx="6">
                  <c:v>2.823</c:v>
                </c:pt>
                <c:pt idx="7">
                  <c:v>3.532</c:v>
                </c:pt>
                <c:pt idx="8">
                  <c:v>3.864</c:v>
                </c:pt>
                <c:pt idx="9">
                  <c:v>3.367</c:v>
                </c:pt>
                <c:pt idx="10">
                  <c:v>3.51</c:v>
                </c:pt>
                <c:pt idx="11">
                  <c:v>3.362</c:v>
                </c:pt>
                <c:pt idx="12">
                  <c:v>3.799</c:v>
                </c:pt>
                <c:pt idx="13">
                  <c:v>3.234</c:v>
                </c:pt>
                <c:pt idx="14">
                  <c:v>4.07</c:v>
                </c:pt>
                <c:pt idx="15">
                  <c:v>3.642</c:v>
                </c:pt>
                <c:pt idx="16">
                  <c:v>3.583</c:v>
                </c:pt>
                <c:pt idx="17">
                  <c:v>4.302</c:v>
                </c:pt>
                <c:pt idx="18">
                  <c:v>3.873</c:v>
                </c:pt>
                <c:pt idx="19">
                  <c:v>4.163</c:v>
                </c:pt>
              </c:numCache>
            </c:numRef>
          </c:xVal>
          <c:yVal>
            <c:numRef>
              <c:f>Sheet1!$C$2:$C$21</c:f>
              <c:numCache>
                <c:formatCode>General</c:formatCode>
                <c:ptCount val="20"/>
                <c:pt idx="0">
                  <c:v/>
                </c:pt>
                <c:pt idx="1">
                  <c:v/>
                </c:pt>
                <c:pt idx="2">
                  <c:v/>
                </c:pt>
                <c:pt idx="3">
                  <c:v/>
                </c:pt>
                <c:pt idx="4">
                  <c:v>0.732</c:v>
                </c:pt>
                <c:pt idx="5">
                  <c:v/>
                </c:pt>
                <c:pt idx="6">
                  <c:v/>
                </c:pt>
                <c:pt idx="7">
                  <c:v/>
                </c:pt>
                <c:pt idx="8">
                  <c:v/>
                </c:pt>
                <c:pt idx="9">
                  <c:v/>
                </c:pt>
                <c:pt idx="10">
                  <c:v/>
                </c:pt>
                <c:pt idx="11">
                  <c:v/>
                </c:pt>
                <c:pt idx="12">
                  <c:v/>
                </c:pt>
                <c:pt idx="13">
                  <c:v/>
                </c:pt>
                <c:pt idx="14">
                  <c:v/>
                </c:pt>
                <c:pt idx="15">
                  <c:v/>
                </c:pt>
                <c:pt idx="16">
                  <c:v/>
                </c:pt>
                <c:pt idx="17">
                  <c:v/>
                </c:pt>
                <c:pt idx="18">
                  <c:v/>
                </c:pt>
                <c:pt idx="19">
                  <c:v/>
                </c:pt>
              </c:numCache>
            </c:numRef>
          </c:yVal>
          <c:smooth val="0"/>
        </c:ser>
        <c:ser>
          <c:idx val="2"/>
          <c:order val="2"/>
          <c:tx>
            <c:strRef>
              <c:f>Sheet1!$D$1</c:f>
              <c:strCache>
                <c:ptCount val="1"/>
                <c:pt idx="0">
                  <c:v>Proposal: tech + health + utilities</c:v>
                </c:pt>
              </c:strCache>
            </c:strRef>
          </c:tx>
          <c:spPr>
            <a:solidFill>
              <a:srgbClr val="EA580C"/>
            </a:solidFill>
            <a:ln>
              <a:noFill/>
            </a:ln>
            <a:effectLst/>
          </c:spPr>
          <c:marker>
            <c:symbol val="circle"/>
            <c:size val="11"/>
            <c:spPr>
              <a:solidFill>
                <a:srgbClr val="EA580C"/>
              </a:solidFill>
              <a:ln w="9525" cap="flat">
                <a:solidFill>
                  <a:srgbClr val="EA580C"/>
                </a:solidFill>
                <a:prstDash val="solid"/>
                <a:round/>
              </a:ln>
              <a:effectLst/>
            </c:spPr>
          </c:marker>
          <c:xVal>
            <c:numRef>
              <c:f>Sheet1!$A$2:$A$21</c:f>
              <c:numCache>
                <c:formatCode>General</c:formatCode>
                <c:ptCount val="20"/>
                <c:pt idx="0">
                  <c:v>3.051</c:v>
                </c:pt>
                <c:pt idx="1">
                  <c:v>2.887</c:v>
                </c:pt>
                <c:pt idx="2">
                  <c:v>3.182</c:v>
                </c:pt>
                <c:pt idx="3">
                  <c:v>3.384</c:v>
                </c:pt>
                <c:pt idx="4">
                  <c:v>2.711</c:v>
                </c:pt>
                <c:pt idx="5">
                  <c:v>3.023</c:v>
                </c:pt>
                <c:pt idx="6">
                  <c:v>2.823</c:v>
                </c:pt>
                <c:pt idx="7">
                  <c:v>3.532</c:v>
                </c:pt>
                <c:pt idx="8">
                  <c:v>3.864</c:v>
                </c:pt>
                <c:pt idx="9">
                  <c:v>3.367</c:v>
                </c:pt>
                <c:pt idx="10">
                  <c:v>3.51</c:v>
                </c:pt>
                <c:pt idx="11">
                  <c:v>3.362</c:v>
                </c:pt>
                <c:pt idx="12">
                  <c:v>3.799</c:v>
                </c:pt>
                <c:pt idx="13">
                  <c:v>3.234</c:v>
                </c:pt>
                <c:pt idx="14">
                  <c:v>4.07</c:v>
                </c:pt>
                <c:pt idx="15">
                  <c:v>3.642</c:v>
                </c:pt>
                <c:pt idx="16">
                  <c:v>3.583</c:v>
                </c:pt>
                <c:pt idx="17">
                  <c:v>4.302</c:v>
                </c:pt>
                <c:pt idx="18">
                  <c:v>3.873</c:v>
                </c:pt>
                <c:pt idx="19">
                  <c:v>4.163</c:v>
                </c:pt>
              </c:numCache>
            </c:numRef>
          </c:xVal>
          <c:yVal>
            <c:numRef>
              <c:f>Sheet1!$D$2:$D$21</c:f>
              <c:numCache>
                <c:formatCode>General</c:formatCode>
                <c:ptCount val="20"/>
                <c:pt idx="0">
                  <c:v>1.019</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numCache>
            </c:numRef>
          </c:yVal>
          <c:smooth val="0"/>
        </c:ser>
        <c:dLbls>
          <c:numFmt formatCode="General" sourceLinked="0"/>
          <c:txPr>
            <a:bodyPr/>
            <a:lstStyle/>
            <a:p>
              <a:pPr>
                <a:defRPr b="0" i="0" strike="noStrike" sz="1200" u="none">
                  <a:solidFill>
                    <a:srgbClr val="334155"/>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4.4"/>
          <c:min val="2.6"/>
        </c:scaling>
        <c:delete val="0"/>
        <c:axPos val="b"/>
        <c:title>
          <c:tx>
            <c:rich>
              <a:bodyPr/>
              <a:lstStyle/>
              <a:p>
                <a:pPr>
                  <a:defRPr sz="1200" b="0" i="0" u="none" strike="noStrike">
                    <a:solidFill>
                      <a:srgbClr val="334155"/>
                    </a:solidFill>
                    <a:latin typeface="Arial"/>
                  </a:defRPr>
                </a:pPr>
                <a:r>
                  <a:rPr sz="1200" b="0" i="0" u="none" strike="noStrike">
                    <a:solidFill>
                      <a:srgbClr val="334155"/>
                    </a:solidFill>
                    <a:latin typeface="Arial"/>
                  </a:rPr>
                  <a:t>Risk: monthly volatility (%)</a:t>
                </a:r>
              </a:p>
            </c:rich>
          </c:tx>
          <c:layout/>
          <c:overlay val="0"/>
        </c:title>
        <c:numFmt formatCode="0.0" sourceLinked="1"/>
        <c:majorTickMark val="none"/>
        <c:minorTickMark val="none"/>
        <c:tickLblPos val="nextTo"/>
        <c:spPr>
          <a:ln w="12700" cap="flat">
            <a:solidFill>
              <a:srgbClr val="E2E8F0"/>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valAx>
      <c:valAx>
        <c:axId val="2094734552"/>
        <c:scaling>
          <c:orientation val="minMax"/>
          <c:max val="1.15"/>
          <c:min val="0.4"/>
        </c:scaling>
        <c:delete val="0"/>
        <c:axPos val="l"/>
        <c:majorGridlines>
          <c:spPr>
            <a:ln w="9525" cap="flat">
              <a:solidFill>
                <a:srgbClr val="E2E8F0"/>
              </a:solidFill>
              <a:prstDash val="solid"/>
              <a:round/>
            </a:ln>
          </c:spPr>
        </c:majorGridlines>
        <c:title>
          <c:tx>
            <c:rich>
              <a:bodyPr/>
              <a:lstStyle/>
              <a:p>
                <a:pPr>
                  <a:defRPr sz="1200" b="0" i="0" u="none" strike="noStrike">
                    <a:solidFill>
                      <a:srgbClr val="334155"/>
                    </a:solidFill>
                    <a:latin typeface="Arial"/>
                  </a:defRPr>
                </a:pPr>
                <a:r>
                  <a:rPr sz="1200" b="0" i="0" u="none" strike="noStrike">
                    <a:solidFill>
                      <a:srgbClr val="334155"/>
                    </a:solidFill>
                    <a:latin typeface="Arial"/>
                  </a:rPr>
                  <a:t>Average monthly return (%)</a:t>
                </a:r>
              </a:p>
            </c:rich>
          </c:tx>
          <c:layout/>
          <c:overlay val="0"/>
        </c:title>
        <c:numFmt formatCode="0.0" sourceLinked="0"/>
        <c:majorTickMark val="none"/>
        <c:minorTickMark val="none"/>
        <c:tickLblPos val="nextTo"/>
        <c:spPr>
          <a:ln w="12700" cap="flat">
            <a:noFill/>
            <a:prstDash val="solid"/>
            <a:round/>
          </a:ln>
        </c:spPr>
        <c:txPr>
          <a:bodyPr/>
          <a:lstStyle/>
          <a:p>
            <a:pPr>
              <a:defRPr sz="1200" b="0" i="0" u="none" strike="noStrike">
                <a:solidFill>
                  <a:srgbClr val="334155"/>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200">
              <a:solidFill>
                <a:srgbClr val="334155"/>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A192F"/>
                </a:solidFill>
                <a:latin typeface="+mn-lt"/>
              </a:defRPr>
            </a:pPr>
            <a:r>
              <a:rPr sz="1600" b="0" i="0" u="none" strike="noStrike">
                <a:solidFill>
                  <a:srgbClr val="0A192F"/>
                </a:solidFill>
                <a:latin typeface="+mn-lt"/>
              </a:rPr>
              <a:t>Tech basket better in 89% of 500 replays</a:t>
            </a:r>
          </a:p>
        </c:rich>
      </c:tx>
      <c:layout/>
      <c:overlay val="0"/>
    </c:title>
    <c:autoTitleDeleted val="0"/>
    <c:plotArea>
      <c:layout/>
      <c:barChart>
        <c:barDir val="col"/>
        <c:grouping val="stacked"/>
        <c:varyColors val="0"/>
        <c:ser>
          <c:idx val="0"/>
          <c:order val="0"/>
          <c:tx>
            <c:strRef>
              <c:f>Sheet1!$B$1</c:f>
              <c:strCache>
                <c:ptCount val="1"/>
                <c:pt idx="0">
                  <c:v>Tech basket better</c:v>
                </c:pt>
              </c:strCache>
            </c:strRef>
          </c:tx>
          <c:spPr>
            <a:solidFill>
              <a:srgbClr val="EA580C"/>
            </a:solidFill>
            <a:effectLst/>
          </c:spPr>
          <c:invertIfNegative val="0"/>
          <c:dLbls>
            <c:numFmt formatCode="#,##0" sourceLinked="0"/>
            <c:txPr>
              <a:bodyPr/>
              <a:lstStyle/>
              <a:p>
                <a:pPr>
                  <a:defRPr b="0" i="0" strike="noStrike" sz="1200" u="none">
                    <a:solidFill>
                      <a:srgbClr val="334155"/>
                    </a:solidFill>
                    <a:latin typeface="+mn-lt"/>
                  </a:defRPr>
                </a:pPr>
              </a:p>
            </c:txPr>
            <c:showLegendKey val="0"/>
            <c:showVal val="0"/>
            <c:showCatName val="0"/>
            <c:showSerName val="0"/>
            <c:showPercent val="0"/>
            <c:showBubbleSize val="0"/>
            <c:showLeaderLines val="0"/>
          </c:dLbls>
          <c:cat>
            <c:multiLvlStrRef>
              <c:f>Sheet1!$A$2:$A$25</c:f>
              <c:multiLvlStrCache>
                <c:ptCount val="24"/>
                <c:lvl>
                  <c:pt idx="0">
                    <c:v>-30</c:v>
                  </c:pt>
                  <c:pt idx="1">
                    <c:v>-26</c:v>
                  </c:pt>
                  <c:pt idx="2">
                    <c:v>-22</c:v>
                  </c:pt>
                  <c:pt idx="3">
                    <c:v>-18</c:v>
                  </c:pt>
                  <c:pt idx="4">
                    <c:v>-14</c:v>
                  </c:pt>
                  <c:pt idx="5">
                    <c:v>-10</c:v>
                  </c:pt>
                  <c:pt idx="6">
                    <c:v>-6</c:v>
                  </c:pt>
                  <c:pt idx="7">
                    <c:v>-2</c:v>
                  </c:pt>
                  <c:pt idx="8">
                    <c:v>2</c:v>
                  </c:pt>
                  <c:pt idx="9">
                    <c:v>6</c:v>
                  </c:pt>
                  <c:pt idx="10">
                    <c:v>10</c:v>
                  </c:pt>
                  <c:pt idx="11">
                    <c:v>14</c:v>
                  </c:pt>
                  <c:pt idx="12">
                    <c:v>18</c:v>
                  </c:pt>
                  <c:pt idx="13">
                    <c:v>22</c:v>
                  </c:pt>
                  <c:pt idx="14">
                    <c:v>26</c:v>
                  </c:pt>
                  <c:pt idx="15">
                    <c:v>30</c:v>
                  </c:pt>
                  <c:pt idx="16">
                    <c:v>34</c:v>
                  </c:pt>
                  <c:pt idx="17">
                    <c:v>38</c:v>
                  </c:pt>
                  <c:pt idx="18">
                    <c:v>42</c:v>
                  </c:pt>
                  <c:pt idx="19">
                    <c:v>46</c:v>
                  </c:pt>
                  <c:pt idx="20">
                    <c:v>50</c:v>
                  </c:pt>
                  <c:pt idx="21">
                    <c:v>54</c:v>
                  </c:pt>
                  <c:pt idx="22">
                    <c:v>58</c:v>
                  </c:pt>
                  <c:pt idx="23">
                    <c:v>62</c:v>
                  </c:pt>
                </c:lvl>
              </c:multiLvlStrCache>
            </c:multiLvlStrRef>
          </c:cat>
          <c:val>
            <c:numRef>
              <c:f>Sheet1!$B$2:$B$25</c:f>
              <c:numCache>
                <c:formatCode>General</c:formatCode>
                <c:ptCount val="24"/>
                <c:pt idx="0">
                  <c:v>0</c:v>
                </c:pt>
                <c:pt idx="1">
                  <c:v>0</c:v>
                </c:pt>
                <c:pt idx="2">
                  <c:v>0</c:v>
                </c:pt>
                <c:pt idx="3">
                  <c:v>0</c:v>
                </c:pt>
                <c:pt idx="4">
                  <c:v>0</c:v>
                </c:pt>
                <c:pt idx="5">
                  <c:v>0</c:v>
                </c:pt>
                <c:pt idx="6">
                  <c:v>0</c:v>
                </c:pt>
                <c:pt idx="7">
                  <c:v>0</c:v>
                </c:pt>
                <c:pt idx="8">
                  <c:v>30</c:v>
                </c:pt>
                <c:pt idx="9">
                  <c:v>27</c:v>
                </c:pt>
                <c:pt idx="10">
                  <c:v>43</c:v>
                </c:pt>
                <c:pt idx="11">
                  <c:v>49</c:v>
                </c:pt>
                <c:pt idx="12">
                  <c:v>55</c:v>
                </c:pt>
                <c:pt idx="13">
                  <c:v>59</c:v>
                </c:pt>
                <c:pt idx="14">
                  <c:v>39</c:v>
                </c:pt>
                <c:pt idx="15">
                  <c:v>41</c:v>
                </c:pt>
                <c:pt idx="16">
                  <c:v>33</c:v>
                </c:pt>
                <c:pt idx="17">
                  <c:v>21</c:v>
                </c:pt>
                <c:pt idx="18">
                  <c:v>18</c:v>
                </c:pt>
                <c:pt idx="19">
                  <c:v>10</c:v>
                </c:pt>
                <c:pt idx="20">
                  <c:v>8</c:v>
                </c:pt>
                <c:pt idx="21">
                  <c:v>6</c:v>
                </c:pt>
                <c:pt idx="22">
                  <c:v>3</c:v>
                </c:pt>
                <c:pt idx="23">
                  <c:v>1</c:v>
                </c:pt>
              </c:numCache>
            </c:numRef>
          </c:val>
        </c:ser>
        <c:ser>
          <c:idx val="1"/>
          <c:order val="1"/>
          <c:tx>
            <c:strRef>
              <c:f>Sheet1!$C$1</c:f>
              <c:strCache>
                <c:ptCount val="1"/>
                <c:pt idx="0">
                  <c:v>Today's basket better</c:v>
                </c:pt>
              </c:strCache>
            </c:strRef>
          </c:tx>
          <c:spPr>
            <a:solidFill>
              <a:srgbClr val="2563EB"/>
            </a:solidFill>
            <a:effectLst/>
          </c:spPr>
          <c:invertIfNegative val="0"/>
          <c:dLbls>
            <c:numFmt formatCode="#,##0" sourceLinked="0"/>
            <c:txPr>
              <a:bodyPr/>
              <a:lstStyle/>
              <a:p>
                <a:pPr>
                  <a:defRPr b="0" i="0" strike="noStrike" sz="1200" u="none">
                    <a:solidFill>
                      <a:srgbClr val="334155"/>
                    </a:solidFill>
                    <a:latin typeface="+mn-lt"/>
                  </a:defRPr>
                </a:pPr>
              </a:p>
            </c:txPr>
            <c:showLegendKey val="0"/>
            <c:showVal val="0"/>
            <c:showCatName val="0"/>
            <c:showSerName val="0"/>
            <c:showPercent val="0"/>
            <c:showBubbleSize val="0"/>
            <c:showLeaderLines val="0"/>
          </c:dLbls>
          <c:cat>
            <c:multiLvlStrRef>
              <c:f>Sheet1!$A$2:$A$25</c:f>
              <c:multiLvlStrCache>
                <c:ptCount val="24"/>
                <c:lvl>
                  <c:pt idx="0">
                    <c:v>-30</c:v>
                  </c:pt>
                  <c:pt idx="1">
                    <c:v>-26</c:v>
                  </c:pt>
                  <c:pt idx="2">
                    <c:v>-22</c:v>
                  </c:pt>
                  <c:pt idx="3">
                    <c:v>-18</c:v>
                  </c:pt>
                  <c:pt idx="4">
                    <c:v>-14</c:v>
                  </c:pt>
                  <c:pt idx="5">
                    <c:v>-10</c:v>
                  </c:pt>
                  <c:pt idx="6">
                    <c:v>-6</c:v>
                  </c:pt>
                  <c:pt idx="7">
                    <c:v>-2</c:v>
                  </c:pt>
                  <c:pt idx="8">
                    <c:v>2</c:v>
                  </c:pt>
                  <c:pt idx="9">
                    <c:v>6</c:v>
                  </c:pt>
                  <c:pt idx="10">
                    <c:v>10</c:v>
                  </c:pt>
                  <c:pt idx="11">
                    <c:v>14</c:v>
                  </c:pt>
                  <c:pt idx="12">
                    <c:v>18</c:v>
                  </c:pt>
                  <c:pt idx="13">
                    <c:v>22</c:v>
                  </c:pt>
                  <c:pt idx="14">
                    <c:v>26</c:v>
                  </c:pt>
                  <c:pt idx="15">
                    <c:v>30</c:v>
                  </c:pt>
                  <c:pt idx="16">
                    <c:v>34</c:v>
                  </c:pt>
                  <c:pt idx="17">
                    <c:v>38</c:v>
                  </c:pt>
                  <c:pt idx="18">
                    <c:v>42</c:v>
                  </c:pt>
                  <c:pt idx="19">
                    <c:v>46</c:v>
                  </c:pt>
                  <c:pt idx="20">
                    <c:v>50</c:v>
                  </c:pt>
                  <c:pt idx="21">
                    <c:v>54</c:v>
                  </c:pt>
                  <c:pt idx="22">
                    <c:v>58</c:v>
                  </c:pt>
                  <c:pt idx="23">
                    <c:v>62</c:v>
                  </c:pt>
                </c:lvl>
              </c:multiLvlStrCache>
            </c:multiLvlStrRef>
          </c:cat>
          <c:val>
            <c:numRef>
              <c:f>Sheet1!$C$2:$C$25</c:f>
              <c:numCache>
                <c:formatCode>General</c:formatCode>
                <c:ptCount val="24"/>
                <c:pt idx="0">
                  <c:v>2</c:v>
                </c:pt>
                <c:pt idx="1">
                  <c:v>1</c:v>
                </c:pt>
                <c:pt idx="2">
                  <c:v>2</c:v>
                </c:pt>
                <c:pt idx="3">
                  <c:v>7</c:v>
                </c:pt>
                <c:pt idx="4">
                  <c:v>8</c:v>
                </c:pt>
                <c:pt idx="5">
                  <c:v>13</c:v>
                </c:pt>
                <c:pt idx="6">
                  <c:v>11</c:v>
                </c:pt>
                <c:pt idx="7">
                  <c:v>13</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ser>
        <c:dLbls>
          <c:numFmt formatCode="#,##0" sourceLinked="0"/>
          <c:txPr>
            <a:bodyPr/>
            <a:lstStyle/>
            <a:p>
              <a:pPr>
                <a:defRPr b="0" i="0" strike="noStrike" sz="1200" u="none">
                  <a:solidFill>
                    <a:srgbClr val="334155"/>
                  </a:solidFill>
                  <a:latin typeface="+mn-lt"/>
                </a:defRPr>
              </a:pPr>
            </a:p>
          </c:txPr>
          <c:showLegendKey val="0"/>
          <c:showVal val="0"/>
          <c:showCatName val="0"/>
          <c:showSerName val="0"/>
          <c:showPercent val="0"/>
          <c:showBubbleSize val="0"/>
          <c:showLeaderLines val="0"/>
        </c:dLbls>
        <c:gapWidth val="15"/>
        <c:overlap val="100"/>
        <c:axId val="2094734554"/>
        <c:axId val="2094734552"/>
        <c:axId val="2094734556"/>
      </c:barChart>
      <c:catAx>
        <c:axId val="2094734554"/>
        <c:scaling>
          <c:orientation val="minMax"/>
        </c:scaling>
        <c:delete val="0"/>
        <c:axPos val="b"/>
        <c:title>
          <c:tx>
            <c:rich>
              <a:bodyPr/>
              <a:lstStyle/>
              <a:p>
                <a:pPr>
                  <a:defRPr sz="1200" b="0" i="0" u="none" strike="noStrike">
                    <a:solidFill>
                      <a:srgbClr val="334155"/>
                    </a:solidFill>
                    <a:latin typeface="Arial"/>
                  </a:defRPr>
                </a:pPr>
                <a:r>
                  <a:rPr sz="1200" b="0" i="0" u="none" strike="noStrike">
                    <a:solidFill>
                      <a:srgbClr val="334155"/>
                    </a:solidFill>
                    <a:latin typeface="Arial"/>
                  </a:rPr>
                  <a:t>How much better the tech basket scores (bp a month)</a:t>
                </a:r>
              </a:p>
            </c:rich>
          </c:tx>
          <c:layout/>
          <c:overlay val="0"/>
        </c:title>
        <c:numFmt formatCode="General" sourceLinked="1"/>
        <c:majorTickMark val="out"/>
        <c:minorTickMark val="none"/>
        <c:tickLblPos val="low"/>
        <c:spPr>
          <a:ln w="12700" cap="flat">
            <a:solidFill>
              <a:srgbClr val="E2E8F0"/>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2E8F0"/>
              </a:solidFill>
              <a:prstDash val="solid"/>
              <a:round/>
            </a:ln>
          </c:spPr>
        </c:majorGridlines>
        <c:title>
          <c:tx>
            <c:rich>
              <a:bodyPr/>
              <a:lstStyle/>
              <a:p>
                <a:pPr>
                  <a:defRPr sz="1200" b="0" i="0" u="none" strike="noStrike">
                    <a:solidFill>
                      <a:srgbClr val="334155"/>
                    </a:solidFill>
                    <a:latin typeface="Arial"/>
                  </a:defRPr>
                </a:pPr>
                <a:r>
                  <a:rPr sz="1200" b="0" i="0" u="none" strike="noStrike">
                    <a:solidFill>
                      <a:srgbClr val="334155"/>
                    </a:solidFill>
                    <a:latin typeface="Arial"/>
                  </a:rPr>
                  <a:t>Replays (of 500)</a:t>
                </a:r>
              </a:p>
            </c:rich>
          </c:tx>
          <c:layout/>
          <c:overlay val="0"/>
        </c:title>
        <c:numFmt formatCode="General" sourceLinked="0"/>
        <c:majorTickMark val="out"/>
        <c:minorTickMark val="none"/>
        <c:tickLblPos val="nextTo"/>
        <c:spPr>
          <a:ln w="12700" cap="flat">
            <a:noFill/>
            <a:prstDash val="solid"/>
            <a:round/>
          </a:ln>
        </c:spPr>
        <c:txPr>
          <a:bodyPr/>
          <a:lstStyle/>
          <a:p>
            <a:pPr>
              <a:defRPr sz="1200" b="0" i="0" u="none" strike="noStrike">
                <a:solidFill>
                  <a:srgbClr val="33415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A192F"/>
                </a:solidFill>
                <a:latin typeface="+mn-lt"/>
              </a:defRPr>
            </a:pPr>
            <a:r>
              <a:rPr sz="1600" b="0" i="0" u="none" strike="noStrike">
                <a:solidFill>
                  <a:srgbClr val="0A192F"/>
                </a:solidFill>
                <a:latin typeface="+mn-lt"/>
              </a:rPr>
              <a:t>Anna's loss months by test setting</a:t>
            </a:r>
          </a:p>
        </c:rich>
      </c:tx>
      <c:layout/>
      <c:overlay val="0"/>
    </c:title>
    <c:autoTitleDeleted val="0"/>
    <c:plotArea>
      <c:layout/>
      <c:barChart>
        <c:barDir val="col"/>
        <c:grouping val="clustered"/>
        <c:varyColors val="0"/>
        <c:ser>
          <c:idx val="0"/>
          <c:order val="0"/>
          <c:tx>
            <c:strRef>
              <c:f>Sheet1!$B$1</c:f>
              <c:strCache>
                <c:ptCount val="1"/>
                <c:pt idx="0">
                  <c:v>Today's basket</c:v>
                </c:pt>
              </c:strCache>
            </c:strRef>
          </c:tx>
          <c:spPr>
            <a:solidFill>
              <a:srgbClr val="2563EB"/>
            </a:solidFill>
            <a:effectLst/>
          </c:spPr>
          <c:invertIfNegative val="0"/>
          <c:dLbls>
            <c:numFmt formatCode="#,##0" sourceLinked="0"/>
            <c:txPr>
              <a:bodyPr/>
              <a:lstStyle/>
              <a:p>
                <a:pPr>
                  <a:defRPr b="0" i="0" strike="noStrike" sz="1200" u="none">
                    <a:solidFill>
                      <a:srgbClr val="334155"/>
                    </a:solidFill>
                    <a:latin typeface="+mn-lt"/>
                  </a:defRPr>
                </a:pPr>
              </a:p>
            </c:txPr>
            <c:dLblPos val="outEnd"/>
            <c:showLegendKey val="0"/>
            <c:showVal val="1"/>
            <c:showCatName val="0"/>
            <c:showSerName val="0"/>
            <c:showPercent val="0"/>
            <c:showBubbleSize val="0"/>
            <c:showLeaderLines val="0"/>
          </c:dLbls>
          <c:cat>
            <c:multiLvlStrRef>
              <c:f>Sheet1!$A$2:$A$5</c:f>
              <c:multiLvlStrCache>
                <c:ptCount val="4"/>
                <c:lvl>
                  <c:pt idx="0">
                    <c:v>2015–19 data</c:v>
                  </c:pt>
                  <c:pt idx="1">
                    <c:v>Tech −0.5 pt</c:v>
                  </c:pt>
                  <c:pt idx="2">
                    <c:v>Sectors move together</c:v>
                  </c:pt>
                  <c:pt idx="3">
                    <c:v>Real 2020–24</c:v>
                  </c:pt>
                </c:lvl>
              </c:multiLvlStrCache>
            </c:multiLvlStrRef>
          </c:cat>
          <c:val>
            <c:numRef>
              <c:f>Sheet1!$B$2:$B$5</c:f>
              <c:numCache>
                <c:formatCode>General</c:formatCode>
                <c:ptCount val="4"/>
                <c:pt idx="0">
                  <c:v>5</c:v>
                </c:pt>
                <c:pt idx="1">
                  <c:v>5</c:v>
                </c:pt>
                <c:pt idx="2">
                  <c:v>5</c:v>
                </c:pt>
                <c:pt idx="3">
                  <c:v>12</c:v>
                </c:pt>
              </c:numCache>
            </c:numRef>
          </c:val>
        </c:ser>
        <c:ser>
          <c:idx val="1"/>
          <c:order val="1"/>
          <c:tx>
            <c:strRef>
              <c:f>Sheet1!$C$1</c:f>
              <c:strCache>
                <c:ptCount val="1"/>
                <c:pt idx="0">
                  <c:v>Tech basket</c:v>
                </c:pt>
              </c:strCache>
            </c:strRef>
          </c:tx>
          <c:spPr>
            <a:solidFill>
              <a:srgbClr val="EA580C"/>
            </a:solidFill>
            <a:effectLst/>
          </c:spPr>
          <c:invertIfNegative val="0"/>
          <c:dLbls>
            <c:numFmt formatCode="#,##0" sourceLinked="0"/>
            <c:txPr>
              <a:bodyPr/>
              <a:lstStyle/>
              <a:p>
                <a:pPr>
                  <a:defRPr b="0" i="0" strike="noStrike" sz="1200" u="none">
                    <a:solidFill>
                      <a:srgbClr val="334155"/>
                    </a:solidFill>
                    <a:latin typeface="+mn-lt"/>
                  </a:defRPr>
                </a:pPr>
              </a:p>
            </c:txPr>
            <c:dLblPos val="outEnd"/>
            <c:showLegendKey val="0"/>
            <c:showVal val="1"/>
            <c:showCatName val="0"/>
            <c:showSerName val="0"/>
            <c:showPercent val="0"/>
            <c:showBubbleSize val="0"/>
            <c:showLeaderLines val="0"/>
          </c:dLbls>
          <c:cat>
            <c:multiLvlStrRef>
              <c:f>Sheet1!$A$2:$A$5</c:f>
              <c:multiLvlStrCache>
                <c:ptCount val="4"/>
                <c:lvl>
                  <c:pt idx="0">
                    <c:v>2015–19 data</c:v>
                  </c:pt>
                  <c:pt idx="1">
                    <c:v>Tech −0.5 pt</c:v>
                  </c:pt>
                  <c:pt idx="2">
                    <c:v>Sectors move together</c:v>
                  </c:pt>
                  <c:pt idx="3">
                    <c:v>Real 2020–24</c:v>
                  </c:pt>
                </c:lvl>
              </c:multiLvlStrCache>
            </c:multiLvlStrRef>
          </c:cat>
          <c:val>
            <c:numRef>
              <c:f>Sheet1!$C$2:$C$5</c:f>
              <c:numCache>
                <c:formatCode>General</c:formatCode>
                <c:ptCount val="4"/>
                <c:pt idx="0">
                  <c:v>6</c:v>
                </c:pt>
                <c:pt idx="1">
                  <c:v>7</c:v>
                </c:pt>
                <c:pt idx="2">
                  <c:v>9</c:v>
                </c:pt>
                <c:pt idx="3">
                  <c:v>12</c:v>
                </c:pt>
              </c:numCache>
            </c:numRef>
          </c:val>
        </c:ser>
        <c:dLbls>
          <c:numFmt formatCode="#,##0" sourceLinked="0"/>
          <c:txPr>
            <a:bodyPr/>
            <a:lstStyle/>
            <a:p>
              <a:pPr>
                <a:defRPr b="0" i="0" strike="noStrike" sz="1200" u="none">
                  <a:solidFill>
                    <a:srgbClr val="334155"/>
                  </a:solidFill>
                  <a:latin typeface="+mn-lt"/>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2"/>
          <c:order val="2"/>
          <c:tx>
            <c:strRef>
              <c:f>Sheet1!$D$1</c:f>
              <c:strCache>
                <c:ptCount val="1"/>
                <c:pt idx="0">
                  <c:v>Limit: at most 6 of 60</c:v>
                </c:pt>
              </c:strCache>
            </c:strRef>
          </c:tx>
          <c:spPr>
            <a:solidFill>
              <a:srgbClr val="DC2626"/>
            </a:solidFill>
            <a:ln w="25400" cap="flat">
              <a:solidFill>
                <a:srgbClr val="DC2626"/>
              </a:solidFill>
              <a:prstDash val="dash"/>
              <a:round/>
            </a:ln>
            <a:effectLst/>
          </c:spPr>
          <c:invertIfNegative val="0"/>
          <c:dLbls>
            <c:numFmt formatCode="#,##0" sourceLinked="0"/>
            <c:txPr>
              <a:bodyPr/>
              <a:lstStyle/>
              <a:p>
                <a:pPr>
                  <a:defRPr b="0" i="0" strike="noStrike" sz="1200" u="none">
                    <a:solidFill>
                      <a:srgbClr val="334155"/>
                    </a:solidFill>
                    <a:latin typeface="+mn-lt"/>
                  </a:defRPr>
                </a:pPr>
              </a:p>
            </c:txPr>
            <c:showLegendKey val="0"/>
            <c:showVal val="0"/>
            <c:showCatName val="0"/>
            <c:showSerName val="0"/>
            <c:showPercent val="0"/>
            <c:showBubbleSize val="0"/>
            <c:showLeaderLines val="0"/>
          </c:dLbls>
          <c:marker>
            <c:symbol val="none"/>
            <c:size val="6"/>
            <c:spPr>
              <a:solidFill>
                <a:srgbClr val="DC2626"/>
              </a:solidFill>
              <a:ln w="9525" cap="flat">
                <a:solidFill>
                  <a:srgbClr val="DC2626"/>
                </a:solidFill>
                <a:prstDash val="solid"/>
                <a:round/>
              </a:ln>
              <a:effectLst/>
            </c:spPr>
          </c:marker>
          <c:cat>
            <c:multiLvlStrRef>
              <c:f>Sheet1!$A$2:$A$5</c:f>
              <c:multiLvlStrCache>
                <c:ptCount val="4"/>
                <c:lvl>
                  <c:pt idx="0">
                    <c:v>2015–19 data</c:v>
                  </c:pt>
                  <c:pt idx="1">
                    <c:v>Tech −0.5 pt</c:v>
                  </c:pt>
                  <c:pt idx="2">
                    <c:v>Sectors move together</c:v>
                  </c:pt>
                  <c:pt idx="3">
                    <c:v>Real 2020–24</c:v>
                  </c:pt>
                </c:lvl>
              </c:multiLvlStrCache>
            </c:multiLvlStrRef>
          </c:cat>
          <c:val>
            <c:numRef>
              <c:f>Sheet1!$D$2:$D$5</c:f>
              <c:numCache>
                <c:formatCode>General</c:formatCode>
                <c:ptCount val="4"/>
                <c:pt idx="0">
                  <c:v>6</c:v>
                </c:pt>
                <c:pt idx="1">
                  <c:v>6</c:v>
                </c:pt>
                <c:pt idx="2">
                  <c:v>6</c:v>
                </c:pt>
                <c:pt idx="3">
                  <c:v>6</c:v>
                </c:pt>
              </c:numCache>
            </c:numRef>
          </c:val>
          <c:smooth val="0"/>
        </c:ser>
        <c:dLbls>
          <c:numFmt formatCode="#,##0" sourceLinked="0"/>
          <c:txPr>
            <a:bodyPr/>
            <a:lstStyle/>
            <a:p>
              <a:pPr>
                <a:defRPr b="0" i="0" strike="noStrike" sz="1200" u="none">
                  <a:solidFill>
                    <a:srgbClr val="334155"/>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E2E8F0"/>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9525" cap="flat">
              <a:solidFill>
                <a:srgbClr val="E2E8F0"/>
              </a:solidFill>
              <a:prstDash val="solid"/>
              <a:round/>
            </a:ln>
          </c:spPr>
        </c:majorGridlines>
        <c:title>
          <c:tx>
            <c:rich>
              <a:bodyPr/>
              <a:lstStyle/>
              <a:p>
                <a:pPr>
                  <a:defRPr sz="1200" b="0" i="0" u="none" strike="noStrike">
                    <a:solidFill>
                      <a:srgbClr val="334155"/>
                    </a:solidFill>
                    <a:latin typeface="Arial"/>
                  </a:defRPr>
                </a:pPr>
                <a:r>
                  <a:rPr sz="1200" b="0" i="0" u="none" strike="noStrike">
                    <a:solidFill>
                      <a:srgbClr val="334155"/>
                    </a:solidFill>
                    <a:latin typeface="Arial"/>
                  </a:rPr>
                  <a:t>Months losing more than 3% (of 60)</a:t>
                </a:r>
              </a:p>
            </c:rich>
          </c:tx>
          <c:layout/>
          <c:overlay val="0"/>
        </c:title>
        <c:numFmt formatCode="General" sourceLinked="0"/>
        <c:majorTickMark val="out"/>
        <c:minorTickMark val="none"/>
        <c:tickLblPos val="nextTo"/>
        <c:spPr>
          <a:ln w="12700" cap="flat">
            <a:noFill/>
            <a:prstDash val="solid"/>
            <a:round/>
          </a:ln>
        </c:spPr>
        <c:txPr>
          <a:bodyPr/>
          <a:lstStyle/>
          <a:p>
            <a:pPr>
              <a:defRPr sz="1200" b="0" i="0" u="none" strike="noStrike">
                <a:solidFill>
                  <a:srgbClr val="33415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A192F"/>
                </a:solidFill>
                <a:latin typeface="+mn-lt"/>
              </a:defRPr>
            </a:pPr>
            <a:r>
              <a:rPr sz="1500" b="0" i="0" u="none" strike="noStrike">
                <a:solidFill>
                  <a:srgbClr val="0A192F"/>
                </a:solidFill>
                <a:latin typeface="+mn-lt"/>
              </a:rPr>
              <a:t>Legal answers</a:t>
            </a:r>
          </a:p>
        </c:rich>
      </c:tx>
      <c:layout/>
      <c:overlay val="0"/>
    </c:title>
    <c:autoTitleDeleted val="0"/>
    <c:plotArea>
      <c:layout/>
      <c:barChart>
        <c:barDir val="col"/>
        <c:grouping val="clustered"/>
        <c:varyColors val="0"/>
        <c:ser>
          <c:idx val="0"/>
          <c:order val="0"/>
          <c:tx>
            <c:strRef>
              <c:f>Sheet1!$B$1</c:f>
              <c:strCache>
                <c:ptCount val="1"/>
                <c:pt idx="0">
                  <c:v>Organisers' circuit</c:v>
                </c:pt>
              </c:strCache>
            </c:strRef>
          </c:tx>
          <c:spPr>
            <a:solidFill>
              <a:srgbClr val="94A3B8"/>
            </a:solidFill>
            <a:effectLst/>
          </c:spPr>
          <c:invertIfNegative val="0"/>
          <c:dLbls>
            <c:numFmt formatCode="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Lena</c:v>
                  </c:pt>
                  <c:pt idx="1">
                    <c:v>Thomas</c:v>
                  </c:pt>
                  <c:pt idx="2">
                    <c:v>Anna</c:v>
                  </c:pt>
                </c:lvl>
              </c:multiLvlStrCache>
            </c:multiLvlStrRef>
          </c:cat>
          <c:val>
            <c:numRef>
              <c:f>Sheet1!$B$2:$B$4</c:f>
              <c:numCache>
                <c:formatCode>General</c:formatCode>
                <c:ptCount val="3"/>
                <c:pt idx="0">
                  <c:v>0.983</c:v>
                </c:pt>
                <c:pt idx="1">
                  <c:v>0.982</c:v>
                </c:pt>
                <c:pt idx="2">
                  <c:v>0.974</c:v>
                </c:pt>
              </c:numCache>
            </c:numRef>
          </c:val>
        </c:ser>
        <c:ser>
          <c:idx val="1"/>
          <c:order val="1"/>
          <c:tx>
            <c:strRef>
              <c:f>Sheet1!$C$1</c:f>
              <c:strCache>
                <c:ptCount val="1"/>
                <c:pt idx="0">
                  <c:v>Penalty, tuned</c:v>
                </c:pt>
              </c:strCache>
            </c:strRef>
          </c:tx>
          <c:spPr>
            <a:solidFill>
              <a:srgbClr val="475569"/>
            </a:solidFill>
            <a:effectLst/>
          </c:spPr>
          <c:invertIfNegative val="0"/>
          <c:dLbls>
            <c:numFmt formatCode="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Lena</c:v>
                  </c:pt>
                  <c:pt idx="1">
                    <c:v>Thomas</c:v>
                  </c:pt>
                  <c:pt idx="2">
                    <c:v>Anna</c:v>
                  </c:pt>
                </c:lvl>
              </c:multiLvlStrCache>
            </c:multiLvlStrRef>
          </c:cat>
          <c:val>
            <c:numRef>
              <c:f>Sheet1!$C$2:$C$4</c:f>
              <c:numCache>
                <c:formatCode>General</c:formatCode>
                <c:ptCount val="3"/>
                <c:pt idx="0">
                  <c:v>0.495</c:v>
                </c:pt>
                <c:pt idx="1">
                  <c:v>0.555</c:v>
                </c:pt>
                <c:pt idx="2">
                  <c:v>0.319</c:v>
                </c:pt>
              </c:numCache>
            </c:numRef>
          </c:val>
        </c:ser>
        <c:ser>
          <c:idx val="2"/>
          <c:order val="2"/>
          <c:tx>
            <c:strRef>
              <c:f>Sheet1!$D$1</c:f>
              <c:strCache>
                <c:ptCount val="1"/>
                <c:pt idx="0">
                  <c:v>Ours</c:v>
                </c:pt>
              </c:strCache>
            </c:strRef>
          </c:tx>
          <c:spPr>
            <a:solidFill>
              <a:srgbClr val="2563EB"/>
            </a:solidFill>
            <a:effectLst/>
          </c:spPr>
          <c:invertIfNegative val="0"/>
          <c:dLbls>
            <c:numFmt formatCode="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Lena</c:v>
                  </c:pt>
                  <c:pt idx="1">
                    <c:v>Thomas</c:v>
                  </c:pt>
                  <c:pt idx="2">
                    <c:v>Anna</c:v>
                  </c:pt>
                </c:lvl>
              </c:multiLvlStrCache>
            </c:multiLvlStrRef>
          </c:cat>
          <c:val>
            <c:numRef>
              <c:f>Sheet1!$D$2:$D$4</c:f>
              <c:numCache>
                <c:formatCode>General</c:formatCode>
                <c:ptCount val="3"/>
                <c:pt idx="0">
                  <c:v>1</c:v>
                </c:pt>
                <c:pt idx="1">
                  <c:v>1</c:v>
                </c:pt>
                <c:pt idx="2">
                  <c:v>1</c:v>
                </c:pt>
              </c:numCache>
            </c:numRef>
          </c:val>
        </c:ser>
        <c:dLbls>
          <c:numFmt formatCode="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2E8F0"/>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12"/>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3341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A192F"/>
                </a:solidFill>
                <a:latin typeface="+mn-lt"/>
              </a:defRPr>
            </a:pPr>
            <a:r>
              <a:rPr sz="1500" b="0" i="0" u="none" strike="noStrike">
                <a:solidFill>
                  <a:srgbClr val="0A192F"/>
                </a:solidFill>
                <a:latin typeface="+mn-lt"/>
              </a:rPr>
              <a:t>Chance of naming the best basket</a:t>
            </a:r>
          </a:p>
        </c:rich>
      </c:tx>
      <c:layout/>
      <c:overlay val="0"/>
    </c:title>
    <c:autoTitleDeleted val="0"/>
    <c:plotArea>
      <c:layout/>
      <c:barChart>
        <c:barDir val="col"/>
        <c:grouping val="clustered"/>
        <c:varyColors val="0"/>
        <c:ser>
          <c:idx val="0"/>
          <c:order val="0"/>
          <c:tx>
            <c:strRef>
              <c:f>Sheet1!$B$1</c:f>
              <c:strCache>
                <c:ptCount val="1"/>
                <c:pt idx="0">
                  <c:v>Organisers' circuit</c:v>
                </c:pt>
              </c:strCache>
            </c:strRef>
          </c:tx>
          <c:spPr>
            <a:solidFill>
              <a:srgbClr val="94A3B8"/>
            </a:solidFill>
            <a:effectLst/>
          </c:spPr>
          <c:invertIfNegative val="0"/>
          <c:dLbls>
            <c:numFmt formatCode="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Lena</c:v>
                  </c:pt>
                  <c:pt idx="1">
                    <c:v>Thomas</c:v>
                  </c:pt>
                  <c:pt idx="2">
                    <c:v>Anna</c:v>
                  </c:pt>
                </c:lvl>
              </c:multiLvlStrCache>
            </c:multiLvlStrRef>
          </c:cat>
          <c:val>
            <c:numRef>
              <c:f>Sheet1!$B$2:$B$4</c:f>
              <c:numCache>
                <c:formatCode>General</c:formatCode>
                <c:ptCount val="3"/>
                <c:pt idx="0">
                  <c:v>0.05</c:v>
                </c:pt>
                <c:pt idx="1">
                  <c:v>0.057</c:v>
                </c:pt>
                <c:pt idx="2">
                  <c:v>0.05</c:v>
                </c:pt>
              </c:numCache>
            </c:numRef>
          </c:val>
        </c:ser>
        <c:ser>
          <c:idx val="1"/>
          <c:order val="1"/>
          <c:tx>
            <c:strRef>
              <c:f>Sheet1!$C$1</c:f>
              <c:strCache>
                <c:ptCount val="1"/>
                <c:pt idx="0">
                  <c:v>Penalty, tuned</c:v>
                </c:pt>
              </c:strCache>
            </c:strRef>
          </c:tx>
          <c:spPr>
            <a:solidFill>
              <a:srgbClr val="475569"/>
            </a:solidFill>
            <a:effectLst/>
          </c:spPr>
          <c:invertIfNegative val="0"/>
          <c:dLbls>
            <c:numFmt formatCode="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Lena</c:v>
                  </c:pt>
                  <c:pt idx="1">
                    <c:v>Thomas</c:v>
                  </c:pt>
                  <c:pt idx="2">
                    <c:v>Anna</c:v>
                  </c:pt>
                </c:lvl>
              </c:multiLvlStrCache>
            </c:multiLvlStrRef>
          </c:cat>
          <c:val>
            <c:numRef>
              <c:f>Sheet1!$C$2:$C$4</c:f>
              <c:numCache>
                <c:formatCode>General</c:formatCode>
                <c:ptCount val="3"/>
                <c:pt idx="0">
                  <c:v>0.083</c:v>
                </c:pt>
                <c:pt idx="1">
                  <c:v>0.147</c:v>
                </c:pt>
                <c:pt idx="2">
                  <c:v>0.067</c:v>
                </c:pt>
              </c:numCache>
            </c:numRef>
          </c:val>
        </c:ser>
        <c:ser>
          <c:idx val="2"/>
          <c:order val="2"/>
          <c:tx>
            <c:strRef>
              <c:f>Sheet1!$D$1</c:f>
              <c:strCache>
                <c:ptCount val="1"/>
                <c:pt idx="0">
                  <c:v>Ours</c:v>
                </c:pt>
              </c:strCache>
            </c:strRef>
          </c:tx>
          <c:spPr>
            <a:solidFill>
              <a:srgbClr val="2563EB"/>
            </a:solidFill>
            <a:effectLst/>
          </c:spPr>
          <c:invertIfNegative val="0"/>
          <c:dLbls>
            <c:numFmt formatCode="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Lena</c:v>
                  </c:pt>
                  <c:pt idx="1">
                    <c:v>Thomas</c:v>
                  </c:pt>
                  <c:pt idx="2">
                    <c:v>Anna</c:v>
                  </c:pt>
                </c:lvl>
              </c:multiLvlStrCache>
            </c:multiLvlStrRef>
          </c:cat>
          <c:val>
            <c:numRef>
              <c:f>Sheet1!$D$2:$D$4</c:f>
              <c:numCache>
                <c:formatCode>General</c:formatCode>
                <c:ptCount val="3"/>
                <c:pt idx="0">
                  <c:v>0.232</c:v>
                </c:pt>
                <c:pt idx="1">
                  <c:v>0.038</c:v>
                </c:pt>
                <c:pt idx="2">
                  <c:v>0.78</c:v>
                </c:pt>
              </c:numCache>
            </c:numRef>
          </c:val>
        </c:ser>
        <c:dLbls>
          <c:numFmt formatCode="0%" sourceLinked="0"/>
          <c:txPr>
            <a:bodyPr/>
            <a:lstStyle/>
            <a:p>
              <a:pPr>
                <a:defRPr b="0" i="0" strike="noStrike" sz="1100" u="none">
                  <a:solidFill>
                    <a:srgbClr val="334155"/>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2E8F0"/>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12"/>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3341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A192F"/>
                </a:solidFill>
                <a:latin typeface="+mn-lt"/>
              </a:defRPr>
            </a:pPr>
            <a:r>
              <a:rPr sz="1500" b="0" i="0" u="none" strike="noStrike">
                <a:solidFill>
                  <a:srgbClr val="0A192F"/>
                </a:solidFill>
                <a:latin typeface="+mn-lt"/>
              </a:rPr>
              <a:t>€1 invested in 2020: €1.86 (tech) vs €1.38 (today)</a:t>
            </a:r>
          </a:p>
        </c:rich>
      </c:tx>
      <c:layout/>
      <c:overlay val="0"/>
    </c:title>
    <c:autoTitleDeleted val="0"/>
    <c:plotArea>
      <c:layout/>
      <c:lineChart>
        <c:varyColors val="0"/>
        <c:ser>
          <c:idx val="0"/>
          <c:order val="0"/>
          <c:tx>
            <c:strRef>
              <c:f>Sheet1!$B$1</c:f>
              <c:strCache>
                <c:ptCount val="1"/>
                <c:pt idx="0">
                  <c:v>Today's basket</c:v>
                </c:pt>
              </c:strCache>
            </c:strRef>
          </c:tx>
          <c:spPr>
            <a:solidFill>
              <a:srgbClr val="2563EB"/>
            </a:solidFill>
            <a:ln w="31750" cap="flat">
              <a:solidFill>
                <a:srgbClr val="2563EB"/>
              </a:solidFill>
              <a:prstDash val="solid"/>
              <a:round/>
            </a:ln>
            <a:effectLst/>
          </c:spPr>
          <c:invertIfNegative val="0"/>
          <c:dLbls>
            <c:numFmt formatCode="#,##0" sourceLinked="0"/>
            <c:txPr>
              <a:bodyPr/>
              <a:lstStyle/>
              <a:p>
                <a:pPr>
                  <a:defRPr b="0" i="0" strike="noStrike" sz="1200" u="none">
                    <a:solidFill>
                      <a:srgbClr val="334155"/>
                    </a:solidFill>
                    <a:latin typeface="+mn-lt"/>
                  </a:defRPr>
                </a:pPr>
              </a:p>
            </c:txPr>
            <c:showLegendKey val="0"/>
            <c:showVal val="0"/>
            <c:showCatName val="0"/>
            <c:showSerName val="0"/>
            <c:showPercent val="0"/>
            <c:showBubbleSize val="0"/>
            <c:showLeaderLines val="0"/>
          </c:dLbls>
          <c:marker>
            <c:symbol val="none"/>
            <c:size val="6"/>
            <c:spPr>
              <a:solidFill>
                <a:srgbClr val="2563EB"/>
              </a:solidFill>
              <a:ln w="9525" cap="flat">
                <a:solidFill>
                  <a:srgbClr val="2563EB"/>
                </a:solidFill>
                <a:prstDash val="solid"/>
                <a:round/>
              </a:ln>
              <a:effectLst/>
            </c:spPr>
          </c:marker>
          <c:cat>
            <c:multiLvlStrRef>
              <c:f>Sheet1!$A$2:$A$61</c:f>
              <c:multiLvlStrCache>
                <c:ptCount val="60"/>
                <c:lvl>
                  <c:pt idx="0">
                    <c:v>2020</c:v>
                  </c:pt>
                  <c:pt idx="1">
                    <c:v/>
                  </c:pt>
                  <c:pt idx="2">
                    <c:v/>
                  </c:pt>
                  <c:pt idx="3">
                    <c:v/>
                  </c:pt>
                  <c:pt idx="4">
                    <c:v/>
                  </c:pt>
                  <c:pt idx="5">
                    <c:v/>
                  </c:pt>
                  <c:pt idx="6">
                    <c:v/>
                  </c:pt>
                  <c:pt idx="7">
                    <c:v/>
                  </c:pt>
                  <c:pt idx="8">
                    <c:v/>
                  </c:pt>
                  <c:pt idx="9">
                    <c:v/>
                  </c:pt>
                  <c:pt idx="10">
                    <c:v/>
                  </c:pt>
                  <c:pt idx="11">
                    <c:v/>
                  </c:pt>
                  <c:pt idx="12">
                    <c:v>2021</c:v>
                  </c:pt>
                  <c:pt idx="13">
                    <c:v/>
                  </c:pt>
                  <c:pt idx="14">
                    <c:v/>
                  </c:pt>
                  <c:pt idx="15">
                    <c:v/>
                  </c:pt>
                  <c:pt idx="16">
                    <c:v/>
                  </c:pt>
                  <c:pt idx="17">
                    <c:v/>
                  </c:pt>
                  <c:pt idx="18">
                    <c:v/>
                  </c:pt>
                  <c:pt idx="19">
                    <c:v/>
                  </c:pt>
                  <c:pt idx="20">
                    <c:v/>
                  </c:pt>
                  <c:pt idx="21">
                    <c:v/>
                  </c:pt>
                  <c:pt idx="22">
                    <c:v/>
                  </c:pt>
                  <c:pt idx="23">
                    <c:v/>
                  </c:pt>
                  <c:pt idx="24">
                    <c:v>2022</c:v>
                  </c:pt>
                  <c:pt idx="25">
                    <c:v/>
                  </c:pt>
                  <c:pt idx="26">
                    <c:v/>
                  </c:pt>
                  <c:pt idx="27">
                    <c:v/>
                  </c:pt>
                  <c:pt idx="28">
                    <c:v/>
                  </c:pt>
                  <c:pt idx="29">
                    <c:v/>
                  </c:pt>
                  <c:pt idx="30">
                    <c:v/>
                  </c:pt>
                  <c:pt idx="31">
                    <c:v/>
                  </c:pt>
                  <c:pt idx="32">
                    <c:v/>
                  </c:pt>
                  <c:pt idx="33">
                    <c:v/>
                  </c:pt>
                  <c:pt idx="34">
                    <c:v/>
                  </c:pt>
                  <c:pt idx="35">
                    <c:v/>
                  </c:pt>
                  <c:pt idx="36">
                    <c:v>2023</c:v>
                  </c:pt>
                  <c:pt idx="37">
                    <c:v/>
                  </c:pt>
                  <c:pt idx="38">
                    <c:v/>
                  </c:pt>
                  <c:pt idx="39">
                    <c:v/>
                  </c:pt>
                  <c:pt idx="40">
                    <c:v/>
                  </c:pt>
                  <c:pt idx="41">
                    <c:v/>
                  </c:pt>
                  <c:pt idx="42">
                    <c:v/>
                  </c:pt>
                  <c:pt idx="43">
                    <c:v/>
                  </c:pt>
                  <c:pt idx="44">
                    <c:v/>
                  </c:pt>
                  <c:pt idx="45">
                    <c:v/>
                  </c:pt>
                  <c:pt idx="46">
                    <c:v/>
                  </c:pt>
                  <c:pt idx="47">
                    <c:v/>
                  </c:pt>
                  <c:pt idx="48">
                    <c:v>2024</c:v>
                  </c:pt>
                  <c:pt idx="49">
                    <c:v/>
                  </c:pt>
                  <c:pt idx="50">
                    <c:v/>
                  </c:pt>
                  <c:pt idx="51">
                    <c:v/>
                  </c:pt>
                  <c:pt idx="52">
                    <c:v/>
                  </c:pt>
                  <c:pt idx="53">
                    <c:v/>
                  </c:pt>
                  <c:pt idx="54">
                    <c:v/>
                  </c:pt>
                  <c:pt idx="55">
                    <c:v/>
                  </c:pt>
                  <c:pt idx="56">
                    <c:v/>
                  </c:pt>
                  <c:pt idx="57">
                    <c:v/>
                  </c:pt>
                  <c:pt idx="58">
                    <c:v/>
                  </c:pt>
                  <c:pt idx="59">
                    <c:v/>
                  </c:pt>
                </c:lvl>
              </c:multiLvlStrCache>
            </c:multiLvlStrRef>
          </c:cat>
          <c:val>
            <c:numRef>
              <c:f>Sheet1!$B$2:$B$61</c:f>
              <c:numCache>
                <c:formatCode>General</c:formatCode>
                <c:ptCount val="60"/>
                <c:pt idx="0">
                  <c:v>1.008</c:v>
                </c:pt>
                <c:pt idx="1">
                  <c:v>0.9269</c:v>
                </c:pt>
                <c:pt idx="2">
                  <c:v>0.8371</c:v>
                </c:pt>
                <c:pt idx="3">
                  <c:v>0.9117</c:v>
                </c:pt>
                <c:pt idx="4">
                  <c:v>0.9479</c:v>
                </c:pt>
                <c:pt idx="5">
                  <c:v>0.9273</c:v>
                </c:pt>
                <c:pt idx="6">
                  <c:v>0.9781</c:v>
                </c:pt>
                <c:pt idx="7">
                  <c:v>0.9937</c:v>
                </c:pt>
                <c:pt idx="8">
                  <c:v>0.9806</c:v>
                </c:pt>
                <c:pt idx="9">
                  <c:v>0.9694</c:v>
                </c:pt>
                <c:pt idx="10">
                  <c:v>1.0431</c:v>
                </c:pt>
                <c:pt idx="11">
                  <c:v>1.0799</c:v>
                </c:pt>
                <c:pt idx="12">
                  <c:v>1.0769</c:v>
                </c:pt>
                <c:pt idx="13">
                  <c:v>1.0618</c:v>
                </c:pt>
                <c:pt idx="14">
                  <c:v>1.1188</c:v>
                </c:pt>
                <c:pt idx="15">
                  <c:v>1.1567</c:v>
                </c:pt>
                <c:pt idx="16">
                  <c:v>1.1598</c:v>
                </c:pt>
                <c:pt idx="17">
                  <c:v>1.17</c:v>
                </c:pt>
                <c:pt idx="18">
                  <c:v>1.1933</c:v>
                </c:pt>
                <c:pt idx="19">
                  <c:v>1.2162</c:v>
                </c:pt>
                <c:pt idx="20">
                  <c:v>1.1528</c:v>
                </c:pt>
                <c:pt idx="21">
                  <c:v>1.1942</c:v>
                </c:pt>
                <c:pt idx="22">
                  <c:v>1.1531</c:v>
                </c:pt>
                <c:pt idx="23">
                  <c:v>1.2416</c:v>
                </c:pt>
                <c:pt idx="24">
                  <c:v>1.1914</c:v>
                </c:pt>
                <c:pt idx="25">
                  <c:v>1.1809</c:v>
                </c:pt>
                <c:pt idx="26">
                  <c:v>1.2397</c:v>
                </c:pt>
                <c:pt idx="27">
                  <c:v>1.2042</c:v>
                </c:pt>
                <c:pt idx="28">
                  <c:v>1.2201</c:v>
                </c:pt>
                <c:pt idx="29">
                  <c:v>1.1692</c:v>
                </c:pt>
                <c:pt idx="30">
                  <c:v>1.2204</c:v>
                </c:pt>
                <c:pt idx="31">
                  <c:v>1.1931</c:v>
                </c:pt>
                <c:pt idx="32">
                  <c:v>1.1047</c:v>
                </c:pt>
                <c:pt idx="33">
                  <c:v>1.1867</c:v>
                </c:pt>
                <c:pt idx="34">
                  <c:v>1.2557</c:v>
                </c:pt>
                <c:pt idx="35">
                  <c:v>1.2326</c:v>
                </c:pt>
                <c:pt idx="36">
                  <c:v>1.2218</c:v>
                </c:pt>
                <c:pt idx="37">
                  <c:v>1.1741</c:v>
                </c:pt>
                <c:pt idx="38">
                  <c:v>1.2115</c:v>
                </c:pt>
                <c:pt idx="39">
                  <c:v>1.2482</c:v>
                </c:pt>
                <c:pt idx="40">
                  <c:v>1.1865</c:v>
                </c:pt>
                <c:pt idx="41">
                  <c:v>1.2265</c:v>
                </c:pt>
                <c:pt idx="42">
                  <c:v>1.246</c:v>
                </c:pt>
                <c:pt idx="43">
                  <c:v>1.2081</c:v>
                </c:pt>
                <c:pt idx="44">
                  <c:v>1.1505</c:v>
                </c:pt>
                <c:pt idx="45">
                  <c:v>1.1208</c:v>
                </c:pt>
                <c:pt idx="46">
                  <c:v>1.1802</c:v>
                </c:pt>
                <c:pt idx="47">
                  <c:v>1.2294</c:v>
                </c:pt>
                <c:pt idx="48">
                  <c:v>1.2257</c:v>
                </c:pt>
                <c:pt idx="49">
                  <c:v>1.2624</c:v>
                </c:pt>
                <c:pt idx="50">
                  <c:v>1.3114</c:v>
                </c:pt>
                <c:pt idx="51">
                  <c:v>1.2832</c:v>
                </c:pt>
                <c:pt idx="52">
                  <c:v>1.3347</c:v>
                </c:pt>
                <c:pt idx="53">
                  <c:v>1.3215</c:v>
                </c:pt>
                <c:pt idx="54">
                  <c:v>1.3721</c:v>
                </c:pt>
                <c:pt idx="55">
                  <c:v>1.4419</c:v>
                </c:pt>
                <c:pt idx="56">
                  <c:v>1.4617</c:v>
                </c:pt>
                <c:pt idx="57">
                  <c:v>1.4371</c:v>
                </c:pt>
                <c:pt idx="58">
                  <c:v>1.4722</c:v>
                </c:pt>
                <c:pt idx="59">
                  <c:v>1.3818</c:v>
                </c:pt>
              </c:numCache>
            </c:numRef>
          </c:val>
          <c:smooth val="0"/>
        </c:ser>
        <c:ser>
          <c:idx val="1"/>
          <c:order val="1"/>
          <c:tx>
            <c:strRef>
              <c:f>Sheet1!$C$1</c:f>
              <c:strCache>
                <c:ptCount val="1"/>
                <c:pt idx="0">
                  <c:v>Tech basket</c:v>
                </c:pt>
              </c:strCache>
            </c:strRef>
          </c:tx>
          <c:spPr>
            <a:solidFill>
              <a:srgbClr val="EA580C"/>
            </a:solidFill>
            <a:ln w="31750" cap="flat">
              <a:solidFill>
                <a:srgbClr val="EA580C"/>
              </a:solidFill>
              <a:prstDash val="solid"/>
              <a:round/>
            </a:ln>
            <a:effectLst/>
          </c:spPr>
          <c:invertIfNegative val="0"/>
          <c:dLbls>
            <c:numFmt formatCode="#,##0" sourceLinked="0"/>
            <c:txPr>
              <a:bodyPr/>
              <a:lstStyle/>
              <a:p>
                <a:pPr>
                  <a:defRPr b="0" i="0" strike="noStrike" sz="1200" u="none">
                    <a:solidFill>
                      <a:srgbClr val="334155"/>
                    </a:solidFill>
                    <a:latin typeface="+mn-lt"/>
                  </a:defRPr>
                </a:pPr>
              </a:p>
            </c:txPr>
            <c:showLegendKey val="0"/>
            <c:showVal val="0"/>
            <c:showCatName val="0"/>
            <c:showSerName val="0"/>
            <c:showPercent val="0"/>
            <c:showBubbleSize val="0"/>
            <c:showLeaderLines val="0"/>
          </c:dLbls>
          <c:marker>
            <c:symbol val="none"/>
            <c:size val="6"/>
            <c:spPr>
              <a:solidFill>
                <a:srgbClr val="EA580C"/>
              </a:solidFill>
              <a:ln w="9525" cap="flat">
                <a:solidFill>
                  <a:srgbClr val="EA580C"/>
                </a:solidFill>
                <a:prstDash val="solid"/>
                <a:round/>
              </a:ln>
              <a:effectLst/>
            </c:spPr>
          </c:marker>
          <c:cat>
            <c:multiLvlStrRef>
              <c:f>Sheet1!$A$2:$A$61</c:f>
              <c:multiLvlStrCache>
                <c:ptCount val="60"/>
                <c:lvl>
                  <c:pt idx="0">
                    <c:v>2020</c:v>
                  </c:pt>
                  <c:pt idx="1">
                    <c:v/>
                  </c:pt>
                  <c:pt idx="2">
                    <c:v/>
                  </c:pt>
                  <c:pt idx="3">
                    <c:v/>
                  </c:pt>
                  <c:pt idx="4">
                    <c:v/>
                  </c:pt>
                  <c:pt idx="5">
                    <c:v/>
                  </c:pt>
                  <c:pt idx="6">
                    <c:v/>
                  </c:pt>
                  <c:pt idx="7">
                    <c:v/>
                  </c:pt>
                  <c:pt idx="8">
                    <c:v/>
                  </c:pt>
                  <c:pt idx="9">
                    <c:v/>
                  </c:pt>
                  <c:pt idx="10">
                    <c:v/>
                  </c:pt>
                  <c:pt idx="11">
                    <c:v/>
                  </c:pt>
                  <c:pt idx="12">
                    <c:v>2021</c:v>
                  </c:pt>
                  <c:pt idx="13">
                    <c:v/>
                  </c:pt>
                  <c:pt idx="14">
                    <c:v/>
                  </c:pt>
                  <c:pt idx="15">
                    <c:v/>
                  </c:pt>
                  <c:pt idx="16">
                    <c:v/>
                  </c:pt>
                  <c:pt idx="17">
                    <c:v/>
                  </c:pt>
                  <c:pt idx="18">
                    <c:v/>
                  </c:pt>
                  <c:pt idx="19">
                    <c:v/>
                  </c:pt>
                  <c:pt idx="20">
                    <c:v/>
                  </c:pt>
                  <c:pt idx="21">
                    <c:v/>
                  </c:pt>
                  <c:pt idx="22">
                    <c:v/>
                  </c:pt>
                  <c:pt idx="23">
                    <c:v/>
                  </c:pt>
                  <c:pt idx="24">
                    <c:v>2022</c:v>
                  </c:pt>
                  <c:pt idx="25">
                    <c:v/>
                  </c:pt>
                  <c:pt idx="26">
                    <c:v/>
                  </c:pt>
                  <c:pt idx="27">
                    <c:v/>
                  </c:pt>
                  <c:pt idx="28">
                    <c:v/>
                  </c:pt>
                  <c:pt idx="29">
                    <c:v/>
                  </c:pt>
                  <c:pt idx="30">
                    <c:v/>
                  </c:pt>
                  <c:pt idx="31">
                    <c:v/>
                  </c:pt>
                  <c:pt idx="32">
                    <c:v/>
                  </c:pt>
                  <c:pt idx="33">
                    <c:v/>
                  </c:pt>
                  <c:pt idx="34">
                    <c:v/>
                  </c:pt>
                  <c:pt idx="35">
                    <c:v/>
                  </c:pt>
                  <c:pt idx="36">
                    <c:v>2023</c:v>
                  </c:pt>
                  <c:pt idx="37">
                    <c:v/>
                  </c:pt>
                  <c:pt idx="38">
                    <c:v/>
                  </c:pt>
                  <c:pt idx="39">
                    <c:v/>
                  </c:pt>
                  <c:pt idx="40">
                    <c:v/>
                  </c:pt>
                  <c:pt idx="41">
                    <c:v/>
                  </c:pt>
                  <c:pt idx="42">
                    <c:v/>
                  </c:pt>
                  <c:pt idx="43">
                    <c:v/>
                  </c:pt>
                  <c:pt idx="44">
                    <c:v/>
                  </c:pt>
                  <c:pt idx="45">
                    <c:v/>
                  </c:pt>
                  <c:pt idx="46">
                    <c:v/>
                  </c:pt>
                  <c:pt idx="47">
                    <c:v/>
                  </c:pt>
                  <c:pt idx="48">
                    <c:v>2024</c:v>
                  </c:pt>
                  <c:pt idx="49">
                    <c:v/>
                  </c:pt>
                  <c:pt idx="50">
                    <c:v/>
                  </c:pt>
                  <c:pt idx="51">
                    <c:v/>
                  </c:pt>
                  <c:pt idx="52">
                    <c:v/>
                  </c:pt>
                  <c:pt idx="53">
                    <c:v/>
                  </c:pt>
                  <c:pt idx="54">
                    <c:v/>
                  </c:pt>
                  <c:pt idx="55">
                    <c:v/>
                  </c:pt>
                  <c:pt idx="56">
                    <c:v/>
                  </c:pt>
                  <c:pt idx="57">
                    <c:v/>
                  </c:pt>
                  <c:pt idx="58">
                    <c:v/>
                  </c:pt>
                  <c:pt idx="59">
                    <c:v/>
                  </c:pt>
                </c:lvl>
              </c:multiLvlStrCache>
            </c:multiLvlStrRef>
          </c:cat>
          <c:val>
            <c:numRef>
              <c:f>Sheet1!$C$2:$C$61</c:f>
              <c:numCache>
                <c:formatCode>General</c:formatCode>
                <c:ptCount val="60"/>
                <c:pt idx="0">
                  <c:v>1.02</c:v>
                </c:pt>
                <c:pt idx="1">
                  <c:v>0.9439</c:v>
                </c:pt>
                <c:pt idx="2">
                  <c:v>0.8558</c:v>
                </c:pt>
                <c:pt idx="3">
                  <c:v>0.9525</c:v>
                </c:pt>
                <c:pt idx="4">
                  <c:v>1.005</c:v>
                </c:pt>
                <c:pt idx="5">
                  <c:v>1.0054</c:v>
                </c:pt>
                <c:pt idx="6">
                  <c:v>1.0645</c:v>
                </c:pt>
                <c:pt idx="7">
                  <c:v>1.1089</c:v>
                </c:pt>
                <c:pt idx="8">
                  <c:v>1.0793</c:v>
                </c:pt>
                <c:pt idx="9">
                  <c:v>1.0693</c:v>
                </c:pt>
                <c:pt idx="10">
                  <c:v>1.156</c:v>
                </c:pt>
                <c:pt idx="11">
                  <c:v>1.1991</c:v>
                </c:pt>
                <c:pt idx="12">
                  <c:v>1.2139</c:v>
                </c:pt>
                <c:pt idx="13">
                  <c:v>1.2008</c:v>
                </c:pt>
                <c:pt idx="14">
                  <c:v>1.2363</c:v>
                </c:pt>
                <c:pt idx="15">
                  <c:v>1.2935</c:v>
                </c:pt>
                <c:pt idx="16">
                  <c:v>1.2843</c:v>
                </c:pt>
                <c:pt idx="17">
                  <c:v>1.3332</c:v>
                </c:pt>
                <c:pt idx="18">
                  <c:v>1.3758</c:v>
                </c:pt>
                <c:pt idx="19">
                  <c:v>1.4267</c:v>
                </c:pt>
                <c:pt idx="20">
                  <c:v>1.3442</c:v>
                </c:pt>
                <c:pt idx="21">
                  <c:v>1.4177</c:v>
                </c:pt>
                <c:pt idx="22">
                  <c:v>1.4008</c:v>
                </c:pt>
                <c:pt idx="23">
                  <c:v>1.4693</c:v>
                </c:pt>
                <c:pt idx="24">
                  <c:v>1.3682</c:v>
                </c:pt>
                <c:pt idx="25">
                  <c:v>1.3337</c:v>
                </c:pt>
                <c:pt idx="26">
                  <c:v>1.4089</c:v>
                </c:pt>
                <c:pt idx="27">
                  <c:v>1.2919</c:v>
                </c:pt>
                <c:pt idx="28">
                  <c:v>1.3041</c:v>
                </c:pt>
                <c:pt idx="29">
                  <c:v>1.2291</c:v>
                </c:pt>
                <c:pt idx="30">
                  <c:v>1.3168</c:v>
                </c:pt>
                <c:pt idx="31">
                  <c:v>1.2698</c:v>
                </c:pt>
                <c:pt idx="32">
                  <c:v>1.1601</c:v>
                </c:pt>
                <c:pt idx="33">
                  <c:v>1.227</c:v>
                </c:pt>
                <c:pt idx="34">
                  <c:v>1.2984</c:v>
                </c:pt>
                <c:pt idx="35">
                  <c:v>1.2493</c:v>
                </c:pt>
                <c:pt idx="36">
                  <c:v>1.2812</c:v>
                </c:pt>
                <c:pt idx="37">
                  <c:v>1.2415</c:v>
                </c:pt>
                <c:pt idx="38">
                  <c:v>1.3154</c:v>
                </c:pt>
                <c:pt idx="39">
                  <c:v>1.3402</c:v>
                </c:pt>
                <c:pt idx="40">
                  <c:v>1.3462</c:v>
                </c:pt>
                <c:pt idx="41">
                  <c:v>1.4081</c:v>
                </c:pt>
                <c:pt idx="42">
                  <c:v>1.4433</c:v>
                </c:pt>
                <c:pt idx="43">
                  <c:v>1.4113</c:v>
                </c:pt>
                <c:pt idx="44">
                  <c:v>1.3356</c:v>
                </c:pt>
                <c:pt idx="45">
                  <c:v>1.3101</c:v>
                </c:pt>
                <c:pt idx="46">
                  <c:v>1.4193</c:v>
                </c:pt>
                <c:pt idx="47">
                  <c:v>1.4836</c:v>
                </c:pt>
                <c:pt idx="48">
                  <c:v>1.5085</c:v>
                </c:pt>
                <c:pt idx="49">
                  <c:v>1.5811</c:v>
                </c:pt>
                <c:pt idx="50">
                  <c:v>1.6351</c:v>
                </c:pt>
                <c:pt idx="51">
                  <c:v>1.5798</c:v>
                </c:pt>
                <c:pt idx="52">
                  <c:v>1.6849</c:v>
                </c:pt>
                <c:pt idx="53">
                  <c:v>1.7388</c:v>
                </c:pt>
                <c:pt idx="54">
                  <c:v>1.7553</c:v>
                </c:pt>
                <c:pt idx="55">
                  <c:v>1.8185</c:v>
                </c:pt>
                <c:pt idx="56">
                  <c:v>1.8583</c:v>
                </c:pt>
                <c:pt idx="57">
                  <c:v>1.8436</c:v>
                </c:pt>
                <c:pt idx="58">
                  <c:v>1.9139</c:v>
                </c:pt>
                <c:pt idx="59">
                  <c:v>1.8588</c:v>
                </c:pt>
              </c:numCache>
            </c:numRef>
          </c:val>
          <c:smooth val="0"/>
        </c:ser>
        <c:dLbls>
          <c:numFmt formatCode="#,##0" sourceLinked="0"/>
          <c:txPr>
            <a:bodyPr/>
            <a:lstStyle/>
            <a:p>
              <a:pPr>
                <a:defRPr b="0" i="0" strike="noStrike" sz="1200" u="none">
                  <a:solidFill>
                    <a:srgbClr val="334155"/>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E2E8F0"/>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tickLblSkip val="1"/>
      </c:catAx>
      <c:valAx>
        <c:axId val="2094734552"/>
        <c:scaling>
          <c:orientation val="minMax"/>
          <c:max val="2"/>
          <c:min val="0.8"/>
        </c:scaling>
        <c:delete val="0"/>
        <c:axPos val="l"/>
        <c:majorGridlines>
          <c:spPr>
            <a:ln w="9525" cap="flat">
              <a:solidFill>
                <a:srgbClr val="E2E8F0"/>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33415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A192F"/>
                </a:solidFill>
                <a:latin typeface="+mn-lt"/>
              </a:defRPr>
            </a:pPr>
            <a:r>
              <a:rPr sz="1500" b="0" i="0" u="none" strike="noStrike">
                <a:solidFill>
                  <a:srgbClr val="0A192F"/>
                </a:solidFill>
                <a:latin typeface="+mn-lt"/>
              </a:rPr>
              <a:t>Real loss months in 2020–24 (of 60)</a:t>
            </a:r>
          </a:p>
        </c:rich>
      </c:tx>
      <c:layout/>
      <c:overlay val="0"/>
    </c:title>
    <c:autoTitleDeleted val="0"/>
    <c:plotArea>
      <c:layout/>
      <c:barChart>
        <c:barDir val="col"/>
        <c:grouping val="clustered"/>
        <c:varyColors val="0"/>
        <c:ser>
          <c:idx val="0"/>
          <c:order val="0"/>
          <c:tx>
            <c:strRef>
              <c:f>Sheet1!$B$1</c:f>
              <c:strCache>
                <c:ptCount val="1"/>
                <c:pt idx="0">
                  <c:v>Today's basket</c:v>
                </c:pt>
              </c:strCache>
            </c:strRef>
          </c:tx>
          <c:spPr>
            <a:solidFill>
              <a:srgbClr val="2563EB"/>
            </a:solidFill>
            <a:effectLst/>
          </c:spPr>
          <c:invertIfNegative val="0"/>
          <c:dLbls>
            <c:numFmt formatCode="#,##0" sourceLinked="0"/>
            <c:txPr>
              <a:bodyPr/>
              <a:lstStyle/>
              <a:p>
                <a:pPr>
                  <a:defRPr b="0" i="0" strike="noStrike" sz="1200" u="none">
                    <a:solidFill>
                      <a:srgbClr val="334155"/>
                    </a:solidFill>
                    <a:latin typeface="+mn-lt"/>
                  </a:defRPr>
                </a:pPr>
              </a:p>
            </c:txPr>
            <c:dLblPos val="outEnd"/>
            <c:showLegendKey val="0"/>
            <c:showVal val="1"/>
            <c:showCatName val="0"/>
            <c:showSerName val="0"/>
            <c:showPercent val="0"/>
            <c:showBubbleSize val="0"/>
            <c:showLeaderLines val="0"/>
          </c:dLbls>
          <c:cat>
            <c:multiLvlStrRef>
              <c:f>Sheet1!$A$2:$A$4</c:f>
              <c:multiLvlStrCache>
                <c:ptCount val="3"/>
                <c:lvl>
                  <c:pt idx="0">
                    <c:v>Lena (&gt;8%)</c:v>
                  </c:pt>
                  <c:pt idx="1">
                    <c:v>Thomas (&gt;5%)</c:v>
                  </c:pt>
                  <c:pt idx="2">
                    <c:v>Anna (&gt;3%)</c:v>
                  </c:pt>
                </c:lvl>
              </c:multiLvlStrCache>
            </c:multiLvlStrRef>
          </c:cat>
          <c:val>
            <c:numRef>
              <c:f>Sheet1!$B$2:$B$4</c:f>
              <c:numCache>
                <c:formatCode>General</c:formatCode>
                <c:ptCount val="3"/>
                <c:pt idx="0">
                  <c:v>2</c:v>
                </c:pt>
                <c:pt idx="1">
                  <c:v>5</c:v>
                </c:pt>
                <c:pt idx="2">
                  <c:v>12</c:v>
                </c:pt>
              </c:numCache>
            </c:numRef>
          </c:val>
        </c:ser>
        <c:ser>
          <c:idx val="1"/>
          <c:order val="1"/>
          <c:tx>
            <c:strRef>
              <c:f>Sheet1!$C$1</c:f>
              <c:strCache>
                <c:ptCount val="1"/>
                <c:pt idx="0">
                  <c:v>Tech basket</c:v>
                </c:pt>
              </c:strCache>
            </c:strRef>
          </c:tx>
          <c:spPr>
            <a:solidFill>
              <a:srgbClr val="EA580C"/>
            </a:solidFill>
            <a:effectLst/>
          </c:spPr>
          <c:invertIfNegative val="0"/>
          <c:dLbls>
            <c:numFmt formatCode="#,##0" sourceLinked="0"/>
            <c:txPr>
              <a:bodyPr/>
              <a:lstStyle/>
              <a:p>
                <a:pPr>
                  <a:defRPr b="0" i="0" strike="noStrike" sz="1200" u="none">
                    <a:solidFill>
                      <a:srgbClr val="334155"/>
                    </a:solidFill>
                    <a:latin typeface="+mn-lt"/>
                  </a:defRPr>
                </a:pPr>
              </a:p>
            </c:txPr>
            <c:dLblPos val="outEnd"/>
            <c:showLegendKey val="0"/>
            <c:showVal val="1"/>
            <c:showCatName val="0"/>
            <c:showSerName val="0"/>
            <c:showPercent val="0"/>
            <c:showBubbleSize val="0"/>
            <c:showLeaderLines val="0"/>
          </c:dLbls>
          <c:cat>
            <c:multiLvlStrRef>
              <c:f>Sheet1!$A$2:$A$4</c:f>
              <c:multiLvlStrCache>
                <c:ptCount val="3"/>
                <c:lvl>
                  <c:pt idx="0">
                    <c:v>Lena (&gt;8%)</c:v>
                  </c:pt>
                  <c:pt idx="1">
                    <c:v>Thomas (&gt;5%)</c:v>
                  </c:pt>
                  <c:pt idx="2">
                    <c:v>Anna (&gt;3%)</c:v>
                  </c:pt>
                </c:lvl>
              </c:multiLvlStrCache>
            </c:multiLvlStrRef>
          </c:cat>
          <c:val>
            <c:numRef>
              <c:f>Sheet1!$C$2:$C$4</c:f>
              <c:numCache>
                <c:formatCode>General</c:formatCode>
                <c:ptCount val="3"/>
                <c:pt idx="0">
                  <c:v>2</c:v>
                </c:pt>
                <c:pt idx="1">
                  <c:v>8</c:v>
                </c:pt>
                <c:pt idx="2">
                  <c:v>12</c:v>
                </c:pt>
              </c:numCache>
            </c:numRef>
          </c:val>
        </c:ser>
        <c:dLbls>
          <c:numFmt formatCode="#,##0" sourceLinked="0"/>
          <c:txPr>
            <a:bodyPr/>
            <a:lstStyle/>
            <a:p>
              <a:pPr>
                <a:defRPr b="0" i="0" strike="noStrike" sz="1200" u="none">
                  <a:solidFill>
                    <a:srgbClr val="334155"/>
                  </a:solidFill>
                  <a:latin typeface="+mn-lt"/>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2"/>
          <c:order val="2"/>
          <c:tx>
            <c:strRef>
              <c:f>Sheet1!$D$1</c:f>
              <c:strCache>
                <c:ptCount val="1"/>
                <c:pt idx="0">
                  <c:v>Limit: 6 of 60</c:v>
                </c:pt>
              </c:strCache>
            </c:strRef>
          </c:tx>
          <c:spPr>
            <a:solidFill>
              <a:srgbClr val="DC2626"/>
            </a:solidFill>
            <a:ln w="25400" cap="flat">
              <a:solidFill>
                <a:srgbClr val="DC2626"/>
              </a:solidFill>
              <a:prstDash val="dash"/>
              <a:round/>
            </a:ln>
            <a:effectLst/>
          </c:spPr>
          <c:invertIfNegative val="0"/>
          <c:dLbls>
            <c:numFmt formatCode="#,##0" sourceLinked="0"/>
            <c:txPr>
              <a:bodyPr/>
              <a:lstStyle/>
              <a:p>
                <a:pPr>
                  <a:defRPr b="0" i="0" strike="noStrike" sz="1200" u="none">
                    <a:solidFill>
                      <a:srgbClr val="334155"/>
                    </a:solidFill>
                    <a:latin typeface="+mn-lt"/>
                  </a:defRPr>
                </a:pPr>
              </a:p>
            </c:txPr>
            <c:showLegendKey val="0"/>
            <c:showVal val="0"/>
            <c:showCatName val="0"/>
            <c:showSerName val="0"/>
            <c:showPercent val="0"/>
            <c:showBubbleSize val="0"/>
            <c:showLeaderLines val="0"/>
          </c:dLbls>
          <c:marker>
            <c:symbol val="none"/>
            <c:size val="6"/>
            <c:spPr>
              <a:solidFill>
                <a:srgbClr val="DC2626"/>
              </a:solidFill>
              <a:ln w="9525" cap="flat">
                <a:solidFill>
                  <a:srgbClr val="DC2626"/>
                </a:solidFill>
                <a:prstDash val="solid"/>
                <a:round/>
              </a:ln>
              <a:effectLst/>
            </c:spPr>
          </c:marker>
          <c:cat>
            <c:multiLvlStrRef>
              <c:f>Sheet1!$A$2:$A$4</c:f>
              <c:multiLvlStrCache>
                <c:ptCount val="3"/>
                <c:lvl>
                  <c:pt idx="0">
                    <c:v>Lena (&gt;8%)</c:v>
                  </c:pt>
                  <c:pt idx="1">
                    <c:v>Thomas (&gt;5%)</c:v>
                  </c:pt>
                  <c:pt idx="2">
                    <c:v>Anna (&gt;3%)</c:v>
                  </c:pt>
                </c:lvl>
              </c:multiLvlStrCache>
            </c:multiLvlStrRef>
          </c:cat>
          <c:val>
            <c:numRef>
              <c:f>Sheet1!$D$2:$D$4</c:f>
              <c:numCache>
                <c:formatCode>General</c:formatCode>
                <c:ptCount val="3"/>
                <c:pt idx="0">
                  <c:v>6</c:v>
                </c:pt>
                <c:pt idx="1">
                  <c:v>6</c:v>
                </c:pt>
                <c:pt idx="2">
                  <c:v>6</c:v>
                </c:pt>
              </c:numCache>
            </c:numRef>
          </c:val>
          <c:smooth val="0"/>
        </c:ser>
        <c:dLbls>
          <c:numFmt formatCode="#,##0" sourceLinked="0"/>
          <c:txPr>
            <a:bodyPr/>
            <a:lstStyle/>
            <a:p>
              <a:pPr>
                <a:defRPr b="0" i="0" strike="noStrike" sz="1200" u="none">
                  <a:solidFill>
                    <a:srgbClr val="334155"/>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E2E8F0"/>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33415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Finance. Our question sounds simple: should a pension fund keep its portfolio, switch it, or wait? We answer it for three people, Lena, Thomas and Anna, and we use a quantum circuit that cannot break the rules. Every number in this talk comes from one reproducible run of 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many savers feel. Prices rise every year, and money in a bank account quietly loses value. The statutory pension alone will not close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Döner index makes it concrete. If prices rise three percent a year and your savings earn nothing, 100 euros buys about 76 euros' worth of goods in 2035 and about 48 in 2050. Saving alone cannot fund a pension.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others see a fire, we saw an opportunity. Germany is building a new, capital-funded pension. Someone has to decide how that money is invested, and that is where we come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disclaimer: this is a teaching model, not financial advice. If it were, our own portfolios would look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client is the investment committee of the planned public fund for the Kapitalrente. From 2028, two percent of gross wages go into this fund, with no guarantees. The committee decides how the money is invested, and we help it with one specific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paint the picture of what we actually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Savers want two things at once: growth that beats inflation, and safety from big losses. Many never choose a profile at all. So our questions are: is a tech tilt worth the risk, do losses stay within each saver's limit, and who protects the people who never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fund's core is a broad global index; we do not touch it. We decide only the satellite, ten percent: which three of six US sectors to hold, in equal thirds. That gives just twenty possible baskets, so a laptop finds the exact answer instantly. We use that exact answer to grade our quantum circuit, and we claim no quantum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our savers. Lena chose growth and can handle big swings. Anna chose risk-sensitive and cannot afford big losses. Thomas never chose, so he lands in balanced, our default. Each has a binding loss limit: a bad month may happen in at most six of sixty months. Thomas matters most, because he never made a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satellite holds consumer staples, healthcare and utilities: the blue dot, the lowest risk of all twenty baskets. The proposal swaps staples for tech, the orange dot: about 0.29 points more return a month, but more swings. Our rule: no extra return can ever buy a breach of a loss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decide? Step one: check each saver's loss limit; baskets that break it are out. Step two: score the rest, return against swings, weighted for each saver. Step three: we only switch if the same basket wins in all three test settings and in at least seventy percent of five hundred replays of history. Otherwise the answer is review: hold, and let the committee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proposal, three answers. Lena switches: the tech basket wins in every test and in eighty-nine percent of replays. Anna keeps: her basket has the lowest risk, and tech sits right on her loss limit. Thomas gets review: it is a near-tie that flips under stress, so we hold until the committee decides. Review is a legitimate answer,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Lena we replayed the sixty months of history five hundred times. In eighty-nine percent of those replays the tech basket scores better, and it wins in every stress test. It adds about 0.29 points of return a month, and the one-off switching cost is earned back within a month. Strong evidence, so: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Thomas the tech basket is ahead by only 12 basis points a month. Tech's expected return of 1.51 percent is an estimate from sixty months, and it could easily be 0.58 points higher or lower: the grey band. Thomas's answer flips if tech earns just 0.37 points less, well inside that band, and the organisers' own stress test is already beyond it. The data cannot tell the two baskets apart, so we hold and let the committee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Anna, safety comes first. Her basket has the lowest risk of all twenty. The tech basket loses more than three percent in exactly six of sixty months, the most her rule allows, and it breaks her limit in both stress tests. So: keep. The last bars show 2020 to 2024, which we never used to decide; we come back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quantum part. The usual approach, which the organisers used, starts with all sixty-four on-off patterns, including illegal ones, and only punishes rule breaks with a penalty. Our circuit starts with the twenty legal baskets only, and its mixer swaps one sector for another, so every basket always keeps exactly three sectors. Illegal answers cannot appear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it work? Left: every answer from our circuit is a legal basket, in every run. The organisers' circuit is legal ninety-eight percent of the time, but then it names Anna's best basket only five percent of the time, which is what blind guessing gives. Ours finds it seventy-eight percent of the time. For Thomas, where two baskets are almost equally good, ours is no better than guessing, and we say so. A laptop solves twenty baskets instantly: no quantum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a reality check with 2020 to 2024, data we never used to decide. Tech grew to 1.86 against 1.38, so Lena's switch paid off. But losses came more often than our model expected: Thomas's tech basket would have broken his limit, and Anna's limit broke for both baskets. Our loss model, built on calm years, was too optimistic, and we say that openly.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should policy do? First, protect the default: people who never choose land in balanced and must be shielded from fragile bets. Second, the law sets the limits and the committee sets the mix; limits are checked exactly and never traded for return. Third, a burden of proof: switch only when the same basket wins every test with at least seventy percent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Lena switches, Thomas waits for the committee, Anna keeps. Our quantum circuit cannot break the three-sector rule and clearly beats the penalty approach where the answer is clear. We claim no quantum advantage, and one command reproduces every number in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 the code, the decision log and every result are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A192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rtlCol="0"/>
          <a:lstStyle>
            <a:lvl1pPr indent="0" marL="0">
              <a:buNone/>
              <a:defRPr lang="en-US" sz="1400" b="1" spc="200" kern="0" dirty="0">
                <a:solidFill>
                  <a:srgbClr val="93C5FD"/>
                </a:solidFill>
              </a:defRPr>
            </a:lvl1pPr>
          </a:lstStyle>
          <a:p>
            <a:pPr indent="0" marL="0">
              <a:buNone/>
            </a:pPr>
            <a:endParaRPr lang="en-US" sz="1400" dirty="0"/>
          </a:p>
        </p:txBody>
      </p:sp>
      <p:sp>
        <p:nvSpPr>
          <p:cNvPr id="3" name="Text 0"/>
          <p:cNvSpPr/>
          <p:nvPr>
            <p:ph idx="101" type="title" hasCustomPrompt="1"/>
          </p:nvPr>
        </p:nvSpPr>
        <p:spPr>
          <a:xfrm>
            <a:off x="731520" y="1554480"/>
            <a:ext cx="10698480" cy="1188720"/>
          </a:xfrm>
          <a:prstGeom prst="rect">
            <a:avLst/>
          </a:prstGeom>
          <a:noFill/>
          <a:ln/>
        </p:spPr>
        <p:txBody>
          <a:bodyPr wrap="square" rtlCol="0"/>
          <a:lstStyle>
            <a:lvl1pPr algn="l" indent="0" marL="0">
              <a:buNone/>
              <a:defRPr lang="en-US" sz="5400" b="1" dirty="0">
                <a:solidFill>
                  <a:srgbClr val="FFFFFF"/>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A192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10698480" cy="365760"/>
          </a:xfrm>
          <a:prstGeom prst="rect">
            <a:avLst/>
          </a:prstGeom>
          <a:noFill/>
          <a:ln/>
        </p:spPr>
        <p:txBody>
          <a:bodyPr wrap="square" rtlCol="0"/>
          <a:lstStyle>
            <a:lvl1pPr indent="0" marL="0">
              <a:buNone/>
              <a:defRPr lang="en-US" sz="1400" b="1" spc="200" kern="0" dirty="0">
                <a:solidFill>
                  <a:srgbClr val="93C5FD"/>
                </a:solidFill>
              </a:defRPr>
            </a:lvl1pPr>
          </a:lstStyle>
          <a:p>
            <a:pPr indent="0" marL="0">
              <a:buNone/>
            </a:pPr>
            <a:endParaRPr lang="en-US" sz="1400" dirty="0"/>
          </a:p>
        </p:txBody>
      </p:sp>
      <p:sp>
        <p:nvSpPr>
          <p:cNvPr id="3" name="Text 0"/>
          <p:cNvSpPr/>
          <p:nvPr>
            <p:ph idx="101" type="title" hasCustomPrompt="1"/>
          </p:nvPr>
        </p:nvSpPr>
        <p:spPr>
          <a:xfrm>
            <a:off x="731520" y="1280160"/>
            <a:ext cx="10698480" cy="13716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SPLIT">
    <p:bg>
      <p:bgPr>
        <a:solidFill>
          <a:srgbClr val="0A192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4937760" cy="365760"/>
          </a:xfrm>
          <a:prstGeom prst="rect">
            <a:avLst/>
          </a:prstGeom>
          <a:noFill/>
          <a:ln/>
        </p:spPr>
        <p:txBody>
          <a:bodyPr wrap="square" rtlCol="0"/>
          <a:lstStyle>
            <a:lvl1pPr indent="0" marL="0">
              <a:buNone/>
              <a:defRPr lang="en-US" sz="1400" b="1" spc="200" kern="0" dirty="0">
                <a:solidFill>
                  <a:srgbClr val="93C5FD"/>
                </a:solidFill>
              </a:defRPr>
            </a:lvl1pPr>
          </a:lstStyle>
          <a:p>
            <a:pPr indent="0" marL="0">
              <a:buNone/>
            </a:pPr>
            <a:endParaRPr lang="en-US" sz="1400" dirty="0"/>
          </a:p>
        </p:txBody>
      </p:sp>
      <p:sp>
        <p:nvSpPr>
          <p:cNvPr id="3" name="Text 0"/>
          <p:cNvSpPr/>
          <p:nvPr>
            <p:ph idx="101" type="title" hasCustomPrompt="1"/>
          </p:nvPr>
        </p:nvSpPr>
        <p:spPr>
          <a:xfrm>
            <a:off x="731520" y="1280160"/>
            <a:ext cx="4937760" cy="219456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lvl1pPr indent="0" marL="0">
              <a:buNone/>
              <a:defRPr lang="en-US" sz="1200" b="1" spc="200" kern="0" dirty="0">
                <a:solidFill>
                  <a:srgbClr val="2563EB"/>
                </a:solidFill>
              </a:defRPr>
            </a:lvl1pPr>
          </a:lstStyle>
          <a:p>
            <a:pPr indent="0" marL="0">
              <a:buNone/>
            </a:pP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lstStyle>
            <a:lvl1pPr algn="l" indent="0" marL="0">
              <a:buNone/>
              <a:defRPr lang="en-US" sz="3000" b="1" dirty="0">
                <a:solidFill>
                  <a:srgbClr val="0A192F"/>
                </a:solidFill>
              </a:defRPr>
            </a:lvl1pPr>
          </a:lstStyle>
          <a:p>
            <a:pPr algn="l" indent="0" marL="0">
              <a:buNone/>
            </a:pPr>
            <a:endParaRPr lang="en-US" sz="3000" dirty="0"/>
          </a:p>
        </p:txBody>
      </p:sp>
      <p:sp>
        <p:nvSpPr>
          <p:cNvPr id="4" name="Text 0"/>
          <p:cNvSpPr/>
          <p:nvPr>
            <p:ph idx="102" type="body" hasCustomPrompt="1"/>
          </p:nvPr>
        </p:nvSpPr>
        <p:spPr>
          <a:xfrm>
            <a:off x="548640" y="6382512"/>
            <a:ext cx="10424160" cy="274320"/>
          </a:xfrm>
          <a:prstGeom prst="rect">
            <a:avLst/>
          </a:prstGeom>
          <a:noFill/>
          <a:ln/>
        </p:spPr>
        <p:txBody>
          <a:bodyPr wrap="square" rtlCol="0"/>
          <a:lstStyle>
            <a:lvl1pPr indent="0" marL="0">
              <a:buNone/>
              <a:defRPr lang="en-US" sz="900" dirty="0">
                <a:solidFill>
                  <a:srgbClr val="64748B"/>
                </a:solidFill>
              </a:defRPr>
            </a:lvl1pPr>
          </a:lstStyle>
          <a:p>
            <a:pPr indent="0" marL="0">
              <a:buNone/>
            </a:pPr>
            <a:endParaRPr lang="en-US" sz="9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gif"/><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gif"/><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5.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4-1.jpg"/><Relationship Id="rId3" Type="http://schemas.openxmlformats.org/officeDocument/2006/relationships/slideLayout" Target="../slideLayouts/slideLayout5.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6-1.jpg"/><Relationship Id="rId3" Type="http://schemas.openxmlformats.org/officeDocument/2006/relationships/slideLayout" Target="../slideLayouts/slideLayout5.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5.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5.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image" Target="../media/image-21-3.jp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rtlCol="0"/>
          <a:lstStyle/>
          <a:p>
            <a:pPr indent="0" marL="0">
              <a:buNone/>
            </a:pPr>
            <a:r>
              <a:rPr lang="en-US" sz="1400" b="1" spc="200" kern="0" dirty="0">
                <a:solidFill>
                  <a:srgbClr val="93C5FD"/>
                </a:solidFill>
              </a:rPr>
              <a:t>TEAM FINANCE BROSITOS &amp; BROSITAS · TUM QUANTUM HACKATHON 2026</a:t>
            </a:r>
            <a:endParaRPr lang="en-US" sz="1400" dirty="0"/>
          </a:p>
        </p:txBody>
      </p:sp>
      <p:sp>
        <p:nvSpPr>
          <p:cNvPr id="3" name="Text 0"/>
          <p:cNvSpPr/>
          <p:nvPr>
            <p:ph idx="101" type="title" hasCustomPrompt="1"/>
          </p:nvPr>
        </p:nvSpPr>
        <p:spPr>
          <a:xfrm>
            <a:off x="731520" y="1554480"/>
            <a:ext cx="10698480" cy="1188720"/>
          </a:xfrm>
          <a:prstGeom prst="rect">
            <a:avLst/>
          </a:prstGeom>
          <a:noFill/>
          <a:ln/>
        </p:spPr>
        <p:txBody>
          <a:bodyPr wrap="square" rtlCol="0" anchor="t"/>
          <a:lstStyle/>
          <a:p>
            <a:pPr algn="l" indent="0" marL="0">
              <a:buNone/>
            </a:pPr>
            <a:r>
              <a:rPr lang="en-US" sz="5400" b="1" dirty="0">
                <a:solidFill>
                  <a:srgbClr val="FFFFFF"/>
                </a:solidFill>
              </a:rPr>
              <a:t>Keep, review, or switch?</a:t>
            </a:r>
            <a:endParaRPr lang="en-US" sz="5400" dirty="0"/>
          </a:p>
        </p:txBody>
      </p:sp>
      <p:sp>
        <p:nvSpPr>
          <p:cNvPr id="4" name="Subtitle"/>
          <p:cNvSpPr txBox="1"/>
          <p:nvPr/>
        </p:nvSpPr>
        <p:spPr>
          <a:xfrm>
            <a:off x="731520" y="2788920"/>
            <a:ext cx="6766560" cy="1097280"/>
          </a:xfrm>
          <a:prstGeom prst="rect">
            <a:avLst/>
          </a:prstGeom>
          <a:noFill/>
          <a:ln/>
        </p:spPr>
        <p:txBody>
          <a:bodyPr wrap="square" lIns="0" tIns="0" rIns="0" bIns="0" rtlCol="0" anchor="t"/>
          <a:lstStyle/>
          <a:p>
            <a:pPr algn="l" indent="0" marL="0">
              <a:buNone/>
            </a:pPr>
            <a:r>
              <a:rPr lang="en-US" sz="2400" dirty="0">
                <a:solidFill>
                  <a:srgbClr val="E2E8F0"/>
                </a:solidFill>
              </a:rPr>
              <a:t>How a rule-keeping quantum circuit helps Germany's new pension fund decide, saver by saver</a:t>
            </a:r>
            <a:endParaRPr lang="en-US" sz="2400" dirty="0"/>
          </a:p>
        </p:txBody>
      </p:sp>
      <p:pic>
        <p:nvPicPr>
          <p:cNvPr id="5" name="Portrait Lena" descr="Illustrated portrait of Lena, one of our three example savers">    </p:cNvPr>
          <p:cNvPicPr>
            <a:picLocks noChangeAspect="1"/>
          </p:cNvPicPr>
          <p:nvPr/>
        </p:nvPicPr>
        <p:blipFill>
          <a:blip r:embed="rId1"/>
          <a:stretch>
            <a:fillRect/>
          </a:stretch>
        </p:blipFill>
        <p:spPr>
          <a:xfrm>
            <a:off x="8001000" y="2743200"/>
            <a:ext cx="1143000" cy="1143000"/>
          </a:xfrm>
          <a:prstGeom prst="ellipse">
            <a:avLst/>
          </a:prstGeom>
        </p:spPr>
      </p:pic>
      <p:sp>
        <p:nvSpPr>
          <p:cNvPr id="6" name="Portrait ring Lena"/>
          <p:cNvSpPr/>
          <p:nvPr/>
        </p:nvSpPr>
        <p:spPr>
          <a:xfrm>
            <a:off x="8001000" y="2743200"/>
            <a:ext cx="1143000" cy="1143000"/>
          </a:xfrm>
          <a:prstGeom prst="ellipse">
            <a:avLst/>
          </a:prstGeom>
          <a:ln w="31750">
            <a:solidFill>
              <a:srgbClr val="059669"/>
            </a:solidFill>
            <a:prstDash val="solid"/>
          </a:ln>
        </p:spPr>
      </p:sp>
      <p:pic>
        <p:nvPicPr>
          <p:cNvPr id="7" name="Portrait Thomas" descr="Illustrated portrait of Thomas, one of our three example savers">    </p:cNvPr>
          <p:cNvPicPr>
            <a:picLocks noChangeAspect="1"/>
          </p:cNvPicPr>
          <p:nvPr/>
        </p:nvPicPr>
        <p:blipFill>
          <a:blip r:embed="rId2"/>
          <a:stretch>
            <a:fillRect/>
          </a:stretch>
        </p:blipFill>
        <p:spPr>
          <a:xfrm>
            <a:off x="9326880" y="2743200"/>
            <a:ext cx="1143000" cy="1143000"/>
          </a:xfrm>
          <a:prstGeom prst="ellipse">
            <a:avLst/>
          </a:prstGeom>
        </p:spPr>
      </p:pic>
      <p:sp>
        <p:nvSpPr>
          <p:cNvPr id="8" name="Portrait ring Thomas"/>
          <p:cNvSpPr/>
          <p:nvPr/>
        </p:nvSpPr>
        <p:spPr>
          <a:xfrm>
            <a:off x="9326880" y="2743200"/>
            <a:ext cx="1143000" cy="1143000"/>
          </a:xfrm>
          <a:prstGeom prst="ellipse">
            <a:avLst/>
          </a:prstGeom>
          <a:ln w="31750">
            <a:solidFill>
              <a:srgbClr val="D97706"/>
            </a:solidFill>
            <a:prstDash val="solid"/>
          </a:ln>
        </p:spPr>
      </p:sp>
      <p:pic>
        <p:nvPicPr>
          <p:cNvPr id="9" name="Portrait Anna" descr="Illustrated portrait of Anna, one of our three example savers">    </p:cNvPr>
          <p:cNvPicPr>
            <a:picLocks noChangeAspect="1"/>
          </p:cNvPicPr>
          <p:nvPr/>
        </p:nvPicPr>
        <p:blipFill>
          <a:blip r:embed="rId3"/>
          <a:stretch>
            <a:fillRect/>
          </a:stretch>
        </p:blipFill>
        <p:spPr>
          <a:xfrm>
            <a:off x="10652760" y="2743200"/>
            <a:ext cx="1143000" cy="1143000"/>
          </a:xfrm>
          <a:prstGeom prst="ellipse">
            <a:avLst/>
          </a:prstGeom>
        </p:spPr>
      </p:pic>
      <p:sp>
        <p:nvSpPr>
          <p:cNvPr id="10" name="Portrait ring Anna"/>
          <p:cNvSpPr/>
          <p:nvPr/>
        </p:nvSpPr>
        <p:spPr>
          <a:xfrm>
            <a:off x="10652760" y="2743200"/>
            <a:ext cx="1143000" cy="1143000"/>
          </a:xfrm>
          <a:prstGeom prst="ellipse">
            <a:avLst/>
          </a:prstGeom>
          <a:ln w="31750">
            <a:solidFill>
              <a:srgbClr val="DC2626"/>
            </a:solidFill>
            <a:prstDash val="solid"/>
          </a:ln>
        </p:spPr>
      </p:sp>
      <p:sp>
        <p:nvSpPr>
          <p:cNvPr id="11" name="Team"/>
          <p:cNvSpPr txBox="1"/>
          <p:nvPr/>
        </p:nvSpPr>
        <p:spPr>
          <a:xfrm>
            <a:off x="731520" y="5669280"/>
            <a:ext cx="10698480" cy="731520"/>
          </a:xfrm>
          <a:prstGeom prst="rect">
            <a:avLst/>
          </a:prstGeom>
          <a:noFill/>
          <a:ln/>
        </p:spPr>
        <p:txBody>
          <a:bodyPr wrap="square" lIns="0" tIns="0" rIns="0" bIns="0" rtlCol="0" anchor="t"/>
          <a:lstStyle/>
          <a:p>
            <a:pPr algn="l" indent="0" marL="0">
              <a:buNone/>
            </a:pPr>
            <a:r>
              <a:rPr lang="en-US" sz="1400" dirty="0">
                <a:solidFill>
                  <a:srgbClr val="93C5FD"/>
                </a:solidFill>
              </a:rPr>
              <a:t>Ahmed Mahmoud · Ivan · Jonas Sandelmann · Manyu · Mingzhi · Samarth Seth</a:t>
            </a:r>
            <a:endParaRPr lang="en-US" sz="1400" dirty="0"/>
          </a:p>
          <a:p>
            <a:pPr algn="l" indent="0" marL="0">
              <a:buNone/>
            </a:pPr>
            <a:r>
              <a:rPr lang="en-US" sz="1400" dirty="0">
                <a:solidFill>
                  <a:srgbClr val="64748B"/>
                </a:solidFill>
              </a:rPr>
              <a:t>Final pitch · 30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4937760" cy="365760"/>
          </a:xfrm>
          <a:prstGeom prst="rect">
            <a:avLst/>
          </a:prstGeom>
          <a:noFill/>
          <a:ln/>
        </p:spPr>
        <p:txBody>
          <a:bodyPr wrap="square" rtlCol="0"/>
          <a:lstStyle/>
          <a:p>
            <a:pPr indent="0" marL="0">
              <a:buNone/>
            </a:pPr>
            <a:r>
              <a:rPr lang="en-US" sz="1400" b="1" spc="200" kern="0" dirty="0">
                <a:solidFill>
                  <a:srgbClr val="93C5FD"/>
                </a:solidFill>
              </a:rPr>
              <a:t>THE CHALLENGE</a:t>
            </a:r>
            <a:endParaRPr lang="en-US" sz="1400" dirty="0"/>
          </a:p>
        </p:txBody>
      </p:sp>
      <p:sp>
        <p:nvSpPr>
          <p:cNvPr id="3" name="Text 0"/>
          <p:cNvSpPr/>
          <p:nvPr>
            <p:ph idx="101" type="title" hasCustomPrompt="1"/>
          </p:nvPr>
        </p:nvSpPr>
        <p:spPr>
          <a:xfrm>
            <a:off x="731520" y="1280160"/>
            <a:ext cx="4937760" cy="2194560"/>
          </a:xfrm>
          <a:prstGeom prst="rect">
            <a:avLst/>
          </a:prstGeom>
          <a:noFill/>
          <a:ln/>
        </p:spPr>
        <p:txBody>
          <a:bodyPr wrap="square" rtlCol="0" anchor="t"/>
          <a:lstStyle/>
          <a:p>
            <a:pPr algn="l" indent="0" marL="0">
              <a:buNone/>
            </a:pPr>
            <a:r>
              <a:rPr lang="en-US" sz="4000" b="1" dirty="0">
                <a:solidFill>
                  <a:srgbClr val="FFFFFF"/>
                </a:solidFill>
              </a:rPr>
              <a:t>Inflation is burning our savings</a:t>
            </a:r>
            <a:endParaRPr lang="en-US" sz="4000" dirty="0"/>
          </a:p>
        </p:txBody>
      </p:sp>
      <p:pic>
        <p:nvPicPr>
          <p:cNvPr id="4" name="Meme" descr="This is fine meme: a dog in a burning room">    </p:cNvPr>
          <p:cNvPicPr>
            <a:picLocks noChangeAspect="1"/>
          </p:cNvPicPr>
          <p:nvPr/>
        </p:nvPicPr>
        <p:blipFill>
          <a:blip r:embed="rId1"/>
          <a:stretch>
            <a:fillRect/>
          </a:stretch>
        </p:blipFill>
        <p:spPr>
          <a:xfrm>
            <a:off x="5989320" y="1280160"/>
            <a:ext cx="5669280" cy="3174797"/>
          </a:xfrm>
          <a:prstGeom prst="rect">
            <a:avLst/>
          </a:prstGeom>
        </p:spPr>
      </p:pic>
      <p:sp>
        <p:nvSpPr>
          <p:cNvPr id="5" name="Meme label"/>
          <p:cNvSpPr txBox="1"/>
          <p:nvPr/>
        </p:nvSpPr>
        <p:spPr>
          <a:xfrm rot="240000">
            <a:off x="9606321" y="2505632"/>
            <a:ext cx="850392" cy="253984"/>
          </a:xfrm>
          <a:prstGeom prst="rect">
            <a:avLst/>
          </a:prstGeom>
          <a:solidFill>
            <a:srgbClr val="FFFFFF"/>
          </a:solidFill>
          <a:ln/>
        </p:spPr>
        <p:txBody>
          <a:bodyPr wrap="square" lIns="25400" tIns="25400" rIns="25400" bIns="25400" rtlCol="0" anchor="ctr"/>
          <a:lstStyle/>
          <a:p>
            <a:pPr algn="ctr" indent="0" marL="0">
              <a:buNone/>
            </a:pPr>
            <a:r>
              <a:rPr lang="en-US" sz="1200" b="1" dirty="0">
                <a:solidFill>
                  <a:srgbClr val="111111"/>
                </a:solidFill>
              </a:rPr>
              <a:t>INFLATION</a:t>
            </a:r>
            <a:endParaRPr lang="en-US" sz="1200" dirty="0"/>
          </a:p>
        </p:txBody>
      </p:sp>
      <p:sp>
        <p:nvSpPr>
          <p:cNvPr id="6" name="Meme label"/>
          <p:cNvSpPr txBox="1"/>
          <p:nvPr/>
        </p:nvSpPr>
        <p:spPr>
          <a:xfrm rot="-960000">
            <a:off x="6250107" y="3483469"/>
            <a:ext cx="1077163" cy="301606"/>
          </a:xfrm>
          <a:prstGeom prst="rect">
            <a:avLst/>
          </a:prstGeom>
          <a:solidFill>
            <a:srgbClr val="FFFFFF"/>
          </a:solidFill>
          <a:ln/>
        </p:spPr>
        <p:txBody>
          <a:bodyPr wrap="square" lIns="25400" tIns="25400" rIns="25400" bIns="25400" rtlCol="0" anchor="ctr"/>
          <a:lstStyle/>
          <a:p>
            <a:pPr algn="ctr" indent="0" marL="0">
              <a:buNone/>
            </a:pPr>
            <a:r>
              <a:rPr lang="en-US" sz="1500" b="1" dirty="0">
                <a:solidFill>
                  <a:srgbClr val="111111"/>
                </a:solidFill>
              </a:rPr>
              <a:t>INFLATION</a:t>
            </a:r>
            <a:endParaRPr lang="en-US" sz="1500" dirty="0"/>
          </a:p>
        </p:txBody>
      </p:sp>
      <p:sp>
        <p:nvSpPr>
          <p:cNvPr id="7" name="Meme label"/>
          <p:cNvSpPr txBox="1"/>
          <p:nvPr/>
        </p:nvSpPr>
        <p:spPr>
          <a:xfrm rot="900000">
            <a:off x="10297973" y="3946989"/>
            <a:ext cx="1077163" cy="301606"/>
          </a:xfrm>
          <a:prstGeom prst="rect">
            <a:avLst/>
          </a:prstGeom>
          <a:solidFill>
            <a:srgbClr val="FFFFFF"/>
          </a:solidFill>
          <a:ln/>
        </p:spPr>
        <p:txBody>
          <a:bodyPr wrap="square" lIns="25400" tIns="25400" rIns="25400" bIns="25400" rtlCol="0" anchor="ctr"/>
          <a:lstStyle/>
          <a:p>
            <a:pPr algn="ctr" indent="0" marL="0">
              <a:buNone/>
            </a:pPr>
            <a:r>
              <a:rPr lang="en-US" sz="1500" b="1" dirty="0">
                <a:solidFill>
                  <a:srgbClr val="111111"/>
                </a:solidFill>
              </a:rPr>
              <a:t>INFLATION</a:t>
            </a:r>
            <a:endParaRPr lang="en-US" sz="1500" dirty="0"/>
          </a:p>
        </p:txBody>
      </p:sp>
      <p:sp>
        <p:nvSpPr>
          <p:cNvPr id="8" name="Meme label"/>
          <p:cNvSpPr txBox="1"/>
          <p:nvPr/>
        </p:nvSpPr>
        <p:spPr>
          <a:xfrm>
            <a:off x="8285378" y="3185038"/>
            <a:ext cx="680314" cy="349228"/>
          </a:xfrm>
          <a:prstGeom prst="rect">
            <a:avLst/>
          </a:prstGeom>
          <a:solidFill>
            <a:srgbClr val="FFFFFF"/>
          </a:solidFill>
          <a:ln/>
        </p:spPr>
        <p:txBody>
          <a:bodyPr wrap="square" lIns="25400" tIns="25400" rIns="25400" bIns="25400" rtlCol="0" anchor="ctr"/>
          <a:lstStyle/>
          <a:p>
            <a:pPr algn="ctr" indent="0" marL="0">
              <a:buNone/>
            </a:pPr>
            <a:r>
              <a:rPr lang="en-US" sz="1000" b="1" dirty="0">
                <a:solidFill>
                  <a:srgbClr val="111111"/>
                </a:solidFill>
              </a:rPr>
              <a:t>MY SAVINGS</a:t>
            </a:r>
            <a:endParaRPr lang="en-US" sz="1000" dirty="0"/>
          </a:p>
        </p:txBody>
      </p:sp>
      <p:sp>
        <p:nvSpPr>
          <p:cNvPr id="9" name="Body"/>
          <p:cNvSpPr txBox="1"/>
          <p:nvPr/>
        </p:nvSpPr>
        <p:spPr>
          <a:xfrm>
            <a:off x="731520" y="3566160"/>
            <a:ext cx="4937760" cy="1371600"/>
          </a:xfrm>
          <a:prstGeom prst="rect">
            <a:avLst/>
          </a:prstGeom>
          <a:noFill/>
          <a:ln/>
        </p:spPr>
        <p:txBody>
          <a:bodyPr wrap="square" lIns="0" tIns="0" rIns="0" bIns="0" rtlCol="0" anchor="t"/>
          <a:lstStyle/>
          <a:p>
            <a:pPr algn="l" marL="228600" indent="-228600">
              <a:spcAft>
                <a:spcPts val="1000"/>
              </a:spcAft>
              <a:buSzPct val="100000"/>
              <a:buChar char="•"/>
            </a:pPr>
            <a:r>
              <a:rPr lang="en-US" sz="2000" dirty="0">
                <a:solidFill>
                  <a:srgbClr val="E2E8F0"/>
                </a:solidFill>
              </a:rPr>
              <a:t>Savings lose value every year</a:t>
            </a:r>
            <a:endParaRPr lang="en-US" sz="2000" dirty="0"/>
          </a:p>
          <a:p>
            <a:pPr algn="l" marL="228600" indent="-228600">
              <a:spcAft>
                <a:spcPts val="1000"/>
              </a:spcAft>
              <a:buSzPct val="100000"/>
              <a:buChar char="•"/>
            </a:pPr>
            <a:r>
              <a:rPr lang="en-US" sz="2000" dirty="0">
                <a:solidFill>
                  <a:srgbClr val="E2E8F0"/>
                </a:solidFill>
              </a:rPr>
              <a:t>Pensions alone will not be enough</a:t>
            </a:r>
            <a:endParaRPr lang="en-US" sz="20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4937760" cy="365760"/>
          </a:xfrm>
          <a:prstGeom prst="rect">
            <a:avLst/>
          </a:prstGeom>
          <a:noFill/>
          <a:ln/>
        </p:spPr>
        <p:txBody>
          <a:bodyPr wrap="square" rtlCol="0"/>
          <a:lstStyle/>
          <a:p>
            <a:pPr indent="0" marL="0">
              <a:buNone/>
            </a:pPr>
            <a:r>
              <a:rPr lang="en-US" sz="1400" b="1" spc="200" kern="0" dirty="0">
                <a:solidFill>
                  <a:srgbClr val="93C5FD"/>
                </a:solidFill>
              </a:rPr>
              <a:t>THE DÖNER INDEX</a:t>
            </a:r>
            <a:endParaRPr lang="en-US" sz="1400" dirty="0"/>
          </a:p>
        </p:txBody>
      </p:sp>
      <p:sp>
        <p:nvSpPr>
          <p:cNvPr id="3" name="Text 0"/>
          <p:cNvSpPr/>
          <p:nvPr>
            <p:ph idx="101" type="title" hasCustomPrompt="1"/>
          </p:nvPr>
        </p:nvSpPr>
        <p:spPr>
          <a:xfrm>
            <a:off x="731520" y="1280160"/>
            <a:ext cx="4937760" cy="2194560"/>
          </a:xfrm>
          <a:prstGeom prst="rect">
            <a:avLst/>
          </a:prstGeom>
          <a:noFill/>
          <a:ln/>
        </p:spPr>
        <p:txBody>
          <a:bodyPr wrap="square" rtlCol="0" anchor="t"/>
          <a:lstStyle/>
          <a:p>
            <a:pPr algn="l" indent="0" marL="0">
              <a:buNone/>
            </a:pPr>
            <a:r>
              <a:rPr lang="en-US" sz="4000" b="1" dirty="0">
                <a:solidFill>
                  <a:srgbClr val="FFFFFF"/>
                </a:solidFill>
              </a:rPr>
              <a:t>€100 today buys about €76 of goods in 2035, and €48 in 2050</a:t>
            </a:r>
            <a:endParaRPr lang="en-US" sz="4000" dirty="0"/>
          </a:p>
        </p:txBody>
      </p:sp>
      <p:pic>
        <p:nvPicPr>
          <p:cNvPr id="4" name="Photo" descr="Two film stills: a full table in 2016 and a nearly empty one in 2026">    </p:cNvPr>
          <p:cNvPicPr>
            <a:picLocks noChangeAspect="1"/>
          </p:cNvPicPr>
          <p:nvPr/>
        </p:nvPicPr>
        <p:blipFill>
          <a:blip r:embed="rId1"/>
          <a:stretch>
            <a:fillRect/>
          </a:stretch>
        </p:blipFill>
        <p:spPr>
          <a:xfrm>
            <a:off x="7349909" y="1280160"/>
            <a:ext cx="4308691" cy="4937760"/>
          </a:xfrm>
          <a:prstGeom prst="rect">
            <a:avLst/>
          </a:prstGeom>
        </p:spPr>
      </p:pic>
      <p:sp>
        <p:nvSpPr>
          <p:cNvPr id="5" name="Caption"/>
          <p:cNvSpPr txBox="1"/>
          <p:nvPr/>
        </p:nvSpPr>
        <p:spPr>
          <a:xfrm>
            <a:off x="9692640" y="3279953"/>
            <a:ext cx="1874520" cy="384048"/>
          </a:xfrm>
          <a:prstGeom prst="rect">
            <a:avLst/>
          </a:prstGeom>
          <a:solidFill>
            <a:srgbClr val="F5F1E8"/>
          </a:solidFill>
          <a:ln/>
        </p:spPr>
        <p:txBody>
          <a:bodyPr wrap="square" lIns="0" tIns="0" rIns="0" bIns="0" rtlCol="0" anchor="ctr"/>
          <a:lstStyle/>
          <a:p>
            <a:pPr algn="ctr" indent="0" marL="0">
              <a:buNone/>
            </a:pPr>
            <a:r>
              <a:rPr lang="en-US" sz="1600" b="1" dirty="0">
                <a:solidFill>
                  <a:srgbClr val="111111"/>
                </a:solidFill>
              </a:rPr>
              <a:t>With €20 in 2016</a:t>
            </a:r>
            <a:endParaRPr lang="en-US" sz="1600" dirty="0"/>
          </a:p>
        </p:txBody>
      </p:sp>
      <p:sp>
        <p:nvSpPr>
          <p:cNvPr id="6" name="Caption"/>
          <p:cNvSpPr txBox="1"/>
          <p:nvPr/>
        </p:nvSpPr>
        <p:spPr>
          <a:xfrm>
            <a:off x="9692640" y="5724144"/>
            <a:ext cx="1874520" cy="384048"/>
          </a:xfrm>
          <a:prstGeom prst="rect">
            <a:avLst/>
          </a:prstGeom>
          <a:solidFill>
            <a:srgbClr val="F5F1E8"/>
          </a:solidFill>
          <a:ln/>
        </p:spPr>
        <p:txBody>
          <a:bodyPr wrap="square" lIns="0" tIns="0" rIns="0" bIns="0" rtlCol="0" anchor="ctr"/>
          <a:lstStyle/>
          <a:p>
            <a:pPr algn="ctr" indent="0" marL="0">
              <a:buNone/>
            </a:pPr>
            <a:r>
              <a:rPr lang="en-US" sz="1600" b="1" dirty="0">
                <a:solidFill>
                  <a:srgbClr val="111111"/>
                </a:solidFill>
              </a:rPr>
              <a:t>With €20 in 2026</a:t>
            </a:r>
            <a:endParaRPr lang="en-US" sz="1600" dirty="0"/>
          </a:p>
        </p:txBody>
      </p:sp>
      <p:sp>
        <p:nvSpPr>
          <p:cNvPr id="7" name="Assumption"/>
          <p:cNvSpPr txBox="1"/>
          <p:nvPr/>
        </p:nvSpPr>
        <p:spPr>
          <a:xfrm>
            <a:off x="731520" y="3657600"/>
            <a:ext cx="5120640" cy="731520"/>
          </a:xfrm>
          <a:prstGeom prst="rect">
            <a:avLst/>
          </a:prstGeom>
          <a:noFill/>
          <a:ln/>
        </p:spPr>
        <p:txBody>
          <a:bodyPr wrap="square" lIns="0" tIns="0" rIns="0" bIns="0" rtlCol="0" anchor="t"/>
          <a:lstStyle/>
          <a:p>
            <a:pPr algn="l" indent="0" marL="0">
              <a:buNone/>
            </a:pPr>
            <a:r>
              <a:rPr lang="en-US" sz="1800" dirty="0">
                <a:solidFill>
                  <a:srgbClr val="93C5FD"/>
                </a:solidFill>
              </a:rPr>
              <a:t>If prices rise 3% a year and savings earn 0%.</a:t>
            </a:r>
            <a:endParaRPr lang="en-US" sz="18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4937760" cy="365760"/>
          </a:xfrm>
          <a:prstGeom prst="rect">
            <a:avLst/>
          </a:prstGeom>
          <a:noFill/>
          <a:ln/>
        </p:spPr>
        <p:txBody>
          <a:bodyPr wrap="square" rtlCol="0"/>
          <a:lstStyle/>
          <a:p>
            <a:pPr indent="0" marL="0">
              <a:buNone/>
            </a:pPr>
            <a:r>
              <a:rPr lang="en-US" sz="1400" b="1" spc="200" kern="0" dirty="0">
                <a:solidFill>
                  <a:srgbClr val="93C5FD"/>
                </a:solidFill>
              </a:rPr>
              <a:t>THE OPPORTUNITY</a:t>
            </a:r>
            <a:endParaRPr lang="en-US" sz="1400" dirty="0"/>
          </a:p>
        </p:txBody>
      </p:sp>
      <p:sp>
        <p:nvSpPr>
          <p:cNvPr id="3" name="Text 0"/>
          <p:cNvSpPr/>
          <p:nvPr>
            <p:ph idx="101" type="title" hasCustomPrompt="1"/>
          </p:nvPr>
        </p:nvSpPr>
        <p:spPr>
          <a:xfrm>
            <a:off x="731520" y="1280160"/>
            <a:ext cx="4937760" cy="2194560"/>
          </a:xfrm>
          <a:prstGeom prst="rect">
            <a:avLst/>
          </a:prstGeom>
          <a:noFill/>
          <a:ln/>
        </p:spPr>
        <p:txBody>
          <a:bodyPr wrap="square" rtlCol="0" anchor="t"/>
          <a:lstStyle/>
          <a:p>
            <a:pPr algn="l" indent="0" marL="0">
              <a:buNone/>
            </a:pPr>
            <a:r>
              <a:rPr lang="en-US" sz="4000" b="1" dirty="0">
                <a:solidFill>
                  <a:srgbClr val="FFFFFF"/>
                </a:solidFill>
              </a:rPr>
              <a:t>We saw an opportunity</a:t>
            </a:r>
            <a:endParaRPr lang="en-US" sz="4000" dirty="0"/>
          </a:p>
        </p:txBody>
      </p:sp>
      <p:pic>
        <p:nvPicPr>
          <p:cNvPr id="4" name="Meme" descr="Disaster girl meme">    </p:cNvPr>
          <p:cNvPicPr>
            <a:picLocks noChangeAspect="1"/>
          </p:cNvPicPr>
          <p:nvPr/>
        </p:nvPicPr>
        <p:blipFill>
          <a:blip r:embed="rId1"/>
          <a:stretch>
            <a:fillRect/>
          </a:stretch>
        </p:blipFill>
        <p:spPr>
          <a:xfrm>
            <a:off x="5989320" y="1280160"/>
            <a:ext cx="5669280" cy="3188970"/>
          </a:xfrm>
          <a:prstGeom prst="rect">
            <a:avLst/>
          </a:prstGeom>
        </p:spPr>
      </p:pic>
      <p:sp>
        <p:nvSpPr>
          <p:cNvPr id="5" name="Body"/>
          <p:cNvSpPr txBox="1"/>
          <p:nvPr/>
        </p:nvSpPr>
        <p:spPr>
          <a:xfrm>
            <a:off x="731520" y="2743200"/>
            <a:ext cx="4937760" cy="1463040"/>
          </a:xfrm>
          <a:prstGeom prst="rect">
            <a:avLst/>
          </a:prstGeom>
          <a:noFill/>
          <a:ln/>
        </p:spPr>
        <p:txBody>
          <a:bodyPr wrap="square" lIns="0" tIns="0" rIns="0" bIns="0" rtlCol="0" anchor="t"/>
          <a:lstStyle/>
          <a:p>
            <a:pPr algn="l" marL="228600" indent="-228600">
              <a:spcAft>
                <a:spcPts val="1000"/>
              </a:spcAft>
              <a:buSzPct val="100000"/>
              <a:buChar char="•"/>
            </a:pPr>
            <a:r>
              <a:rPr lang="en-US" sz="2000" dirty="0">
                <a:solidFill>
                  <a:srgbClr val="E2E8F0"/>
                </a:solidFill>
              </a:rPr>
              <a:t>Germany is building a capital-funded pension</a:t>
            </a:r>
            <a:endParaRPr lang="en-US" sz="2000" dirty="0"/>
          </a:p>
          <a:p>
            <a:pPr algn="l" marL="228600" indent="-228600">
              <a:spcAft>
                <a:spcPts val="1000"/>
              </a:spcAft>
              <a:buSzPct val="100000"/>
              <a:buChar char="•"/>
            </a:pPr>
            <a:r>
              <a:rPr lang="en-US" sz="2000" dirty="0">
                <a:solidFill>
                  <a:srgbClr val="E2E8F0"/>
                </a:solidFill>
              </a:rPr>
              <a:t>Someone has to decide how to invest it</a:t>
            </a:r>
            <a:endParaRPr lang="en-US" sz="20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10698480" cy="365760"/>
          </a:xfrm>
          <a:prstGeom prst="rect">
            <a:avLst/>
          </a:prstGeom>
          <a:noFill/>
          <a:ln/>
        </p:spPr>
        <p:txBody>
          <a:bodyPr wrap="square" rtlCol="0"/>
          <a:lstStyle/>
          <a:p>
            <a:pPr indent="0" marL="0">
              <a:buNone/>
            </a:pPr>
            <a:r>
              <a:rPr lang="en-US" sz="1400" b="1" spc="200" kern="0" dirty="0">
                <a:solidFill>
                  <a:srgbClr val="93C5FD"/>
                </a:solidFill>
              </a:rPr>
              <a:t>DISCLAIMER</a:t>
            </a:r>
            <a:endParaRPr lang="en-US" sz="1400" dirty="0"/>
          </a:p>
        </p:txBody>
      </p:sp>
      <p:sp>
        <p:nvSpPr>
          <p:cNvPr id="3" name="Text 0"/>
          <p:cNvSpPr/>
          <p:nvPr>
            <p:ph idx="101" type="title" hasCustomPrompt="1"/>
          </p:nvPr>
        </p:nvSpPr>
        <p:spPr>
          <a:xfrm>
            <a:off x="731520" y="1280160"/>
            <a:ext cx="10698480" cy="1371600"/>
          </a:xfrm>
          <a:prstGeom prst="rect">
            <a:avLst/>
          </a:prstGeom>
          <a:noFill/>
          <a:ln/>
        </p:spPr>
        <p:txBody>
          <a:bodyPr wrap="square" rtlCol="0" anchor="t"/>
          <a:lstStyle/>
          <a:p>
            <a:pPr algn="l" indent="0" marL="0">
              <a:buNone/>
            </a:pPr>
            <a:r>
              <a:rPr lang="en-US" sz="4000" b="1" dirty="0">
                <a:solidFill>
                  <a:srgbClr val="FFFFFF"/>
                </a:solidFill>
              </a:rPr>
              <a:t>We are students, not your financial advisers</a:t>
            </a:r>
            <a:endParaRPr lang="en-US" sz="4000" dirty="0"/>
          </a:p>
        </p:txBody>
      </p:sp>
      <p:sp>
        <p:nvSpPr>
          <p:cNvPr id="4" name="Body"/>
          <p:cNvSpPr txBox="1"/>
          <p:nvPr/>
        </p:nvSpPr>
        <p:spPr>
          <a:xfrm>
            <a:off x="731520" y="2834640"/>
            <a:ext cx="10058400" cy="1280160"/>
          </a:xfrm>
          <a:prstGeom prst="rect">
            <a:avLst/>
          </a:prstGeom>
          <a:noFill/>
          <a:ln/>
        </p:spPr>
        <p:txBody>
          <a:bodyPr wrap="square" lIns="0" tIns="0" rIns="0" bIns="0" rtlCol="0" anchor="t"/>
          <a:lstStyle/>
          <a:p>
            <a:pPr algn="l" indent="0" marL="0">
              <a:buNone/>
            </a:pPr>
            <a:r>
              <a:rPr lang="en-US" sz="2400" dirty="0">
                <a:solidFill>
                  <a:srgbClr val="E2E8F0"/>
                </a:solidFill>
              </a:rPr>
              <a:t>This is a teaching model, not financial advice. If it were, our own portfolios wouldn't be this red. ⚠️</a:t>
            </a:r>
            <a:endParaRPr lang="en-US" sz="24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10698480" cy="365760"/>
          </a:xfrm>
          <a:prstGeom prst="rect">
            <a:avLst/>
          </a:prstGeom>
          <a:noFill/>
          <a:ln/>
        </p:spPr>
        <p:txBody>
          <a:bodyPr wrap="square" rtlCol="0"/>
          <a:lstStyle/>
          <a:p>
            <a:pPr indent="0" marL="0">
              <a:buNone/>
            </a:pPr>
            <a:r>
              <a:rPr lang="en-US" sz="1400" b="1" spc="200" kern="0" dirty="0">
                <a:solidFill>
                  <a:srgbClr val="93C5FD"/>
                </a:solidFill>
              </a:rPr>
              <a:t>OUR CLIENT</a:t>
            </a:r>
            <a:endParaRPr lang="en-US" sz="1400" dirty="0"/>
          </a:p>
        </p:txBody>
      </p:sp>
      <p:sp>
        <p:nvSpPr>
          <p:cNvPr id="3" name="Text 0"/>
          <p:cNvSpPr/>
          <p:nvPr>
            <p:ph idx="101" type="title" hasCustomPrompt="1"/>
          </p:nvPr>
        </p:nvSpPr>
        <p:spPr>
          <a:xfrm>
            <a:off x="731520" y="1280160"/>
            <a:ext cx="10698480" cy="1371600"/>
          </a:xfrm>
          <a:prstGeom prst="rect">
            <a:avLst/>
          </a:prstGeom>
          <a:noFill/>
          <a:ln/>
        </p:spPr>
        <p:txBody>
          <a:bodyPr wrap="square" rtlCol="0" anchor="t"/>
          <a:lstStyle/>
          <a:p>
            <a:pPr algn="l" indent="0" marL="0">
              <a:buNone/>
            </a:pPr>
            <a:r>
              <a:rPr lang="en-US" sz="4000" b="1" dirty="0">
                <a:solidFill>
                  <a:srgbClr val="FFFFFF"/>
                </a:solidFill>
              </a:rPr>
              <a:t>The investment committee of Germany's new pension fund</a:t>
            </a:r>
            <a:endParaRPr lang="en-US" sz="4000" dirty="0"/>
          </a:p>
        </p:txBody>
      </p:sp>
      <p:sp>
        <p:nvSpPr>
          <p:cNvPr id="4" name="Stat"/>
          <p:cNvSpPr txBox="1"/>
          <p:nvPr/>
        </p:nvSpPr>
        <p:spPr>
          <a:xfrm>
            <a:off x="731520" y="2926080"/>
            <a:ext cx="3291840" cy="1828800"/>
          </a:xfrm>
          <a:prstGeom prst="rect">
            <a:avLst/>
          </a:prstGeom>
          <a:noFill/>
          <a:ln/>
        </p:spPr>
        <p:txBody>
          <a:bodyPr wrap="square" lIns="0" tIns="0" rIns="0" bIns="0" rtlCol="0" anchor="t"/>
          <a:lstStyle/>
          <a:p>
            <a:pPr algn="l" indent="0" marL="0">
              <a:buNone/>
            </a:pPr>
            <a:r>
              <a:rPr lang="en-US" sz="6000" b="1" dirty="0">
                <a:solidFill>
                  <a:srgbClr val="93C5FD"/>
                </a:solidFill>
              </a:rPr>
              <a:t>2%</a:t>
            </a:r>
            <a:endParaRPr lang="en-US" sz="6000" dirty="0"/>
          </a:p>
          <a:p>
            <a:pPr algn="l" indent="0" marL="0">
              <a:buNone/>
            </a:pPr>
            <a:r>
              <a:rPr lang="en-US" sz="1800" dirty="0">
                <a:solidFill>
                  <a:srgbClr val="E2E8F0"/>
                </a:solidFill>
              </a:rPr>
              <a:t>of gross wages go into a public fund</a:t>
            </a:r>
            <a:endParaRPr lang="en-US" sz="6000" dirty="0"/>
          </a:p>
        </p:txBody>
      </p:sp>
      <p:sp>
        <p:nvSpPr>
          <p:cNvPr id="5" name="Stat"/>
          <p:cNvSpPr txBox="1"/>
          <p:nvPr/>
        </p:nvSpPr>
        <p:spPr>
          <a:xfrm>
            <a:off x="4389120" y="2926080"/>
            <a:ext cx="3291840" cy="1828800"/>
          </a:xfrm>
          <a:prstGeom prst="rect">
            <a:avLst/>
          </a:prstGeom>
          <a:noFill/>
          <a:ln/>
        </p:spPr>
        <p:txBody>
          <a:bodyPr wrap="square" lIns="0" tIns="0" rIns="0" bIns="0" rtlCol="0" anchor="t"/>
          <a:lstStyle/>
          <a:p>
            <a:pPr algn="l" indent="0" marL="0">
              <a:buNone/>
            </a:pPr>
            <a:r>
              <a:rPr lang="en-US" sz="6000" b="1" dirty="0">
                <a:solidFill>
                  <a:srgbClr val="93C5FD"/>
                </a:solidFill>
              </a:rPr>
              <a:t>2028</a:t>
            </a:r>
            <a:endParaRPr lang="en-US" sz="6000" dirty="0"/>
          </a:p>
          <a:p>
            <a:pPr algn="l" indent="0" marL="0">
              <a:buNone/>
            </a:pPr>
            <a:r>
              <a:rPr lang="en-US" sz="1800" dirty="0">
                <a:solidFill>
                  <a:srgbClr val="E2E8F0"/>
                </a:solidFill>
              </a:rPr>
              <a:t>the year it starts</a:t>
            </a:r>
            <a:endParaRPr lang="en-US" sz="6000" dirty="0"/>
          </a:p>
        </p:txBody>
      </p:sp>
      <p:sp>
        <p:nvSpPr>
          <p:cNvPr id="6" name="Stat"/>
          <p:cNvSpPr txBox="1"/>
          <p:nvPr/>
        </p:nvSpPr>
        <p:spPr>
          <a:xfrm>
            <a:off x="8046720" y="2926080"/>
            <a:ext cx="3291840" cy="1828800"/>
          </a:xfrm>
          <a:prstGeom prst="rect">
            <a:avLst/>
          </a:prstGeom>
          <a:noFill/>
          <a:ln/>
        </p:spPr>
        <p:txBody>
          <a:bodyPr wrap="square" lIns="0" tIns="0" rIns="0" bIns="0" rtlCol="0" anchor="t"/>
          <a:lstStyle/>
          <a:p>
            <a:pPr algn="l" indent="0" marL="0">
              <a:buNone/>
            </a:pPr>
            <a:r>
              <a:rPr lang="en-US" sz="6000" b="1" dirty="0">
                <a:solidFill>
                  <a:srgbClr val="93C5FD"/>
                </a:solidFill>
              </a:rPr>
              <a:t>0</a:t>
            </a:r>
            <a:endParaRPr lang="en-US" sz="6000" dirty="0"/>
          </a:p>
          <a:p>
            <a:pPr algn="l" indent="0" marL="0">
              <a:buNone/>
            </a:pPr>
            <a:r>
              <a:rPr lang="en-US" sz="1800" dirty="0">
                <a:solidFill>
                  <a:srgbClr val="E2E8F0"/>
                </a:solidFill>
              </a:rPr>
              <a:t>guarantees: losses hit savers</a:t>
            </a:r>
            <a:endParaRPr lang="en-US" sz="6000" dirty="0"/>
          </a:p>
        </p:txBody>
      </p:sp>
      <p:sp>
        <p:nvSpPr>
          <p:cNvPr id="7" name="Body"/>
          <p:cNvSpPr txBox="1"/>
          <p:nvPr/>
        </p:nvSpPr>
        <p:spPr>
          <a:xfrm>
            <a:off x="731520" y="5120640"/>
            <a:ext cx="10698480" cy="548640"/>
          </a:xfrm>
          <a:prstGeom prst="rect">
            <a:avLst/>
          </a:prstGeom>
          <a:noFill/>
          <a:ln/>
        </p:spPr>
        <p:txBody>
          <a:bodyPr wrap="square" lIns="0" tIns="0" rIns="0" bIns="0" rtlCol="0" anchor="t"/>
          <a:lstStyle/>
          <a:p>
            <a:pPr algn="l" indent="0" marL="0">
              <a:buNone/>
            </a:pPr>
            <a:r>
              <a:rPr lang="en-US" sz="1800" dirty="0">
                <a:solidFill>
                  <a:srgbClr val="93C5FD"/>
                </a:solidFill>
              </a:rPr>
              <a:t>Its independent committee decides how the money is invested. We help it with one decision.</a:t>
            </a:r>
            <a:endParaRPr lang="en-US" sz="18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GIF" descr="Pink Panther painting a wall">    </p:cNvPr>
          <p:cNvPicPr>
            <a:picLocks noChangeAspect="1"/>
          </p:cNvPicPr>
          <p:nvPr/>
        </p:nvPicPr>
        <p:blipFill>
          <a:blip r:embed="rId1"/>
          <a:srcRect l="0" r="0" t="0" b="13333"/>
          <a:stretch/>
        </p:blipFill>
        <p:spPr>
          <a:xfrm>
            <a:off x="2441448" y="1051560"/>
            <a:ext cx="7315200" cy="4754880"/>
          </a:xfrm>
          <a:prstGeom prst="rect">
            <a:avLst/>
          </a:prstGeom>
        </p:spPr>
      </p:pic>
      <p:sp>
        <p:nvSpPr>
          <p:cNvPr id="4" name="Text 0"/>
          <p:cNvSpPr/>
          <p:nvPr>
            <p:ph idx="100" type="body" hasCustomPrompt="1"/>
          </p:nvPr>
        </p:nvSpPr>
        <p:spPr>
          <a:xfrm>
            <a:off x="731520" y="822960"/>
            <a:ext cx="10698480" cy="365760"/>
          </a:xfrm>
          <a:prstGeom prst="rect">
            <a:avLst/>
          </a:prstGeom>
          <a:noFill/>
          <a:ln/>
        </p:spPr>
        <p:txBody>
          <a:bodyPr wrap="square" rtlCol="0"/>
          <a:lstStyle/>
          <a:p>
            <a:pPr indent="0" marL="0">
              <a:buNone/>
            </a:pPr>
            <a:endParaRPr lang="en-US" sz="1400" dirty="0"/>
          </a:p>
        </p:txBody>
      </p:sp>
      <p:sp>
        <p:nvSpPr>
          <p:cNvPr id="5" name="Text 0"/>
          <p:cNvSpPr/>
          <p:nvPr>
            <p:ph idx="101" type="title" hasCustomPrompt="1"/>
          </p:nvPr>
        </p:nvSpPr>
        <p:spPr>
          <a:xfrm>
            <a:off x="731520" y="1280160"/>
            <a:ext cx="10698480" cy="1371600"/>
          </a:xfrm>
          <a:prstGeom prst="rect">
            <a:avLst/>
          </a:prstGeom>
          <a:noFill/>
          <a:ln/>
        </p:spPr>
        <p:txBody>
          <a:bodyPr wrap="square" rtlCol="0" anchor="t"/>
          <a:lstStyle/>
          <a:p>
            <a:pPr algn="l" indent="0" marL="0">
              <a:buNone/>
            </a:pPr>
            <a:endParaRPr lang="en-US" sz="40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p>
            <a:pPr indent="0" marL="0">
              <a:buNone/>
            </a:pPr>
            <a:r>
              <a:rPr lang="en-US" sz="1200" b="1" spc="200" kern="0" dirty="0">
                <a:solidFill>
                  <a:srgbClr val="2563EB"/>
                </a:solidFill>
              </a:rPr>
              <a:t>THE CHALLENGE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nchor="t"/>
          <a:lstStyle/>
          <a:p>
            <a:pPr algn="l" indent="0" marL="0">
              <a:buNone/>
            </a:pPr>
            <a:r>
              <a:rPr lang="en-US" sz="3000" b="1" dirty="0">
                <a:solidFill>
                  <a:srgbClr val="0A192F"/>
                </a:solidFill>
              </a:rPr>
              <a:t>Savers need growth, but cannot afford big losses</a:t>
            </a:r>
            <a:endParaRPr lang="en-US" sz="3000" dirty="0"/>
          </a:p>
        </p:txBody>
      </p:sp>
      <p:sp>
        <p:nvSpPr>
          <p:cNvPr id="4" name="Text 0"/>
          <p:cNvSpPr/>
          <p:nvPr>
            <p:ph idx="102" type="body" hasCustomPrompt="1"/>
          </p:nvPr>
        </p:nvSpPr>
        <p:spPr>
          <a:xfrm>
            <a:off x="548640" y="6382512"/>
            <a:ext cx="10424160" cy="274320"/>
          </a:xfrm>
          <a:prstGeom prst="rect">
            <a:avLst/>
          </a:prstGeom>
          <a:noFill/>
          <a:ln/>
        </p:spPr>
        <p:txBody>
          <a:bodyPr wrap="square" rtlCol="0"/>
          <a:lstStyle/>
          <a:p>
            <a:pPr indent="0" marL="0">
              <a:buNone/>
            </a:pPr>
            <a:r>
              <a:rPr lang="en-US" sz="900" dirty="0">
                <a:solidFill>
                  <a:srgbClr val="64748B"/>
                </a:solidFill>
              </a:rPr>
              <a:t>Source: Alterssicherungskommission (June 2026)</a:t>
            </a:r>
            <a:endParaRPr lang="en-US" sz="900" dirty="0"/>
          </a:p>
        </p:txBody>
      </p:sp>
      <p:sp>
        <p:nvSpPr>
          <p:cNvPr id="5" name="Takeaway bar"/>
          <p:cNvSpPr/>
          <p:nvPr/>
        </p:nvSpPr>
        <p:spPr>
          <a:xfrm>
            <a:off x="548640" y="5669280"/>
            <a:ext cx="11064240" cy="566928"/>
          </a:xfrm>
          <a:prstGeom prst="roundRect">
            <a:avLst>
              <a:gd name="adj" fmla="val 16129"/>
            </a:avLst>
          </a:prstGeom>
          <a:solidFill>
            <a:srgbClr val="EFF6FF"/>
          </a:solidFill>
          <a:ln w="12700">
            <a:solidFill>
              <a:srgbClr val="EFF6FF"/>
            </a:solidFill>
            <a:prstDash val="solid"/>
          </a:ln>
        </p:spPr>
      </p:sp>
      <p:sp>
        <p:nvSpPr>
          <p:cNvPr id="6" name="Takeaway"/>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800" b="1" dirty="0">
                <a:solidFill>
                  <a:srgbClr val="2563EB"/>
                </a:solidFill>
              </a:rPr>
              <a:t>Takeaway  </a:t>
            </a:r>
            <a:pPr indent="0" marL="0">
              <a:buNone/>
            </a:pPr>
            <a:r>
              <a:rPr lang="en-US" sz="1800" dirty="0">
                <a:solidFill>
                  <a:srgbClr val="0A192F"/>
                </a:solidFill>
              </a:rPr>
              <a:t>Change a pension portfolio only when the evidence is strong.</a:t>
            </a:r>
            <a:endParaRPr lang="en-US" sz="1800" dirty="0"/>
          </a:p>
        </p:txBody>
      </p:sp>
      <p:sp>
        <p:nvSpPr>
          <p:cNvPr id="7" name="Card"/>
          <p:cNvSpPr/>
          <p:nvPr/>
        </p:nvSpPr>
        <p:spPr>
          <a:xfrm>
            <a:off x="548640" y="1508760"/>
            <a:ext cx="5394960" cy="3931920"/>
          </a:xfrm>
          <a:prstGeom prst="roundRect">
            <a:avLst>
              <a:gd name="adj" fmla="val 2791"/>
            </a:avLst>
          </a:prstGeom>
          <a:solidFill>
            <a:srgbClr val="F8FAFC"/>
          </a:solidFill>
          <a:ln w="12700">
            <a:solidFill>
              <a:srgbClr val="E2E8F0"/>
            </a:solidFill>
            <a:prstDash val="solid"/>
          </a:ln>
        </p:spPr>
      </p:sp>
      <p:sp>
        <p:nvSpPr>
          <p:cNvPr id="8" name="Card"/>
          <p:cNvSpPr/>
          <p:nvPr/>
        </p:nvSpPr>
        <p:spPr>
          <a:xfrm>
            <a:off x="6217920" y="1508760"/>
            <a:ext cx="5394960" cy="3931920"/>
          </a:xfrm>
          <a:prstGeom prst="roundRect">
            <a:avLst>
              <a:gd name="adj" fmla="val 2791"/>
            </a:avLst>
          </a:prstGeom>
          <a:solidFill>
            <a:srgbClr val="F8FAFC"/>
          </a:solidFill>
          <a:ln w="12700">
            <a:solidFill>
              <a:srgbClr val="E2E8F0"/>
            </a:solidFill>
            <a:prstDash val="solid"/>
          </a:ln>
        </p:spPr>
      </p:sp>
      <p:sp>
        <p:nvSpPr>
          <p:cNvPr id="9" name="Card text"/>
          <p:cNvSpPr txBox="1"/>
          <p:nvPr/>
        </p:nvSpPr>
        <p:spPr>
          <a:xfrm>
            <a:off x="914400" y="1920240"/>
            <a:ext cx="4663440" cy="3291840"/>
          </a:xfrm>
          <a:prstGeom prst="rect">
            <a:avLst/>
          </a:prstGeom>
          <a:noFill/>
          <a:ln/>
        </p:spPr>
        <p:txBody>
          <a:bodyPr wrap="square" lIns="0" tIns="0" rIns="0" bIns="0" rtlCol="0" anchor="t"/>
          <a:lstStyle/>
          <a:p>
            <a:pPr algn="l" indent="0" marL="0">
              <a:spcAft>
                <a:spcPts val="1400"/>
              </a:spcAft>
              <a:buNone/>
            </a:pPr>
            <a:r>
              <a:rPr lang="en-US" sz="2600" b="1" dirty="0">
                <a:solidFill>
                  <a:srgbClr val="0A192F"/>
                </a:solidFill>
              </a:rPr>
              <a:t>What savers want</a:t>
            </a:r>
            <a:endParaRPr lang="en-US" sz="2600" dirty="0"/>
          </a:p>
          <a:p>
            <a:pPr algn="l" marL="228600" indent="-228600">
              <a:spcAft>
                <a:spcPts val="1400"/>
              </a:spcAft>
              <a:buSzPct val="100000"/>
              <a:buChar char="•"/>
            </a:pPr>
            <a:r>
              <a:rPr lang="en-US" sz="2200" dirty="0">
                <a:solidFill>
                  <a:srgbClr val="334155"/>
                </a:solidFill>
              </a:rPr>
              <a:t>Growth that beats inflation</a:t>
            </a:r>
            <a:endParaRPr lang="en-US" sz="2600" dirty="0"/>
          </a:p>
          <a:p>
            <a:pPr algn="l" marL="228600" indent="-228600">
              <a:spcAft>
                <a:spcPts val="1400"/>
              </a:spcAft>
              <a:buSzPct val="100000"/>
              <a:buChar char="•"/>
            </a:pPr>
            <a:r>
              <a:rPr lang="en-US" sz="2200" dirty="0">
                <a:solidFill>
                  <a:srgbClr val="334155"/>
                </a:solidFill>
              </a:rPr>
              <a:t>Safety from big losses</a:t>
            </a:r>
            <a:endParaRPr lang="en-US" sz="2600" dirty="0"/>
          </a:p>
          <a:p>
            <a:pPr algn="l" marL="228600" indent="-228600">
              <a:spcAft>
                <a:spcPts val="1400"/>
              </a:spcAft>
              <a:buSzPct val="100000"/>
              <a:buChar char="•"/>
            </a:pPr>
            <a:r>
              <a:rPr lang="en-US" sz="2200" dirty="0">
                <a:solidFill>
                  <a:srgbClr val="334155"/>
                </a:solidFill>
              </a:rPr>
              <a:t>A sensible default if they never choose</a:t>
            </a:r>
            <a:endParaRPr lang="en-US" sz="2600" dirty="0"/>
          </a:p>
        </p:txBody>
      </p:sp>
      <p:sp>
        <p:nvSpPr>
          <p:cNvPr id="10" name="Card text"/>
          <p:cNvSpPr txBox="1"/>
          <p:nvPr/>
        </p:nvSpPr>
        <p:spPr>
          <a:xfrm>
            <a:off x="6583680" y="1920240"/>
            <a:ext cx="4663440" cy="3291840"/>
          </a:xfrm>
          <a:prstGeom prst="rect">
            <a:avLst/>
          </a:prstGeom>
          <a:noFill/>
          <a:ln/>
        </p:spPr>
        <p:txBody>
          <a:bodyPr wrap="square" lIns="0" tIns="0" rIns="0" bIns="0" rtlCol="0" anchor="t"/>
          <a:lstStyle/>
          <a:p>
            <a:pPr algn="l" indent="0" marL="0">
              <a:spcAft>
                <a:spcPts val="1400"/>
              </a:spcAft>
              <a:buNone/>
            </a:pPr>
            <a:r>
              <a:rPr lang="en-US" sz="2600" b="1" dirty="0">
                <a:solidFill>
                  <a:srgbClr val="2563EB"/>
                </a:solidFill>
              </a:rPr>
              <a:t>Our questions</a:t>
            </a:r>
            <a:endParaRPr lang="en-US" sz="2600" dirty="0"/>
          </a:p>
          <a:p>
            <a:pPr algn="l" marL="228600" indent="-228600">
              <a:spcAft>
                <a:spcPts val="1400"/>
              </a:spcAft>
              <a:buSzPct val="100000"/>
              <a:buChar char="•"/>
            </a:pPr>
            <a:r>
              <a:rPr lang="en-US" sz="2200" dirty="0">
                <a:solidFill>
                  <a:srgbClr val="334155"/>
                </a:solidFill>
              </a:rPr>
              <a:t>Is tech worth the extra risk?</a:t>
            </a:r>
            <a:endParaRPr lang="en-US" sz="2600" dirty="0"/>
          </a:p>
          <a:p>
            <a:pPr algn="l" marL="228600" indent="-228600">
              <a:spcAft>
                <a:spcPts val="1400"/>
              </a:spcAft>
              <a:buSzPct val="100000"/>
              <a:buChar char="•"/>
            </a:pPr>
            <a:r>
              <a:rPr lang="en-US" sz="2200" dirty="0">
                <a:solidFill>
                  <a:srgbClr val="334155"/>
                </a:solidFill>
              </a:rPr>
              <a:t>Do losses stay within each saver's limit?</a:t>
            </a:r>
            <a:endParaRPr lang="en-US" sz="2600" dirty="0"/>
          </a:p>
          <a:p>
            <a:pPr algn="l" marL="228600" indent="-228600">
              <a:spcAft>
                <a:spcPts val="1400"/>
              </a:spcAft>
              <a:buSzPct val="100000"/>
              <a:buChar char="•"/>
            </a:pPr>
            <a:r>
              <a:rPr lang="en-US" sz="2200" dirty="0">
                <a:solidFill>
                  <a:srgbClr val="334155"/>
                </a:solidFill>
              </a:rPr>
              <a:t>Who protects people who never choose?</a:t>
            </a:r>
            <a:endParaRPr lang="en-US" sz="26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p>
            <a:pPr indent="0" marL="0">
              <a:buNone/>
            </a:pPr>
            <a:r>
              <a:rPr lang="en-US" sz="1200" b="1" spc="200" kern="0" dirty="0">
                <a:solidFill>
                  <a:srgbClr val="2563EB"/>
                </a:solidFill>
              </a:rPr>
              <a:t>THE SETUP</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nchor="t"/>
          <a:lstStyle/>
          <a:p>
            <a:pPr algn="l" indent="0" marL="0">
              <a:buNone/>
            </a:pPr>
            <a:r>
              <a:rPr lang="en-US" sz="3000" b="1" dirty="0">
                <a:solidFill>
                  <a:srgbClr val="0A192F"/>
                </a:solidFill>
              </a:rPr>
              <a:t>We decide one small slice: 3 of 6 sectors</a:t>
            </a:r>
            <a:endParaRPr lang="en-US" sz="3000" dirty="0"/>
          </a:p>
        </p:txBody>
      </p:sp>
      <p:sp>
        <p:nvSpPr>
          <p:cNvPr id="4" name="Text 0"/>
          <p:cNvSpPr/>
          <p:nvPr>
            <p:ph idx="102" type="body" hasCustomPrompt="1"/>
          </p:nvPr>
        </p:nvSpPr>
        <p:spPr>
          <a:xfrm>
            <a:off x="548640" y="6382512"/>
            <a:ext cx="10424160" cy="274320"/>
          </a:xfrm>
          <a:prstGeom prst="rect">
            <a:avLst/>
          </a:prstGeom>
          <a:noFill/>
          <a:ln/>
        </p:spPr>
        <p:txBody>
          <a:bodyPr wrap="square" rtlCol="0"/>
          <a:lstStyle/>
          <a:p>
            <a:pPr indent="0" marL="0">
              <a:buNone/>
            </a:pPr>
            <a:r>
              <a:rPr lang="en-US" sz="900" dirty="0">
                <a:solidFill>
                  <a:srgbClr val="64748B"/>
                </a:solidFill>
              </a:rPr>
              <a:t>Source: our canonical run (results/canonical) · data: Kenneth French, 6 US industries, Jan 2015–Dec 2019</a:t>
            </a:r>
            <a:endParaRPr lang="en-US" sz="900" dirty="0"/>
          </a:p>
        </p:txBody>
      </p:sp>
      <p:sp>
        <p:nvSpPr>
          <p:cNvPr id="5" name="Takeaway bar"/>
          <p:cNvSpPr/>
          <p:nvPr/>
        </p:nvSpPr>
        <p:spPr>
          <a:xfrm>
            <a:off x="548640" y="5669280"/>
            <a:ext cx="11064240" cy="566928"/>
          </a:xfrm>
          <a:prstGeom prst="roundRect">
            <a:avLst>
              <a:gd name="adj" fmla="val 16129"/>
            </a:avLst>
          </a:prstGeom>
          <a:solidFill>
            <a:srgbClr val="EFF6FF"/>
          </a:solidFill>
          <a:ln w="12700">
            <a:solidFill>
              <a:srgbClr val="EFF6FF"/>
            </a:solidFill>
            <a:prstDash val="solid"/>
          </a:ln>
        </p:spPr>
      </p:sp>
      <p:sp>
        <p:nvSpPr>
          <p:cNvPr id="6" name="Takeaway"/>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800" b="1" dirty="0">
                <a:solidFill>
                  <a:srgbClr val="2563EB"/>
                </a:solidFill>
              </a:rPr>
              <a:t>Takeaway  </a:t>
            </a:r>
            <a:pPr indent="0" marL="0">
              <a:buNone/>
            </a:pPr>
            <a:r>
              <a:rPr lang="en-US" sz="1800" dirty="0">
                <a:solidFill>
                  <a:srgbClr val="0A192F"/>
                </a:solidFill>
              </a:rPr>
              <a:t>A small, checkable decision. We claim no quantum advantage.</a:t>
            </a:r>
            <a:endParaRPr lang="en-US" sz="1800" dirty="0"/>
          </a:p>
        </p:txBody>
      </p:sp>
      <p:sp>
        <p:nvSpPr>
          <p:cNvPr id="7" name="Card"/>
          <p:cNvSpPr/>
          <p:nvPr/>
        </p:nvSpPr>
        <p:spPr>
          <a:xfrm>
            <a:off x="548640" y="1508760"/>
            <a:ext cx="3566160" cy="3931920"/>
          </a:xfrm>
          <a:prstGeom prst="roundRect">
            <a:avLst>
              <a:gd name="adj" fmla="val 3077"/>
            </a:avLst>
          </a:prstGeom>
          <a:solidFill>
            <a:srgbClr val="F8FAFC"/>
          </a:solidFill>
          <a:ln w="12700">
            <a:solidFill>
              <a:srgbClr val="E2E8F0"/>
            </a:solidFill>
            <a:prstDash val="solid"/>
          </a:ln>
        </p:spPr>
      </p:sp>
      <p:sp>
        <p:nvSpPr>
          <p:cNvPr id="8" name="Tile text"/>
          <p:cNvSpPr txBox="1"/>
          <p:nvPr/>
        </p:nvSpPr>
        <p:spPr>
          <a:xfrm>
            <a:off x="868680" y="1920240"/>
            <a:ext cx="2926080" cy="3383280"/>
          </a:xfrm>
          <a:prstGeom prst="rect">
            <a:avLst/>
          </a:prstGeom>
          <a:noFill/>
          <a:ln/>
        </p:spPr>
        <p:txBody>
          <a:bodyPr wrap="square" lIns="0" tIns="0" rIns="0" bIns="0" rtlCol="0" anchor="t"/>
          <a:lstStyle/>
          <a:p>
            <a:pPr algn="l" indent="0" marL="0">
              <a:buNone/>
            </a:pPr>
            <a:r>
              <a:rPr lang="en-US" sz="7200" b="1" dirty="0">
                <a:solidFill>
                  <a:srgbClr val="0A192F"/>
                </a:solidFill>
              </a:rPr>
              <a:t>90%</a:t>
            </a:r>
            <a:endParaRPr lang="en-US" sz="7200" dirty="0"/>
          </a:p>
          <a:p>
            <a:pPr algn="l" indent="0" marL="0">
              <a:spcAft>
                <a:spcPts val="800"/>
              </a:spcAft>
              <a:buNone/>
            </a:pPr>
            <a:r>
              <a:rPr lang="en-US" sz="2200" b="1" dirty="0">
                <a:solidFill>
                  <a:srgbClr val="0A192F"/>
                </a:solidFill>
              </a:rPr>
              <a:t>Core: a broad global index</a:t>
            </a:r>
            <a:endParaRPr lang="en-US" sz="7200" dirty="0"/>
          </a:p>
          <a:p>
            <a:pPr algn="l" indent="0" marL="0">
              <a:buNone/>
            </a:pPr>
            <a:r>
              <a:rPr lang="en-US" sz="1800" dirty="0">
                <a:solidFill>
                  <a:srgbClr val="334155"/>
                </a:solidFill>
              </a:rPr>
              <a:t>We don't touch it.</a:t>
            </a:r>
            <a:endParaRPr lang="en-US" sz="7200" dirty="0"/>
          </a:p>
        </p:txBody>
      </p:sp>
      <p:sp>
        <p:nvSpPr>
          <p:cNvPr id="9" name="Card"/>
          <p:cNvSpPr/>
          <p:nvPr/>
        </p:nvSpPr>
        <p:spPr>
          <a:xfrm>
            <a:off x="4297680" y="1508760"/>
            <a:ext cx="3566160" cy="3931920"/>
          </a:xfrm>
          <a:prstGeom prst="roundRect">
            <a:avLst>
              <a:gd name="adj" fmla="val 3077"/>
            </a:avLst>
          </a:prstGeom>
          <a:solidFill>
            <a:srgbClr val="F8FAFC"/>
          </a:solidFill>
          <a:ln w="12700">
            <a:solidFill>
              <a:srgbClr val="E2E8F0"/>
            </a:solidFill>
            <a:prstDash val="solid"/>
          </a:ln>
        </p:spPr>
      </p:sp>
      <p:sp>
        <p:nvSpPr>
          <p:cNvPr id="10" name="Tile text"/>
          <p:cNvSpPr txBox="1"/>
          <p:nvPr/>
        </p:nvSpPr>
        <p:spPr>
          <a:xfrm>
            <a:off x="4617720" y="1920240"/>
            <a:ext cx="2926080" cy="3383280"/>
          </a:xfrm>
          <a:prstGeom prst="rect">
            <a:avLst/>
          </a:prstGeom>
          <a:noFill/>
          <a:ln/>
        </p:spPr>
        <p:txBody>
          <a:bodyPr wrap="square" lIns="0" tIns="0" rIns="0" bIns="0" rtlCol="0" anchor="t"/>
          <a:lstStyle/>
          <a:p>
            <a:pPr algn="l" indent="0" marL="0">
              <a:buNone/>
            </a:pPr>
            <a:r>
              <a:rPr lang="en-US" sz="7200" b="1" dirty="0">
                <a:solidFill>
                  <a:srgbClr val="2563EB"/>
                </a:solidFill>
              </a:rPr>
              <a:t>10%</a:t>
            </a:r>
            <a:endParaRPr lang="en-US" sz="7200" dirty="0"/>
          </a:p>
          <a:p>
            <a:pPr algn="l" indent="0" marL="0">
              <a:spcAft>
                <a:spcPts val="800"/>
              </a:spcAft>
              <a:buNone/>
            </a:pPr>
            <a:r>
              <a:rPr lang="en-US" sz="2200" b="1" dirty="0">
                <a:solidFill>
                  <a:srgbClr val="0A192F"/>
                </a:solidFill>
              </a:rPr>
              <a:t>Satellite: 3 of 6 US sectors</a:t>
            </a:r>
            <a:endParaRPr lang="en-US" sz="7200" dirty="0"/>
          </a:p>
          <a:p>
            <a:pPr algn="l" indent="0" marL="0">
              <a:buNone/>
            </a:pPr>
            <a:r>
              <a:rPr lang="en-US" sz="1800" dirty="0">
                <a:solidFill>
                  <a:srgbClr val="334155"/>
                </a:solidFill>
              </a:rPr>
              <a:t>Equal thirds of staples, manufacturing, energy, tech, health, utilities.</a:t>
            </a:r>
            <a:endParaRPr lang="en-US" sz="7200" dirty="0"/>
          </a:p>
        </p:txBody>
      </p:sp>
      <p:sp>
        <p:nvSpPr>
          <p:cNvPr id="11" name="Card"/>
          <p:cNvSpPr/>
          <p:nvPr/>
        </p:nvSpPr>
        <p:spPr>
          <a:xfrm>
            <a:off x="8046720" y="1508760"/>
            <a:ext cx="3566160" cy="3931920"/>
          </a:xfrm>
          <a:prstGeom prst="roundRect">
            <a:avLst>
              <a:gd name="adj" fmla="val 3077"/>
            </a:avLst>
          </a:prstGeom>
          <a:solidFill>
            <a:srgbClr val="F8FAFC"/>
          </a:solidFill>
          <a:ln w="12700">
            <a:solidFill>
              <a:srgbClr val="E2E8F0"/>
            </a:solidFill>
            <a:prstDash val="solid"/>
          </a:ln>
        </p:spPr>
      </p:sp>
      <p:sp>
        <p:nvSpPr>
          <p:cNvPr id="12" name="Tile text"/>
          <p:cNvSpPr txBox="1"/>
          <p:nvPr/>
        </p:nvSpPr>
        <p:spPr>
          <a:xfrm>
            <a:off x="8366760" y="1920240"/>
            <a:ext cx="2926080" cy="3383280"/>
          </a:xfrm>
          <a:prstGeom prst="rect">
            <a:avLst/>
          </a:prstGeom>
          <a:noFill/>
          <a:ln/>
        </p:spPr>
        <p:txBody>
          <a:bodyPr wrap="square" lIns="0" tIns="0" rIns="0" bIns="0" rtlCol="0" anchor="t"/>
          <a:lstStyle/>
          <a:p>
            <a:pPr algn="l" indent="0" marL="0">
              <a:buNone/>
            </a:pPr>
            <a:r>
              <a:rPr lang="en-US" sz="7200" b="1" dirty="0">
                <a:solidFill>
                  <a:srgbClr val="0A192F"/>
                </a:solidFill>
              </a:rPr>
              <a:t>20</a:t>
            </a:r>
            <a:endParaRPr lang="en-US" sz="7200" dirty="0"/>
          </a:p>
          <a:p>
            <a:pPr algn="l" indent="0" marL="0">
              <a:spcAft>
                <a:spcPts val="800"/>
              </a:spcAft>
              <a:buNone/>
            </a:pPr>
            <a:r>
              <a:rPr lang="en-US" sz="2200" b="1" dirty="0">
                <a:solidFill>
                  <a:srgbClr val="0A192F"/>
                </a:solidFill>
              </a:rPr>
              <a:t>possible baskets</a:t>
            </a:r>
            <a:endParaRPr lang="en-US" sz="7200" dirty="0"/>
          </a:p>
          <a:p>
            <a:pPr algn="l" indent="0" marL="0">
              <a:buNone/>
            </a:pPr>
            <a:r>
              <a:rPr lang="en-US" sz="1800" dirty="0">
                <a:solidFill>
                  <a:srgbClr val="334155"/>
                </a:solidFill>
              </a:rPr>
              <a:t>A laptop checks all of them: our exact answer key.</a:t>
            </a:r>
            <a:endParaRPr lang="en-US" sz="72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p>
            <a:pPr indent="0" marL="0">
              <a:buNone/>
            </a:pPr>
            <a:r>
              <a:rPr lang="en-US" sz="1200" b="1" spc="200" kern="0" dirty="0">
                <a:solidFill>
                  <a:srgbClr val="2563EB"/>
                </a:solidFill>
              </a:rPr>
              <a:t>THE SAVERS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nchor="t"/>
          <a:lstStyle/>
          <a:p>
            <a:pPr algn="l" indent="0" marL="0">
              <a:buNone/>
            </a:pPr>
            <a:r>
              <a:rPr lang="en-US" sz="3000" b="1" dirty="0">
                <a:solidFill>
                  <a:srgbClr val="0A192F"/>
                </a:solidFill>
              </a:rPr>
              <a:t>Three savers, three different loss limits</a:t>
            </a:r>
            <a:endParaRPr lang="en-US" sz="3000" dirty="0"/>
          </a:p>
        </p:txBody>
      </p:sp>
      <p:sp>
        <p:nvSpPr>
          <p:cNvPr id="4" name="Text 0"/>
          <p:cNvSpPr/>
          <p:nvPr>
            <p:ph idx="102" type="body" hasCustomPrompt="1"/>
          </p:nvPr>
        </p:nvSpPr>
        <p:spPr>
          <a:xfrm>
            <a:off x="548640" y="6382512"/>
            <a:ext cx="10424160" cy="274320"/>
          </a:xfrm>
          <a:prstGeom prst="rect">
            <a:avLst/>
          </a:prstGeom>
          <a:noFill/>
          <a:ln/>
        </p:spPr>
        <p:txBody>
          <a:bodyPr wrap="square" rtlCol="0"/>
          <a:lstStyle/>
          <a:p>
            <a:pPr indent="0" marL="0">
              <a:buNone/>
            </a:pPr>
            <a:r>
              <a:rPr lang="en-US" sz="900" dirty="0">
                <a:solidFill>
                  <a:srgbClr val="64748B"/>
                </a:solidFill>
              </a:rPr>
              <a:t>Source: our canonical run (results/canonical) · data: Kenneth French, 6 US industries, Jan 2015–Dec 2019</a:t>
            </a:r>
            <a:endParaRPr lang="en-US" sz="900" dirty="0"/>
          </a:p>
        </p:txBody>
      </p:sp>
      <p:sp>
        <p:nvSpPr>
          <p:cNvPr id="5" name="Takeaway bar"/>
          <p:cNvSpPr/>
          <p:nvPr/>
        </p:nvSpPr>
        <p:spPr>
          <a:xfrm>
            <a:off x="548640" y="5669280"/>
            <a:ext cx="11064240" cy="566928"/>
          </a:xfrm>
          <a:prstGeom prst="roundRect">
            <a:avLst>
              <a:gd name="adj" fmla="val 16129"/>
            </a:avLst>
          </a:prstGeom>
          <a:solidFill>
            <a:srgbClr val="EFF6FF"/>
          </a:solidFill>
          <a:ln w="12700">
            <a:solidFill>
              <a:srgbClr val="EFF6FF"/>
            </a:solidFill>
            <a:prstDash val="solid"/>
          </a:ln>
        </p:spPr>
      </p:sp>
      <p:sp>
        <p:nvSpPr>
          <p:cNvPr id="6" name="Takeaway"/>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800" b="1" dirty="0">
                <a:solidFill>
                  <a:srgbClr val="2563EB"/>
                </a:solidFill>
              </a:rPr>
              <a:t>Takeaway  </a:t>
            </a:r>
            <a:pPr indent="0" marL="0">
              <a:buNone/>
            </a:pPr>
            <a:r>
              <a:rPr lang="en-US" sz="1800" dirty="0">
                <a:solidFill>
                  <a:srgbClr val="0A192F"/>
                </a:solidFill>
              </a:rPr>
              <a:t>Thomas never chose a profile, so he deserves extra care.</a:t>
            </a:r>
            <a:endParaRPr lang="en-US" sz="1800" dirty="0"/>
          </a:p>
        </p:txBody>
      </p:sp>
      <p:sp>
        <p:nvSpPr>
          <p:cNvPr id="7" name="Card Lena"/>
          <p:cNvSpPr/>
          <p:nvPr/>
        </p:nvSpPr>
        <p:spPr>
          <a:xfrm>
            <a:off x="548640" y="1508760"/>
            <a:ext cx="3566160" cy="3931920"/>
          </a:xfrm>
          <a:prstGeom prst="roundRect">
            <a:avLst>
              <a:gd name="adj" fmla="val 3077"/>
            </a:avLst>
          </a:prstGeom>
          <a:solidFill>
            <a:srgbClr val="F8FAFC"/>
          </a:solidFill>
          <a:ln w="28575">
            <a:solidFill>
              <a:srgbClr val="059669"/>
            </a:solidFill>
            <a:prstDash val="solid"/>
          </a:ln>
        </p:spPr>
      </p:sp>
      <p:pic>
        <p:nvPicPr>
          <p:cNvPr id="8" name="Portrait Lena" descr="Illustrated portrait of Lena, one of our three example savers">    </p:cNvPr>
          <p:cNvPicPr>
            <a:picLocks noChangeAspect="1"/>
          </p:cNvPicPr>
          <p:nvPr/>
        </p:nvPicPr>
        <p:blipFill>
          <a:blip r:embed="rId1"/>
          <a:stretch>
            <a:fillRect/>
          </a:stretch>
        </p:blipFill>
        <p:spPr>
          <a:xfrm>
            <a:off x="1691640" y="1691640"/>
            <a:ext cx="1280160" cy="1280160"/>
          </a:xfrm>
          <a:prstGeom prst="ellipse">
            <a:avLst/>
          </a:prstGeom>
        </p:spPr>
      </p:pic>
      <p:sp>
        <p:nvSpPr>
          <p:cNvPr id="9" name="Portrait ring Lena"/>
          <p:cNvSpPr/>
          <p:nvPr/>
        </p:nvSpPr>
        <p:spPr>
          <a:xfrm>
            <a:off x="1691640" y="1691640"/>
            <a:ext cx="1280160" cy="1280160"/>
          </a:xfrm>
          <a:prstGeom prst="ellipse">
            <a:avLst/>
          </a:prstGeom>
          <a:ln w="31750">
            <a:solidFill>
              <a:srgbClr val="059669"/>
            </a:solidFill>
            <a:prstDash val="solid"/>
          </a:ln>
        </p:spPr>
      </p:sp>
      <p:sp>
        <p:nvSpPr>
          <p:cNvPr id="10" name="Card text"/>
          <p:cNvSpPr txBox="1"/>
          <p:nvPr/>
        </p:nvSpPr>
        <p:spPr>
          <a:xfrm>
            <a:off x="822960" y="3154680"/>
            <a:ext cx="3017520" cy="2194560"/>
          </a:xfrm>
          <a:prstGeom prst="rect">
            <a:avLst/>
          </a:prstGeom>
          <a:noFill/>
          <a:ln/>
        </p:spPr>
        <p:txBody>
          <a:bodyPr wrap="square" lIns="0" tIns="0" rIns="0" bIns="0" rtlCol="0" anchor="t"/>
          <a:lstStyle/>
          <a:p>
            <a:pPr algn="ctr" indent="0" marL="0">
              <a:buNone/>
            </a:pPr>
            <a:r>
              <a:rPr lang="en-US" sz="2000" b="1" dirty="0">
                <a:solidFill>
                  <a:srgbClr val="059669"/>
                </a:solidFill>
              </a:rPr>
              <a:t>LENA | Growth</a:t>
            </a:r>
            <a:endParaRPr lang="en-US" sz="2000" dirty="0"/>
          </a:p>
          <a:p>
            <a:pPr algn="ctr" indent="0" marL="0">
              <a:spcAft>
                <a:spcPts val="1200"/>
              </a:spcAft>
              <a:buNone/>
            </a:pPr>
            <a:r>
              <a:rPr lang="en-US" sz="1900" i="1" dirty="0">
                <a:solidFill>
                  <a:srgbClr val="64748B"/>
                </a:solidFill>
              </a:rPr>
              <a:t>“I can handle big swings.”</a:t>
            </a:r>
            <a:endParaRPr lang="en-US" sz="2000" dirty="0"/>
          </a:p>
          <a:p>
            <a:pPr algn="ctr" indent="0" marL="0">
              <a:buNone/>
            </a:pPr>
            <a:r>
              <a:rPr lang="en-US" sz="1900" dirty="0">
                <a:solidFill>
                  <a:srgbClr val="334155"/>
                </a:solidFill>
              </a:rPr>
              <a:t>Loses more than 8% in at most 6 of 60 months</a:t>
            </a:r>
            <a:endParaRPr lang="en-US" sz="2000" dirty="0"/>
          </a:p>
        </p:txBody>
      </p:sp>
      <p:sp>
        <p:nvSpPr>
          <p:cNvPr id="11" name="Card Thomas"/>
          <p:cNvSpPr/>
          <p:nvPr/>
        </p:nvSpPr>
        <p:spPr>
          <a:xfrm>
            <a:off x="4297680" y="1508760"/>
            <a:ext cx="3566160" cy="3931920"/>
          </a:xfrm>
          <a:prstGeom prst="roundRect">
            <a:avLst>
              <a:gd name="adj" fmla="val 3077"/>
            </a:avLst>
          </a:prstGeom>
          <a:solidFill>
            <a:srgbClr val="F8FAFC"/>
          </a:solidFill>
          <a:ln w="28575">
            <a:solidFill>
              <a:srgbClr val="D97706"/>
            </a:solidFill>
            <a:prstDash val="solid"/>
          </a:ln>
        </p:spPr>
      </p:sp>
      <p:pic>
        <p:nvPicPr>
          <p:cNvPr id="12" name="Portrait Thomas" descr="Illustrated portrait of Thomas, one of our three example savers">    </p:cNvPr>
          <p:cNvPicPr>
            <a:picLocks noChangeAspect="1"/>
          </p:cNvPicPr>
          <p:nvPr/>
        </p:nvPicPr>
        <p:blipFill>
          <a:blip r:embed="rId2"/>
          <a:stretch>
            <a:fillRect/>
          </a:stretch>
        </p:blipFill>
        <p:spPr>
          <a:xfrm>
            <a:off x="5440680" y="1691640"/>
            <a:ext cx="1280160" cy="1280160"/>
          </a:xfrm>
          <a:prstGeom prst="ellipse">
            <a:avLst/>
          </a:prstGeom>
        </p:spPr>
      </p:pic>
      <p:sp>
        <p:nvSpPr>
          <p:cNvPr id="13" name="Portrait ring Thomas"/>
          <p:cNvSpPr/>
          <p:nvPr/>
        </p:nvSpPr>
        <p:spPr>
          <a:xfrm>
            <a:off x="5440680" y="1691640"/>
            <a:ext cx="1280160" cy="1280160"/>
          </a:xfrm>
          <a:prstGeom prst="ellipse">
            <a:avLst/>
          </a:prstGeom>
          <a:ln w="31750">
            <a:solidFill>
              <a:srgbClr val="D97706"/>
            </a:solidFill>
            <a:prstDash val="solid"/>
          </a:ln>
        </p:spPr>
      </p:sp>
      <p:sp>
        <p:nvSpPr>
          <p:cNvPr id="14" name="Card text"/>
          <p:cNvSpPr txBox="1"/>
          <p:nvPr/>
        </p:nvSpPr>
        <p:spPr>
          <a:xfrm>
            <a:off x="4572000" y="3154680"/>
            <a:ext cx="3017520" cy="2194560"/>
          </a:xfrm>
          <a:prstGeom prst="rect">
            <a:avLst/>
          </a:prstGeom>
          <a:noFill/>
          <a:ln/>
        </p:spPr>
        <p:txBody>
          <a:bodyPr wrap="square" lIns="0" tIns="0" rIns="0" bIns="0" rtlCol="0" anchor="t"/>
          <a:lstStyle/>
          <a:p>
            <a:pPr algn="ctr" indent="0" marL="0">
              <a:buNone/>
            </a:pPr>
            <a:r>
              <a:rPr lang="en-US" sz="2000" b="1" dirty="0">
                <a:solidFill>
                  <a:srgbClr val="D97706"/>
                </a:solidFill>
              </a:rPr>
              <a:t>THOMAS | Balanced</a:t>
            </a:r>
            <a:endParaRPr lang="en-US" sz="2000" dirty="0"/>
          </a:p>
          <a:p>
            <a:pPr algn="ctr" indent="0" marL="0">
              <a:spcAft>
                <a:spcPts val="1200"/>
              </a:spcAft>
              <a:buNone/>
            </a:pPr>
            <a:r>
              <a:rPr lang="en-US" sz="1900" i="1" dirty="0">
                <a:solidFill>
                  <a:srgbClr val="64748B"/>
                </a:solidFill>
              </a:rPr>
              <a:t>“I never chose a profile.”</a:t>
            </a:r>
            <a:endParaRPr lang="en-US" sz="2000" dirty="0"/>
          </a:p>
          <a:p>
            <a:pPr algn="ctr" indent="0" marL="0">
              <a:buNone/>
            </a:pPr>
            <a:r>
              <a:rPr lang="en-US" sz="1900" dirty="0">
                <a:solidFill>
                  <a:srgbClr val="334155"/>
                </a:solidFill>
              </a:rPr>
              <a:t>Loses more than 5% in at most 6 of 60 months</a:t>
            </a:r>
            <a:endParaRPr lang="en-US" sz="2000" dirty="0"/>
          </a:p>
        </p:txBody>
      </p:sp>
      <p:sp>
        <p:nvSpPr>
          <p:cNvPr id="15" name="Card Anna"/>
          <p:cNvSpPr/>
          <p:nvPr/>
        </p:nvSpPr>
        <p:spPr>
          <a:xfrm>
            <a:off x="8046720" y="1508760"/>
            <a:ext cx="3566160" cy="3931920"/>
          </a:xfrm>
          <a:prstGeom prst="roundRect">
            <a:avLst>
              <a:gd name="adj" fmla="val 3077"/>
            </a:avLst>
          </a:prstGeom>
          <a:solidFill>
            <a:srgbClr val="F8FAFC"/>
          </a:solidFill>
          <a:ln w="28575">
            <a:solidFill>
              <a:srgbClr val="DC2626"/>
            </a:solidFill>
            <a:prstDash val="solid"/>
          </a:ln>
        </p:spPr>
      </p:sp>
      <p:pic>
        <p:nvPicPr>
          <p:cNvPr id="16" name="Portrait Anna" descr="Illustrated portrait of Anna, one of our three example savers">    </p:cNvPr>
          <p:cNvPicPr>
            <a:picLocks noChangeAspect="1"/>
          </p:cNvPicPr>
          <p:nvPr/>
        </p:nvPicPr>
        <p:blipFill>
          <a:blip r:embed="rId3"/>
          <a:stretch>
            <a:fillRect/>
          </a:stretch>
        </p:blipFill>
        <p:spPr>
          <a:xfrm>
            <a:off x="9189720" y="1691640"/>
            <a:ext cx="1280160" cy="1280160"/>
          </a:xfrm>
          <a:prstGeom prst="ellipse">
            <a:avLst/>
          </a:prstGeom>
        </p:spPr>
      </p:pic>
      <p:sp>
        <p:nvSpPr>
          <p:cNvPr id="17" name="Portrait ring Anna"/>
          <p:cNvSpPr/>
          <p:nvPr/>
        </p:nvSpPr>
        <p:spPr>
          <a:xfrm>
            <a:off x="9189720" y="1691640"/>
            <a:ext cx="1280160" cy="1280160"/>
          </a:xfrm>
          <a:prstGeom prst="ellipse">
            <a:avLst/>
          </a:prstGeom>
          <a:ln w="31750">
            <a:solidFill>
              <a:srgbClr val="DC2626"/>
            </a:solidFill>
            <a:prstDash val="solid"/>
          </a:ln>
        </p:spPr>
      </p:sp>
      <p:sp>
        <p:nvSpPr>
          <p:cNvPr id="18" name="Card text"/>
          <p:cNvSpPr txBox="1"/>
          <p:nvPr/>
        </p:nvSpPr>
        <p:spPr>
          <a:xfrm>
            <a:off x="8321040" y="3154680"/>
            <a:ext cx="3017520" cy="2194560"/>
          </a:xfrm>
          <a:prstGeom prst="rect">
            <a:avLst/>
          </a:prstGeom>
          <a:noFill/>
          <a:ln/>
        </p:spPr>
        <p:txBody>
          <a:bodyPr wrap="square" lIns="0" tIns="0" rIns="0" bIns="0" rtlCol="0" anchor="t"/>
          <a:lstStyle/>
          <a:p>
            <a:pPr algn="ctr" indent="0" marL="0">
              <a:buNone/>
            </a:pPr>
            <a:r>
              <a:rPr lang="en-US" sz="2000" b="1" dirty="0">
                <a:solidFill>
                  <a:srgbClr val="DC2626"/>
                </a:solidFill>
              </a:rPr>
              <a:t>ANNA | Risk-sensitive</a:t>
            </a:r>
            <a:endParaRPr lang="en-US" sz="2000" dirty="0"/>
          </a:p>
          <a:p>
            <a:pPr algn="ctr" indent="0" marL="0">
              <a:spcAft>
                <a:spcPts val="1200"/>
              </a:spcAft>
              <a:buNone/>
            </a:pPr>
            <a:r>
              <a:rPr lang="en-US" sz="1900" i="1" dirty="0">
                <a:solidFill>
                  <a:srgbClr val="64748B"/>
                </a:solidFill>
              </a:rPr>
              <a:t>“I can't afford big losses.”</a:t>
            </a:r>
            <a:endParaRPr lang="en-US" sz="2000" dirty="0"/>
          </a:p>
          <a:p>
            <a:pPr algn="ctr" indent="0" marL="0">
              <a:buNone/>
            </a:pPr>
            <a:r>
              <a:rPr lang="en-US" sz="1900" dirty="0">
                <a:solidFill>
                  <a:srgbClr val="334155"/>
                </a:solidFill>
              </a:rPr>
              <a:t>Loses more than 3% in at most 6 of 60 months</a:t>
            </a:r>
            <a:endParaRPr lang="en-US" sz="20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p>
            <a:pPr indent="0" marL="0">
              <a:buNone/>
            </a:pPr>
            <a:r>
              <a:rPr lang="en-US" sz="1200" b="1" spc="200" kern="0" dirty="0">
                <a:solidFill>
                  <a:srgbClr val="2563EB"/>
                </a:solidFill>
              </a:rPr>
              <a:t>THE PROPOSAL · GRANDMA'S BASKET OR NVIDIA'S?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nchor="t"/>
          <a:lstStyle/>
          <a:p>
            <a:pPr algn="l" indent="0" marL="0">
              <a:buNone/>
            </a:pPr>
            <a:r>
              <a:rPr lang="en-US" sz="3000" b="1" dirty="0">
                <a:solidFill>
                  <a:srgbClr val="0A192F"/>
                </a:solidFill>
              </a:rPr>
              <a:t>Swap staples for tech: more return, but more risk</a:t>
            </a:r>
            <a:endParaRPr lang="en-US" sz="3000" dirty="0"/>
          </a:p>
        </p:txBody>
      </p:sp>
      <p:sp>
        <p:nvSpPr>
          <p:cNvPr id="4" name="Text 0"/>
          <p:cNvSpPr/>
          <p:nvPr>
            <p:ph idx="102" type="body" hasCustomPrompt="1"/>
          </p:nvPr>
        </p:nvSpPr>
        <p:spPr>
          <a:xfrm>
            <a:off x="548640" y="6382512"/>
            <a:ext cx="10424160" cy="274320"/>
          </a:xfrm>
          <a:prstGeom prst="rect">
            <a:avLst/>
          </a:prstGeom>
          <a:noFill/>
          <a:ln/>
        </p:spPr>
        <p:txBody>
          <a:bodyPr wrap="square" rtlCol="0"/>
          <a:lstStyle/>
          <a:p>
            <a:pPr indent="0" marL="0">
              <a:buNone/>
            </a:pPr>
            <a:r>
              <a:rPr lang="en-US" sz="900" dirty="0">
                <a:solidFill>
                  <a:srgbClr val="64748B"/>
                </a:solidFill>
              </a:rPr>
              <a:t>Source: our canonical run (results/canonical) · data: Kenneth French, 6 US industries, Jan 2015–Dec 2019</a:t>
            </a:r>
            <a:endParaRPr lang="en-US" sz="900" dirty="0"/>
          </a:p>
        </p:txBody>
      </p:sp>
      <p:sp>
        <p:nvSpPr>
          <p:cNvPr id="5" name="Takeaway bar"/>
          <p:cNvSpPr/>
          <p:nvPr/>
        </p:nvSpPr>
        <p:spPr>
          <a:xfrm>
            <a:off x="548640" y="5669280"/>
            <a:ext cx="11064240" cy="566928"/>
          </a:xfrm>
          <a:prstGeom prst="roundRect">
            <a:avLst>
              <a:gd name="adj" fmla="val 16129"/>
            </a:avLst>
          </a:prstGeom>
          <a:solidFill>
            <a:srgbClr val="EFF6FF"/>
          </a:solidFill>
          <a:ln w="12700">
            <a:solidFill>
              <a:srgbClr val="EFF6FF"/>
            </a:solidFill>
            <a:prstDash val="solid"/>
          </a:ln>
        </p:spPr>
      </p:sp>
      <p:sp>
        <p:nvSpPr>
          <p:cNvPr id="6" name="Takeaway"/>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800" b="1" dirty="0">
                <a:solidFill>
                  <a:srgbClr val="2563EB"/>
                </a:solidFill>
              </a:rPr>
              <a:t>Takeaway  </a:t>
            </a:r>
            <a:pPr indent="0" marL="0">
              <a:buNone/>
            </a:pPr>
            <a:r>
              <a:rPr lang="en-US" sz="1800" dirty="0">
                <a:solidFill>
                  <a:srgbClr val="0A192F"/>
                </a:solidFill>
              </a:rPr>
              <a:t>Is the extra return worth the extra risk? It depends on the saver.</a:t>
            </a:r>
            <a:endParaRPr lang="en-US" sz="1800" dirty="0"/>
          </a:p>
        </p:txBody>
      </p:sp>
      <p:graphicFrame>
        <p:nvGraphicFramePr>
          <p:cNvPr id="7" name="Risk-return chart" descr="All 20 baskets by risk and return; today's basket has the lowest risk."/>
          <p:cNvGraphicFramePr/>
          <p:nvPr/>
        </p:nvGraphicFramePr>
        <p:xfrm>
          <a:off x="548640" y="1463040"/>
          <a:ext cx="6766560" cy="4069080"/>
        </p:xfrm>
        <a:graphic xmlns:a="http://schemas.openxmlformats.org/drawingml/2006/main">
          <a:graphicData uri="http://schemas.openxmlformats.org/drawingml/2006/chart">
            <c:chart xmlns:c="http://schemas.openxmlformats.org/drawingml/2006/chart" r:id="rId1"/>
          </a:graphicData>
        </a:graphic>
      </p:graphicFrame>
      <p:sp>
        <p:nvSpPr>
          <p:cNvPr id="8" name="Card"/>
          <p:cNvSpPr/>
          <p:nvPr/>
        </p:nvSpPr>
        <p:spPr>
          <a:xfrm>
            <a:off x="7589520" y="1508760"/>
            <a:ext cx="4023360" cy="3931920"/>
          </a:xfrm>
          <a:prstGeom prst="roundRect">
            <a:avLst>
              <a:gd name="adj" fmla="val 2791"/>
            </a:avLst>
          </a:prstGeom>
          <a:solidFill>
            <a:srgbClr val="F8FAFC"/>
          </a:solidFill>
          <a:ln w="12700">
            <a:solidFill>
              <a:srgbClr val="E2E8F0"/>
            </a:solidFill>
            <a:prstDash val="solid"/>
          </a:ln>
        </p:spPr>
      </p:sp>
      <p:sp>
        <p:nvSpPr>
          <p:cNvPr id="9" name="Card text"/>
          <p:cNvSpPr txBox="1"/>
          <p:nvPr/>
        </p:nvSpPr>
        <p:spPr>
          <a:xfrm>
            <a:off x="7909560" y="1874520"/>
            <a:ext cx="3474720" cy="3474720"/>
          </a:xfrm>
          <a:prstGeom prst="rect">
            <a:avLst/>
          </a:prstGeom>
          <a:noFill/>
          <a:ln/>
        </p:spPr>
        <p:txBody>
          <a:bodyPr wrap="square" lIns="0" tIns="0" rIns="0" bIns="0" rtlCol="0" anchor="t"/>
          <a:lstStyle/>
          <a:p>
            <a:pPr algn="l" indent="0" marL="0">
              <a:spcAft>
                <a:spcPts val="1200"/>
              </a:spcAft>
              <a:buNone/>
            </a:pPr>
            <a:r>
              <a:rPr lang="en-US" sz="2400" b="1" dirty="0">
                <a:solidFill>
                  <a:srgbClr val="0A192F"/>
                </a:solidFill>
              </a:rPr>
              <a:t>The proposal</a:t>
            </a:r>
            <a:endParaRPr lang="en-US" sz="2400" dirty="0"/>
          </a:p>
          <a:p>
            <a:pPr algn="l" marL="228600" indent="-228600">
              <a:spcAft>
                <a:spcPts val="1200"/>
              </a:spcAft>
              <a:buSzPct val="100000"/>
              <a:buChar char="•"/>
            </a:pPr>
            <a:r>
              <a:rPr lang="en-US" sz="1900" dirty="0">
                <a:solidFill>
                  <a:srgbClr val="334155"/>
                </a:solidFill>
              </a:rPr>
              <a:t>Return: 0.73% → 1.02% a month</a:t>
            </a:r>
            <a:endParaRPr lang="en-US" sz="2400" dirty="0"/>
          </a:p>
          <a:p>
            <a:pPr algn="l" marL="228600" indent="-228600">
              <a:spcAft>
                <a:spcPts val="1200"/>
              </a:spcAft>
              <a:buSzPct val="100000"/>
              <a:buChar char="•"/>
            </a:pPr>
            <a:r>
              <a:rPr lang="en-US" sz="1900" dirty="0">
                <a:solidFill>
                  <a:srgbClr val="334155"/>
                </a:solidFill>
              </a:rPr>
              <a:t>Risk: 2.71% → 3.05% a month</a:t>
            </a:r>
            <a:endParaRPr lang="en-US" sz="2400" dirty="0"/>
          </a:p>
          <a:p>
            <a:pPr algn="l" marL="228600" indent="-228600">
              <a:spcAft>
                <a:spcPts val="1200"/>
              </a:spcAft>
              <a:buSzPct val="100000"/>
              <a:buChar char="•"/>
            </a:pPr>
            <a:r>
              <a:rPr lang="en-US" sz="1900" dirty="0">
                <a:solidFill>
                  <a:srgbClr val="334155"/>
                </a:solidFill>
              </a:rPr>
              <a:t>Today's basket: lowest risk of all 20</a:t>
            </a:r>
            <a:endParaRPr lang="en-US" sz="2400" dirty="0"/>
          </a:p>
          <a:p>
            <a:pPr algn="l" marL="228600" indent="-228600">
              <a:spcAft>
                <a:spcPts val="1200"/>
              </a:spcAft>
              <a:buSzPct val="100000"/>
              <a:buChar char="•"/>
            </a:pPr>
            <a:r>
              <a:rPr lang="en-US" sz="1900" dirty="0">
                <a:solidFill>
                  <a:srgbClr val="334155"/>
                </a:solidFill>
              </a:rPr>
              <a:t>No return can buy a breach of a loss limit</a:t>
            </a:r>
            <a:endParaRPr lang="en-US" sz="24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p>
            <a:pPr indent="0" marL="0">
              <a:buNone/>
            </a:pPr>
            <a:r>
              <a:rPr lang="en-US" sz="1200" b="1" spc="200" kern="0" dirty="0">
                <a:solidFill>
                  <a:srgbClr val="2563EB"/>
                </a:solidFill>
              </a:rPr>
              <a:t>HOW WE DECIDE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nchor="t"/>
          <a:lstStyle/>
          <a:p>
            <a:pPr algn="l" indent="0" marL="0">
              <a:buNone/>
            </a:pPr>
            <a:r>
              <a:rPr lang="en-US" sz="3000" b="1" dirty="0">
                <a:solidFill>
                  <a:srgbClr val="0A192F"/>
                </a:solidFill>
              </a:rPr>
              <a:t>Rules first, then the evidence decides</a:t>
            </a:r>
            <a:endParaRPr lang="en-US" sz="3000" dirty="0"/>
          </a:p>
        </p:txBody>
      </p:sp>
      <p:sp>
        <p:nvSpPr>
          <p:cNvPr id="4" name="Text 0"/>
          <p:cNvSpPr/>
          <p:nvPr>
            <p:ph idx="102" type="body" hasCustomPrompt="1"/>
          </p:nvPr>
        </p:nvSpPr>
        <p:spPr>
          <a:xfrm>
            <a:off x="548640" y="6382512"/>
            <a:ext cx="10424160" cy="274320"/>
          </a:xfrm>
          <a:prstGeom prst="rect">
            <a:avLst/>
          </a:prstGeom>
          <a:noFill/>
          <a:ln/>
        </p:spPr>
        <p:txBody>
          <a:bodyPr wrap="square" rtlCol="0"/>
          <a:lstStyle/>
          <a:p>
            <a:pPr indent="0" marL="0">
              <a:buNone/>
            </a:pPr>
            <a:r>
              <a:rPr lang="en-US" sz="900" dirty="0">
                <a:solidFill>
                  <a:srgbClr val="64748B"/>
                </a:solidFill>
              </a:rPr>
              <a:t>Source: src/qhf/decision.py · 3 test settings: base case, tech earns 0.5 points less, sectors move more together</a:t>
            </a:r>
            <a:endParaRPr lang="en-US" sz="900" dirty="0"/>
          </a:p>
        </p:txBody>
      </p:sp>
      <p:sp>
        <p:nvSpPr>
          <p:cNvPr id="5" name="Takeaway bar"/>
          <p:cNvSpPr/>
          <p:nvPr/>
        </p:nvSpPr>
        <p:spPr>
          <a:xfrm>
            <a:off x="548640" y="5669280"/>
            <a:ext cx="11064240" cy="566928"/>
          </a:xfrm>
          <a:prstGeom prst="roundRect">
            <a:avLst>
              <a:gd name="adj" fmla="val 16129"/>
            </a:avLst>
          </a:prstGeom>
          <a:solidFill>
            <a:srgbClr val="EFF6FF"/>
          </a:solidFill>
          <a:ln w="12700">
            <a:solidFill>
              <a:srgbClr val="EFF6FF"/>
            </a:solidFill>
            <a:prstDash val="solid"/>
          </a:ln>
        </p:spPr>
      </p:sp>
      <p:sp>
        <p:nvSpPr>
          <p:cNvPr id="6" name="Takeaway"/>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800" b="1" dirty="0">
                <a:solidFill>
                  <a:srgbClr val="2563EB"/>
                </a:solidFill>
              </a:rPr>
              <a:t>Takeaway  </a:t>
            </a:r>
            <a:pPr indent="0" marL="0">
              <a:buNone/>
            </a:pPr>
            <a:r>
              <a:rPr lang="en-US" sz="1800" dirty="0">
                <a:solidFill>
                  <a:srgbClr val="0A192F"/>
                </a:solidFill>
              </a:rPr>
              <a:t>The burden of proof is on the change.</a:t>
            </a:r>
            <a:endParaRPr lang="en-US" sz="1800" dirty="0"/>
          </a:p>
        </p:txBody>
      </p:sp>
      <p:sp>
        <p:nvSpPr>
          <p:cNvPr id="7" name="Card"/>
          <p:cNvSpPr/>
          <p:nvPr/>
        </p:nvSpPr>
        <p:spPr>
          <a:xfrm>
            <a:off x="548640" y="1508760"/>
            <a:ext cx="3566160" cy="3931920"/>
          </a:xfrm>
          <a:prstGeom prst="roundRect">
            <a:avLst>
              <a:gd name="adj" fmla="val 3077"/>
            </a:avLst>
          </a:prstGeom>
          <a:solidFill>
            <a:srgbClr val="F8FAFC"/>
          </a:solidFill>
          <a:ln w="12700">
            <a:solidFill>
              <a:srgbClr val="E2E8F0"/>
            </a:solidFill>
            <a:prstDash val="solid"/>
          </a:ln>
        </p:spPr>
      </p:sp>
      <p:sp>
        <p:nvSpPr>
          <p:cNvPr id="8" name="Number"/>
          <p:cNvSpPr/>
          <p:nvPr/>
        </p:nvSpPr>
        <p:spPr>
          <a:xfrm>
            <a:off x="868680" y="1828800"/>
            <a:ext cx="685800" cy="685800"/>
          </a:xfrm>
          <a:prstGeom prst="ellipse">
            <a:avLst/>
          </a:prstGeom>
          <a:solidFill>
            <a:srgbClr val="2563EB"/>
          </a:solidFill>
          <a:ln w="12700">
            <a:solidFill>
              <a:srgbClr val="2563EB"/>
            </a:solidFill>
            <a:prstDash val="solid"/>
          </a:ln>
        </p:spPr>
      </p:sp>
      <p:sp>
        <p:nvSpPr>
          <p:cNvPr id="9" name="Number text"/>
          <p:cNvSpPr txBox="1"/>
          <p:nvPr/>
        </p:nvSpPr>
        <p:spPr>
          <a:xfrm>
            <a:off x="868680" y="18288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10" name="Card text"/>
          <p:cNvSpPr txBox="1"/>
          <p:nvPr/>
        </p:nvSpPr>
        <p:spPr>
          <a:xfrm>
            <a:off x="868680" y="2743200"/>
            <a:ext cx="2926080" cy="2606040"/>
          </a:xfrm>
          <a:prstGeom prst="rect">
            <a:avLst/>
          </a:prstGeom>
          <a:noFill/>
          <a:ln/>
        </p:spPr>
        <p:txBody>
          <a:bodyPr wrap="square" lIns="0" tIns="0" rIns="0" bIns="0" rtlCol="0" anchor="t"/>
          <a:lstStyle/>
          <a:p>
            <a:pPr algn="l" indent="0" marL="0">
              <a:spcAft>
                <a:spcPts val="1000"/>
              </a:spcAft>
              <a:buNone/>
            </a:pPr>
            <a:r>
              <a:rPr lang="en-US" sz="2400" b="1" dirty="0">
                <a:solidFill>
                  <a:srgbClr val="0A192F"/>
                </a:solidFill>
              </a:rPr>
              <a:t>Check the loss limit</a:t>
            </a:r>
            <a:endParaRPr lang="en-US" sz="2400" dirty="0"/>
          </a:p>
          <a:p>
            <a:pPr algn="l" indent="0" marL="0">
              <a:buNone/>
            </a:pPr>
            <a:r>
              <a:rPr lang="en-US" sz="2000" dirty="0">
                <a:solidFill>
                  <a:srgbClr val="334155"/>
                </a:solidFill>
              </a:rPr>
              <a:t>Baskets that break it are out. No return buys them back.</a:t>
            </a:r>
            <a:endParaRPr lang="en-US" sz="2400" dirty="0"/>
          </a:p>
        </p:txBody>
      </p:sp>
      <p:sp>
        <p:nvSpPr>
          <p:cNvPr id="11" name="Card"/>
          <p:cNvSpPr/>
          <p:nvPr/>
        </p:nvSpPr>
        <p:spPr>
          <a:xfrm>
            <a:off x="4297680" y="1508760"/>
            <a:ext cx="3566160" cy="3931920"/>
          </a:xfrm>
          <a:prstGeom prst="roundRect">
            <a:avLst>
              <a:gd name="adj" fmla="val 3077"/>
            </a:avLst>
          </a:prstGeom>
          <a:solidFill>
            <a:srgbClr val="F8FAFC"/>
          </a:solidFill>
          <a:ln w="12700">
            <a:solidFill>
              <a:srgbClr val="E2E8F0"/>
            </a:solidFill>
            <a:prstDash val="solid"/>
          </a:ln>
        </p:spPr>
      </p:sp>
      <p:sp>
        <p:nvSpPr>
          <p:cNvPr id="12" name="Number"/>
          <p:cNvSpPr/>
          <p:nvPr/>
        </p:nvSpPr>
        <p:spPr>
          <a:xfrm>
            <a:off x="4617720" y="1828800"/>
            <a:ext cx="685800" cy="685800"/>
          </a:xfrm>
          <a:prstGeom prst="ellipse">
            <a:avLst/>
          </a:prstGeom>
          <a:solidFill>
            <a:srgbClr val="2563EB"/>
          </a:solidFill>
          <a:ln w="12700">
            <a:solidFill>
              <a:srgbClr val="2563EB"/>
            </a:solidFill>
            <a:prstDash val="solid"/>
          </a:ln>
        </p:spPr>
      </p:sp>
      <p:sp>
        <p:nvSpPr>
          <p:cNvPr id="13" name="Number text"/>
          <p:cNvSpPr txBox="1"/>
          <p:nvPr/>
        </p:nvSpPr>
        <p:spPr>
          <a:xfrm>
            <a:off x="4617720" y="18288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4" name="Card text"/>
          <p:cNvSpPr txBox="1"/>
          <p:nvPr/>
        </p:nvSpPr>
        <p:spPr>
          <a:xfrm>
            <a:off x="4617720" y="2743200"/>
            <a:ext cx="2926080" cy="2606040"/>
          </a:xfrm>
          <a:prstGeom prst="rect">
            <a:avLst/>
          </a:prstGeom>
          <a:noFill/>
          <a:ln/>
        </p:spPr>
        <p:txBody>
          <a:bodyPr wrap="square" lIns="0" tIns="0" rIns="0" bIns="0" rtlCol="0" anchor="t"/>
          <a:lstStyle/>
          <a:p>
            <a:pPr algn="l" indent="0" marL="0">
              <a:spcAft>
                <a:spcPts val="1000"/>
              </a:spcAft>
              <a:buNone/>
            </a:pPr>
            <a:r>
              <a:rPr lang="en-US" sz="2400" b="1" dirty="0">
                <a:solidFill>
                  <a:srgbClr val="0A192F"/>
                </a:solidFill>
              </a:rPr>
              <a:t>Score the rest</a:t>
            </a:r>
            <a:endParaRPr lang="en-US" sz="2400" dirty="0"/>
          </a:p>
          <a:p>
            <a:pPr algn="l" indent="0" marL="0">
              <a:buNone/>
            </a:pPr>
            <a:r>
              <a:rPr lang="en-US" sz="2000" dirty="0">
                <a:solidFill>
                  <a:srgbClr val="334155"/>
                </a:solidFill>
              </a:rPr>
              <a:t>More return is good, more swings are bad, weighted per saver.</a:t>
            </a:r>
            <a:endParaRPr lang="en-US" sz="2400" dirty="0"/>
          </a:p>
        </p:txBody>
      </p:sp>
      <p:sp>
        <p:nvSpPr>
          <p:cNvPr id="15" name="Card"/>
          <p:cNvSpPr/>
          <p:nvPr/>
        </p:nvSpPr>
        <p:spPr>
          <a:xfrm>
            <a:off x="8046720" y="1508760"/>
            <a:ext cx="3566160" cy="3931920"/>
          </a:xfrm>
          <a:prstGeom prst="roundRect">
            <a:avLst>
              <a:gd name="adj" fmla="val 3077"/>
            </a:avLst>
          </a:prstGeom>
          <a:solidFill>
            <a:srgbClr val="F8FAFC"/>
          </a:solidFill>
          <a:ln w="12700">
            <a:solidFill>
              <a:srgbClr val="E2E8F0"/>
            </a:solidFill>
            <a:prstDash val="solid"/>
          </a:ln>
        </p:spPr>
      </p:sp>
      <p:sp>
        <p:nvSpPr>
          <p:cNvPr id="16" name="Number"/>
          <p:cNvSpPr/>
          <p:nvPr/>
        </p:nvSpPr>
        <p:spPr>
          <a:xfrm>
            <a:off x="8366760" y="1828800"/>
            <a:ext cx="685800" cy="685800"/>
          </a:xfrm>
          <a:prstGeom prst="ellipse">
            <a:avLst/>
          </a:prstGeom>
          <a:solidFill>
            <a:srgbClr val="2563EB"/>
          </a:solidFill>
          <a:ln w="12700">
            <a:solidFill>
              <a:srgbClr val="2563EB"/>
            </a:solidFill>
            <a:prstDash val="solid"/>
          </a:ln>
        </p:spPr>
      </p:sp>
      <p:sp>
        <p:nvSpPr>
          <p:cNvPr id="17" name="Number text"/>
          <p:cNvSpPr txBox="1"/>
          <p:nvPr/>
        </p:nvSpPr>
        <p:spPr>
          <a:xfrm>
            <a:off x="8366760" y="18288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18" name="Card text"/>
          <p:cNvSpPr txBox="1"/>
          <p:nvPr/>
        </p:nvSpPr>
        <p:spPr>
          <a:xfrm>
            <a:off x="8366760" y="2743200"/>
            <a:ext cx="2926080" cy="2606040"/>
          </a:xfrm>
          <a:prstGeom prst="rect">
            <a:avLst/>
          </a:prstGeom>
          <a:noFill/>
          <a:ln/>
        </p:spPr>
        <p:txBody>
          <a:bodyPr wrap="square" lIns="0" tIns="0" rIns="0" bIns="0" rtlCol="0" anchor="t"/>
          <a:lstStyle/>
          <a:p>
            <a:pPr algn="l" indent="0" marL="0">
              <a:spcAft>
                <a:spcPts val="1000"/>
              </a:spcAft>
              <a:buNone/>
            </a:pPr>
            <a:r>
              <a:rPr lang="en-US" sz="2400" b="1" dirty="0">
                <a:solidFill>
                  <a:srgbClr val="0A192F"/>
                </a:solidFill>
              </a:rPr>
              <a:t>Switch only on strong evidence</a:t>
            </a:r>
            <a:endParaRPr lang="en-US" sz="2400" dirty="0"/>
          </a:p>
          <a:p>
            <a:pPr algn="l" indent="0" marL="0">
              <a:buNone/>
            </a:pPr>
            <a:r>
              <a:rPr lang="en-US" sz="2000" dirty="0">
                <a:solidFill>
                  <a:srgbClr val="334155"/>
                </a:solidFill>
              </a:rPr>
              <a:t>Same winner in all 3 test settings and in at least 70% of 500 replays. Otherwise: review, and hold.</a:t>
            </a:r>
            <a:endParaRPr lang="en-US" sz="24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p>
            <a:pPr indent="0" marL="0">
              <a:buNone/>
            </a:pPr>
            <a:r>
              <a:rPr lang="en-US" sz="1200" b="1" spc="200" kern="0" dirty="0">
                <a:solidFill>
                  <a:srgbClr val="2563EB"/>
                </a:solidFill>
              </a:rPr>
              <a:t>RESULTS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nchor="t"/>
          <a:lstStyle/>
          <a:p>
            <a:pPr algn="l" indent="0" marL="0">
              <a:buNone/>
            </a:pPr>
            <a:r>
              <a:rPr lang="en-US" sz="3000" b="1" dirty="0">
                <a:solidFill>
                  <a:srgbClr val="0A192F"/>
                </a:solidFill>
              </a:rPr>
              <a:t>One proposal, three answers</a:t>
            </a:r>
            <a:endParaRPr lang="en-US" sz="3000" dirty="0"/>
          </a:p>
        </p:txBody>
      </p:sp>
      <p:sp>
        <p:nvSpPr>
          <p:cNvPr id="4" name="Text 0"/>
          <p:cNvSpPr/>
          <p:nvPr>
            <p:ph idx="102" type="body" hasCustomPrompt="1"/>
          </p:nvPr>
        </p:nvSpPr>
        <p:spPr>
          <a:xfrm>
            <a:off x="548640" y="6382512"/>
            <a:ext cx="10424160" cy="274320"/>
          </a:xfrm>
          <a:prstGeom prst="rect">
            <a:avLst/>
          </a:prstGeom>
          <a:noFill/>
          <a:ln/>
        </p:spPr>
        <p:txBody>
          <a:bodyPr wrap="square" rtlCol="0"/>
          <a:lstStyle/>
          <a:p>
            <a:pPr indent="0" marL="0">
              <a:buNone/>
            </a:pPr>
            <a:r>
              <a:rPr lang="en-US" sz="900" dirty="0">
                <a:solidFill>
                  <a:srgbClr val="64748B"/>
                </a:solidFill>
              </a:rPr>
              <a:t>Source: our canonical run (results/canonical) · data: Kenneth French, 6 US industries, Jan 2015–Dec 2019</a:t>
            </a:r>
            <a:endParaRPr lang="en-US" sz="900" dirty="0"/>
          </a:p>
        </p:txBody>
      </p:sp>
      <p:sp>
        <p:nvSpPr>
          <p:cNvPr id="5" name="Takeaway bar"/>
          <p:cNvSpPr/>
          <p:nvPr/>
        </p:nvSpPr>
        <p:spPr>
          <a:xfrm>
            <a:off x="548640" y="5669280"/>
            <a:ext cx="11064240" cy="566928"/>
          </a:xfrm>
          <a:prstGeom prst="roundRect">
            <a:avLst>
              <a:gd name="adj" fmla="val 16129"/>
            </a:avLst>
          </a:prstGeom>
          <a:solidFill>
            <a:srgbClr val="EFF6FF"/>
          </a:solidFill>
          <a:ln w="12700">
            <a:solidFill>
              <a:srgbClr val="EFF6FF"/>
            </a:solidFill>
            <a:prstDash val="solid"/>
          </a:ln>
        </p:spPr>
      </p:sp>
      <p:sp>
        <p:nvSpPr>
          <p:cNvPr id="6" name="Takeaway"/>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800" b="1" dirty="0">
                <a:solidFill>
                  <a:srgbClr val="2563EB"/>
                </a:solidFill>
              </a:rPr>
              <a:t>Takeaway  </a:t>
            </a:r>
            <a:pPr indent="0" marL="0">
              <a:buNone/>
            </a:pPr>
            <a:r>
              <a:rPr lang="en-US" sz="1800" dirty="0">
                <a:solidFill>
                  <a:srgbClr val="0A192F"/>
                </a:solidFill>
              </a:rPr>
              <a:t>“Review” is a valid answer, not a failure.</a:t>
            </a:r>
            <a:endParaRPr lang="en-US" sz="1800" dirty="0"/>
          </a:p>
        </p:txBody>
      </p:sp>
      <p:sp>
        <p:nvSpPr>
          <p:cNvPr id="7" name="Card Lena"/>
          <p:cNvSpPr/>
          <p:nvPr/>
        </p:nvSpPr>
        <p:spPr>
          <a:xfrm>
            <a:off x="548640" y="1508760"/>
            <a:ext cx="3566160" cy="3931920"/>
          </a:xfrm>
          <a:prstGeom prst="roundRect">
            <a:avLst>
              <a:gd name="adj" fmla="val 3077"/>
            </a:avLst>
          </a:prstGeom>
          <a:solidFill>
            <a:srgbClr val="F8FAFC"/>
          </a:solidFill>
          <a:ln w="28575">
            <a:solidFill>
              <a:srgbClr val="059669"/>
            </a:solidFill>
            <a:prstDash val="solid"/>
          </a:ln>
        </p:spPr>
      </p:sp>
      <p:pic>
        <p:nvPicPr>
          <p:cNvPr id="8" name="Portrait Lena" descr="Illustrated portrait of Lena, one of our three example savers">    </p:cNvPr>
          <p:cNvPicPr>
            <a:picLocks noChangeAspect="1"/>
          </p:cNvPicPr>
          <p:nvPr/>
        </p:nvPicPr>
        <p:blipFill>
          <a:blip r:embed="rId1"/>
          <a:stretch>
            <a:fillRect/>
          </a:stretch>
        </p:blipFill>
        <p:spPr>
          <a:xfrm>
            <a:off x="1783080" y="1691640"/>
            <a:ext cx="1097280" cy="1097280"/>
          </a:xfrm>
          <a:prstGeom prst="ellipse">
            <a:avLst/>
          </a:prstGeom>
        </p:spPr>
      </p:pic>
      <p:sp>
        <p:nvSpPr>
          <p:cNvPr id="9" name="Portrait ring Lena"/>
          <p:cNvSpPr/>
          <p:nvPr/>
        </p:nvSpPr>
        <p:spPr>
          <a:xfrm>
            <a:off x="1783080" y="1691640"/>
            <a:ext cx="1097280" cy="1097280"/>
          </a:xfrm>
          <a:prstGeom prst="ellipse">
            <a:avLst/>
          </a:prstGeom>
          <a:ln w="31750">
            <a:solidFill>
              <a:srgbClr val="059669"/>
            </a:solidFill>
            <a:prstDash val="solid"/>
          </a:ln>
        </p:spPr>
      </p:sp>
      <p:sp>
        <p:nvSpPr>
          <p:cNvPr id="10" name="Card text"/>
          <p:cNvSpPr txBox="1"/>
          <p:nvPr/>
        </p:nvSpPr>
        <p:spPr>
          <a:xfrm>
            <a:off x="777240" y="2926080"/>
            <a:ext cx="3108960" cy="2423160"/>
          </a:xfrm>
          <a:prstGeom prst="rect">
            <a:avLst/>
          </a:prstGeom>
          <a:noFill/>
          <a:ln/>
        </p:spPr>
        <p:txBody>
          <a:bodyPr wrap="square" lIns="0" tIns="0" rIns="0" bIns="0" rtlCol="0" anchor="t"/>
          <a:lstStyle/>
          <a:p>
            <a:pPr algn="ctr" indent="0" marL="0">
              <a:buNone/>
            </a:pPr>
            <a:r>
              <a:rPr lang="en-US" sz="1800" b="1" dirty="0">
                <a:solidFill>
                  <a:srgbClr val="059669"/>
                </a:solidFill>
              </a:rPr>
              <a:t>LENA | Growth</a:t>
            </a:r>
            <a:endParaRPr lang="en-US" sz="1800" dirty="0"/>
          </a:p>
          <a:p>
            <a:pPr algn="ctr" indent="0" marL="0">
              <a:buNone/>
            </a:pPr>
            <a:r>
              <a:rPr lang="en-US" sz="4800" b="1" dirty="0">
                <a:solidFill>
                  <a:srgbClr val="059669"/>
                </a:solidFill>
              </a:rPr>
              <a:t>SWITCH</a:t>
            </a:r>
            <a:endParaRPr lang="en-US" sz="1800" dirty="0"/>
          </a:p>
          <a:p>
            <a:pPr algn="ctr" indent="0" marL="0">
              <a:spcAft>
                <a:spcPts val="600"/>
              </a:spcAft>
              <a:buNone/>
            </a:pPr>
            <a:r>
              <a:rPr lang="en-US" sz="1800" dirty="0">
                <a:solidFill>
                  <a:srgbClr val="334155"/>
                </a:solidFill>
              </a:rPr>
              <a:t>Better in 89% of 500 replays</a:t>
            </a:r>
            <a:endParaRPr lang="en-US" sz="1800" dirty="0"/>
          </a:p>
          <a:p>
            <a:pPr algn="ctr" indent="0" marL="0">
              <a:buNone/>
            </a:pPr>
            <a:r>
              <a:rPr lang="en-US" sz="1800" dirty="0">
                <a:solidFill>
                  <a:srgbClr val="334155"/>
                </a:solidFill>
              </a:rPr>
              <a:t>Wins every stress test</a:t>
            </a:r>
            <a:endParaRPr lang="en-US" sz="1800" dirty="0"/>
          </a:p>
        </p:txBody>
      </p:sp>
      <p:sp>
        <p:nvSpPr>
          <p:cNvPr id="11" name="Card Thomas"/>
          <p:cNvSpPr/>
          <p:nvPr/>
        </p:nvSpPr>
        <p:spPr>
          <a:xfrm>
            <a:off x="4297680" y="1508760"/>
            <a:ext cx="3566160" cy="3931920"/>
          </a:xfrm>
          <a:prstGeom prst="roundRect">
            <a:avLst>
              <a:gd name="adj" fmla="val 3077"/>
            </a:avLst>
          </a:prstGeom>
          <a:solidFill>
            <a:srgbClr val="F8FAFC"/>
          </a:solidFill>
          <a:ln w="28575">
            <a:solidFill>
              <a:srgbClr val="D97706"/>
            </a:solidFill>
            <a:prstDash val="solid"/>
          </a:ln>
        </p:spPr>
      </p:sp>
      <p:pic>
        <p:nvPicPr>
          <p:cNvPr id="12" name="Portrait Thomas" descr="Illustrated portrait of Thomas, one of our three example savers">    </p:cNvPr>
          <p:cNvPicPr>
            <a:picLocks noChangeAspect="1"/>
          </p:cNvPicPr>
          <p:nvPr/>
        </p:nvPicPr>
        <p:blipFill>
          <a:blip r:embed="rId2"/>
          <a:stretch>
            <a:fillRect/>
          </a:stretch>
        </p:blipFill>
        <p:spPr>
          <a:xfrm>
            <a:off x="5532120" y="1691640"/>
            <a:ext cx="1097280" cy="1097280"/>
          </a:xfrm>
          <a:prstGeom prst="ellipse">
            <a:avLst/>
          </a:prstGeom>
        </p:spPr>
      </p:pic>
      <p:sp>
        <p:nvSpPr>
          <p:cNvPr id="13" name="Portrait ring Thomas"/>
          <p:cNvSpPr/>
          <p:nvPr/>
        </p:nvSpPr>
        <p:spPr>
          <a:xfrm>
            <a:off x="5532120" y="1691640"/>
            <a:ext cx="1097280" cy="1097280"/>
          </a:xfrm>
          <a:prstGeom prst="ellipse">
            <a:avLst/>
          </a:prstGeom>
          <a:ln w="31750">
            <a:solidFill>
              <a:srgbClr val="D97706"/>
            </a:solidFill>
            <a:prstDash val="solid"/>
          </a:ln>
        </p:spPr>
      </p:sp>
      <p:sp>
        <p:nvSpPr>
          <p:cNvPr id="14" name="Card text"/>
          <p:cNvSpPr txBox="1"/>
          <p:nvPr/>
        </p:nvSpPr>
        <p:spPr>
          <a:xfrm>
            <a:off x="4526280" y="2926080"/>
            <a:ext cx="3108960" cy="2423160"/>
          </a:xfrm>
          <a:prstGeom prst="rect">
            <a:avLst/>
          </a:prstGeom>
          <a:noFill/>
          <a:ln/>
        </p:spPr>
        <p:txBody>
          <a:bodyPr wrap="square" lIns="0" tIns="0" rIns="0" bIns="0" rtlCol="0" anchor="t"/>
          <a:lstStyle/>
          <a:p>
            <a:pPr algn="ctr" indent="0" marL="0">
              <a:buNone/>
            </a:pPr>
            <a:r>
              <a:rPr lang="en-US" sz="1800" b="1" dirty="0">
                <a:solidFill>
                  <a:srgbClr val="D97706"/>
                </a:solidFill>
              </a:rPr>
              <a:t>THOMAS | Balanced</a:t>
            </a:r>
            <a:endParaRPr lang="en-US" sz="1800" dirty="0"/>
          </a:p>
          <a:p>
            <a:pPr algn="ctr" indent="0" marL="0">
              <a:buNone/>
            </a:pPr>
            <a:r>
              <a:rPr lang="en-US" sz="4800" b="1" dirty="0">
                <a:solidFill>
                  <a:srgbClr val="D97706"/>
                </a:solidFill>
              </a:rPr>
              <a:t>REVIEW</a:t>
            </a:r>
            <a:endParaRPr lang="en-US" sz="1800" dirty="0"/>
          </a:p>
          <a:p>
            <a:pPr algn="ctr" indent="0" marL="0">
              <a:spcAft>
                <a:spcPts val="600"/>
              </a:spcAft>
              <a:buNone/>
            </a:pPr>
            <a:r>
              <a:rPr lang="en-US" sz="1800" dirty="0">
                <a:solidFill>
                  <a:srgbClr val="334155"/>
                </a:solidFill>
              </a:rPr>
              <a:t>Near-tie: flips under stress</a:t>
            </a:r>
            <a:endParaRPr lang="en-US" sz="1800" dirty="0"/>
          </a:p>
          <a:p>
            <a:pPr algn="ctr" indent="0" marL="0">
              <a:buNone/>
            </a:pPr>
            <a:r>
              <a:rPr lang="en-US" sz="1800" dirty="0">
                <a:solidFill>
                  <a:srgbClr val="334155"/>
                </a:solidFill>
              </a:rPr>
              <a:t>Hold until the committee decides</a:t>
            </a:r>
            <a:endParaRPr lang="en-US" sz="1800" dirty="0"/>
          </a:p>
        </p:txBody>
      </p:sp>
      <p:sp>
        <p:nvSpPr>
          <p:cNvPr id="15" name="Card Anna"/>
          <p:cNvSpPr/>
          <p:nvPr/>
        </p:nvSpPr>
        <p:spPr>
          <a:xfrm>
            <a:off x="8046720" y="1508760"/>
            <a:ext cx="3566160" cy="3931920"/>
          </a:xfrm>
          <a:prstGeom prst="roundRect">
            <a:avLst>
              <a:gd name="adj" fmla="val 3077"/>
            </a:avLst>
          </a:prstGeom>
          <a:solidFill>
            <a:srgbClr val="F8FAFC"/>
          </a:solidFill>
          <a:ln w="28575">
            <a:solidFill>
              <a:srgbClr val="DC2626"/>
            </a:solidFill>
            <a:prstDash val="solid"/>
          </a:ln>
        </p:spPr>
      </p:sp>
      <p:pic>
        <p:nvPicPr>
          <p:cNvPr id="16" name="Portrait Anna" descr="Illustrated portrait of Anna, one of our three example savers">    </p:cNvPr>
          <p:cNvPicPr>
            <a:picLocks noChangeAspect="1"/>
          </p:cNvPicPr>
          <p:nvPr/>
        </p:nvPicPr>
        <p:blipFill>
          <a:blip r:embed="rId3"/>
          <a:stretch>
            <a:fillRect/>
          </a:stretch>
        </p:blipFill>
        <p:spPr>
          <a:xfrm>
            <a:off x="9281160" y="1691640"/>
            <a:ext cx="1097280" cy="1097280"/>
          </a:xfrm>
          <a:prstGeom prst="ellipse">
            <a:avLst/>
          </a:prstGeom>
        </p:spPr>
      </p:pic>
      <p:sp>
        <p:nvSpPr>
          <p:cNvPr id="17" name="Portrait ring Anna"/>
          <p:cNvSpPr/>
          <p:nvPr/>
        </p:nvSpPr>
        <p:spPr>
          <a:xfrm>
            <a:off x="9281160" y="1691640"/>
            <a:ext cx="1097280" cy="1097280"/>
          </a:xfrm>
          <a:prstGeom prst="ellipse">
            <a:avLst/>
          </a:prstGeom>
          <a:ln w="31750">
            <a:solidFill>
              <a:srgbClr val="DC2626"/>
            </a:solidFill>
            <a:prstDash val="solid"/>
          </a:ln>
        </p:spPr>
      </p:sp>
      <p:sp>
        <p:nvSpPr>
          <p:cNvPr id="18" name="Card text"/>
          <p:cNvSpPr txBox="1"/>
          <p:nvPr/>
        </p:nvSpPr>
        <p:spPr>
          <a:xfrm>
            <a:off x="8275320" y="2926080"/>
            <a:ext cx="3108960" cy="2423160"/>
          </a:xfrm>
          <a:prstGeom prst="rect">
            <a:avLst/>
          </a:prstGeom>
          <a:noFill/>
          <a:ln/>
        </p:spPr>
        <p:txBody>
          <a:bodyPr wrap="square" lIns="0" tIns="0" rIns="0" bIns="0" rtlCol="0" anchor="t"/>
          <a:lstStyle/>
          <a:p>
            <a:pPr algn="ctr" indent="0" marL="0">
              <a:buNone/>
            </a:pPr>
            <a:r>
              <a:rPr lang="en-US" sz="1800" b="1" dirty="0">
                <a:solidFill>
                  <a:srgbClr val="DC2626"/>
                </a:solidFill>
              </a:rPr>
              <a:t>ANNA | Risk-sensitive</a:t>
            </a:r>
            <a:endParaRPr lang="en-US" sz="1800" dirty="0"/>
          </a:p>
          <a:p>
            <a:pPr algn="ctr" indent="0" marL="0">
              <a:buNone/>
            </a:pPr>
            <a:r>
              <a:rPr lang="en-US" sz="4800" b="1" dirty="0">
                <a:solidFill>
                  <a:srgbClr val="DC2626"/>
                </a:solidFill>
              </a:rPr>
              <a:t>KEEP</a:t>
            </a:r>
            <a:endParaRPr lang="en-US" sz="1800" dirty="0"/>
          </a:p>
          <a:p>
            <a:pPr algn="ctr" indent="0" marL="0">
              <a:spcAft>
                <a:spcPts val="600"/>
              </a:spcAft>
              <a:buNone/>
            </a:pPr>
            <a:r>
              <a:rPr lang="en-US" sz="1800" dirty="0">
                <a:solidFill>
                  <a:srgbClr val="334155"/>
                </a:solidFill>
              </a:rPr>
              <a:t>Lowest risk of all 20 baskets</a:t>
            </a:r>
            <a:endParaRPr lang="en-US" sz="1800" dirty="0"/>
          </a:p>
          <a:p>
            <a:pPr algn="ctr" indent="0" marL="0">
              <a:buNone/>
            </a:pPr>
            <a:r>
              <a:rPr lang="en-US" sz="1800" dirty="0">
                <a:solidFill>
                  <a:srgbClr val="334155"/>
                </a:solidFill>
              </a:rPr>
              <a:t>Tech sits right on her loss limit</a:t>
            </a:r>
            <a:endParaRPr lang="en-US" sz="18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p>
            <a:pPr indent="0" marL="0">
              <a:buNone/>
            </a:pPr>
            <a:r>
              <a:rPr lang="en-US" sz="1200" b="1" spc="200" kern="0" dirty="0">
                <a:solidFill>
                  <a:srgbClr val="2563EB"/>
                </a:solidFill>
              </a:rPr>
              <a:t>LENA</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nchor="t"/>
          <a:lstStyle/>
          <a:p>
            <a:pPr algn="l" indent="0" marL="0">
              <a:buNone/>
            </a:pPr>
            <a:r>
              <a:rPr lang="en-US" sz="3000" b="1" dirty="0">
                <a:solidFill>
                  <a:srgbClr val="0A192F"/>
                </a:solidFill>
              </a:rPr>
              <a:t>Lena: switching to tech wins every test</a:t>
            </a:r>
            <a:endParaRPr lang="en-US" sz="3000" dirty="0"/>
          </a:p>
        </p:txBody>
      </p:sp>
      <p:sp>
        <p:nvSpPr>
          <p:cNvPr id="4" name="Text 0"/>
          <p:cNvSpPr/>
          <p:nvPr>
            <p:ph idx="102" type="body" hasCustomPrompt="1"/>
          </p:nvPr>
        </p:nvSpPr>
        <p:spPr>
          <a:xfrm>
            <a:off x="548640" y="6382512"/>
            <a:ext cx="10424160" cy="274320"/>
          </a:xfrm>
          <a:prstGeom prst="rect">
            <a:avLst/>
          </a:prstGeom>
          <a:noFill/>
          <a:ln/>
        </p:spPr>
        <p:txBody>
          <a:bodyPr wrap="square" rtlCol="0"/>
          <a:lstStyle/>
          <a:p>
            <a:pPr indent="0" marL="0">
              <a:buNone/>
            </a:pPr>
            <a:r>
              <a:rPr lang="en-US" sz="900" dirty="0">
                <a:solidFill>
                  <a:srgbClr val="64748B"/>
                </a:solidFill>
              </a:rPr>
              <a:t>Source: our canonical run (results/canonical) · data: Kenneth French, 6 US industries, Jan 2015–Dec 2019</a:t>
            </a:r>
            <a:endParaRPr lang="en-US" sz="900" dirty="0"/>
          </a:p>
        </p:txBody>
      </p:sp>
      <p:sp>
        <p:nvSpPr>
          <p:cNvPr id="5" name="Takeaway bar"/>
          <p:cNvSpPr/>
          <p:nvPr/>
        </p:nvSpPr>
        <p:spPr>
          <a:xfrm>
            <a:off x="548640" y="5669280"/>
            <a:ext cx="11064240" cy="566928"/>
          </a:xfrm>
          <a:prstGeom prst="roundRect">
            <a:avLst>
              <a:gd name="adj" fmla="val 16129"/>
            </a:avLst>
          </a:prstGeom>
          <a:solidFill>
            <a:srgbClr val="EFF6FF"/>
          </a:solidFill>
          <a:ln w="12700">
            <a:solidFill>
              <a:srgbClr val="EFF6FF"/>
            </a:solidFill>
            <a:prstDash val="solid"/>
          </a:ln>
        </p:spPr>
      </p:sp>
      <p:sp>
        <p:nvSpPr>
          <p:cNvPr id="6" name="Takeaway"/>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800" b="1" dirty="0">
                <a:solidFill>
                  <a:srgbClr val="2563EB"/>
                </a:solidFill>
              </a:rPr>
              <a:t>Takeaway  </a:t>
            </a:r>
            <a:pPr indent="0" marL="0">
              <a:buNone/>
            </a:pPr>
            <a:r>
              <a:rPr lang="en-US" sz="1800" dirty="0">
                <a:solidFill>
                  <a:srgbClr val="0A192F"/>
                </a:solidFill>
              </a:rPr>
              <a:t>Strong evidence → switch.</a:t>
            </a:r>
            <a:endParaRPr lang="en-US" sz="1800" dirty="0"/>
          </a:p>
        </p:txBody>
      </p:sp>
      <p:graphicFrame>
        <p:nvGraphicFramePr>
          <p:cNvPr id="7" name="Lena replays chart" descr="500 replays for Lena: the tech basket scores better in 89%."/>
          <p:cNvGraphicFramePr/>
          <p:nvPr/>
        </p:nvGraphicFramePr>
        <p:xfrm>
          <a:off x="548640" y="1463040"/>
          <a:ext cx="6766560" cy="4069080"/>
        </p:xfrm>
        <a:graphic xmlns:a="http://schemas.openxmlformats.org/drawingml/2006/main">
          <a:graphicData uri="http://schemas.openxmlformats.org/drawingml/2006/chart">
            <c:chart xmlns:c="http://schemas.openxmlformats.org/drawingml/2006/chart" r:id="rId1"/>
          </a:graphicData>
        </a:graphic>
      </p:graphicFrame>
      <p:sp>
        <p:nvSpPr>
          <p:cNvPr id="8" name="Card Lena"/>
          <p:cNvSpPr/>
          <p:nvPr/>
        </p:nvSpPr>
        <p:spPr>
          <a:xfrm>
            <a:off x="7589520" y="1508760"/>
            <a:ext cx="4023360" cy="3931920"/>
          </a:xfrm>
          <a:prstGeom prst="roundRect">
            <a:avLst>
              <a:gd name="adj" fmla="val 2791"/>
            </a:avLst>
          </a:prstGeom>
          <a:solidFill>
            <a:srgbClr val="F8FAFC"/>
          </a:solidFill>
          <a:ln w="28575">
            <a:solidFill>
              <a:srgbClr val="059669"/>
            </a:solidFill>
            <a:prstDash val="solid"/>
          </a:ln>
        </p:spPr>
      </p:sp>
      <p:pic>
        <p:nvPicPr>
          <p:cNvPr id="9" name="Portrait Lena" descr="Illustrated portrait of Lena, one of our three example savers">    </p:cNvPr>
          <p:cNvPicPr>
            <a:picLocks noChangeAspect="1"/>
          </p:cNvPicPr>
          <p:nvPr/>
        </p:nvPicPr>
        <p:blipFill>
          <a:blip r:embed="rId2"/>
          <a:stretch>
            <a:fillRect/>
          </a:stretch>
        </p:blipFill>
        <p:spPr>
          <a:xfrm>
            <a:off x="9052560" y="1691640"/>
            <a:ext cx="1097280" cy="1097280"/>
          </a:xfrm>
          <a:prstGeom prst="ellipse">
            <a:avLst/>
          </a:prstGeom>
        </p:spPr>
      </p:pic>
      <p:sp>
        <p:nvSpPr>
          <p:cNvPr id="10" name="Portrait ring Lena"/>
          <p:cNvSpPr/>
          <p:nvPr/>
        </p:nvSpPr>
        <p:spPr>
          <a:xfrm>
            <a:off x="9052560" y="1691640"/>
            <a:ext cx="1097280" cy="1097280"/>
          </a:xfrm>
          <a:prstGeom prst="ellipse">
            <a:avLst/>
          </a:prstGeom>
          <a:ln w="31750">
            <a:solidFill>
              <a:srgbClr val="059669"/>
            </a:solidFill>
            <a:prstDash val="solid"/>
          </a:ln>
        </p:spPr>
      </p:sp>
      <p:sp>
        <p:nvSpPr>
          <p:cNvPr id="11" name="Card text"/>
          <p:cNvSpPr txBox="1"/>
          <p:nvPr/>
        </p:nvSpPr>
        <p:spPr>
          <a:xfrm>
            <a:off x="7909560" y="2926080"/>
            <a:ext cx="3474720" cy="2468880"/>
          </a:xfrm>
          <a:prstGeom prst="rect">
            <a:avLst/>
          </a:prstGeom>
          <a:noFill/>
          <a:ln/>
        </p:spPr>
        <p:txBody>
          <a:bodyPr wrap="square" lIns="0" tIns="0" rIns="0" bIns="0" rtlCol="0" anchor="t"/>
          <a:lstStyle/>
          <a:p>
            <a:pPr algn="l" indent="0" marL="0">
              <a:spcAft>
                <a:spcPts val="800"/>
              </a:spcAft>
              <a:buNone/>
            </a:pPr>
            <a:r>
              <a:rPr lang="en-US" sz="2800" b="1" dirty="0">
                <a:solidFill>
                  <a:srgbClr val="059669"/>
                </a:solidFill>
              </a:rPr>
              <a:t>Switch</a:t>
            </a:r>
            <a:endParaRPr lang="en-US" sz="2800" dirty="0"/>
          </a:p>
          <a:p>
            <a:pPr algn="l" marL="228600" indent="-228600">
              <a:spcAft>
                <a:spcPts val="800"/>
              </a:spcAft>
              <a:buSzPct val="100000"/>
              <a:buChar char="•"/>
            </a:pPr>
            <a:r>
              <a:rPr lang="en-US" sz="1800" dirty="0">
                <a:solidFill>
                  <a:srgbClr val="334155"/>
                </a:solidFill>
              </a:rPr>
              <a:t>+0.29 points return a month</a:t>
            </a:r>
            <a:endParaRPr lang="en-US" sz="2800" dirty="0"/>
          </a:p>
          <a:p>
            <a:pPr algn="l" marL="228600" indent="-228600">
              <a:spcAft>
                <a:spcPts val="800"/>
              </a:spcAft>
              <a:buSzPct val="100000"/>
              <a:buChar char="•"/>
            </a:pPr>
            <a:r>
              <a:rPr lang="en-US" sz="1800" dirty="0">
                <a:solidFill>
                  <a:srgbClr val="334155"/>
                </a:solidFill>
              </a:rPr>
              <a:t>Better in 89% of 500 replays</a:t>
            </a:r>
            <a:endParaRPr lang="en-US" sz="2800" dirty="0"/>
          </a:p>
          <a:p>
            <a:pPr algn="l" marL="228600" indent="-228600">
              <a:spcAft>
                <a:spcPts val="800"/>
              </a:spcAft>
              <a:buSzPct val="100000"/>
              <a:buChar char="•"/>
            </a:pPr>
            <a:r>
              <a:rPr lang="en-US" sz="1800" dirty="0">
                <a:solidFill>
                  <a:srgbClr val="334155"/>
                </a:solidFill>
              </a:rPr>
              <a:t>Wins every stress test</a:t>
            </a:r>
            <a:endParaRPr lang="en-US" sz="2800" dirty="0"/>
          </a:p>
          <a:p>
            <a:pPr algn="l" marL="228600" indent="-228600">
              <a:spcAft>
                <a:spcPts val="800"/>
              </a:spcAft>
              <a:buSzPct val="100000"/>
              <a:buChar char="•"/>
            </a:pPr>
            <a:r>
              <a:rPr lang="en-US" sz="1800" dirty="0">
                <a:solidFill>
                  <a:srgbClr val="334155"/>
                </a:solidFill>
              </a:rPr>
              <a:t>One-off switching cost earned back within a month</a:t>
            </a:r>
            <a:endParaRPr lang="en-US" sz="28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p>
            <a:pPr indent="0" marL="0">
              <a:buNone/>
            </a:pPr>
            <a:r>
              <a:rPr lang="en-US" sz="1200" b="1" spc="200" kern="0" dirty="0">
                <a:solidFill>
                  <a:srgbClr val="2563EB"/>
                </a:solidFill>
              </a:rPr>
              <a:t>THOMAS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nchor="t"/>
          <a:lstStyle/>
          <a:p>
            <a:pPr algn="l" indent="0" marL="0">
              <a:buNone/>
            </a:pPr>
            <a:r>
              <a:rPr lang="en-US" sz="3000" b="1" dirty="0">
                <a:solidFill>
                  <a:srgbClr val="0A192F"/>
                </a:solidFill>
              </a:rPr>
              <a:t>Thomas: the data cannot tell the two baskets apart</a:t>
            </a:r>
            <a:endParaRPr lang="en-US" sz="3000" dirty="0"/>
          </a:p>
        </p:txBody>
      </p:sp>
      <p:sp>
        <p:nvSpPr>
          <p:cNvPr id="4" name="Text 0"/>
          <p:cNvSpPr/>
          <p:nvPr>
            <p:ph idx="102" type="body" hasCustomPrompt="1"/>
          </p:nvPr>
        </p:nvSpPr>
        <p:spPr>
          <a:xfrm>
            <a:off x="548640" y="6382512"/>
            <a:ext cx="10424160" cy="274320"/>
          </a:xfrm>
          <a:prstGeom prst="rect">
            <a:avLst/>
          </a:prstGeom>
          <a:noFill/>
          <a:ln/>
        </p:spPr>
        <p:txBody>
          <a:bodyPr wrap="square" rtlCol="0"/>
          <a:lstStyle/>
          <a:p>
            <a:pPr indent="0" marL="0">
              <a:buNone/>
            </a:pPr>
            <a:r>
              <a:rPr lang="en-US" sz="900" dirty="0">
                <a:solidFill>
                  <a:srgbClr val="64748B"/>
                </a:solidFill>
              </a:rPr>
              <a:t>Source: our canonical run (results/canonical) · data: Kenneth French, 6 US industries, Jan 2015–Dec 2019</a:t>
            </a:r>
            <a:endParaRPr lang="en-US" sz="900" dirty="0"/>
          </a:p>
        </p:txBody>
      </p:sp>
      <p:sp>
        <p:nvSpPr>
          <p:cNvPr id="5" name="Takeaway bar"/>
          <p:cNvSpPr/>
          <p:nvPr/>
        </p:nvSpPr>
        <p:spPr>
          <a:xfrm>
            <a:off x="548640" y="5669280"/>
            <a:ext cx="11064240" cy="566928"/>
          </a:xfrm>
          <a:prstGeom prst="roundRect">
            <a:avLst>
              <a:gd name="adj" fmla="val 16129"/>
            </a:avLst>
          </a:prstGeom>
          <a:solidFill>
            <a:srgbClr val="EFF6FF"/>
          </a:solidFill>
          <a:ln w="12700">
            <a:solidFill>
              <a:srgbClr val="EFF6FF"/>
            </a:solidFill>
            <a:prstDash val="solid"/>
          </a:ln>
        </p:spPr>
      </p:sp>
      <p:sp>
        <p:nvSpPr>
          <p:cNvPr id="6" name="Takeaway"/>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800" b="1" dirty="0">
                <a:solidFill>
                  <a:srgbClr val="2563EB"/>
                </a:solidFill>
              </a:rPr>
              <a:t>Takeaway  </a:t>
            </a:r>
            <a:pPr indent="0" marL="0">
              <a:buNone/>
            </a:pPr>
            <a:r>
              <a:rPr lang="en-US" sz="1800" dirty="0">
                <a:solidFill>
                  <a:srgbClr val="0A192F"/>
                </a:solidFill>
              </a:rPr>
              <a:t>Too close to call → hold, and let the committee decide.</a:t>
            </a:r>
            <a:endParaRPr lang="en-US" sz="1800" dirty="0"/>
          </a:p>
        </p:txBody>
      </p:sp>
      <p:sp>
        <p:nvSpPr>
          <p:cNvPr id="7" name="Chart title"/>
          <p:cNvSpPr txBox="1"/>
          <p:nvPr/>
        </p:nvSpPr>
        <p:spPr>
          <a:xfrm>
            <a:off x="548640" y="1554480"/>
            <a:ext cx="6766560" cy="365760"/>
          </a:xfrm>
          <a:prstGeom prst="rect">
            <a:avLst/>
          </a:prstGeom>
          <a:noFill/>
          <a:ln/>
        </p:spPr>
        <p:txBody>
          <a:bodyPr wrap="square" lIns="0" tIns="0" rIns="0" bIns="0" rtlCol="0" anchor="t"/>
          <a:lstStyle/>
          <a:p>
            <a:pPr algn="l" indent="0" marL="0">
              <a:buNone/>
            </a:pPr>
            <a:r>
              <a:rPr lang="en-US" sz="1600" b="1" dirty="0">
                <a:solidFill>
                  <a:srgbClr val="0A192F"/>
                </a:solidFill>
              </a:rPr>
              <a:t>How much tech's monthly return may change before Thomas's answer flips</a:t>
            </a:r>
            <a:endParaRPr lang="en-US" sz="1600" dirty="0"/>
          </a:p>
        </p:txBody>
      </p:sp>
      <p:sp>
        <p:nvSpPr>
          <p:cNvPr id="8" name="Noise band"/>
          <p:cNvSpPr/>
          <p:nvPr/>
        </p:nvSpPr>
        <p:spPr>
          <a:xfrm>
            <a:off x="2473452" y="3429000"/>
            <a:ext cx="2916936" cy="914400"/>
          </a:xfrm>
          <a:prstGeom prst="rect">
            <a:avLst/>
          </a:prstGeom>
          <a:solidFill>
            <a:srgbClr val="E2E8F0"/>
          </a:solidFill>
          <a:ln w="12700">
            <a:solidFill>
              <a:srgbClr val="E2E8F0"/>
            </a:solidFill>
            <a:prstDash val="solid"/>
          </a:ln>
        </p:spPr>
      </p:sp>
      <p:sp>
        <p:nvSpPr>
          <p:cNvPr id="9" name="Band label"/>
          <p:cNvSpPr txBox="1"/>
          <p:nvPr/>
        </p:nvSpPr>
        <p:spPr>
          <a:xfrm>
            <a:off x="3150108" y="3502152"/>
            <a:ext cx="2148840" cy="548640"/>
          </a:xfrm>
          <a:prstGeom prst="rect">
            <a:avLst/>
          </a:prstGeom>
          <a:noFill/>
          <a:ln/>
        </p:spPr>
        <p:txBody>
          <a:bodyPr wrap="square" lIns="0" tIns="0" rIns="0" bIns="0" rtlCol="0" anchor="t"/>
          <a:lstStyle/>
          <a:p>
            <a:pPr algn="r" indent="0" marL="0">
              <a:buNone/>
            </a:pPr>
            <a:r>
              <a:rPr lang="en-US" sz="1300" dirty="0">
                <a:solidFill>
                  <a:srgbClr val="334155"/>
                </a:solidFill>
              </a:rPr>
              <a:t>Uncertainty of the estimate</a:t>
            </a:r>
            <a:endParaRPr lang="en-US" sz="1300" dirty="0"/>
          </a:p>
          <a:p>
            <a:pPr algn="r" indent="0" marL="0">
              <a:buNone/>
            </a:pPr>
            <a:r>
              <a:rPr lang="en-US" sz="1300" b="1" dirty="0">
                <a:solidFill>
                  <a:srgbClr val="334155"/>
                </a:solidFill>
              </a:rPr>
              <a:t>±0.58 points</a:t>
            </a:r>
            <a:endParaRPr lang="en-US" sz="1300" dirty="0"/>
          </a:p>
        </p:txBody>
      </p:sp>
      <p:sp>
        <p:nvSpPr>
          <p:cNvPr id="10" name="Axis"/>
          <p:cNvSpPr/>
          <p:nvPr/>
        </p:nvSpPr>
        <p:spPr>
          <a:xfrm>
            <a:off x="914400" y="4343400"/>
            <a:ext cx="6035040" cy="0"/>
          </a:xfrm>
          <a:prstGeom prst="line">
            <a:avLst/>
          </a:prstGeom>
          <a:noFill/>
          <a:ln w="19050">
            <a:solidFill>
              <a:srgbClr val="0A192F"/>
            </a:solidFill>
            <a:prstDash val="solid"/>
          </a:ln>
        </p:spPr>
      </p:sp>
      <p:sp>
        <p:nvSpPr>
          <p:cNvPr id="11" name="Tick"/>
          <p:cNvSpPr/>
          <p:nvPr/>
        </p:nvSpPr>
        <p:spPr>
          <a:xfrm>
            <a:off x="1417320" y="4343400"/>
            <a:ext cx="0" cy="91440"/>
          </a:xfrm>
          <a:prstGeom prst="line">
            <a:avLst/>
          </a:prstGeom>
          <a:noFill/>
          <a:ln w="12700">
            <a:solidFill>
              <a:srgbClr val="0A192F"/>
            </a:solidFill>
            <a:prstDash val="solid"/>
          </a:ln>
        </p:spPr>
      </p:sp>
      <p:sp>
        <p:nvSpPr>
          <p:cNvPr id="12" name="Tick label"/>
          <p:cNvSpPr txBox="1"/>
          <p:nvPr/>
        </p:nvSpPr>
        <p:spPr>
          <a:xfrm>
            <a:off x="777240" y="4453128"/>
            <a:ext cx="1280160" cy="411480"/>
          </a:xfrm>
          <a:prstGeom prst="rect">
            <a:avLst/>
          </a:prstGeom>
          <a:noFill/>
          <a:ln/>
        </p:spPr>
        <p:txBody>
          <a:bodyPr wrap="square" lIns="0" tIns="0" rIns="0" bIns="0" rtlCol="0" anchor="t"/>
          <a:lstStyle/>
          <a:p>
            <a:pPr algn="ctr" indent="0" marL="0">
              <a:buNone/>
            </a:pPr>
            <a:r>
              <a:rPr lang="en-US" sz="1200" dirty="0">
                <a:solidFill>
                  <a:srgbClr val="334155"/>
                </a:solidFill>
              </a:rPr>
              <a:t>−1.0</a:t>
            </a:r>
            <a:endParaRPr lang="en-US" sz="1200" dirty="0"/>
          </a:p>
        </p:txBody>
      </p:sp>
      <p:sp>
        <p:nvSpPr>
          <p:cNvPr id="13" name="Tick"/>
          <p:cNvSpPr/>
          <p:nvPr/>
        </p:nvSpPr>
        <p:spPr>
          <a:xfrm>
            <a:off x="2674620" y="4343400"/>
            <a:ext cx="0" cy="91440"/>
          </a:xfrm>
          <a:prstGeom prst="line">
            <a:avLst/>
          </a:prstGeom>
          <a:noFill/>
          <a:ln w="12700">
            <a:solidFill>
              <a:srgbClr val="0A192F"/>
            </a:solidFill>
            <a:prstDash val="solid"/>
          </a:ln>
        </p:spPr>
      </p:sp>
      <p:sp>
        <p:nvSpPr>
          <p:cNvPr id="14" name="Tick label"/>
          <p:cNvSpPr txBox="1"/>
          <p:nvPr/>
        </p:nvSpPr>
        <p:spPr>
          <a:xfrm>
            <a:off x="2034540" y="4453128"/>
            <a:ext cx="1280160" cy="411480"/>
          </a:xfrm>
          <a:prstGeom prst="rect">
            <a:avLst/>
          </a:prstGeom>
          <a:noFill/>
          <a:ln/>
        </p:spPr>
        <p:txBody>
          <a:bodyPr wrap="square" lIns="0" tIns="0" rIns="0" bIns="0" rtlCol="0" anchor="t"/>
          <a:lstStyle/>
          <a:p>
            <a:pPr algn="ctr" indent="0" marL="0">
              <a:buNone/>
            </a:pPr>
            <a:r>
              <a:rPr lang="en-US" sz="1200" dirty="0">
                <a:solidFill>
                  <a:srgbClr val="334155"/>
                </a:solidFill>
              </a:rPr>
              <a:t>−0.5</a:t>
            </a:r>
            <a:endParaRPr lang="en-US" sz="1200" dirty="0"/>
          </a:p>
        </p:txBody>
      </p:sp>
      <p:sp>
        <p:nvSpPr>
          <p:cNvPr id="15" name="Tick"/>
          <p:cNvSpPr/>
          <p:nvPr/>
        </p:nvSpPr>
        <p:spPr>
          <a:xfrm>
            <a:off x="3931920" y="4343400"/>
            <a:ext cx="0" cy="91440"/>
          </a:xfrm>
          <a:prstGeom prst="line">
            <a:avLst/>
          </a:prstGeom>
          <a:noFill/>
          <a:ln w="12700">
            <a:solidFill>
              <a:srgbClr val="0A192F"/>
            </a:solidFill>
            <a:prstDash val="solid"/>
          </a:ln>
        </p:spPr>
      </p:sp>
      <p:sp>
        <p:nvSpPr>
          <p:cNvPr id="16" name="Tick label"/>
          <p:cNvSpPr txBox="1"/>
          <p:nvPr/>
        </p:nvSpPr>
        <p:spPr>
          <a:xfrm>
            <a:off x="3291840" y="4453128"/>
            <a:ext cx="1280160" cy="411480"/>
          </a:xfrm>
          <a:prstGeom prst="rect">
            <a:avLst/>
          </a:prstGeom>
          <a:noFill/>
          <a:ln/>
        </p:spPr>
        <p:txBody>
          <a:bodyPr wrap="square" lIns="0" tIns="0" rIns="0" bIns="0" rtlCol="0" anchor="t"/>
          <a:lstStyle/>
          <a:p>
            <a:pPr algn="ctr" indent="0" marL="0">
              <a:buNone/>
            </a:pPr>
            <a:r>
              <a:rPr lang="en-US" sz="1200" b="1" dirty="0">
                <a:solidFill>
                  <a:srgbClr val="0A192F"/>
                </a:solidFill>
              </a:rPr>
              <a:t>0</a:t>
            </a:r>
            <a:endParaRPr lang="en-US" sz="1200" dirty="0"/>
          </a:p>
          <a:p>
            <a:pPr algn="ctr" indent="0" marL="0">
              <a:buNone/>
            </a:pPr>
            <a:r>
              <a:rPr lang="en-US" sz="1200" b="1" dirty="0">
                <a:solidFill>
                  <a:srgbClr val="0A192F"/>
                </a:solidFill>
              </a:rPr>
              <a:t>today: 1.51%</a:t>
            </a:r>
            <a:endParaRPr lang="en-US" sz="1200" dirty="0"/>
          </a:p>
        </p:txBody>
      </p:sp>
      <p:sp>
        <p:nvSpPr>
          <p:cNvPr id="17" name="Tick"/>
          <p:cNvSpPr/>
          <p:nvPr/>
        </p:nvSpPr>
        <p:spPr>
          <a:xfrm>
            <a:off x="5189220" y="4343400"/>
            <a:ext cx="0" cy="91440"/>
          </a:xfrm>
          <a:prstGeom prst="line">
            <a:avLst/>
          </a:prstGeom>
          <a:noFill/>
          <a:ln w="12700">
            <a:solidFill>
              <a:srgbClr val="0A192F"/>
            </a:solidFill>
            <a:prstDash val="solid"/>
          </a:ln>
        </p:spPr>
      </p:sp>
      <p:sp>
        <p:nvSpPr>
          <p:cNvPr id="18" name="Tick label"/>
          <p:cNvSpPr txBox="1"/>
          <p:nvPr/>
        </p:nvSpPr>
        <p:spPr>
          <a:xfrm>
            <a:off x="4549140" y="4453128"/>
            <a:ext cx="1280160" cy="411480"/>
          </a:xfrm>
          <a:prstGeom prst="rect">
            <a:avLst/>
          </a:prstGeom>
          <a:noFill/>
          <a:ln/>
        </p:spPr>
        <p:txBody>
          <a:bodyPr wrap="square" lIns="0" tIns="0" rIns="0" bIns="0" rtlCol="0" anchor="t"/>
          <a:lstStyle/>
          <a:p>
            <a:pPr algn="ctr" indent="0" marL="0">
              <a:buNone/>
            </a:pPr>
            <a:r>
              <a:rPr lang="en-US" sz="1200" dirty="0">
                <a:solidFill>
                  <a:srgbClr val="334155"/>
                </a:solidFill>
              </a:rPr>
              <a:t>+0.5</a:t>
            </a:r>
            <a:endParaRPr lang="en-US" sz="1200" dirty="0"/>
          </a:p>
        </p:txBody>
      </p:sp>
      <p:sp>
        <p:nvSpPr>
          <p:cNvPr id="19" name="Tick"/>
          <p:cNvSpPr/>
          <p:nvPr/>
        </p:nvSpPr>
        <p:spPr>
          <a:xfrm>
            <a:off x="6446520" y="4343400"/>
            <a:ext cx="0" cy="91440"/>
          </a:xfrm>
          <a:prstGeom prst="line">
            <a:avLst/>
          </a:prstGeom>
          <a:noFill/>
          <a:ln w="12700">
            <a:solidFill>
              <a:srgbClr val="0A192F"/>
            </a:solidFill>
            <a:prstDash val="solid"/>
          </a:ln>
        </p:spPr>
      </p:sp>
      <p:sp>
        <p:nvSpPr>
          <p:cNvPr id="20" name="Tick label"/>
          <p:cNvSpPr txBox="1"/>
          <p:nvPr/>
        </p:nvSpPr>
        <p:spPr>
          <a:xfrm>
            <a:off x="5806440" y="4453128"/>
            <a:ext cx="1280160" cy="411480"/>
          </a:xfrm>
          <a:prstGeom prst="rect">
            <a:avLst/>
          </a:prstGeom>
          <a:noFill/>
          <a:ln/>
        </p:spPr>
        <p:txBody>
          <a:bodyPr wrap="square" lIns="0" tIns="0" rIns="0" bIns="0" rtlCol="0" anchor="t"/>
          <a:lstStyle/>
          <a:p>
            <a:pPr algn="ctr" indent="0" marL="0">
              <a:buNone/>
            </a:pPr>
            <a:r>
              <a:rPr lang="en-US" sz="1200" dirty="0">
                <a:solidFill>
                  <a:srgbClr val="334155"/>
                </a:solidFill>
              </a:rPr>
              <a:t>+1.0</a:t>
            </a:r>
            <a:endParaRPr lang="en-US" sz="1200" dirty="0"/>
          </a:p>
        </p:txBody>
      </p:sp>
      <p:sp>
        <p:nvSpPr>
          <p:cNvPr id="21" name="Axis title"/>
          <p:cNvSpPr txBox="1"/>
          <p:nvPr/>
        </p:nvSpPr>
        <p:spPr>
          <a:xfrm>
            <a:off x="914400" y="4910328"/>
            <a:ext cx="6035040" cy="274320"/>
          </a:xfrm>
          <a:prstGeom prst="rect">
            <a:avLst/>
          </a:prstGeom>
          <a:noFill/>
          <a:ln/>
        </p:spPr>
        <p:txBody>
          <a:bodyPr wrap="square" lIns="0" tIns="0" rIns="0" bIns="0" rtlCol="0" anchor="t"/>
          <a:lstStyle/>
          <a:p>
            <a:pPr algn="ctr" indent="0" marL="0">
              <a:buNone/>
            </a:pPr>
            <a:r>
              <a:rPr lang="en-US" sz="1200" dirty="0">
                <a:solidFill>
                  <a:srgbClr val="334155"/>
                </a:solidFill>
              </a:rPr>
              <a:t>Change in tech's expected return (points a month)</a:t>
            </a:r>
            <a:endParaRPr lang="en-US" sz="1200" dirty="0"/>
          </a:p>
        </p:txBody>
      </p:sp>
      <p:sp>
        <p:nvSpPr>
          <p:cNvPr id="22" name="Marker"/>
          <p:cNvSpPr/>
          <p:nvPr/>
        </p:nvSpPr>
        <p:spPr>
          <a:xfrm>
            <a:off x="3001518" y="2240280"/>
            <a:ext cx="0" cy="2103120"/>
          </a:xfrm>
          <a:prstGeom prst="line">
            <a:avLst/>
          </a:prstGeom>
          <a:noFill/>
          <a:ln w="25400">
            <a:solidFill>
              <a:srgbClr val="D97706"/>
            </a:solidFill>
            <a:prstDash val="solid"/>
          </a:ln>
        </p:spPr>
      </p:sp>
      <p:sp>
        <p:nvSpPr>
          <p:cNvPr id="23" name="Marker dot"/>
          <p:cNvSpPr/>
          <p:nvPr/>
        </p:nvSpPr>
        <p:spPr>
          <a:xfrm>
            <a:off x="2910078" y="4251960"/>
            <a:ext cx="182880" cy="182880"/>
          </a:xfrm>
          <a:prstGeom prst="ellipse">
            <a:avLst/>
          </a:prstGeom>
          <a:solidFill>
            <a:srgbClr val="D97706"/>
          </a:solidFill>
          <a:ln w="12700">
            <a:solidFill>
              <a:srgbClr val="FFFFFF"/>
            </a:solidFill>
            <a:prstDash val="solid"/>
          </a:ln>
        </p:spPr>
      </p:sp>
      <p:sp>
        <p:nvSpPr>
          <p:cNvPr id="24" name="Marker label"/>
          <p:cNvSpPr txBox="1"/>
          <p:nvPr/>
        </p:nvSpPr>
        <p:spPr>
          <a:xfrm>
            <a:off x="548640" y="2103120"/>
            <a:ext cx="2361438" cy="274320"/>
          </a:xfrm>
          <a:prstGeom prst="rect">
            <a:avLst/>
          </a:prstGeom>
          <a:noFill/>
          <a:ln/>
        </p:spPr>
        <p:txBody>
          <a:bodyPr wrap="square" lIns="0" tIns="0" rIns="0" bIns="0" rtlCol="0" anchor="t"/>
          <a:lstStyle/>
          <a:p>
            <a:pPr algn="r" indent="0" marL="0">
              <a:buNone/>
            </a:pPr>
            <a:r>
              <a:rPr lang="en-US" sz="1500" b="1" dirty="0">
                <a:solidFill>
                  <a:srgbClr val="D97706"/>
                </a:solidFill>
              </a:rPr>
              <a:t>Thomas flips at −0.37</a:t>
            </a:r>
            <a:endParaRPr lang="en-US" sz="1500" dirty="0"/>
          </a:p>
        </p:txBody>
      </p:sp>
      <p:sp>
        <p:nvSpPr>
          <p:cNvPr id="25" name="Marker"/>
          <p:cNvSpPr/>
          <p:nvPr/>
        </p:nvSpPr>
        <p:spPr>
          <a:xfrm>
            <a:off x="2674620" y="2697480"/>
            <a:ext cx="0" cy="1645920"/>
          </a:xfrm>
          <a:prstGeom prst="line">
            <a:avLst/>
          </a:prstGeom>
          <a:noFill/>
          <a:ln w="25400">
            <a:solidFill>
              <a:srgbClr val="DC2626"/>
            </a:solidFill>
            <a:prstDash val="dash"/>
          </a:ln>
        </p:spPr>
      </p:sp>
      <p:sp>
        <p:nvSpPr>
          <p:cNvPr id="26" name="Marker dot"/>
          <p:cNvSpPr/>
          <p:nvPr/>
        </p:nvSpPr>
        <p:spPr>
          <a:xfrm>
            <a:off x="2583180" y="4251960"/>
            <a:ext cx="182880" cy="182880"/>
          </a:xfrm>
          <a:prstGeom prst="ellipse">
            <a:avLst/>
          </a:prstGeom>
          <a:solidFill>
            <a:srgbClr val="DC2626"/>
          </a:solidFill>
          <a:ln w="12700">
            <a:solidFill>
              <a:srgbClr val="FFFFFF"/>
            </a:solidFill>
            <a:prstDash val="solid"/>
          </a:ln>
        </p:spPr>
      </p:sp>
      <p:sp>
        <p:nvSpPr>
          <p:cNvPr id="27" name="Marker label"/>
          <p:cNvSpPr txBox="1"/>
          <p:nvPr/>
        </p:nvSpPr>
        <p:spPr>
          <a:xfrm>
            <a:off x="548640" y="2560320"/>
            <a:ext cx="2034540" cy="274320"/>
          </a:xfrm>
          <a:prstGeom prst="rect">
            <a:avLst/>
          </a:prstGeom>
          <a:noFill/>
          <a:ln/>
        </p:spPr>
        <p:txBody>
          <a:bodyPr wrap="square" lIns="0" tIns="0" rIns="0" bIns="0" rtlCol="0" anchor="t"/>
          <a:lstStyle/>
          <a:p>
            <a:pPr algn="r" indent="0" marL="0">
              <a:buNone/>
            </a:pPr>
            <a:r>
              <a:rPr lang="en-US" sz="1300" dirty="0">
                <a:solidFill>
                  <a:srgbClr val="DC2626"/>
                </a:solidFill>
              </a:rPr>
              <a:t>Stress test: −0.50</a:t>
            </a:r>
            <a:endParaRPr lang="en-US" sz="1300" dirty="0"/>
          </a:p>
        </p:txBody>
      </p:sp>
      <p:sp>
        <p:nvSpPr>
          <p:cNvPr id="28" name="Marker"/>
          <p:cNvSpPr/>
          <p:nvPr/>
        </p:nvSpPr>
        <p:spPr>
          <a:xfrm>
            <a:off x="2423160" y="3154680"/>
            <a:ext cx="0" cy="1188720"/>
          </a:xfrm>
          <a:prstGeom prst="line">
            <a:avLst/>
          </a:prstGeom>
          <a:noFill/>
          <a:ln w="25400">
            <a:solidFill>
              <a:srgbClr val="059669"/>
            </a:solidFill>
            <a:prstDash val="dash"/>
          </a:ln>
        </p:spPr>
      </p:sp>
      <p:sp>
        <p:nvSpPr>
          <p:cNvPr id="29" name="Marker dot"/>
          <p:cNvSpPr/>
          <p:nvPr/>
        </p:nvSpPr>
        <p:spPr>
          <a:xfrm>
            <a:off x="2331720" y="4251960"/>
            <a:ext cx="182880" cy="182880"/>
          </a:xfrm>
          <a:prstGeom prst="ellipse">
            <a:avLst/>
          </a:prstGeom>
          <a:solidFill>
            <a:srgbClr val="059669"/>
          </a:solidFill>
          <a:ln w="12700">
            <a:solidFill>
              <a:srgbClr val="FFFFFF"/>
            </a:solidFill>
            <a:prstDash val="solid"/>
          </a:ln>
        </p:spPr>
      </p:sp>
      <p:sp>
        <p:nvSpPr>
          <p:cNvPr id="30" name="Marker label"/>
          <p:cNvSpPr txBox="1"/>
          <p:nvPr/>
        </p:nvSpPr>
        <p:spPr>
          <a:xfrm>
            <a:off x="548640" y="3017520"/>
            <a:ext cx="1783080" cy="274320"/>
          </a:xfrm>
          <a:prstGeom prst="rect">
            <a:avLst/>
          </a:prstGeom>
          <a:noFill/>
          <a:ln/>
        </p:spPr>
        <p:txBody>
          <a:bodyPr wrap="square" lIns="0" tIns="0" rIns="0" bIns="0" rtlCol="0" anchor="t"/>
          <a:lstStyle/>
          <a:p>
            <a:pPr algn="r" indent="0" marL="0">
              <a:buNone/>
            </a:pPr>
            <a:r>
              <a:rPr lang="en-US" sz="1300" dirty="0">
                <a:solidFill>
                  <a:srgbClr val="059669"/>
                </a:solidFill>
              </a:rPr>
              <a:t>Lena flips at −0.60</a:t>
            </a:r>
            <a:endParaRPr lang="en-US" sz="1300" dirty="0"/>
          </a:p>
        </p:txBody>
      </p:sp>
      <p:sp>
        <p:nvSpPr>
          <p:cNvPr id="31" name="Card Thomas"/>
          <p:cNvSpPr/>
          <p:nvPr/>
        </p:nvSpPr>
        <p:spPr>
          <a:xfrm>
            <a:off x="7589520" y="1508760"/>
            <a:ext cx="4023360" cy="3931920"/>
          </a:xfrm>
          <a:prstGeom prst="roundRect">
            <a:avLst>
              <a:gd name="adj" fmla="val 2791"/>
            </a:avLst>
          </a:prstGeom>
          <a:solidFill>
            <a:srgbClr val="F8FAFC"/>
          </a:solidFill>
          <a:ln w="28575">
            <a:solidFill>
              <a:srgbClr val="D97706"/>
            </a:solidFill>
            <a:prstDash val="solid"/>
          </a:ln>
        </p:spPr>
      </p:sp>
      <p:pic>
        <p:nvPicPr>
          <p:cNvPr id="32" name="Portrait Thomas" descr="Illustrated portrait of Thomas, one of our three example savers">    </p:cNvPr>
          <p:cNvPicPr>
            <a:picLocks noChangeAspect="1"/>
          </p:cNvPicPr>
          <p:nvPr/>
        </p:nvPicPr>
        <p:blipFill>
          <a:blip r:embed="rId1"/>
          <a:stretch>
            <a:fillRect/>
          </a:stretch>
        </p:blipFill>
        <p:spPr>
          <a:xfrm>
            <a:off x="9052560" y="1691640"/>
            <a:ext cx="1097280" cy="1097280"/>
          </a:xfrm>
          <a:prstGeom prst="ellipse">
            <a:avLst/>
          </a:prstGeom>
        </p:spPr>
      </p:pic>
      <p:sp>
        <p:nvSpPr>
          <p:cNvPr id="33" name="Portrait ring Thomas"/>
          <p:cNvSpPr/>
          <p:nvPr/>
        </p:nvSpPr>
        <p:spPr>
          <a:xfrm>
            <a:off x="9052560" y="1691640"/>
            <a:ext cx="1097280" cy="1097280"/>
          </a:xfrm>
          <a:prstGeom prst="ellipse">
            <a:avLst/>
          </a:prstGeom>
          <a:ln w="31750">
            <a:solidFill>
              <a:srgbClr val="D97706"/>
            </a:solidFill>
            <a:prstDash val="solid"/>
          </a:ln>
        </p:spPr>
      </p:sp>
      <p:sp>
        <p:nvSpPr>
          <p:cNvPr id="34" name="Card text"/>
          <p:cNvSpPr txBox="1"/>
          <p:nvPr/>
        </p:nvSpPr>
        <p:spPr>
          <a:xfrm>
            <a:off x="7909560" y="2926080"/>
            <a:ext cx="3474720" cy="2468880"/>
          </a:xfrm>
          <a:prstGeom prst="rect">
            <a:avLst/>
          </a:prstGeom>
          <a:noFill/>
          <a:ln/>
        </p:spPr>
        <p:txBody>
          <a:bodyPr wrap="square" lIns="0" tIns="0" rIns="0" bIns="0" rtlCol="0" anchor="t"/>
          <a:lstStyle/>
          <a:p>
            <a:pPr algn="l" indent="0" marL="0">
              <a:spcAft>
                <a:spcPts val="800"/>
              </a:spcAft>
              <a:buNone/>
            </a:pPr>
            <a:r>
              <a:rPr lang="en-US" sz="2800" b="1" dirty="0">
                <a:solidFill>
                  <a:srgbClr val="D97706"/>
                </a:solidFill>
              </a:rPr>
              <a:t>Review</a:t>
            </a:r>
            <a:endParaRPr lang="en-US" sz="2800" dirty="0"/>
          </a:p>
          <a:p>
            <a:pPr algn="l" marL="228600" indent="-228600">
              <a:spcAft>
                <a:spcPts val="800"/>
              </a:spcAft>
              <a:buSzPct val="100000"/>
              <a:buChar char="•"/>
            </a:pPr>
            <a:r>
              <a:rPr lang="en-US" sz="1800" dirty="0">
                <a:solidFill>
                  <a:srgbClr val="334155"/>
                </a:solidFill>
              </a:rPr>
              <a:t>Lead: only 12 bp a month</a:t>
            </a:r>
            <a:endParaRPr lang="en-US" sz="2800" dirty="0"/>
          </a:p>
          <a:p>
            <a:pPr algn="l" marL="228600" indent="-228600">
              <a:spcAft>
                <a:spcPts val="800"/>
              </a:spcAft>
              <a:buSzPct val="100000"/>
              <a:buChar char="•"/>
            </a:pPr>
            <a:r>
              <a:rPr lang="en-US" sz="1800" dirty="0">
                <a:solidFill>
                  <a:srgbClr val="334155"/>
                </a:solidFill>
              </a:rPr>
              <a:t>Flips if tech earns 0.37 less</a:t>
            </a:r>
            <a:endParaRPr lang="en-US" sz="2800" dirty="0"/>
          </a:p>
          <a:p>
            <a:pPr algn="l" marL="228600" indent="-228600">
              <a:spcAft>
                <a:spcPts val="800"/>
              </a:spcAft>
              <a:buSzPct val="100000"/>
              <a:buChar char="•"/>
            </a:pPr>
            <a:r>
              <a:rPr lang="en-US" sz="1800" dirty="0">
                <a:solidFill>
                  <a:srgbClr val="334155"/>
                </a:solidFill>
              </a:rPr>
              <a:t>Estimate wobbles by ±0.58</a:t>
            </a:r>
            <a:endParaRPr lang="en-US" sz="2800" dirty="0"/>
          </a:p>
          <a:p>
            <a:pPr algn="l" marL="228600" indent="-228600">
              <a:spcAft>
                <a:spcPts val="800"/>
              </a:spcAft>
              <a:buSzPct val="100000"/>
              <a:buChar char="•"/>
            </a:pPr>
            <a:r>
              <a:rPr lang="en-US" sz="1800" dirty="0">
                <a:solidFill>
                  <a:srgbClr val="334155"/>
                </a:solidFill>
              </a:rPr>
              <a:t>Stress test (−0.5) flips it</a:t>
            </a:r>
            <a:endParaRPr lang="en-US" sz="28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p>
            <a:pPr indent="0" marL="0">
              <a:buNone/>
            </a:pPr>
            <a:r>
              <a:rPr lang="en-US" sz="1200" b="1" spc="200" kern="0" dirty="0">
                <a:solidFill>
                  <a:srgbClr val="2563EB"/>
                </a:solidFill>
              </a:rPr>
              <a:t>ANNA</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nchor="t"/>
          <a:lstStyle/>
          <a:p>
            <a:pPr algn="l" indent="0" marL="0">
              <a:buNone/>
            </a:pPr>
            <a:r>
              <a:rPr lang="en-US" sz="3000" b="1" dirty="0">
                <a:solidFill>
                  <a:srgbClr val="0A192F"/>
                </a:solidFill>
              </a:rPr>
              <a:t>Anna: today's basket is the safer choice</a:t>
            </a:r>
            <a:endParaRPr lang="en-US" sz="3000" dirty="0"/>
          </a:p>
        </p:txBody>
      </p:sp>
      <p:sp>
        <p:nvSpPr>
          <p:cNvPr id="4" name="Text 0"/>
          <p:cNvSpPr/>
          <p:nvPr>
            <p:ph idx="102" type="body" hasCustomPrompt="1"/>
          </p:nvPr>
        </p:nvSpPr>
        <p:spPr>
          <a:xfrm>
            <a:off x="548640" y="6382512"/>
            <a:ext cx="10424160" cy="274320"/>
          </a:xfrm>
          <a:prstGeom prst="rect">
            <a:avLst/>
          </a:prstGeom>
          <a:noFill/>
          <a:ln/>
        </p:spPr>
        <p:txBody>
          <a:bodyPr wrap="square" rtlCol="0"/>
          <a:lstStyle/>
          <a:p>
            <a:pPr indent="0" marL="0">
              <a:buNone/>
            </a:pPr>
            <a:r>
              <a:rPr lang="en-US" sz="900" dirty="0">
                <a:solidFill>
                  <a:srgbClr val="64748B"/>
                </a:solidFill>
              </a:rPr>
              <a:t>Source: our canonical run (results/canonical) · data: Kenneth French, 6 US industries, Jan 2015–Dec 2019</a:t>
            </a:r>
            <a:endParaRPr lang="en-US" sz="900" dirty="0"/>
          </a:p>
        </p:txBody>
      </p:sp>
      <p:sp>
        <p:nvSpPr>
          <p:cNvPr id="5" name="Takeaway bar"/>
          <p:cNvSpPr/>
          <p:nvPr/>
        </p:nvSpPr>
        <p:spPr>
          <a:xfrm>
            <a:off x="548640" y="5669280"/>
            <a:ext cx="11064240" cy="566928"/>
          </a:xfrm>
          <a:prstGeom prst="roundRect">
            <a:avLst>
              <a:gd name="adj" fmla="val 16129"/>
            </a:avLst>
          </a:prstGeom>
          <a:solidFill>
            <a:srgbClr val="EFF6FF"/>
          </a:solidFill>
          <a:ln w="12700">
            <a:solidFill>
              <a:srgbClr val="EFF6FF"/>
            </a:solidFill>
            <a:prstDash val="solid"/>
          </a:ln>
        </p:spPr>
      </p:sp>
      <p:sp>
        <p:nvSpPr>
          <p:cNvPr id="6" name="Takeaway"/>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800" b="1" dirty="0">
                <a:solidFill>
                  <a:srgbClr val="2563EB"/>
                </a:solidFill>
              </a:rPr>
              <a:t>Takeaway  </a:t>
            </a:r>
            <a:pPr indent="0" marL="0">
              <a:buNone/>
            </a:pPr>
            <a:r>
              <a:rPr lang="en-US" sz="1800" dirty="0">
                <a:solidFill>
                  <a:srgbClr val="0A192F"/>
                </a:solidFill>
              </a:rPr>
              <a:t>Safety first → keep.</a:t>
            </a:r>
            <a:endParaRPr lang="en-US" sz="1800" dirty="0"/>
          </a:p>
        </p:txBody>
      </p:sp>
      <p:graphicFrame>
        <p:nvGraphicFramePr>
          <p:cNvPr id="7" name="Anna loss months chart" descr="Anna's loss months: today's basket 5, 5, 5, 12; tech basket 6, 7, 9, 12; at most 6 allowed."/>
          <p:cNvGraphicFramePr/>
          <p:nvPr/>
        </p:nvGraphicFramePr>
        <p:xfrm>
          <a:off x="548640" y="1463040"/>
          <a:ext cx="6766560" cy="4069080"/>
        </p:xfrm>
        <a:graphic xmlns:a="http://schemas.openxmlformats.org/drawingml/2006/main">
          <a:graphicData uri="http://schemas.openxmlformats.org/drawingml/2006/chart">
            <c:chart xmlns:c="http://schemas.openxmlformats.org/drawingml/2006/chart" r:id="rId1"/>
          </a:graphicData>
        </a:graphic>
      </p:graphicFrame>
      <p:sp>
        <p:nvSpPr>
          <p:cNvPr id="8" name="Card Anna"/>
          <p:cNvSpPr/>
          <p:nvPr/>
        </p:nvSpPr>
        <p:spPr>
          <a:xfrm>
            <a:off x="7589520" y="1508760"/>
            <a:ext cx="4023360" cy="3931920"/>
          </a:xfrm>
          <a:prstGeom prst="roundRect">
            <a:avLst>
              <a:gd name="adj" fmla="val 2791"/>
            </a:avLst>
          </a:prstGeom>
          <a:solidFill>
            <a:srgbClr val="F8FAFC"/>
          </a:solidFill>
          <a:ln w="28575">
            <a:solidFill>
              <a:srgbClr val="DC2626"/>
            </a:solidFill>
            <a:prstDash val="solid"/>
          </a:ln>
        </p:spPr>
      </p:sp>
      <p:pic>
        <p:nvPicPr>
          <p:cNvPr id="9" name="Portrait Anna" descr="Illustrated portrait of Anna, one of our three example savers">    </p:cNvPr>
          <p:cNvPicPr>
            <a:picLocks noChangeAspect="1"/>
          </p:cNvPicPr>
          <p:nvPr/>
        </p:nvPicPr>
        <p:blipFill>
          <a:blip r:embed="rId2"/>
          <a:stretch>
            <a:fillRect/>
          </a:stretch>
        </p:blipFill>
        <p:spPr>
          <a:xfrm>
            <a:off x="9052560" y="1691640"/>
            <a:ext cx="1097280" cy="1097280"/>
          </a:xfrm>
          <a:prstGeom prst="ellipse">
            <a:avLst/>
          </a:prstGeom>
        </p:spPr>
      </p:pic>
      <p:sp>
        <p:nvSpPr>
          <p:cNvPr id="10" name="Portrait ring Anna"/>
          <p:cNvSpPr/>
          <p:nvPr/>
        </p:nvSpPr>
        <p:spPr>
          <a:xfrm>
            <a:off x="9052560" y="1691640"/>
            <a:ext cx="1097280" cy="1097280"/>
          </a:xfrm>
          <a:prstGeom prst="ellipse">
            <a:avLst/>
          </a:prstGeom>
          <a:ln w="31750">
            <a:solidFill>
              <a:srgbClr val="DC2626"/>
            </a:solidFill>
            <a:prstDash val="solid"/>
          </a:ln>
        </p:spPr>
      </p:sp>
      <p:sp>
        <p:nvSpPr>
          <p:cNvPr id="11" name="Card text"/>
          <p:cNvSpPr txBox="1"/>
          <p:nvPr/>
        </p:nvSpPr>
        <p:spPr>
          <a:xfrm>
            <a:off x="7909560" y="2926080"/>
            <a:ext cx="3474720" cy="2468880"/>
          </a:xfrm>
          <a:prstGeom prst="rect">
            <a:avLst/>
          </a:prstGeom>
          <a:noFill/>
          <a:ln/>
        </p:spPr>
        <p:txBody>
          <a:bodyPr wrap="square" lIns="0" tIns="0" rIns="0" bIns="0" rtlCol="0" anchor="t"/>
          <a:lstStyle/>
          <a:p>
            <a:pPr algn="l" indent="0" marL="0">
              <a:spcAft>
                <a:spcPts val="800"/>
              </a:spcAft>
              <a:buNone/>
            </a:pPr>
            <a:r>
              <a:rPr lang="en-US" sz="2800" b="1" dirty="0">
                <a:solidFill>
                  <a:srgbClr val="DC2626"/>
                </a:solidFill>
              </a:rPr>
              <a:t>Keep</a:t>
            </a:r>
            <a:endParaRPr lang="en-US" sz="2800" dirty="0"/>
          </a:p>
          <a:p>
            <a:pPr algn="l" marL="228600" indent="-228600">
              <a:spcAft>
                <a:spcPts val="800"/>
              </a:spcAft>
              <a:buSzPct val="100000"/>
              <a:buChar char="•"/>
            </a:pPr>
            <a:r>
              <a:rPr lang="en-US" sz="1800" dirty="0">
                <a:solidFill>
                  <a:srgbClr val="334155"/>
                </a:solidFill>
              </a:rPr>
              <a:t>Lowest risk of all 20 baskets</a:t>
            </a:r>
            <a:endParaRPr lang="en-US" sz="2800" dirty="0"/>
          </a:p>
          <a:p>
            <a:pPr algn="l" marL="228600" indent="-228600">
              <a:spcAft>
                <a:spcPts val="800"/>
              </a:spcAft>
              <a:buSzPct val="100000"/>
              <a:buChar char="•"/>
            </a:pPr>
            <a:r>
              <a:rPr lang="en-US" sz="1800" dirty="0">
                <a:solidFill>
                  <a:srgbClr val="334155"/>
                </a:solidFill>
              </a:rPr>
              <a:t>Tech sits on her limit: 6 of 60</a:t>
            </a:r>
            <a:endParaRPr lang="en-US" sz="2800" dirty="0"/>
          </a:p>
          <a:p>
            <a:pPr algn="l" marL="228600" indent="-228600">
              <a:spcAft>
                <a:spcPts val="800"/>
              </a:spcAft>
              <a:buSzPct val="100000"/>
              <a:buChar char="•"/>
            </a:pPr>
            <a:r>
              <a:rPr lang="en-US" sz="1800" dirty="0">
                <a:solidFill>
                  <a:srgbClr val="334155"/>
                </a:solidFill>
              </a:rPr>
              <a:t>Fails both stress tests: 7 and 9</a:t>
            </a:r>
            <a:endParaRPr lang="en-US" sz="28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p>
            <a:pPr indent="0" marL="0">
              <a:buNone/>
            </a:pPr>
            <a:r>
              <a:rPr lang="en-US" sz="1200" b="1" spc="200" kern="0" dirty="0">
                <a:solidFill>
                  <a:srgbClr val="2563EB"/>
                </a:solidFill>
              </a:rPr>
              <a:t>OUR QUANTUM CIRCUIT</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nchor="t"/>
          <a:lstStyle/>
          <a:p>
            <a:pPr algn="l" indent="0" marL="0">
              <a:buNone/>
            </a:pPr>
            <a:r>
              <a:rPr lang="en-US" sz="3000" b="1" dirty="0">
                <a:solidFill>
                  <a:srgbClr val="0A192F"/>
                </a:solidFill>
              </a:rPr>
              <a:t>Our quantum circuit can only suggest legal baskets</a:t>
            </a:r>
            <a:endParaRPr lang="en-US" sz="3000" dirty="0"/>
          </a:p>
        </p:txBody>
      </p:sp>
      <p:sp>
        <p:nvSpPr>
          <p:cNvPr id="4" name="Text 0"/>
          <p:cNvSpPr/>
          <p:nvPr>
            <p:ph idx="102" type="body" hasCustomPrompt="1"/>
          </p:nvPr>
        </p:nvSpPr>
        <p:spPr>
          <a:xfrm>
            <a:off x="548640" y="6382512"/>
            <a:ext cx="10424160" cy="274320"/>
          </a:xfrm>
          <a:prstGeom prst="rect">
            <a:avLst/>
          </a:prstGeom>
          <a:noFill/>
          <a:ln/>
        </p:spPr>
        <p:txBody>
          <a:bodyPr wrap="square" rtlCol="0"/>
          <a:lstStyle/>
          <a:p>
            <a:pPr indent="0" marL="0">
              <a:buNone/>
            </a:pPr>
            <a:r>
              <a:rPr lang="en-US" sz="900" dirty="0">
                <a:solidFill>
                  <a:srgbClr val="64748B"/>
                </a:solidFill>
              </a:rPr>
              <a:t>Method: Hadfield et al. (2019), QAOA with Dicke start and XY mixer · code: src/qhf/circuits.py</a:t>
            </a:r>
            <a:endParaRPr lang="en-US" sz="900" dirty="0"/>
          </a:p>
        </p:txBody>
      </p:sp>
      <p:sp>
        <p:nvSpPr>
          <p:cNvPr id="5" name="Takeaway bar"/>
          <p:cNvSpPr/>
          <p:nvPr/>
        </p:nvSpPr>
        <p:spPr>
          <a:xfrm>
            <a:off x="548640" y="5669280"/>
            <a:ext cx="11064240" cy="566928"/>
          </a:xfrm>
          <a:prstGeom prst="roundRect">
            <a:avLst>
              <a:gd name="adj" fmla="val 16129"/>
            </a:avLst>
          </a:prstGeom>
          <a:solidFill>
            <a:srgbClr val="EFF6FF"/>
          </a:solidFill>
          <a:ln w="12700">
            <a:solidFill>
              <a:srgbClr val="EFF6FF"/>
            </a:solidFill>
            <a:prstDash val="solid"/>
          </a:ln>
        </p:spPr>
      </p:sp>
      <p:sp>
        <p:nvSpPr>
          <p:cNvPr id="6" name="Takeaway"/>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800" b="1" dirty="0">
                <a:solidFill>
                  <a:srgbClr val="2563EB"/>
                </a:solidFill>
              </a:rPr>
              <a:t>Takeaway  </a:t>
            </a:r>
            <a:pPr indent="0" marL="0">
              <a:buNone/>
            </a:pPr>
            <a:r>
              <a:rPr lang="en-US" sz="1800" dirty="0">
                <a:solidFill>
                  <a:srgbClr val="0A192F"/>
                </a:solidFill>
              </a:rPr>
              <a:t>The rule is built into the circuit, not punished afterwards.</a:t>
            </a:r>
            <a:endParaRPr lang="en-US" sz="1800" dirty="0"/>
          </a:p>
        </p:txBody>
      </p:sp>
      <p:sp>
        <p:nvSpPr>
          <p:cNvPr id="7" name="Row title"/>
          <p:cNvSpPr txBox="1"/>
          <p:nvPr/>
        </p:nvSpPr>
        <p:spPr>
          <a:xfrm>
            <a:off x="548640" y="1600200"/>
            <a:ext cx="6766560" cy="320040"/>
          </a:xfrm>
          <a:prstGeom prst="rect">
            <a:avLst/>
          </a:prstGeom>
          <a:noFill/>
          <a:ln/>
        </p:spPr>
        <p:txBody>
          <a:bodyPr wrap="square" lIns="0" tIns="0" rIns="0" bIns="0" rtlCol="0" anchor="t"/>
          <a:lstStyle/>
          <a:p>
            <a:pPr algn="l" indent="0" marL="0">
              <a:buNone/>
            </a:pPr>
            <a:r>
              <a:rPr lang="en-US" sz="1700" b="1" dirty="0">
                <a:solidFill>
                  <a:srgbClr val="475569"/>
                </a:solidFill>
              </a:rPr>
              <a:t>Organisers' penalty circuit</a:t>
            </a:r>
            <a:endParaRPr lang="en-US" sz="1700" dirty="0"/>
          </a:p>
        </p:txBody>
      </p:sp>
      <p:sp>
        <p:nvSpPr>
          <p:cNvPr id="8" name="Step box"/>
          <p:cNvSpPr/>
          <p:nvPr/>
        </p:nvSpPr>
        <p:spPr>
          <a:xfrm>
            <a:off x="548640" y="2011680"/>
            <a:ext cx="1508760" cy="1051560"/>
          </a:xfrm>
          <a:prstGeom prst="roundRect">
            <a:avLst>
              <a:gd name="adj" fmla="val 6957"/>
            </a:avLst>
          </a:prstGeom>
          <a:solidFill>
            <a:srgbClr val="FEF2F2"/>
          </a:solidFill>
          <a:ln w="19050">
            <a:solidFill>
              <a:srgbClr val="DC2626"/>
            </a:solidFill>
            <a:prstDash val="solid"/>
          </a:ln>
        </p:spPr>
      </p:sp>
      <p:sp>
        <p:nvSpPr>
          <p:cNvPr id="9" name="Step label"/>
          <p:cNvSpPr txBox="1"/>
          <p:nvPr/>
        </p:nvSpPr>
        <p:spPr>
          <a:xfrm>
            <a:off x="621792" y="2011680"/>
            <a:ext cx="1362456" cy="1051560"/>
          </a:xfrm>
          <a:prstGeom prst="rect">
            <a:avLst/>
          </a:prstGeom>
          <a:noFill/>
          <a:ln/>
        </p:spPr>
        <p:txBody>
          <a:bodyPr wrap="square" lIns="0" tIns="0" rIns="0" bIns="0" rtlCol="0" anchor="ctr"/>
          <a:lstStyle/>
          <a:p>
            <a:pPr algn="ctr" indent="0" marL="0">
              <a:buNone/>
            </a:pPr>
            <a:r>
              <a:rPr lang="en-US" sz="1400" dirty="0">
                <a:solidFill>
                  <a:srgbClr val="0A192F"/>
                </a:solidFill>
              </a:rPr>
              <a:t>Start: all 64 patterns (44 illegal)</a:t>
            </a:r>
            <a:endParaRPr lang="en-US" sz="1400" dirty="0"/>
          </a:p>
        </p:txBody>
      </p:sp>
      <p:sp>
        <p:nvSpPr>
          <p:cNvPr id="10" name="Arrow"/>
          <p:cNvSpPr/>
          <p:nvPr/>
        </p:nvSpPr>
        <p:spPr>
          <a:xfrm>
            <a:off x="2075688" y="2532888"/>
            <a:ext cx="173736" cy="0"/>
          </a:xfrm>
          <a:prstGeom prst="line">
            <a:avLst/>
          </a:prstGeom>
          <a:noFill/>
          <a:ln w="19050">
            <a:solidFill>
              <a:srgbClr val="64748B"/>
            </a:solidFill>
            <a:prstDash val="solid"/>
            <a:tailEnd type="triangle"/>
          </a:ln>
        </p:spPr>
      </p:sp>
      <p:sp>
        <p:nvSpPr>
          <p:cNvPr id="11" name="Step box"/>
          <p:cNvSpPr/>
          <p:nvPr/>
        </p:nvSpPr>
        <p:spPr>
          <a:xfrm>
            <a:off x="2267712" y="2011680"/>
            <a:ext cx="1508760" cy="1051560"/>
          </a:xfrm>
          <a:prstGeom prst="roundRect">
            <a:avLst>
              <a:gd name="adj" fmla="val 6957"/>
            </a:avLst>
          </a:prstGeom>
          <a:solidFill>
            <a:srgbClr val="F8FAFC"/>
          </a:solidFill>
          <a:ln w="19050">
            <a:solidFill>
              <a:srgbClr val="475569"/>
            </a:solidFill>
            <a:prstDash val="solid"/>
          </a:ln>
        </p:spPr>
      </p:sp>
      <p:sp>
        <p:nvSpPr>
          <p:cNvPr id="12" name="Step label"/>
          <p:cNvSpPr txBox="1"/>
          <p:nvPr/>
        </p:nvSpPr>
        <p:spPr>
          <a:xfrm>
            <a:off x="2340864" y="2011680"/>
            <a:ext cx="1362456" cy="1051560"/>
          </a:xfrm>
          <a:prstGeom prst="rect">
            <a:avLst/>
          </a:prstGeom>
          <a:noFill/>
          <a:ln/>
        </p:spPr>
        <p:txBody>
          <a:bodyPr wrap="square" lIns="0" tIns="0" rIns="0" bIns="0" rtlCol="0" anchor="ctr"/>
          <a:lstStyle/>
          <a:p>
            <a:pPr algn="ctr" indent="0" marL="0">
              <a:buNone/>
            </a:pPr>
            <a:r>
              <a:rPr lang="en-US" sz="1400" dirty="0">
                <a:solidFill>
                  <a:srgbClr val="0A192F"/>
                </a:solidFill>
              </a:rPr>
              <a:t>Score + penalty</a:t>
            </a:r>
            <a:endParaRPr lang="en-US" sz="1400" dirty="0"/>
          </a:p>
        </p:txBody>
      </p:sp>
      <p:sp>
        <p:nvSpPr>
          <p:cNvPr id="13" name="Arrow"/>
          <p:cNvSpPr/>
          <p:nvPr/>
        </p:nvSpPr>
        <p:spPr>
          <a:xfrm>
            <a:off x="3794760" y="2532888"/>
            <a:ext cx="173736" cy="0"/>
          </a:xfrm>
          <a:prstGeom prst="line">
            <a:avLst/>
          </a:prstGeom>
          <a:noFill/>
          <a:ln w="19050">
            <a:solidFill>
              <a:srgbClr val="64748B"/>
            </a:solidFill>
            <a:prstDash val="solid"/>
            <a:tailEnd type="triangle"/>
          </a:ln>
        </p:spPr>
      </p:sp>
      <p:sp>
        <p:nvSpPr>
          <p:cNvPr id="14" name="Step box"/>
          <p:cNvSpPr/>
          <p:nvPr/>
        </p:nvSpPr>
        <p:spPr>
          <a:xfrm>
            <a:off x="3986784" y="2011680"/>
            <a:ext cx="1508760" cy="1051560"/>
          </a:xfrm>
          <a:prstGeom prst="roundRect">
            <a:avLst>
              <a:gd name="adj" fmla="val 6957"/>
            </a:avLst>
          </a:prstGeom>
          <a:solidFill>
            <a:srgbClr val="F8FAFC"/>
          </a:solidFill>
          <a:ln w="19050">
            <a:solidFill>
              <a:srgbClr val="475569"/>
            </a:solidFill>
            <a:prstDash val="solid"/>
          </a:ln>
        </p:spPr>
      </p:sp>
      <p:sp>
        <p:nvSpPr>
          <p:cNvPr id="15" name="Step label"/>
          <p:cNvSpPr txBox="1"/>
          <p:nvPr/>
        </p:nvSpPr>
        <p:spPr>
          <a:xfrm>
            <a:off x="4059936" y="2011680"/>
            <a:ext cx="1362456" cy="1051560"/>
          </a:xfrm>
          <a:prstGeom prst="rect">
            <a:avLst/>
          </a:prstGeom>
          <a:noFill/>
          <a:ln/>
        </p:spPr>
        <p:txBody>
          <a:bodyPr wrap="square" lIns="0" tIns="0" rIns="0" bIns="0" rtlCol="0" anchor="ctr"/>
          <a:lstStyle/>
          <a:p>
            <a:pPr algn="ctr" indent="0" marL="0">
              <a:buNone/>
            </a:pPr>
            <a:r>
              <a:rPr lang="en-US" sz="1400" dirty="0">
                <a:solidFill>
                  <a:srgbClr val="0A192F"/>
                </a:solidFill>
              </a:rPr>
              <a:t>X mixer: flips sectors on/off</a:t>
            </a:r>
            <a:endParaRPr lang="en-US" sz="1400" dirty="0"/>
          </a:p>
        </p:txBody>
      </p:sp>
      <p:sp>
        <p:nvSpPr>
          <p:cNvPr id="16" name="Arrow"/>
          <p:cNvSpPr/>
          <p:nvPr/>
        </p:nvSpPr>
        <p:spPr>
          <a:xfrm>
            <a:off x="5513832" y="2532888"/>
            <a:ext cx="173736" cy="0"/>
          </a:xfrm>
          <a:prstGeom prst="line">
            <a:avLst/>
          </a:prstGeom>
          <a:noFill/>
          <a:ln w="19050">
            <a:solidFill>
              <a:srgbClr val="64748B"/>
            </a:solidFill>
            <a:prstDash val="solid"/>
            <a:tailEnd type="triangle"/>
          </a:ln>
        </p:spPr>
      </p:sp>
      <p:sp>
        <p:nvSpPr>
          <p:cNvPr id="17" name="Step box"/>
          <p:cNvSpPr/>
          <p:nvPr/>
        </p:nvSpPr>
        <p:spPr>
          <a:xfrm>
            <a:off x="5705856" y="2011680"/>
            <a:ext cx="1508760" cy="1051560"/>
          </a:xfrm>
          <a:prstGeom prst="roundRect">
            <a:avLst>
              <a:gd name="adj" fmla="val 6957"/>
            </a:avLst>
          </a:prstGeom>
          <a:solidFill>
            <a:srgbClr val="FEF2F2"/>
          </a:solidFill>
          <a:ln w="19050">
            <a:solidFill>
              <a:srgbClr val="DC2626"/>
            </a:solidFill>
            <a:prstDash val="solid"/>
          </a:ln>
        </p:spPr>
      </p:sp>
      <p:sp>
        <p:nvSpPr>
          <p:cNvPr id="18" name="Step label"/>
          <p:cNvSpPr txBox="1"/>
          <p:nvPr/>
        </p:nvSpPr>
        <p:spPr>
          <a:xfrm>
            <a:off x="5779008" y="2011680"/>
            <a:ext cx="1362456" cy="1051560"/>
          </a:xfrm>
          <a:prstGeom prst="rect">
            <a:avLst/>
          </a:prstGeom>
          <a:noFill/>
          <a:ln/>
        </p:spPr>
        <p:txBody>
          <a:bodyPr wrap="square" lIns="0" tIns="0" rIns="0" bIns="0" rtlCol="0" anchor="ctr"/>
          <a:lstStyle/>
          <a:p>
            <a:pPr algn="ctr" indent="0" marL="0">
              <a:buNone/>
            </a:pPr>
            <a:r>
              <a:rPr lang="en-US" sz="1400" dirty="0">
                <a:solidFill>
                  <a:srgbClr val="0A192F"/>
                </a:solidFill>
              </a:rPr>
              <a:t>Measure: illegal answers possible</a:t>
            </a:r>
            <a:endParaRPr lang="en-US" sz="1400" dirty="0"/>
          </a:p>
        </p:txBody>
      </p:sp>
      <p:sp>
        <p:nvSpPr>
          <p:cNvPr id="19" name="Row title"/>
          <p:cNvSpPr txBox="1"/>
          <p:nvPr/>
        </p:nvSpPr>
        <p:spPr>
          <a:xfrm>
            <a:off x="548640" y="3566160"/>
            <a:ext cx="6766560" cy="320040"/>
          </a:xfrm>
          <a:prstGeom prst="rect">
            <a:avLst/>
          </a:prstGeom>
          <a:noFill/>
          <a:ln/>
        </p:spPr>
        <p:txBody>
          <a:bodyPr wrap="square" lIns="0" tIns="0" rIns="0" bIns="0" rtlCol="0" anchor="t"/>
          <a:lstStyle/>
          <a:p>
            <a:pPr algn="l" indent="0" marL="0">
              <a:buNone/>
            </a:pPr>
            <a:r>
              <a:rPr lang="en-US" sz="1700" b="1" dirty="0">
                <a:solidFill>
                  <a:srgbClr val="2563EB"/>
                </a:solidFill>
              </a:rPr>
              <a:t>Our rule-keeping circuit</a:t>
            </a:r>
            <a:endParaRPr lang="en-US" sz="1700" dirty="0"/>
          </a:p>
        </p:txBody>
      </p:sp>
      <p:sp>
        <p:nvSpPr>
          <p:cNvPr id="20" name="Step box"/>
          <p:cNvSpPr/>
          <p:nvPr/>
        </p:nvSpPr>
        <p:spPr>
          <a:xfrm>
            <a:off x="548640" y="3977640"/>
            <a:ext cx="1508760" cy="1051560"/>
          </a:xfrm>
          <a:prstGeom prst="roundRect">
            <a:avLst>
              <a:gd name="adj" fmla="val 6957"/>
            </a:avLst>
          </a:prstGeom>
          <a:solidFill>
            <a:srgbClr val="EFF6FF"/>
          </a:solidFill>
          <a:ln w="19050">
            <a:solidFill>
              <a:srgbClr val="2563EB"/>
            </a:solidFill>
            <a:prstDash val="solid"/>
          </a:ln>
        </p:spPr>
      </p:sp>
      <p:sp>
        <p:nvSpPr>
          <p:cNvPr id="21" name="Step label"/>
          <p:cNvSpPr txBox="1"/>
          <p:nvPr/>
        </p:nvSpPr>
        <p:spPr>
          <a:xfrm>
            <a:off x="621792" y="3977640"/>
            <a:ext cx="1362456" cy="1051560"/>
          </a:xfrm>
          <a:prstGeom prst="rect">
            <a:avLst/>
          </a:prstGeom>
          <a:noFill/>
          <a:ln/>
        </p:spPr>
        <p:txBody>
          <a:bodyPr wrap="square" lIns="0" tIns="0" rIns="0" bIns="0" rtlCol="0" anchor="ctr"/>
          <a:lstStyle/>
          <a:p>
            <a:pPr algn="ctr" indent="0" marL="0">
              <a:buNone/>
            </a:pPr>
            <a:r>
              <a:rPr lang="en-US" sz="1400" dirty="0">
                <a:solidFill>
                  <a:srgbClr val="0A192F"/>
                </a:solidFill>
              </a:rPr>
              <a:t>Start: only the 20 legal baskets</a:t>
            </a:r>
            <a:endParaRPr lang="en-US" sz="1400" dirty="0"/>
          </a:p>
        </p:txBody>
      </p:sp>
      <p:sp>
        <p:nvSpPr>
          <p:cNvPr id="22" name="Arrow"/>
          <p:cNvSpPr/>
          <p:nvPr/>
        </p:nvSpPr>
        <p:spPr>
          <a:xfrm>
            <a:off x="2075688" y="4498848"/>
            <a:ext cx="173736" cy="0"/>
          </a:xfrm>
          <a:prstGeom prst="line">
            <a:avLst/>
          </a:prstGeom>
          <a:noFill/>
          <a:ln w="19050">
            <a:solidFill>
              <a:srgbClr val="64748B"/>
            </a:solidFill>
            <a:prstDash val="solid"/>
            <a:tailEnd type="triangle"/>
          </a:ln>
        </p:spPr>
      </p:sp>
      <p:sp>
        <p:nvSpPr>
          <p:cNvPr id="23" name="Step box"/>
          <p:cNvSpPr/>
          <p:nvPr/>
        </p:nvSpPr>
        <p:spPr>
          <a:xfrm>
            <a:off x="2267712" y="3977640"/>
            <a:ext cx="1508760" cy="1051560"/>
          </a:xfrm>
          <a:prstGeom prst="roundRect">
            <a:avLst>
              <a:gd name="adj" fmla="val 6957"/>
            </a:avLst>
          </a:prstGeom>
          <a:solidFill>
            <a:srgbClr val="EFF6FF"/>
          </a:solidFill>
          <a:ln w="19050">
            <a:solidFill>
              <a:srgbClr val="2563EB"/>
            </a:solidFill>
            <a:prstDash val="solid"/>
          </a:ln>
        </p:spPr>
      </p:sp>
      <p:sp>
        <p:nvSpPr>
          <p:cNvPr id="24" name="Step label"/>
          <p:cNvSpPr txBox="1"/>
          <p:nvPr/>
        </p:nvSpPr>
        <p:spPr>
          <a:xfrm>
            <a:off x="2340864" y="3977640"/>
            <a:ext cx="1362456" cy="1051560"/>
          </a:xfrm>
          <a:prstGeom prst="rect">
            <a:avLst/>
          </a:prstGeom>
          <a:noFill/>
          <a:ln/>
        </p:spPr>
        <p:txBody>
          <a:bodyPr wrap="square" lIns="0" tIns="0" rIns="0" bIns="0" rtlCol="0" anchor="ctr"/>
          <a:lstStyle/>
          <a:p>
            <a:pPr algn="ctr" indent="0" marL="0">
              <a:buNone/>
            </a:pPr>
            <a:r>
              <a:rPr lang="en-US" sz="1400" dirty="0">
                <a:solidFill>
                  <a:srgbClr val="0A192F"/>
                </a:solidFill>
              </a:rPr>
              <a:t>Score: return vs risk</a:t>
            </a:r>
            <a:endParaRPr lang="en-US" sz="1400" dirty="0"/>
          </a:p>
        </p:txBody>
      </p:sp>
      <p:sp>
        <p:nvSpPr>
          <p:cNvPr id="25" name="Arrow"/>
          <p:cNvSpPr/>
          <p:nvPr/>
        </p:nvSpPr>
        <p:spPr>
          <a:xfrm>
            <a:off x="3794760" y="4498848"/>
            <a:ext cx="173736" cy="0"/>
          </a:xfrm>
          <a:prstGeom prst="line">
            <a:avLst/>
          </a:prstGeom>
          <a:noFill/>
          <a:ln w="19050">
            <a:solidFill>
              <a:srgbClr val="64748B"/>
            </a:solidFill>
            <a:prstDash val="solid"/>
            <a:tailEnd type="triangle"/>
          </a:ln>
        </p:spPr>
      </p:sp>
      <p:sp>
        <p:nvSpPr>
          <p:cNvPr id="26" name="Step box"/>
          <p:cNvSpPr/>
          <p:nvPr/>
        </p:nvSpPr>
        <p:spPr>
          <a:xfrm>
            <a:off x="3986784" y="3977640"/>
            <a:ext cx="1508760" cy="1051560"/>
          </a:xfrm>
          <a:prstGeom prst="roundRect">
            <a:avLst>
              <a:gd name="adj" fmla="val 6957"/>
            </a:avLst>
          </a:prstGeom>
          <a:solidFill>
            <a:srgbClr val="EFF6FF"/>
          </a:solidFill>
          <a:ln w="19050">
            <a:solidFill>
              <a:srgbClr val="2563EB"/>
            </a:solidFill>
            <a:prstDash val="solid"/>
          </a:ln>
        </p:spPr>
      </p:sp>
      <p:sp>
        <p:nvSpPr>
          <p:cNvPr id="27" name="Step label"/>
          <p:cNvSpPr txBox="1"/>
          <p:nvPr/>
        </p:nvSpPr>
        <p:spPr>
          <a:xfrm>
            <a:off x="4059936" y="3977640"/>
            <a:ext cx="1362456" cy="1051560"/>
          </a:xfrm>
          <a:prstGeom prst="rect">
            <a:avLst/>
          </a:prstGeom>
          <a:noFill/>
          <a:ln/>
        </p:spPr>
        <p:txBody>
          <a:bodyPr wrap="square" lIns="0" tIns="0" rIns="0" bIns="0" rtlCol="0" anchor="ctr"/>
          <a:lstStyle/>
          <a:p>
            <a:pPr algn="ctr" indent="0" marL="0">
              <a:buNone/>
            </a:pPr>
            <a:r>
              <a:rPr lang="en-US" sz="1400" dirty="0">
                <a:solidFill>
                  <a:srgbClr val="0A192F"/>
                </a:solidFill>
              </a:rPr>
              <a:t>XY mixer: swaps sectors, always 3</a:t>
            </a:r>
            <a:endParaRPr lang="en-US" sz="1400" dirty="0"/>
          </a:p>
        </p:txBody>
      </p:sp>
      <p:sp>
        <p:nvSpPr>
          <p:cNvPr id="28" name="Arrow"/>
          <p:cNvSpPr/>
          <p:nvPr/>
        </p:nvSpPr>
        <p:spPr>
          <a:xfrm>
            <a:off x="5513832" y="4498848"/>
            <a:ext cx="173736" cy="0"/>
          </a:xfrm>
          <a:prstGeom prst="line">
            <a:avLst/>
          </a:prstGeom>
          <a:noFill/>
          <a:ln w="19050">
            <a:solidFill>
              <a:srgbClr val="64748B"/>
            </a:solidFill>
            <a:prstDash val="solid"/>
            <a:tailEnd type="triangle"/>
          </a:ln>
        </p:spPr>
      </p:sp>
      <p:sp>
        <p:nvSpPr>
          <p:cNvPr id="29" name="Step box"/>
          <p:cNvSpPr/>
          <p:nvPr/>
        </p:nvSpPr>
        <p:spPr>
          <a:xfrm>
            <a:off x="5705856" y="3977640"/>
            <a:ext cx="1508760" cy="1051560"/>
          </a:xfrm>
          <a:prstGeom prst="roundRect">
            <a:avLst>
              <a:gd name="adj" fmla="val 6957"/>
            </a:avLst>
          </a:prstGeom>
          <a:solidFill>
            <a:srgbClr val="EFF6FF"/>
          </a:solidFill>
          <a:ln w="19050">
            <a:solidFill>
              <a:srgbClr val="2563EB"/>
            </a:solidFill>
            <a:prstDash val="solid"/>
          </a:ln>
        </p:spPr>
      </p:sp>
      <p:sp>
        <p:nvSpPr>
          <p:cNvPr id="30" name="Step label"/>
          <p:cNvSpPr txBox="1"/>
          <p:nvPr/>
        </p:nvSpPr>
        <p:spPr>
          <a:xfrm>
            <a:off x="5779008" y="3977640"/>
            <a:ext cx="1362456" cy="1051560"/>
          </a:xfrm>
          <a:prstGeom prst="rect">
            <a:avLst/>
          </a:prstGeom>
          <a:noFill/>
          <a:ln/>
        </p:spPr>
        <p:txBody>
          <a:bodyPr wrap="square" lIns="0" tIns="0" rIns="0" bIns="0" rtlCol="0" anchor="ctr"/>
          <a:lstStyle/>
          <a:p>
            <a:pPr algn="ctr" indent="0" marL="0">
              <a:buNone/>
            </a:pPr>
            <a:r>
              <a:rPr lang="en-US" sz="1400" dirty="0">
                <a:solidFill>
                  <a:srgbClr val="0A192F"/>
                </a:solidFill>
              </a:rPr>
              <a:t>Measure: only legal answers</a:t>
            </a:r>
            <a:endParaRPr lang="en-US" sz="1400" dirty="0"/>
          </a:p>
        </p:txBody>
      </p:sp>
      <p:sp>
        <p:nvSpPr>
          <p:cNvPr id="31" name="Note"/>
          <p:cNvSpPr txBox="1"/>
          <p:nvPr/>
        </p:nvSpPr>
        <p:spPr>
          <a:xfrm>
            <a:off x="548640" y="5166360"/>
            <a:ext cx="6766560" cy="320040"/>
          </a:xfrm>
          <a:prstGeom prst="rect">
            <a:avLst/>
          </a:prstGeom>
          <a:noFill/>
          <a:ln/>
        </p:spPr>
        <p:txBody>
          <a:bodyPr wrap="square" lIns="0" tIns="0" rIns="0" bIns="0" rtlCol="0" anchor="t"/>
          <a:lstStyle/>
          <a:p>
            <a:pPr algn="l" indent="0" marL="0">
              <a:buNone/>
            </a:pPr>
            <a:r>
              <a:rPr lang="en-US" sz="1300" dirty="0">
                <a:solidFill>
                  <a:srgbClr val="64748B"/>
                </a:solidFill>
              </a:rPr>
              <a:t>Both repeat score and mix in 3 layers; a laptop tunes the dials.</a:t>
            </a:r>
            <a:endParaRPr lang="en-US" sz="1300" dirty="0"/>
          </a:p>
        </p:txBody>
      </p:sp>
      <p:sp>
        <p:nvSpPr>
          <p:cNvPr id="32" name="Card"/>
          <p:cNvSpPr/>
          <p:nvPr/>
        </p:nvSpPr>
        <p:spPr>
          <a:xfrm>
            <a:off x="7589520" y="1508760"/>
            <a:ext cx="4023360" cy="3931920"/>
          </a:xfrm>
          <a:prstGeom prst="roundRect">
            <a:avLst>
              <a:gd name="adj" fmla="val 2791"/>
            </a:avLst>
          </a:prstGeom>
          <a:solidFill>
            <a:srgbClr val="F8FAFC"/>
          </a:solidFill>
          <a:ln w="28575">
            <a:solidFill>
              <a:srgbClr val="2563EB"/>
            </a:solidFill>
            <a:prstDash val="solid"/>
          </a:ln>
        </p:spPr>
      </p:sp>
      <p:sp>
        <p:nvSpPr>
          <p:cNvPr id="33" name="Card text"/>
          <p:cNvSpPr txBox="1"/>
          <p:nvPr/>
        </p:nvSpPr>
        <p:spPr>
          <a:xfrm>
            <a:off x="7909560" y="1874520"/>
            <a:ext cx="3474720" cy="3474720"/>
          </a:xfrm>
          <a:prstGeom prst="rect">
            <a:avLst/>
          </a:prstGeom>
          <a:noFill/>
          <a:ln/>
        </p:spPr>
        <p:txBody>
          <a:bodyPr wrap="square" lIns="0" tIns="0" rIns="0" bIns="0" rtlCol="0" anchor="t"/>
          <a:lstStyle/>
          <a:p>
            <a:pPr algn="l" indent="0" marL="0">
              <a:buNone/>
            </a:pPr>
            <a:r>
              <a:rPr lang="en-US" sz="2400" b="1" dirty="0">
                <a:solidFill>
                  <a:srgbClr val="2563EB"/>
                </a:solidFill>
              </a:rPr>
              <a:t>Our idea</a:t>
            </a:r>
            <a:endParaRPr lang="en-US" sz="2400" dirty="0"/>
          </a:p>
          <a:p>
            <a:pPr algn="l" marL="228600" indent="-228600">
              <a:spcAft>
                <a:spcPts val="1400"/>
              </a:spcAft>
              <a:buSzPct val="100000"/>
              <a:buChar char="•"/>
            </a:pPr>
            <a:r>
              <a:rPr lang="en-US" sz="2000" dirty="0">
                <a:solidFill>
                  <a:srgbClr val="334155"/>
                </a:solidFill>
              </a:rPr>
              <a:t>Start with the 20 legal baskets only</a:t>
            </a:r>
            <a:endParaRPr lang="en-US" sz="2400" dirty="0"/>
          </a:p>
          <a:p>
            <a:pPr algn="l" marL="228600" indent="-228600">
              <a:spcAft>
                <a:spcPts val="1400"/>
              </a:spcAft>
              <a:buSzPct val="100000"/>
              <a:buChar char="•"/>
            </a:pPr>
            <a:r>
              <a:rPr lang="en-US" sz="2000" dirty="0">
                <a:solidFill>
                  <a:srgbClr val="334155"/>
                </a:solidFill>
              </a:rPr>
              <a:t>Mix by swapping sectors: always exactly 3</a:t>
            </a:r>
            <a:endParaRPr lang="en-US" sz="2400" dirty="0"/>
          </a:p>
          <a:p>
            <a:pPr algn="l" marL="228600" indent="-228600">
              <a:spcAft>
                <a:spcPts val="1400"/>
              </a:spcAft>
              <a:buSzPct val="100000"/>
              <a:buChar char="•"/>
            </a:pPr>
            <a:r>
              <a:rPr lang="en-US" sz="2000" dirty="0">
                <a:solidFill>
                  <a:srgbClr val="334155"/>
                </a:solidFill>
              </a:rPr>
              <a:t>Illegal baskets never appear</a:t>
            </a:r>
            <a:endParaRPr lang="en-US" sz="24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p>
            <a:pPr indent="0" marL="0">
              <a:buNone/>
            </a:pPr>
            <a:r>
              <a:rPr lang="en-US" sz="1200" b="1" spc="200" kern="0" dirty="0">
                <a:solidFill>
                  <a:srgbClr val="2563EB"/>
                </a:solidFill>
              </a:rPr>
              <a:t>QUANTUM RESULTS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nchor="t"/>
          <a:lstStyle/>
          <a:p>
            <a:pPr algn="l" indent="0" marL="0">
              <a:buNone/>
            </a:pPr>
            <a:r>
              <a:rPr lang="en-US" sz="3000" b="1" dirty="0">
                <a:solidFill>
                  <a:srgbClr val="0A192F"/>
                </a:solidFill>
              </a:rPr>
              <a:t>Always legal, and far more accurate for Anna</a:t>
            </a:r>
            <a:endParaRPr lang="en-US" sz="3000" dirty="0"/>
          </a:p>
        </p:txBody>
      </p:sp>
      <p:sp>
        <p:nvSpPr>
          <p:cNvPr id="4" name="Text 0"/>
          <p:cNvSpPr/>
          <p:nvPr>
            <p:ph idx="102" type="body" hasCustomPrompt="1"/>
          </p:nvPr>
        </p:nvSpPr>
        <p:spPr>
          <a:xfrm>
            <a:off x="548640" y="6382512"/>
            <a:ext cx="10424160" cy="274320"/>
          </a:xfrm>
          <a:prstGeom prst="rect">
            <a:avLst/>
          </a:prstGeom>
          <a:noFill/>
          <a:ln/>
        </p:spPr>
        <p:txBody>
          <a:bodyPr wrap="square" rtlCol="0"/>
          <a:lstStyle/>
          <a:p>
            <a:pPr indent="0" marL="0">
              <a:buNone/>
            </a:pPr>
            <a:r>
              <a:rPr lang="en-US" sz="900" dirty="0">
                <a:solidFill>
                  <a:srgbClr val="64748B"/>
                </a:solidFill>
              </a:rPr>
              <a:t>Source: results/canonical/quantum_summary.csv · ideal simulation, 3 layers, median of 10 runs, 4,096 looks each</a:t>
            </a:r>
            <a:endParaRPr lang="en-US" sz="900" dirty="0"/>
          </a:p>
        </p:txBody>
      </p:sp>
      <p:sp>
        <p:nvSpPr>
          <p:cNvPr id="5" name="Takeaway bar"/>
          <p:cNvSpPr/>
          <p:nvPr/>
        </p:nvSpPr>
        <p:spPr>
          <a:xfrm>
            <a:off x="548640" y="5669280"/>
            <a:ext cx="11064240" cy="566928"/>
          </a:xfrm>
          <a:prstGeom prst="roundRect">
            <a:avLst>
              <a:gd name="adj" fmla="val 16129"/>
            </a:avLst>
          </a:prstGeom>
          <a:solidFill>
            <a:srgbClr val="EFF6FF"/>
          </a:solidFill>
          <a:ln w="12700">
            <a:solidFill>
              <a:srgbClr val="EFF6FF"/>
            </a:solidFill>
            <a:prstDash val="solid"/>
          </a:ln>
        </p:spPr>
      </p:sp>
      <p:sp>
        <p:nvSpPr>
          <p:cNvPr id="6" name="Takeaway"/>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800" b="1" dirty="0">
                <a:solidFill>
                  <a:srgbClr val="2563EB"/>
                </a:solidFill>
              </a:rPr>
              <a:t>Takeaway  </a:t>
            </a:r>
            <a:pPr indent="0" marL="0">
              <a:buNone/>
            </a:pPr>
            <a:r>
              <a:rPr lang="en-US" sz="1800" dirty="0">
                <a:solidFill>
                  <a:srgbClr val="0A192F"/>
                </a:solidFill>
              </a:rPr>
              <a:t>A clear win where the answer is clear; no magic on a near-tie. No quantum advantage claimed.</a:t>
            </a:r>
            <a:endParaRPr lang="en-US" sz="1800" dirty="0"/>
          </a:p>
        </p:txBody>
      </p:sp>
      <p:graphicFrame>
        <p:nvGraphicFramePr>
          <p:cNvPr id="7" name="Legal answers chart" descr="Share of legal answers: ours 100% for all savers; organisers' 97 to 98%; tuned penalty 32 to 55%."/>
          <p:cNvGraphicFramePr/>
          <p:nvPr/>
        </p:nvGraphicFramePr>
        <p:xfrm>
          <a:off x="548640" y="1463040"/>
          <a:ext cx="3429000" cy="406908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Best basket chart" descr="Chance of naming the best basket: ours 23%, 4%, 78%; organisers' about 5%."/>
          <p:cNvGraphicFramePr/>
          <p:nvPr/>
        </p:nvGraphicFramePr>
        <p:xfrm>
          <a:off x="4023360" y="1463040"/>
          <a:ext cx="3429000" cy="4069080"/>
        </p:xfrm>
        <a:graphic xmlns:a="http://schemas.openxmlformats.org/drawingml/2006/main">
          <a:graphicData uri="http://schemas.openxmlformats.org/drawingml/2006/chart">
            <c:chart xmlns:c="http://schemas.openxmlformats.org/drawingml/2006/chart" r:id="rId2"/>
          </a:graphicData>
        </a:graphic>
      </p:graphicFrame>
      <p:sp>
        <p:nvSpPr>
          <p:cNvPr id="9" name="Card"/>
          <p:cNvSpPr/>
          <p:nvPr/>
        </p:nvSpPr>
        <p:spPr>
          <a:xfrm>
            <a:off x="7726680" y="1508760"/>
            <a:ext cx="3886200" cy="1207008"/>
          </a:xfrm>
          <a:prstGeom prst="roundRect">
            <a:avLst>
              <a:gd name="adj" fmla="val 9091"/>
            </a:avLst>
          </a:prstGeom>
          <a:solidFill>
            <a:srgbClr val="F8FAFC"/>
          </a:solidFill>
          <a:ln w="12700">
            <a:solidFill>
              <a:srgbClr val="E2E8F0"/>
            </a:solidFill>
            <a:prstDash val="solid"/>
          </a:ln>
        </p:spPr>
      </p:sp>
      <p:sp>
        <p:nvSpPr>
          <p:cNvPr id="10" name="Stat text"/>
          <p:cNvSpPr txBox="1"/>
          <p:nvPr/>
        </p:nvSpPr>
        <p:spPr>
          <a:xfrm>
            <a:off x="8001000" y="1618488"/>
            <a:ext cx="3429000" cy="1005840"/>
          </a:xfrm>
          <a:prstGeom prst="rect">
            <a:avLst/>
          </a:prstGeom>
          <a:noFill/>
          <a:ln/>
        </p:spPr>
        <p:txBody>
          <a:bodyPr wrap="square" lIns="0" tIns="0" rIns="0" bIns="0" rtlCol="0" anchor="t"/>
          <a:lstStyle/>
          <a:p>
            <a:pPr algn="l" indent="0" marL="0">
              <a:buNone/>
            </a:pPr>
            <a:r>
              <a:rPr lang="en-US" sz="3400" b="1" dirty="0">
                <a:solidFill>
                  <a:srgbClr val="2563EB"/>
                </a:solidFill>
              </a:rPr>
              <a:t>100%</a:t>
            </a:r>
            <a:endParaRPr lang="en-US" sz="3400" dirty="0"/>
          </a:p>
          <a:p>
            <a:pPr algn="l" indent="0" marL="0">
              <a:buNone/>
            </a:pPr>
            <a:r>
              <a:rPr lang="en-US" sz="1500" dirty="0">
                <a:solidFill>
                  <a:srgbClr val="334155"/>
                </a:solidFill>
              </a:rPr>
              <a:t>legal answers, every run</a:t>
            </a:r>
            <a:endParaRPr lang="en-US" sz="3400" dirty="0"/>
          </a:p>
        </p:txBody>
      </p:sp>
      <p:sp>
        <p:nvSpPr>
          <p:cNvPr id="11" name="Card"/>
          <p:cNvSpPr/>
          <p:nvPr/>
        </p:nvSpPr>
        <p:spPr>
          <a:xfrm>
            <a:off x="7726680" y="2852928"/>
            <a:ext cx="3886200" cy="1207008"/>
          </a:xfrm>
          <a:prstGeom prst="roundRect">
            <a:avLst>
              <a:gd name="adj" fmla="val 9091"/>
            </a:avLst>
          </a:prstGeom>
          <a:solidFill>
            <a:srgbClr val="F8FAFC"/>
          </a:solidFill>
          <a:ln w="12700">
            <a:solidFill>
              <a:srgbClr val="E2E8F0"/>
            </a:solidFill>
            <a:prstDash val="solid"/>
          </a:ln>
        </p:spPr>
      </p:sp>
      <p:sp>
        <p:nvSpPr>
          <p:cNvPr id="12" name="Stat text"/>
          <p:cNvSpPr txBox="1"/>
          <p:nvPr/>
        </p:nvSpPr>
        <p:spPr>
          <a:xfrm>
            <a:off x="8001000" y="2962656"/>
            <a:ext cx="3429000" cy="1005840"/>
          </a:xfrm>
          <a:prstGeom prst="rect">
            <a:avLst/>
          </a:prstGeom>
          <a:noFill/>
          <a:ln/>
        </p:spPr>
        <p:txBody>
          <a:bodyPr wrap="square" lIns="0" tIns="0" rIns="0" bIns="0" rtlCol="0" anchor="t"/>
          <a:lstStyle/>
          <a:p>
            <a:pPr algn="l" indent="0" marL="0">
              <a:buNone/>
            </a:pPr>
            <a:r>
              <a:rPr lang="en-US" sz="3400" b="1" dirty="0">
                <a:solidFill>
                  <a:srgbClr val="2563EB"/>
                </a:solidFill>
              </a:rPr>
              <a:t>78%</a:t>
            </a:r>
            <a:endParaRPr lang="en-US" sz="3400" dirty="0"/>
          </a:p>
          <a:p>
            <a:pPr algn="l" indent="0" marL="0">
              <a:buNone/>
            </a:pPr>
            <a:r>
              <a:rPr lang="en-US" sz="1500" dirty="0">
                <a:solidFill>
                  <a:srgbClr val="334155"/>
                </a:solidFill>
              </a:rPr>
              <a:t>Anna's best basket found (organisers': 5%)</a:t>
            </a:r>
            <a:endParaRPr lang="en-US" sz="3400" dirty="0"/>
          </a:p>
        </p:txBody>
      </p:sp>
      <p:sp>
        <p:nvSpPr>
          <p:cNvPr id="13" name="Card"/>
          <p:cNvSpPr/>
          <p:nvPr/>
        </p:nvSpPr>
        <p:spPr>
          <a:xfrm>
            <a:off x="7726680" y="4197096"/>
            <a:ext cx="3886200" cy="1207008"/>
          </a:xfrm>
          <a:prstGeom prst="roundRect">
            <a:avLst>
              <a:gd name="adj" fmla="val 9091"/>
            </a:avLst>
          </a:prstGeom>
          <a:solidFill>
            <a:srgbClr val="F8FAFC"/>
          </a:solidFill>
          <a:ln w="12700">
            <a:solidFill>
              <a:srgbClr val="E2E8F0"/>
            </a:solidFill>
            <a:prstDash val="solid"/>
          </a:ln>
        </p:spPr>
      </p:sp>
      <p:sp>
        <p:nvSpPr>
          <p:cNvPr id="14" name="Stat text"/>
          <p:cNvSpPr txBox="1"/>
          <p:nvPr/>
        </p:nvSpPr>
        <p:spPr>
          <a:xfrm>
            <a:off x="8001000" y="4306824"/>
            <a:ext cx="3429000" cy="1005840"/>
          </a:xfrm>
          <a:prstGeom prst="rect">
            <a:avLst/>
          </a:prstGeom>
          <a:noFill/>
          <a:ln/>
        </p:spPr>
        <p:txBody>
          <a:bodyPr wrap="square" lIns="0" tIns="0" rIns="0" bIns="0" rtlCol="0" anchor="t"/>
          <a:lstStyle/>
          <a:p>
            <a:pPr algn="l" indent="0" marL="0">
              <a:buNone/>
            </a:pPr>
            <a:r>
              <a:rPr lang="en-US" sz="3400" b="1" dirty="0">
                <a:solidFill>
                  <a:srgbClr val="64748B"/>
                </a:solidFill>
              </a:rPr>
              <a:t>4%</a:t>
            </a:r>
            <a:endParaRPr lang="en-US" sz="3400" dirty="0"/>
          </a:p>
          <a:p>
            <a:pPr algn="l" indent="0" marL="0">
              <a:buNone/>
            </a:pPr>
            <a:r>
              <a:rPr lang="en-US" sz="1500" dirty="0">
                <a:solidFill>
                  <a:srgbClr val="334155"/>
                </a:solidFill>
              </a:rPr>
              <a:t>for Thomas: no better than guessing</a:t>
            </a:r>
            <a:endParaRPr lang="en-US" sz="34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p>
            <a:pPr indent="0" marL="0">
              <a:buNone/>
            </a:pPr>
            <a:r>
              <a:rPr lang="en-US" sz="1200" b="1" spc="200" kern="0" dirty="0">
                <a:solidFill>
                  <a:srgbClr val="2563EB"/>
                </a:solidFill>
              </a:rPr>
              <a:t>REALITY CHECK 2020–2024</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nchor="t"/>
          <a:lstStyle/>
          <a:p>
            <a:pPr algn="l" indent="0" marL="0">
              <a:buNone/>
            </a:pPr>
            <a:r>
              <a:rPr lang="en-US" sz="3000" b="1" dirty="0">
                <a:solidFill>
                  <a:srgbClr val="0A192F"/>
                </a:solidFill>
              </a:rPr>
              <a:t>Tech grew more, but losses came more often</a:t>
            </a:r>
            <a:endParaRPr lang="en-US" sz="3000" dirty="0"/>
          </a:p>
        </p:txBody>
      </p:sp>
      <p:sp>
        <p:nvSpPr>
          <p:cNvPr id="4" name="Text 0"/>
          <p:cNvSpPr/>
          <p:nvPr>
            <p:ph idx="102" type="body" hasCustomPrompt="1"/>
          </p:nvPr>
        </p:nvSpPr>
        <p:spPr>
          <a:xfrm>
            <a:off x="548640" y="6382512"/>
            <a:ext cx="10424160" cy="274320"/>
          </a:xfrm>
          <a:prstGeom prst="rect">
            <a:avLst/>
          </a:prstGeom>
          <a:noFill/>
          <a:ln/>
        </p:spPr>
        <p:txBody>
          <a:bodyPr wrap="square" rtlCol="0"/>
          <a:lstStyle/>
          <a:p>
            <a:pPr indent="0" marL="0">
              <a:buNone/>
            </a:pPr>
            <a:r>
              <a:rPr lang="en-US" sz="900" dirty="0">
                <a:solidFill>
                  <a:srgbClr val="64748B"/>
                </a:solidFill>
              </a:rPr>
              <a:t>Source: results/canonical (holdout.csv, loss_limits.csv) · Jan 2020–Dec 2024, never used to decide</a:t>
            </a:r>
            <a:endParaRPr lang="en-US" sz="900" dirty="0"/>
          </a:p>
        </p:txBody>
      </p:sp>
      <p:sp>
        <p:nvSpPr>
          <p:cNvPr id="5" name="Takeaway bar"/>
          <p:cNvSpPr/>
          <p:nvPr/>
        </p:nvSpPr>
        <p:spPr>
          <a:xfrm>
            <a:off x="548640" y="5669280"/>
            <a:ext cx="11064240" cy="566928"/>
          </a:xfrm>
          <a:prstGeom prst="roundRect">
            <a:avLst>
              <a:gd name="adj" fmla="val 16129"/>
            </a:avLst>
          </a:prstGeom>
          <a:solidFill>
            <a:srgbClr val="EFF6FF"/>
          </a:solidFill>
          <a:ln w="12700">
            <a:solidFill>
              <a:srgbClr val="EFF6FF"/>
            </a:solidFill>
            <a:prstDash val="solid"/>
          </a:ln>
        </p:spPr>
      </p:sp>
      <p:sp>
        <p:nvSpPr>
          <p:cNvPr id="6" name="Takeaway"/>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800" b="1" dirty="0">
                <a:solidFill>
                  <a:srgbClr val="2563EB"/>
                </a:solidFill>
              </a:rPr>
              <a:t>Takeaway  </a:t>
            </a:r>
            <a:pPr indent="0" marL="0">
              <a:buNone/>
            </a:pPr>
            <a:r>
              <a:rPr lang="en-US" sz="1800" dirty="0">
                <a:solidFill>
                  <a:srgbClr val="0A192F"/>
                </a:solidFill>
              </a:rPr>
              <a:t>Hindsight only: Anna's limit broke for both baskets. Our loss model was too optimistic.</a:t>
            </a:r>
            <a:endParaRPr lang="en-US" sz="1800" dirty="0"/>
          </a:p>
        </p:txBody>
      </p:sp>
      <p:graphicFrame>
        <p:nvGraphicFramePr>
          <p:cNvPr id="7" name="Wealth chart" descr="Wealth 2020 to 2024 after switching cost: tech basket 1.86, today's basket 1.38."/>
          <p:cNvGraphicFramePr/>
          <p:nvPr/>
        </p:nvGraphicFramePr>
        <p:xfrm>
          <a:off x="548640" y="1463040"/>
          <a:ext cx="5486400" cy="406908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Real loss months chart" descr="Real loss months 2020 to 2024: Lena 2 and 2, Thomas 5 and 8, Anna 12 and 12; at most 6 allowed."/>
          <p:cNvGraphicFramePr/>
          <p:nvPr/>
        </p:nvGraphicFramePr>
        <p:xfrm>
          <a:off x="6217920" y="1463040"/>
          <a:ext cx="5394960" cy="40690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p>
            <a:pPr indent="0" marL="0">
              <a:buNone/>
            </a:pPr>
            <a:r>
              <a:rPr lang="en-US" sz="1200" b="1" spc="200" kern="0" dirty="0">
                <a:solidFill>
                  <a:srgbClr val="2563EB"/>
                </a:solidFill>
              </a:rPr>
              <a:t>POLICY</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nchor="t"/>
          <a:lstStyle/>
          <a:p>
            <a:pPr algn="l" indent="0" marL="0">
              <a:buNone/>
            </a:pPr>
            <a:r>
              <a:rPr lang="en-US" sz="3000" b="1" dirty="0">
                <a:solidFill>
                  <a:srgbClr val="0A192F"/>
                </a:solidFill>
              </a:rPr>
              <a:t>Three rules for using this responsibly</a:t>
            </a:r>
            <a:endParaRPr lang="en-US" sz="3000" dirty="0"/>
          </a:p>
        </p:txBody>
      </p:sp>
      <p:sp>
        <p:nvSpPr>
          <p:cNvPr id="4" name="Text 0"/>
          <p:cNvSpPr/>
          <p:nvPr>
            <p:ph idx="102" type="body" hasCustomPrompt="1"/>
          </p:nvPr>
        </p:nvSpPr>
        <p:spPr>
          <a:xfrm>
            <a:off x="548640" y="6382512"/>
            <a:ext cx="10424160" cy="274320"/>
          </a:xfrm>
          <a:prstGeom prst="rect">
            <a:avLst/>
          </a:prstGeom>
          <a:noFill/>
          <a:ln/>
        </p:spPr>
        <p:txBody>
          <a:bodyPr wrap="square" rtlCol="0"/>
          <a:lstStyle/>
          <a:p>
            <a:pPr indent="0" marL="0">
              <a:buNone/>
            </a:pPr>
            <a:r>
              <a:rPr lang="en-US" sz="900" dirty="0">
                <a:solidFill>
                  <a:srgbClr val="64748B"/>
                </a:solidFill>
              </a:rPr>
              <a:t>Sources: Alterssicherungskommission (June 2026); team policy brief</a:t>
            </a:r>
            <a:endParaRPr lang="en-US" sz="900" dirty="0"/>
          </a:p>
        </p:txBody>
      </p:sp>
      <p:sp>
        <p:nvSpPr>
          <p:cNvPr id="5" name="Takeaway bar"/>
          <p:cNvSpPr/>
          <p:nvPr/>
        </p:nvSpPr>
        <p:spPr>
          <a:xfrm>
            <a:off x="548640" y="5669280"/>
            <a:ext cx="11064240" cy="566928"/>
          </a:xfrm>
          <a:prstGeom prst="roundRect">
            <a:avLst>
              <a:gd name="adj" fmla="val 16129"/>
            </a:avLst>
          </a:prstGeom>
          <a:solidFill>
            <a:srgbClr val="EFF6FF"/>
          </a:solidFill>
          <a:ln w="12700">
            <a:solidFill>
              <a:srgbClr val="EFF6FF"/>
            </a:solidFill>
            <a:prstDash val="solid"/>
          </a:ln>
        </p:spPr>
      </p:sp>
      <p:sp>
        <p:nvSpPr>
          <p:cNvPr id="6" name="Takeaway"/>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800" b="1" dirty="0">
                <a:solidFill>
                  <a:srgbClr val="2563EB"/>
                </a:solidFill>
              </a:rPr>
              <a:t>Takeaway  </a:t>
            </a:r>
            <a:pPr indent="0" marL="0">
              <a:buNone/>
            </a:pPr>
            <a:r>
              <a:rPr lang="en-US" sz="1800" dirty="0">
                <a:solidFill>
                  <a:srgbClr val="0A192F"/>
                </a:solidFill>
              </a:rPr>
              <a:t>Policy sets the limits; people make the final call.</a:t>
            </a:r>
            <a:endParaRPr lang="en-US" sz="1800" dirty="0"/>
          </a:p>
        </p:txBody>
      </p:sp>
      <p:sp>
        <p:nvSpPr>
          <p:cNvPr id="7" name="Card"/>
          <p:cNvSpPr/>
          <p:nvPr/>
        </p:nvSpPr>
        <p:spPr>
          <a:xfrm>
            <a:off x="548640" y="1508760"/>
            <a:ext cx="3566160" cy="3931920"/>
          </a:xfrm>
          <a:prstGeom prst="roundRect">
            <a:avLst>
              <a:gd name="adj" fmla="val 3077"/>
            </a:avLst>
          </a:prstGeom>
          <a:solidFill>
            <a:srgbClr val="F8FAFC"/>
          </a:solidFill>
          <a:ln w="12700">
            <a:solidFill>
              <a:srgbClr val="E2E8F0"/>
            </a:solidFill>
            <a:prstDash val="solid"/>
          </a:ln>
        </p:spPr>
      </p:sp>
      <p:sp>
        <p:nvSpPr>
          <p:cNvPr id="8" name="Number"/>
          <p:cNvSpPr/>
          <p:nvPr/>
        </p:nvSpPr>
        <p:spPr>
          <a:xfrm>
            <a:off x="868680" y="1828800"/>
            <a:ext cx="685800" cy="685800"/>
          </a:xfrm>
          <a:prstGeom prst="ellipse">
            <a:avLst/>
          </a:prstGeom>
          <a:solidFill>
            <a:srgbClr val="2563EB"/>
          </a:solidFill>
          <a:ln w="12700">
            <a:solidFill>
              <a:srgbClr val="2563EB"/>
            </a:solidFill>
            <a:prstDash val="solid"/>
          </a:ln>
        </p:spPr>
      </p:sp>
      <p:sp>
        <p:nvSpPr>
          <p:cNvPr id="9" name="Number text"/>
          <p:cNvSpPr txBox="1"/>
          <p:nvPr/>
        </p:nvSpPr>
        <p:spPr>
          <a:xfrm>
            <a:off x="868680" y="18288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10" name="Tag"/>
          <p:cNvSpPr txBox="1"/>
          <p:nvPr/>
        </p:nvSpPr>
        <p:spPr>
          <a:xfrm>
            <a:off x="1737360" y="2011680"/>
            <a:ext cx="2103120" cy="320040"/>
          </a:xfrm>
          <a:prstGeom prst="rect">
            <a:avLst/>
          </a:prstGeom>
          <a:noFill/>
          <a:ln/>
        </p:spPr>
        <p:txBody>
          <a:bodyPr wrap="square" lIns="0" tIns="0" rIns="0" bIns="0" rtlCol="0" anchor="ctr"/>
          <a:lstStyle/>
          <a:p>
            <a:pPr algn="l" indent="0" marL="0">
              <a:buNone/>
            </a:pPr>
            <a:r>
              <a:rPr lang="en-US" sz="1200" b="1" dirty="0">
                <a:solidFill>
                  <a:srgbClr val="64748B"/>
                </a:solidFill>
              </a:rPr>
              <a:t>REVISED</a:t>
            </a:r>
            <a:endParaRPr lang="en-US" sz="1200" dirty="0"/>
          </a:p>
        </p:txBody>
      </p:sp>
      <p:sp>
        <p:nvSpPr>
          <p:cNvPr id="11" name="Card text"/>
          <p:cNvSpPr txBox="1"/>
          <p:nvPr/>
        </p:nvSpPr>
        <p:spPr>
          <a:xfrm>
            <a:off x="868680" y="2743200"/>
            <a:ext cx="2926080" cy="2606040"/>
          </a:xfrm>
          <a:prstGeom prst="rect">
            <a:avLst/>
          </a:prstGeom>
          <a:noFill/>
          <a:ln/>
        </p:spPr>
        <p:txBody>
          <a:bodyPr wrap="square" lIns="0" tIns="0" rIns="0" bIns="0" rtlCol="0" anchor="t"/>
          <a:lstStyle/>
          <a:p>
            <a:pPr algn="l" indent="0" marL="0">
              <a:spcAft>
                <a:spcPts val="1000"/>
              </a:spcAft>
              <a:buNone/>
            </a:pPr>
            <a:r>
              <a:rPr lang="en-US" sz="2400" b="1" dirty="0">
                <a:solidFill>
                  <a:srgbClr val="0A192F"/>
                </a:solidFill>
              </a:rPr>
              <a:t>Protect the default</a:t>
            </a:r>
            <a:endParaRPr lang="en-US" sz="2400" dirty="0"/>
          </a:p>
          <a:p>
            <a:pPr algn="l" indent="0" marL="0">
              <a:buNone/>
            </a:pPr>
            <a:r>
              <a:rPr lang="en-US" sz="2000" dirty="0">
                <a:solidFill>
                  <a:srgbClr val="334155"/>
                </a:solidFill>
              </a:rPr>
              <a:t>Savers choose a profile. Those who don't land in balanced and need protection from fragile bets.</a:t>
            </a:r>
            <a:endParaRPr lang="en-US" sz="2400" dirty="0"/>
          </a:p>
        </p:txBody>
      </p:sp>
      <p:sp>
        <p:nvSpPr>
          <p:cNvPr id="12" name="Card"/>
          <p:cNvSpPr/>
          <p:nvPr/>
        </p:nvSpPr>
        <p:spPr>
          <a:xfrm>
            <a:off x="4297680" y="1508760"/>
            <a:ext cx="3566160" cy="3931920"/>
          </a:xfrm>
          <a:prstGeom prst="roundRect">
            <a:avLst>
              <a:gd name="adj" fmla="val 3077"/>
            </a:avLst>
          </a:prstGeom>
          <a:solidFill>
            <a:srgbClr val="F8FAFC"/>
          </a:solidFill>
          <a:ln w="12700">
            <a:solidFill>
              <a:srgbClr val="E2E8F0"/>
            </a:solidFill>
            <a:prstDash val="solid"/>
          </a:ln>
        </p:spPr>
      </p:sp>
      <p:sp>
        <p:nvSpPr>
          <p:cNvPr id="13" name="Number"/>
          <p:cNvSpPr/>
          <p:nvPr/>
        </p:nvSpPr>
        <p:spPr>
          <a:xfrm>
            <a:off x="4617720" y="1828800"/>
            <a:ext cx="685800" cy="685800"/>
          </a:xfrm>
          <a:prstGeom prst="ellipse">
            <a:avLst/>
          </a:prstGeom>
          <a:solidFill>
            <a:srgbClr val="2563EB"/>
          </a:solidFill>
          <a:ln w="12700">
            <a:solidFill>
              <a:srgbClr val="2563EB"/>
            </a:solidFill>
            <a:prstDash val="solid"/>
          </a:ln>
        </p:spPr>
      </p:sp>
      <p:sp>
        <p:nvSpPr>
          <p:cNvPr id="14" name="Number text"/>
          <p:cNvSpPr txBox="1"/>
          <p:nvPr/>
        </p:nvSpPr>
        <p:spPr>
          <a:xfrm>
            <a:off x="4617720" y="18288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5" name="Tag"/>
          <p:cNvSpPr txBox="1"/>
          <p:nvPr/>
        </p:nvSpPr>
        <p:spPr>
          <a:xfrm>
            <a:off x="5486400" y="2011680"/>
            <a:ext cx="2103120" cy="320040"/>
          </a:xfrm>
          <a:prstGeom prst="rect">
            <a:avLst/>
          </a:prstGeom>
          <a:noFill/>
          <a:ln/>
        </p:spPr>
        <p:txBody>
          <a:bodyPr wrap="square" lIns="0" tIns="0" rIns="0" bIns="0" rtlCol="0" anchor="ctr"/>
          <a:lstStyle/>
          <a:p>
            <a:pPr algn="l" indent="0" marL="0">
              <a:buNone/>
            </a:pPr>
            <a:r>
              <a:rPr lang="en-US" sz="1200" b="1" dirty="0">
                <a:solidFill>
                  <a:srgbClr val="64748B"/>
                </a:solidFill>
              </a:rPr>
              <a:t>ADOPTED</a:t>
            </a:r>
            <a:endParaRPr lang="en-US" sz="1200" dirty="0"/>
          </a:p>
        </p:txBody>
      </p:sp>
      <p:sp>
        <p:nvSpPr>
          <p:cNvPr id="16" name="Card text"/>
          <p:cNvSpPr txBox="1"/>
          <p:nvPr/>
        </p:nvSpPr>
        <p:spPr>
          <a:xfrm>
            <a:off x="4617720" y="2743200"/>
            <a:ext cx="2926080" cy="2606040"/>
          </a:xfrm>
          <a:prstGeom prst="rect">
            <a:avLst/>
          </a:prstGeom>
          <a:noFill/>
          <a:ln/>
        </p:spPr>
        <p:txBody>
          <a:bodyPr wrap="square" lIns="0" tIns="0" rIns="0" bIns="0" rtlCol="0" anchor="t"/>
          <a:lstStyle/>
          <a:p>
            <a:pPr algn="l" indent="0" marL="0">
              <a:spcAft>
                <a:spcPts val="1000"/>
              </a:spcAft>
              <a:buNone/>
            </a:pPr>
            <a:r>
              <a:rPr lang="en-US" sz="2400" b="1" dirty="0">
                <a:solidFill>
                  <a:srgbClr val="0A192F"/>
                </a:solidFill>
              </a:rPr>
              <a:t>Law sets limits, committee sets the mix</a:t>
            </a:r>
            <a:endParaRPr lang="en-US" sz="2400" dirty="0"/>
          </a:p>
          <a:p>
            <a:pPr algn="l" indent="0" marL="0">
              <a:buNone/>
            </a:pPr>
            <a:r>
              <a:rPr lang="en-US" sz="2000" dirty="0">
                <a:solidFill>
                  <a:srgbClr val="334155"/>
                </a:solidFill>
              </a:rPr>
              <a:t>Limits are checked exactly and never traded for return.</a:t>
            </a:r>
            <a:endParaRPr lang="en-US" sz="2400" dirty="0"/>
          </a:p>
        </p:txBody>
      </p:sp>
      <p:sp>
        <p:nvSpPr>
          <p:cNvPr id="17" name="Card"/>
          <p:cNvSpPr/>
          <p:nvPr/>
        </p:nvSpPr>
        <p:spPr>
          <a:xfrm>
            <a:off x="8046720" y="1508760"/>
            <a:ext cx="3566160" cy="3931920"/>
          </a:xfrm>
          <a:prstGeom prst="roundRect">
            <a:avLst>
              <a:gd name="adj" fmla="val 3077"/>
            </a:avLst>
          </a:prstGeom>
          <a:solidFill>
            <a:srgbClr val="F8FAFC"/>
          </a:solidFill>
          <a:ln w="12700">
            <a:solidFill>
              <a:srgbClr val="E2E8F0"/>
            </a:solidFill>
            <a:prstDash val="solid"/>
          </a:ln>
        </p:spPr>
      </p:sp>
      <p:sp>
        <p:nvSpPr>
          <p:cNvPr id="18" name="Number"/>
          <p:cNvSpPr/>
          <p:nvPr/>
        </p:nvSpPr>
        <p:spPr>
          <a:xfrm>
            <a:off x="8366760" y="1828800"/>
            <a:ext cx="685800" cy="685800"/>
          </a:xfrm>
          <a:prstGeom prst="ellipse">
            <a:avLst/>
          </a:prstGeom>
          <a:solidFill>
            <a:srgbClr val="2563EB"/>
          </a:solidFill>
          <a:ln w="12700">
            <a:solidFill>
              <a:srgbClr val="2563EB"/>
            </a:solidFill>
            <a:prstDash val="solid"/>
          </a:ln>
        </p:spPr>
      </p:sp>
      <p:sp>
        <p:nvSpPr>
          <p:cNvPr id="19" name="Number text"/>
          <p:cNvSpPr txBox="1"/>
          <p:nvPr/>
        </p:nvSpPr>
        <p:spPr>
          <a:xfrm>
            <a:off x="8366760" y="18288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20" name="Tag"/>
          <p:cNvSpPr txBox="1"/>
          <p:nvPr/>
        </p:nvSpPr>
        <p:spPr>
          <a:xfrm>
            <a:off x="9235440" y="2011680"/>
            <a:ext cx="2103120" cy="320040"/>
          </a:xfrm>
          <a:prstGeom prst="rect">
            <a:avLst/>
          </a:prstGeom>
          <a:noFill/>
          <a:ln/>
        </p:spPr>
        <p:txBody>
          <a:bodyPr wrap="square" lIns="0" tIns="0" rIns="0" bIns="0" rtlCol="0" anchor="ctr"/>
          <a:lstStyle/>
          <a:p>
            <a:pPr algn="l" indent="0" marL="0">
              <a:buNone/>
            </a:pPr>
            <a:r>
              <a:rPr lang="en-US" sz="1200" b="1" dirty="0">
                <a:solidFill>
                  <a:srgbClr val="64748B"/>
                </a:solidFill>
              </a:rPr>
              <a:t>ADOPTED</a:t>
            </a:r>
            <a:endParaRPr lang="en-US" sz="1200" dirty="0"/>
          </a:p>
        </p:txBody>
      </p:sp>
      <p:sp>
        <p:nvSpPr>
          <p:cNvPr id="21" name="Card text"/>
          <p:cNvSpPr txBox="1"/>
          <p:nvPr/>
        </p:nvSpPr>
        <p:spPr>
          <a:xfrm>
            <a:off x="8366760" y="2743200"/>
            <a:ext cx="2926080" cy="2606040"/>
          </a:xfrm>
          <a:prstGeom prst="rect">
            <a:avLst/>
          </a:prstGeom>
          <a:noFill/>
          <a:ln/>
        </p:spPr>
        <p:txBody>
          <a:bodyPr wrap="square" lIns="0" tIns="0" rIns="0" bIns="0" rtlCol="0" anchor="t"/>
          <a:lstStyle/>
          <a:p>
            <a:pPr algn="l" indent="0" marL="0">
              <a:spcAft>
                <a:spcPts val="1000"/>
              </a:spcAft>
              <a:buNone/>
            </a:pPr>
            <a:r>
              <a:rPr lang="en-US" sz="2400" b="1" dirty="0">
                <a:solidFill>
                  <a:srgbClr val="0A192F"/>
                </a:solidFill>
              </a:rPr>
              <a:t>Burden of proof</a:t>
            </a:r>
            <a:endParaRPr lang="en-US" sz="2400" dirty="0"/>
          </a:p>
          <a:p>
            <a:pPr algn="l" indent="0" marL="0">
              <a:buNone/>
            </a:pPr>
            <a:r>
              <a:rPr lang="en-US" sz="2000" dirty="0">
                <a:solidFill>
                  <a:srgbClr val="334155"/>
                </a:solidFill>
              </a:rPr>
              <a:t>Switch only with the same winner in every test and at least 70% support.</a:t>
            </a:r>
            <a:endParaRPr lang="en-US" sz="24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10698480" cy="365760"/>
          </a:xfrm>
          <a:prstGeom prst="rect">
            <a:avLst/>
          </a:prstGeom>
          <a:noFill/>
          <a:ln/>
        </p:spPr>
        <p:txBody>
          <a:bodyPr wrap="square" rtlCol="0"/>
          <a:lstStyle/>
          <a:p>
            <a:pPr indent="0" marL="0">
              <a:buNone/>
            </a:pPr>
            <a:r>
              <a:rPr lang="en-US" sz="1400" b="1" spc="200" kern="0" dirty="0">
                <a:solidFill>
                  <a:srgbClr val="93C5FD"/>
                </a:solidFill>
              </a:rPr>
              <a:t>CONCLUSION</a:t>
            </a:r>
            <a:endParaRPr lang="en-US" sz="1400" dirty="0"/>
          </a:p>
        </p:txBody>
      </p:sp>
      <p:sp>
        <p:nvSpPr>
          <p:cNvPr id="3" name="Text 0"/>
          <p:cNvSpPr/>
          <p:nvPr>
            <p:ph idx="101" type="title" hasCustomPrompt="1"/>
          </p:nvPr>
        </p:nvSpPr>
        <p:spPr>
          <a:xfrm>
            <a:off x="731520" y="1280160"/>
            <a:ext cx="10698480" cy="1371600"/>
          </a:xfrm>
          <a:prstGeom prst="rect">
            <a:avLst/>
          </a:prstGeom>
          <a:noFill/>
          <a:ln/>
        </p:spPr>
        <p:txBody>
          <a:bodyPr wrap="square" rtlCol="0" anchor="t"/>
          <a:lstStyle/>
          <a:p>
            <a:pPr algn="l" indent="0" marL="0">
              <a:buNone/>
            </a:pPr>
            <a:r>
              <a:rPr lang="en-US" sz="4000" b="1" dirty="0">
                <a:solidFill>
                  <a:srgbClr val="FFFFFF"/>
                </a:solidFill>
              </a:rPr>
              <a:t>Clear answers, from a circuit that keeps the rules</a:t>
            </a:r>
            <a:endParaRPr lang="en-US" sz="4000" dirty="0"/>
          </a:p>
        </p:txBody>
      </p:sp>
      <p:pic>
        <p:nvPicPr>
          <p:cNvPr id="4" name="Portrait Lena" descr="Illustrated portrait of Lena, one of our three example savers">    </p:cNvPr>
          <p:cNvPicPr>
            <a:picLocks noChangeAspect="1"/>
          </p:cNvPicPr>
          <p:nvPr/>
        </p:nvPicPr>
        <p:blipFill>
          <a:blip r:embed="rId1"/>
          <a:stretch>
            <a:fillRect/>
          </a:stretch>
        </p:blipFill>
        <p:spPr>
          <a:xfrm>
            <a:off x="731520" y="2880360"/>
            <a:ext cx="1188720" cy="1188720"/>
          </a:xfrm>
          <a:prstGeom prst="ellipse">
            <a:avLst/>
          </a:prstGeom>
        </p:spPr>
      </p:pic>
      <p:sp>
        <p:nvSpPr>
          <p:cNvPr id="5" name="Portrait ring Lena"/>
          <p:cNvSpPr/>
          <p:nvPr/>
        </p:nvSpPr>
        <p:spPr>
          <a:xfrm>
            <a:off x="731520" y="2880360"/>
            <a:ext cx="1188720" cy="1188720"/>
          </a:xfrm>
          <a:prstGeom prst="ellipse">
            <a:avLst/>
          </a:prstGeom>
          <a:ln w="31750">
            <a:solidFill>
              <a:srgbClr val="059669"/>
            </a:solidFill>
            <a:prstDash val="solid"/>
          </a:ln>
        </p:spPr>
      </p:sp>
      <p:sp>
        <p:nvSpPr>
          <p:cNvPr id="6" name="Verdict"/>
          <p:cNvSpPr txBox="1"/>
          <p:nvPr/>
        </p:nvSpPr>
        <p:spPr>
          <a:xfrm>
            <a:off x="2103120" y="2926080"/>
            <a:ext cx="2103120" cy="1188720"/>
          </a:xfrm>
          <a:prstGeom prst="rect">
            <a:avLst/>
          </a:prstGeom>
          <a:noFill/>
          <a:ln/>
        </p:spPr>
        <p:txBody>
          <a:bodyPr wrap="square" lIns="0" tIns="0" rIns="0" bIns="0" rtlCol="0" anchor="ctr"/>
          <a:lstStyle/>
          <a:p>
            <a:pPr algn="l" indent="0" marL="0">
              <a:buNone/>
            </a:pPr>
            <a:r>
              <a:rPr lang="en-US" sz="1800" dirty="0">
                <a:solidFill>
                  <a:srgbClr val="E2E8F0"/>
                </a:solidFill>
              </a:rPr>
              <a:t>Lena</a:t>
            </a:r>
            <a:endParaRPr lang="en-US" sz="1800" dirty="0"/>
          </a:p>
          <a:p>
            <a:pPr algn="l" indent="0" marL="0">
              <a:buNone/>
            </a:pPr>
            <a:r>
              <a:rPr lang="en-US" sz="3400" b="1" dirty="0">
                <a:solidFill>
                  <a:srgbClr val="059669"/>
                </a:solidFill>
              </a:rPr>
              <a:t>SWITCH</a:t>
            </a:r>
            <a:endParaRPr lang="en-US" sz="1800" dirty="0"/>
          </a:p>
        </p:txBody>
      </p:sp>
      <p:pic>
        <p:nvPicPr>
          <p:cNvPr id="7" name="Portrait Thomas" descr="Illustrated portrait of Thomas, one of our three example savers">    </p:cNvPr>
          <p:cNvPicPr>
            <a:picLocks noChangeAspect="1"/>
          </p:cNvPicPr>
          <p:nvPr/>
        </p:nvPicPr>
        <p:blipFill>
          <a:blip r:embed="rId2"/>
          <a:stretch>
            <a:fillRect/>
          </a:stretch>
        </p:blipFill>
        <p:spPr>
          <a:xfrm>
            <a:off x="4389120" y="2880360"/>
            <a:ext cx="1188720" cy="1188720"/>
          </a:xfrm>
          <a:prstGeom prst="ellipse">
            <a:avLst/>
          </a:prstGeom>
        </p:spPr>
      </p:pic>
      <p:sp>
        <p:nvSpPr>
          <p:cNvPr id="8" name="Portrait ring Thomas"/>
          <p:cNvSpPr/>
          <p:nvPr/>
        </p:nvSpPr>
        <p:spPr>
          <a:xfrm>
            <a:off x="4389120" y="2880360"/>
            <a:ext cx="1188720" cy="1188720"/>
          </a:xfrm>
          <a:prstGeom prst="ellipse">
            <a:avLst/>
          </a:prstGeom>
          <a:ln w="31750">
            <a:solidFill>
              <a:srgbClr val="D97706"/>
            </a:solidFill>
            <a:prstDash val="solid"/>
          </a:ln>
        </p:spPr>
      </p:sp>
      <p:sp>
        <p:nvSpPr>
          <p:cNvPr id="9" name="Verdict"/>
          <p:cNvSpPr txBox="1"/>
          <p:nvPr/>
        </p:nvSpPr>
        <p:spPr>
          <a:xfrm>
            <a:off x="5760720" y="2926080"/>
            <a:ext cx="2103120" cy="1188720"/>
          </a:xfrm>
          <a:prstGeom prst="rect">
            <a:avLst/>
          </a:prstGeom>
          <a:noFill/>
          <a:ln/>
        </p:spPr>
        <p:txBody>
          <a:bodyPr wrap="square" lIns="0" tIns="0" rIns="0" bIns="0" rtlCol="0" anchor="ctr"/>
          <a:lstStyle/>
          <a:p>
            <a:pPr algn="l" indent="0" marL="0">
              <a:buNone/>
            </a:pPr>
            <a:r>
              <a:rPr lang="en-US" sz="1800" dirty="0">
                <a:solidFill>
                  <a:srgbClr val="E2E8F0"/>
                </a:solidFill>
              </a:rPr>
              <a:t>Thomas</a:t>
            </a:r>
            <a:endParaRPr lang="en-US" sz="1800" dirty="0"/>
          </a:p>
          <a:p>
            <a:pPr algn="l" indent="0" marL="0">
              <a:buNone/>
            </a:pPr>
            <a:r>
              <a:rPr lang="en-US" sz="3400" b="1" dirty="0">
                <a:solidFill>
                  <a:srgbClr val="D97706"/>
                </a:solidFill>
              </a:rPr>
              <a:t>REVIEW</a:t>
            </a:r>
            <a:endParaRPr lang="en-US" sz="1800" dirty="0"/>
          </a:p>
        </p:txBody>
      </p:sp>
      <p:pic>
        <p:nvPicPr>
          <p:cNvPr id="10" name="Portrait Anna" descr="Illustrated portrait of Anna, one of our three example savers">    </p:cNvPr>
          <p:cNvPicPr>
            <a:picLocks noChangeAspect="1"/>
          </p:cNvPicPr>
          <p:nvPr/>
        </p:nvPicPr>
        <p:blipFill>
          <a:blip r:embed="rId3"/>
          <a:stretch>
            <a:fillRect/>
          </a:stretch>
        </p:blipFill>
        <p:spPr>
          <a:xfrm>
            <a:off x="8046720" y="2880360"/>
            <a:ext cx="1188720" cy="1188720"/>
          </a:xfrm>
          <a:prstGeom prst="ellipse">
            <a:avLst/>
          </a:prstGeom>
        </p:spPr>
      </p:pic>
      <p:sp>
        <p:nvSpPr>
          <p:cNvPr id="11" name="Portrait ring Anna"/>
          <p:cNvSpPr/>
          <p:nvPr/>
        </p:nvSpPr>
        <p:spPr>
          <a:xfrm>
            <a:off x="8046720" y="2880360"/>
            <a:ext cx="1188720" cy="1188720"/>
          </a:xfrm>
          <a:prstGeom prst="ellipse">
            <a:avLst/>
          </a:prstGeom>
          <a:ln w="31750">
            <a:solidFill>
              <a:srgbClr val="DC2626"/>
            </a:solidFill>
            <a:prstDash val="solid"/>
          </a:ln>
        </p:spPr>
      </p:sp>
      <p:sp>
        <p:nvSpPr>
          <p:cNvPr id="12" name="Verdict"/>
          <p:cNvSpPr txBox="1"/>
          <p:nvPr/>
        </p:nvSpPr>
        <p:spPr>
          <a:xfrm>
            <a:off x="9418320" y="2926080"/>
            <a:ext cx="2103120" cy="1188720"/>
          </a:xfrm>
          <a:prstGeom prst="rect">
            <a:avLst/>
          </a:prstGeom>
          <a:noFill/>
          <a:ln/>
        </p:spPr>
        <p:txBody>
          <a:bodyPr wrap="square" lIns="0" tIns="0" rIns="0" bIns="0" rtlCol="0" anchor="ctr"/>
          <a:lstStyle/>
          <a:p>
            <a:pPr algn="l" indent="0" marL="0">
              <a:buNone/>
            </a:pPr>
            <a:r>
              <a:rPr lang="en-US" sz="1800" dirty="0">
                <a:solidFill>
                  <a:srgbClr val="E2E8F0"/>
                </a:solidFill>
              </a:rPr>
              <a:t>Anna</a:t>
            </a:r>
            <a:endParaRPr lang="en-US" sz="1800" dirty="0"/>
          </a:p>
          <a:p>
            <a:pPr algn="l" indent="0" marL="0">
              <a:buNone/>
            </a:pPr>
            <a:r>
              <a:rPr lang="en-US" sz="3400" b="1" dirty="0">
                <a:solidFill>
                  <a:srgbClr val="DC2626"/>
                </a:solidFill>
              </a:rPr>
              <a:t>KEEP</a:t>
            </a:r>
            <a:endParaRPr lang="en-US" sz="1800" dirty="0"/>
          </a:p>
        </p:txBody>
      </p:sp>
      <p:sp>
        <p:nvSpPr>
          <p:cNvPr id="13" name="Body"/>
          <p:cNvSpPr txBox="1"/>
          <p:nvPr/>
        </p:nvSpPr>
        <p:spPr>
          <a:xfrm>
            <a:off x="731520" y="4754880"/>
            <a:ext cx="10698480" cy="548640"/>
          </a:xfrm>
          <a:prstGeom prst="rect">
            <a:avLst/>
          </a:prstGeom>
          <a:noFill/>
          <a:ln/>
        </p:spPr>
        <p:txBody>
          <a:bodyPr wrap="square" lIns="0" tIns="0" rIns="0" bIns="0" rtlCol="0" anchor="t"/>
          <a:lstStyle/>
          <a:p>
            <a:pPr algn="l" indent="0" marL="0">
              <a:buNone/>
            </a:pPr>
            <a:r>
              <a:rPr lang="en-US" sz="2000" dirty="0">
                <a:solidFill>
                  <a:srgbClr val="93C5FD"/>
                </a:solidFill>
              </a:rPr>
              <a:t>No quantum advantage, and we say so. One command reproduces every number.</a:t>
            </a:r>
            <a:endParaRPr lang="en-US" sz="20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731520" y="822960"/>
            <a:ext cx="10698480" cy="365760"/>
          </a:xfrm>
          <a:prstGeom prst="rect">
            <a:avLst/>
          </a:prstGeom>
          <a:noFill/>
          <a:ln/>
        </p:spPr>
        <p:txBody>
          <a:bodyPr wrap="square" rtlCol="0"/>
          <a:lstStyle/>
          <a:p>
            <a:pPr indent="0" marL="0">
              <a:buNone/>
            </a:pPr>
            <a:r>
              <a:rPr lang="en-US" sz="1400" b="1" spc="200" kern="0" dirty="0">
                <a:solidFill>
                  <a:srgbClr val="93C5FD"/>
                </a:solidFill>
              </a:rPr>
              <a:t>THANK YOU</a:t>
            </a:r>
            <a:endParaRPr lang="en-US" sz="1400" dirty="0"/>
          </a:p>
        </p:txBody>
      </p:sp>
      <p:sp>
        <p:nvSpPr>
          <p:cNvPr id="3" name="Text 0"/>
          <p:cNvSpPr/>
          <p:nvPr>
            <p:ph idx="101" type="title" hasCustomPrompt="1"/>
          </p:nvPr>
        </p:nvSpPr>
        <p:spPr>
          <a:xfrm>
            <a:off x="731520" y="1280160"/>
            <a:ext cx="10698480" cy="1371600"/>
          </a:xfrm>
          <a:prstGeom prst="rect">
            <a:avLst/>
          </a:prstGeom>
          <a:noFill/>
          <a:ln/>
        </p:spPr>
        <p:txBody>
          <a:bodyPr wrap="square" rtlCol="0" anchor="t"/>
          <a:lstStyle/>
          <a:p>
            <a:pPr algn="l" indent="0" marL="0">
              <a:buNone/>
            </a:pPr>
            <a:r>
              <a:rPr lang="en-US" sz="4000" b="1" dirty="0">
                <a:solidFill>
                  <a:srgbClr val="FFFFFF"/>
                </a:solidFill>
              </a:rPr>
              <a:t>Questions?</a:t>
            </a:r>
            <a:endParaRPr lang="en-US" sz="4000" dirty="0"/>
          </a:p>
        </p:txBody>
      </p:sp>
      <p:sp>
        <p:nvSpPr>
          <p:cNvPr id="4" name="Body"/>
          <p:cNvSpPr txBox="1"/>
          <p:nvPr/>
        </p:nvSpPr>
        <p:spPr>
          <a:xfrm>
            <a:off x="731520" y="2926080"/>
            <a:ext cx="10698480" cy="1097280"/>
          </a:xfrm>
          <a:prstGeom prst="rect">
            <a:avLst/>
          </a:prstGeom>
          <a:noFill/>
          <a:ln/>
        </p:spPr>
        <p:txBody>
          <a:bodyPr wrap="square" lIns="0" tIns="0" rIns="0" bIns="0" rtlCol="0" anchor="t"/>
          <a:lstStyle/>
          <a:p>
            <a:pPr algn="l" indent="0" marL="0">
              <a:buNone/>
            </a:pPr>
            <a:r>
              <a:rPr lang="en-US" sz="2000" dirty="0">
                <a:solidFill>
                  <a:srgbClr val="93C5FD"/>
                </a:solidFill>
              </a:rPr>
              <a:t>Code, decision log and every result: github.com/jonas221101/quantum-hackathon-finance</a:t>
            </a:r>
            <a:endParaRPr lang="en-US" sz="2000" dirty="0"/>
          </a:p>
          <a:p>
            <a:pPr algn="l" indent="0" marL="0">
              <a:buNone/>
            </a:pPr>
            <a:r>
              <a:rPr lang="en-US" sz="1600" dirty="0">
                <a:solidFill>
                  <a:srgbClr val="E2E8F0"/>
                </a:solidFill>
              </a:rPr>
              <a:t>Ahmed Mahmoud · Ivan · Jonas Sandelmann · Manyu · Mingzhi · Samarth Seth</a:t>
            </a:r>
            <a:endParaRPr lang="en-US" sz="2000" dirty="0"/>
          </a:p>
        </p:txBody>
      </p:sp>
      <p:sp>
        <p:nvSpPr>
          <p:cNvPr id="25" name="Slide Number Placeholder 0"/>
          <p:cNvSpPr>
            <a:spLocks noGrp="1"/>
          </p:cNvSpPr>
          <p:nvPr>
            <p:ph type="sldNum" sz="quarter" idx="4294967295"/>
          </p:nvPr>
        </p:nvSpPr>
        <p:spPr>
          <a:xfrm>
            <a:off x="1120140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eep Review Switch">
  <a:themeElements>
    <a:clrScheme name="Keep Review Switch">
      <a:dk1>
        <a:srgbClr val="0A192F"/>
      </a:dk1>
      <a:lt1>
        <a:srgbClr val="FFFFFF"/>
      </a:lt1>
      <a:dk2>
        <a:srgbClr val="334155"/>
      </a:dk2>
      <a:lt2>
        <a:srgbClr val="F8FAFC"/>
      </a:lt2>
      <a:accent1>
        <a:srgbClr val="2563EB"/>
      </a:accent1>
      <a:accent2>
        <a:srgbClr val="EA580C"/>
      </a:accent2>
      <a:accent3>
        <a:srgbClr val="059669"/>
      </a:accent3>
      <a:accent4>
        <a:srgbClr val="D97706"/>
      </a:accent4>
      <a:accent5>
        <a:srgbClr val="DC2626"/>
      </a:accent5>
      <a:accent6>
        <a:srgbClr val="64748B"/>
      </a:accent6>
      <a:hlink>
        <a:srgbClr val="2563EB"/>
      </a:hlink>
      <a:folHlink>
        <a:srgbClr val="7C3AED"/>
      </a:folHlink>
    </a:clrScheme>
    <a:fontScheme name="Keep Review Swit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Keep, review, or switch?</dc:title>
  <dc:subject>PptxGenJS Presentation</dc:subject>
  <dc:creator>Team Finance, TUM Quantum Hackathon 2026</dc:creator>
  <cp:lastModifiedBy>Team Finance, TUM Quantum Hackathon 2026</cp:lastModifiedBy>
  <cp:revision>1</cp:revision>
  <dcterms:created xsi:type="dcterms:W3CDTF">2026-10-30T05:48:39Z</dcterms:created>
  <dcterms:modified xsi:type="dcterms:W3CDTF">2026-10-30T05:48:39Z</dcterms:modified>
</cp:coreProperties>
</file>