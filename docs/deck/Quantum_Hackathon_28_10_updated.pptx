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handoutMasterIdLst>
    <p:handoutMasterId r:id="rId19"/>
  </p:handoutMasterIdLst>
  <p:sldIdLst>
    <p:sldId id="256" r:id="rId3"/>
    <p:sldId id="284" r:id="rId5"/>
    <p:sldId id="285" r:id="rId6"/>
    <p:sldId id="286" r:id="rId7"/>
    <p:sldId id="304" r:id="rId8"/>
    <p:sldId id="289" r:id="rId9"/>
    <p:sldId id="305" r:id="rId10"/>
    <p:sldId id="291" r:id="rId11"/>
    <p:sldId id="307" r:id="rId12"/>
    <p:sldId id="308" r:id="rId23"/>
    <p:sldId id="306" r:id="rId13"/>
    <p:sldId id="309" r:id="rId24"/>
    <p:sldId id="295" r:id="rId14"/>
    <p:sldId id="310" r:id="rId25"/>
    <p:sldId id="296" r:id="rId15"/>
    <p:sldId id="302" r:id="rId16"/>
    <p:sldId id="283" r:id="rId17"/>
    <p:sldId id="303"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E7700906-0D37-4730-B782-3F193855E500}">
          <p14:sldIdLst>
            <p14:sldId id="256"/>
            <p14:sldId id="284"/>
            <p14:sldId id="285"/>
            <p14:sldId id="286"/>
            <p14:sldId id="304"/>
            <p14:sldId id="289"/>
            <p14:sldId id="305"/>
            <p14:sldId id="291"/>
            <p14:sldId id="307"/>
            <p14:sldId id="306"/>
            <p14:sldId id="295"/>
            <p14:sldId id="296"/>
            <p14:sldId id="302"/>
            <p14:sldId id="283"/>
            <p14:sldId id="303"/>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EBE8"/>
    <a:srgbClr val="14213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0" d="100"/>
          <a:sy n="90" d="100"/>
        </p:scale>
        <p:origin x="96" y="6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handoutMaster" Target="handoutMasters/handoutMaster1.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  <Relationship Id="rId23" Type="http://schemas.openxmlformats.org/officeDocument/2006/relationships/slide" Target="slides/slide16.xml"/>
  <Relationship Id="rId24" Type="http://schemas.openxmlformats.org/officeDocument/2006/relationships/slide" Target="slides/slide17.xml"/>
  <Relationship Id="rId25" Type="http://schemas.openxmlformats.org/officeDocument/2006/relationships/slide" Target="slides/slide18.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81562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815623"/>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15440379"/>
            <a:ext cx="2971800" cy="815621"/>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15440379"/>
            <a:ext cx="2971800" cy="815621"/>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(about 30 seconds). We did not build a bigger optimiser. We built a small, checkable decision tool, and we show what would change its answer. The question in our title is the whole talk: should a pension fund keep its portfolio, review it, or switch? And we will answer it for three people. All numbers in this deck come from one reproducible run of our code (results/canonical/summary.json).</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Answers Eden’s question 1: a concrete problem and a concrete user. Germany plans a public fund for a new funded pension, the gesetzliche Kapitalrente: an extra 2 percent of gross wage, phased in from 2028, with no guarantees. Its investment committee decides how the money is invested. Every insured person chooses one of three profiles: growth, balanced or risk-sensitive. It is an active choice, not set by age. People who make no choice are placed in balanced; our team marks this as an open assumption. To make this easy to follow, we give the three profiles names: Lena chose growth and accepts big swings; Anna chose risk-sensitive and dislikes swings; Thomas made no choice, so he is in balanced. The core of the fund stays a broad index. We decide only the satellite tilt, 10 percent in our configuration: which three of six US industry sectors to hold. Sources: README.md, docs/decisions.md, docs/client_germany.md, src/qhf/config.py.</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It is 31 December 2019, the decision date. The tilt holds three US industry portfolios in equal thirds: consumer staples, called NoDur in the data (food, tobacco, textiles and apparel), healthcare and utilities. Of all 20 possible baskets, it has the lowest volatility: the green dot in the chart. Someone proposes to sell consumer staples and buy technology, the red dot, because tech had a great five years: about 0.29 points more return per month. But it also swings more, and the risk measures disagree: the worst month was milder, yet months losing more than 3 percent were more frequent. Which measure counts is a mandate choice, not a fact. So: is the higher average worth it for Lena, Thomas and Anna? Numbers: docs/problem.md and results/canonical/exact_rankings.csv.</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Each profile comes with rules, taken from our configuration file. Binding rules cannot be traded for return: exactly three sectors in equal weights, and a loss limit. For Lena, a loss month means losing more than 8 percent; for Thomas 5 percent; for Anna 3 percent. At most 10 percent of the 60 scenario months may be loss months, so at most 6. Preferences are weighed against each other in one score: return, risk with a weight of 1, 5 or 20, a soft tech-share limit and a small switching cost of 0.002 times turnover, which stands for reluctance to trade, not a real fee model. The tech limit was binding at first; the team made it a preference on 16 October, and the verdicts are identical without it. All values are labelled as assumptions from the organiser configuration, not official fund parameters. Sources: src/qhf/config.py, docs/decisions.md.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This is our code, block one, in plain words. Every possible basket gets a score, like a school grade where lower is better. Part one: a higher average return makes the score better. Part two: risk, the swings, makes it worse, and how much depends on the saver: times one for Lena, times twenty for Anna. Then a small cost for every change, and the tech preference. Part three is the important design choice: the loss limit is NOT in the score. It is a separate yes-or-no check that counts the bad months. That way, no amount of return can buy a breach. Our laptop runs these two functions on all 20 baskets: that is the answer key. Full code: src/qhf/portfolio.py and src/qhf/exact.py.</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This is our first real result, straight from the exact answer key. The laptop scores all 20 baskets for each saver, in three test settings: the base case, a stress where sectors move more together, and a stress where tech earns half a point less per month. Lena’s winner is the tech basket every time. Anna’s winner is Current basket every time; only 7 of 20 baskets even pass her loss limit, and under stress only 5. The tech basket sits exactly on her limit: 6 bad months out of 60, with 6 allowed, and it breaks the limit under both stresses. Thomas is the only one whose winner changes: the tech basket in two settings, Current basket when tech earns a bit less. Remember that row; it decides his answer on the next slides.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Block three of our code: how a verdict is reached. This is the burden of proof, written as code. First: is the winner the same in all three test settings? If the current basket wins everywhere and stays within the loss limit in at least 70 percent of replays, we keep: that is Anna. If the winner changes between settings, it is review: that is Thomas. A switch must pass every further check, better in at least 70 percent of replays and within the loss limit in at least 70 percent; only then switch: that is Lena. Because the rule was written before anyone saw the result, nobody can bend it afterwards. Our first version of this rule was tightened after an AI code review; that is logged in docs/decisions.md.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This is the slide to remember: one proposal, three answers, like a traffic light. We replayed history 500 times by reshuffling the 60 past months. For Lena the switch wins in 89 percent of replays and in every test setting: green, switch. For Anna, the tech basket sits exactly on her loss limit and breaks it under both stress tests; her current basket is best in every setting and stays within the limit in 76 percent of replays: red, keep. For Thomas it is amber: the switch wins 74 percent of replays, but when we lower tech’s return by the organisers’ stress value, the answer turns around. So it fails our burden of proof: the committee has to decide, and until then nothing changes. The three test settings are the base case, a covariance stress (sectors move more together) and a return stress (tech 0.5 points a month lower). If asked about Anna: the tech basket breaks her limit in exactly 6 of 60 months, right on the line, and fails under a strict reading. Figures match results/canonical/summary.json (0.886, 0.74, 0.764).</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Thomas sits right on the edge. Our sensitivity code changes one assumption at a time and finds where his best basket flips. One: if tech earns just 0.37 points less per month, today’s basket wins; the organisers’ own stress test is minus 0.50, already beyond that. Two: if switching cost about three times our base value, he should not switch. Three: if risk counted 7.5 instead of 5, staples, tech and utilities would win; at 14.9, today’s basket. On the left map, the colour on his dashed line changes at about minus 0.37. For comparison, Lena flips only at minus 0.60, and Anna never flips with tech. So the data cannot settle Thomas’s answer: review. Source: summary.json, break_even (sensitivity.py).</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Answers Eden’s question 5: the technical part through a concrete example. These eight lines are the heart of our quantum code. Six qubits, one per sector. The organisers’ version, the else-branch, starts with all 64 on-off patterns, including illegal ones with two or five sectors. Ours starts with a cloud that sits only on the 20 legal baskets. Then, in each round, we tilt the cloud towards baskets with a better score from the previous slide, and stir it with a special mixer, the XY mixer, that swaps sectors but always keeps exactly three. A normal computer tunes the two dials, called gamma and beta. At the end we look 4,096 times; the basket that appears most often is the suggestion. Technically: QAOA with a Dicke-state start and an XY mixer, run on a laptop simulator. Circuit diagram: appendix, or ask our technical team member.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Now we watch the replay, but we do not change the referee’s call: 2020 to 2024 is held back and never used for the decision. From 2020 to 2024, one unit invested in Current basket grew to 1.38; in the proposal to 1.86, after the switching cost. So Lena’s switch paid off. But the proposal also fell deeper, minus 21 percent against minus 17. And loss months came more often than our 2015–2019 data said: under Thomas’s rules the proposal broke the 10 percent limit with 13 percent of months; under Anna’s rules Current basket had loss months in one month out of five. In February and March 2020 it lost 17 percent in two months, and in 2022 tech fell 32 percent; we computed these two figures from the organisers’ data. One path cannot prove the 2019 decision right or wrong, but it shows our loss model, built on calm years, was too optimistic. Rebalancing at 2 or 5 percent drift did not beat simply holding the proposal. Source: results/canonical/summary.json and holdout.csv.</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Answers Eden’s questions 4 and 6: what did we show, what is assumed or untested, what limits it, and what comes next. Say this before the jury does. Twenty options are trivial for a laptop, so quantum is not faster here. What we did show is a correct, rule-keeping encoding, graded against the exact answer, a map of what changes the result, and a run anyone can reproduce in about 22 minutes. What we assumed: our own mandate numbers, equal weights, a simple switching cost, 60 months of US data. Next steps: noisy simulation and hardware, comparison with strong classical solvers on larger problems, global data in euros, and testing the profile sheet with real savers. The binding loss rule is applied to the satellite tilt; the code also reports a whole-portfolio view (tilt at 10 percent, core approximated by equal weights on all sectors), but only as a side view. Results come from ideal simulation; a shot-noise check exists in the results folder. Some points come from the literature and we do not claim them as our findings.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This slide mirrors the printed A5 Decision Card the brief asks for. Recommendation in one sentence: use the optimiser as advice, switch the growth profile, send balanced to committee review and hold, keep risk-sensitive. Could the committee act tomorrow? Only on growth and risk-sensitive, and only as advice to a human decision. The strongest argument against us: 60 calm months cannot settle the balanced case, and our loss model proved too optimistic in 2020–2024, so a committee may simply prefer to hold everywhere. Do not follow the switch if tech’s 2015–2019 edge came from a rally you do not expect to continue; and do not rely on the model’s loss estimate alone, because 2020–2024 broke it more often than estimated. Risk-sensitive is only moderately certain: it passes its loss rule in 76 percent of replays, and in 12.6 percent no portfolio passes at all. Two more AI points from the decision log: the organisers’ notebook, which looks AI-written, missed the risk-sensitive optimum in all three seeds; and our first verdict rule was tightened after an AI code review, because “best of all 20” almost never passes with near-ties, so we ask the pairwise question instead. This slide follows the team’s docs/decision_card.md; all AI deviations are logged in docs/decisions.md.</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[Presented by the policy team. These are recommendations from the team’s policy brief; the code shows the problem, it did not test these remedies.] Our code showed one thing we did not expect: people who never choose are placed in balanced, the only profile that ends in review. Thomas never chose and got the shakiest answer. That leads to three rules. One: codify model governance in the fund’s guidelines. Optimiser output is only a proposal for the committee to approve; binding limits are verified outside the model; results within estimation uncertainty are referred for review. Who: the investment committee, before investment begins in 2028. Two: define the default profile in law. The implementing law should specify and justify the profile for savers who make no active choice, with a standard disclosure of each profile’s loss limit and record. Who: BMAS and the fund, early 2027. Three: require a supervised pilot. Any optimiser runs twelve months in shadow mode under independent validation, and external quantum providers must first pass a classical benchmark. Who: the committee, with BMAS for the statute, in the first year of operation.</a:t>
            </a: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Leave this slide up during questions. Every claim we did not prove ourselves is backed here: data, finance theory, the QUBO and mixer methods, and the policy sources. The full legal references are in the policy brief; code, the decision log and the canonical results are in our GitHub repository.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In plain words: the tech basket looks 12 basis points a month better for Thomas. But that rests on one number, tech’s average return of 1.51 percent a month, and 60 months cannot pin it down: it could easily be 0.58 points higher or lower. That is one standard error, the dark grey band. Thomas’s answer flips if tech earns just 0.37 points less, well inside the dark band; the organisers’ stress of minus 0.5 is already beyond it. Right side: we replayed the 60 months 500 times, drawing months at random with repeats. The switch was better in 74 percent of replays (orange) and worse in 26 percent (blue). So the data cannot tell the two baskets apart for Thomas, and our rule says review. For comparison, Lena’s flip point is minus 0.60, about a full standard error away; Anna would need tech to do better, not worse. Source: results/canonical/estimation_error.csv and bootstrap_advantage.csv, made by src/qhf/sensitivity.py.</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Does the circuit from the last slide work? Top row: what share of the 4,096 looks are legal baskets, with exactly three sectors. Ours: all of them, every time, because the rule is built into the circuit. The organisers’ circuit instead adds a penalty for illegal baskets. With their large penalty, 97 to 98 percent of looks are legal, but then, bottom row, it finds Anna’s best basket only 5 percent of the time, which is what a blind guess among 20 baskets gives. With a smaller, tuned penalty it finds better baskets but wastes half or more of its looks on illegal ones. Ours finds Anna’s best basket 78 percent of the time and Lena’s 23 percent. For Thomas, the near-tie, ours is no better than a guess; a variant with a different objective (CVaR) reaches 25 percent. Numbers are medians over 10 random starts; the whiskers show the lowest and highest run. This is an ideal simulation; with simulated measurement noise during tuning, ours drops to 0.36 for Anna. A re-run on a second laptop gave the same verdicts, with quantum numbers within 0.01. No quantum advantage: a laptop checks all 20 baskets in milliseconds. Source: results/canonical/quantum_summary.csv, src/qhf/qaoa.py.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a:prstGeom prst="rect">
            <a:avLst/>
          </a:prstGeom>
        </p:spPr>
        <p:txBody>
          <a:bodyPr/>
          <a:lstStyle/>
          <a:p>
            <a:r>
              <a:t>Here we check the binding rule itself. Each bar counts loss months out of 60; the dashed line is the limit, at most 6 months. The first three pairs of bars are what our 2015–2019 data and the two stress tests said; the shaded pair is what really happened in 2020–2024. Lena, left: 2 of 60 for both baskets, so the limit held. Thomas, middle: his current basket stayed within the limit with 5, the tech basket would have broken it with 8; holding, our review verdict, was the safer call. Anna, right: every 2015–2019 test said her current basket was fine with 5 bad months; in reality it had 12, twice the limit, and so did the tech basket. Our loss model, built on 60 calm months, was too optimistic. That is why the decision card says: do not rely on the model’s loss estimate alone. Source: results/canonical/loss_limits.csv, src/qhf/evaluation.py.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body">
    <p:bg>
      <p:bgPr>
        <a:solidFill>
          <a:srgbClr val="F7F5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26120"/>
            <a:ext cx="10566400" cy="502890"/>
          </a:xfrm>
          <a:prstGeom prst="rect">
            <a:avLst/>
          </a:prstGeom>
          <a:noFill/>
        </p:spPr>
        <p:txBody>
          <a:bodyPr wrap="square" lIns="0" tIns="0" rIns="0" bIns="0" rtlCol="0" anchor="t"/>
          <a:lstStyle>
            <a:lvl1pPr marL="0" indent="0" algn="l">
              <a:lnSpc>
                <a:spcPct val="115000"/>
              </a:lnSpc>
              <a:buNone/>
              <a:defRPr lang="en-US" sz="3600" dirty="0">
                <a:solidFill>
                  <a:srgbClr val="14213D"/>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833811"/>
            <a:ext cx="10566400" cy="4211389"/>
          </a:xfrm>
          <a:prstGeom prst="rect">
            <a:avLst/>
          </a:prstGeom>
          <a:noFill/>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5" Type="http://schemas.openxmlformats.org/officeDocument/2006/relationships/notesSlide" Target="../notesSlides/notesSlide5.xml"/><Relationship Id="rId14" Type="http://schemas.openxmlformats.org/officeDocument/2006/relationships/slideLayout" Target="../slideLayouts/slideLayout1.xml"/><Relationship Id="rId13" Type="http://schemas.openxmlformats.org/officeDocument/2006/relationships/image" Target="../media/image3.png"/><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9" Type="http://schemas.openxmlformats.org/officeDocument/2006/relationships/notesSlide" Target="../notesSlides/notesSlide6.xml"/><Relationship Id="rId8" Type="http://schemas.openxmlformats.org/officeDocument/2006/relationships/slideLayout" Target="../slideLayouts/slideLayout1.xml"/><Relationship Id="rId7" Type="http://schemas.openxmlformats.org/officeDocument/2006/relationships/tags" Target="../tags/tag18.xml"/><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tags" Target="../tags/tag25.xml"/><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image" Target="../media/image1.jpeg"/><Relationship Id="rId16" Type="http://schemas.openxmlformats.org/officeDocument/2006/relationships/notesSlide" Target="../notesSlides/notesSlide8.xml"/><Relationship Id="rId15" Type="http://schemas.openxmlformats.org/officeDocument/2006/relationships/slideLayout" Target="../slideLayouts/slideLayout1.xml"/><Relationship Id="rId14" Type="http://schemas.openxmlformats.org/officeDocument/2006/relationships/tags" Target="../tags/tag31.xml"/><Relationship Id="rId13" Type="http://schemas.openxmlformats.org/officeDocument/2006/relationships/tags" Target="../tags/tag30.xml"/><Relationship Id="rId12" Type="http://schemas.openxmlformats.org/officeDocument/2006/relationships/tags" Target="../tags/tag29.xml"/><Relationship Id="rId11" Type="http://schemas.openxmlformats.org/officeDocument/2006/relationships/tags" Target="../tags/tag28.xml"/><Relationship Id="rId10" Type="http://schemas.openxmlformats.org/officeDocument/2006/relationships/tags" Target="../tags/tag27.xml"/><Relationship Id="rId1" Type="http://schemas.openxmlformats.org/officeDocument/2006/relationships/tags" Target="../tags/tag19.xml"/></Relationships>
</file>

<file path=ppt/slides/_rels/slide9.xml.rels><?xml version="1.0" encoding="UTF-8" standalone="yes"?>
<Relationships xmlns="http://schemas.openxmlformats.org/package/2006/relationships"><Relationship Id="rId9" Type="http://schemas.openxmlformats.org/officeDocument/2006/relationships/tags" Target="../tags/tag39.xml"/><Relationship Id="rId8" Type="http://schemas.openxmlformats.org/officeDocument/2006/relationships/tags" Target="../tags/tag38.xml"/><Relationship Id="rId7" Type="http://schemas.openxmlformats.org/officeDocument/2006/relationships/tags" Target="../tags/tag37.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4" Type="http://schemas.openxmlformats.org/officeDocument/2006/relationships/notesSlide" Target="../notesSlides/notesSlide9.xml"/><Relationship Id="rId13" Type="http://schemas.openxmlformats.org/officeDocument/2006/relationships/slideLayout" Target="../slideLayouts/slideLayout1.xml"/><Relationship Id="rId12" Type="http://schemas.openxmlformats.org/officeDocument/2006/relationships/image" Target="../media/image6.png"/><Relationship Id="rId11" Type="http://schemas.openxmlformats.org/officeDocument/2006/relationships/image" Target="../media/image5.png"/><Relationship Id="rId10" Type="http://schemas.openxmlformats.org/officeDocument/2006/relationships/tags" Target="../tags/tag40.xml"/><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9" Type="http://schemas.openxmlformats.org/officeDocument/2006/relationships/tags" Target="../tags/tag49.xml"/><Relationship Id="rId8" Type="http://schemas.openxmlformats.org/officeDocument/2006/relationships/tags" Target="../tags/tag48.xml"/><Relationship Id="rId7" Type="http://schemas.openxmlformats.org/officeDocument/2006/relationships/tags" Target="../tags/tag47.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 Id="rId3" Type="http://schemas.openxmlformats.org/officeDocument/2006/relationships/tags" Target="../tags/tag43.xml"/><Relationship Id="rId2" Type="http://schemas.openxmlformats.org/officeDocument/2006/relationships/tags" Target="../tags/tag42.xml"/><Relationship Id="rId15" Type="http://schemas.openxmlformats.org/officeDocument/2006/relationships/notesSlide" Target="../notesSlides/notesSlide10.xml"/><Relationship Id="rId14" Type="http://schemas.openxmlformats.org/officeDocument/2006/relationships/slideLayout" Target="../slideLayouts/slideLayout1.xml"/><Relationship Id="rId13" Type="http://schemas.openxmlformats.org/officeDocument/2006/relationships/image" Target="../media/image7.png"/><Relationship Id="rId12" Type="http://schemas.openxmlformats.org/officeDocument/2006/relationships/tags" Target="../tags/tag52.xml"/><Relationship Id="rId11" Type="http://schemas.openxmlformats.org/officeDocument/2006/relationships/tags" Target="../tags/tag51.xml"/><Relationship Id="rId10" Type="http://schemas.openxmlformats.org/officeDocument/2006/relationships/tags" Target="../tags/tag50.xml"/><Relationship Id="rId1" Type="http://schemas.openxmlformats.org/officeDocument/2006/relationships/tags" Target="../tags/tag4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9" Type="http://schemas.openxmlformats.org/officeDocument/2006/relationships/tags" Target="../tags/tag60.xml"/><Relationship Id="rId8" Type="http://schemas.openxmlformats.org/officeDocument/2006/relationships/tags" Target="../tags/tag59.xml"/><Relationship Id="rId7" Type="http://schemas.openxmlformats.org/officeDocument/2006/relationships/tags" Target="../tags/tag58.xml"/><Relationship Id="rId6" Type="http://schemas.openxmlformats.org/officeDocument/2006/relationships/tags" Target="../tags/tag57.xml"/><Relationship Id="rId5" Type="http://schemas.openxmlformats.org/officeDocument/2006/relationships/tags" Target="../tags/tag56.xml"/><Relationship Id="rId4" Type="http://schemas.openxmlformats.org/officeDocument/2006/relationships/tags" Target="../tags/tag55.xml"/><Relationship Id="rId3" Type="http://schemas.openxmlformats.org/officeDocument/2006/relationships/tags" Target="../tags/tag54.xml"/><Relationship Id="rId2" Type="http://schemas.openxmlformats.org/officeDocument/2006/relationships/image" Target="../media/image1.jpeg"/><Relationship Id="rId12" Type="http://schemas.openxmlformats.org/officeDocument/2006/relationships/notesSlide" Target="../notesSlides/notesSlide12.xml"/><Relationship Id="rId11" Type="http://schemas.openxmlformats.org/officeDocument/2006/relationships/slideLayout" Target="../slideLayouts/slideLayout1.xml"/><Relationship Id="rId10" Type="http://schemas.openxmlformats.org/officeDocument/2006/relationships/tags" Target="../tags/tag61.xml"/><Relationship Id="rId1" Type="http://schemas.openxmlformats.org/officeDocument/2006/relationships/tags" Target="../tags/tag5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9" Type="http://schemas.openxmlformats.org/officeDocument/2006/relationships/tags" Target="../tags/tag69.xml"/><Relationship Id="rId8" Type="http://schemas.openxmlformats.org/officeDocument/2006/relationships/tags" Target="../tags/tag68.xml"/><Relationship Id="rId7" Type="http://schemas.openxmlformats.org/officeDocument/2006/relationships/tags" Target="../tags/tag67.xml"/><Relationship Id="rId6" Type="http://schemas.openxmlformats.org/officeDocument/2006/relationships/tags" Target="../tags/tag66.xml"/><Relationship Id="rId5" Type="http://schemas.openxmlformats.org/officeDocument/2006/relationships/tags" Target="../tags/tag65.xml"/><Relationship Id="rId4" Type="http://schemas.openxmlformats.org/officeDocument/2006/relationships/tags" Target="../tags/tag64.xml"/><Relationship Id="rId3" Type="http://schemas.openxmlformats.org/officeDocument/2006/relationships/tags" Target="../tags/tag63.xml"/><Relationship Id="rId22" Type="http://schemas.openxmlformats.org/officeDocument/2006/relationships/notesSlide" Target="../notesSlides/notesSlide14.xml"/><Relationship Id="rId21" Type="http://schemas.openxmlformats.org/officeDocument/2006/relationships/slideLayout" Target="../slideLayouts/slideLayout2.xml"/><Relationship Id="rId20" Type="http://schemas.openxmlformats.org/officeDocument/2006/relationships/tags" Target="../tags/tag80.xml"/><Relationship Id="rId2" Type="http://schemas.openxmlformats.org/officeDocument/2006/relationships/image" Target="../media/image1.jpeg"/><Relationship Id="rId19" Type="http://schemas.openxmlformats.org/officeDocument/2006/relationships/tags" Target="../tags/tag79.xml"/><Relationship Id="rId18" Type="http://schemas.openxmlformats.org/officeDocument/2006/relationships/tags" Target="../tags/tag78.xml"/><Relationship Id="rId17" Type="http://schemas.openxmlformats.org/officeDocument/2006/relationships/tags" Target="../tags/tag77.xml"/><Relationship Id="rId16" Type="http://schemas.openxmlformats.org/officeDocument/2006/relationships/tags" Target="../tags/tag76.xml"/><Relationship Id="rId15" Type="http://schemas.openxmlformats.org/officeDocument/2006/relationships/tags" Target="../tags/tag75.xml"/><Relationship Id="rId14" Type="http://schemas.openxmlformats.org/officeDocument/2006/relationships/tags" Target="../tags/tag74.xml"/><Relationship Id="rId13" Type="http://schemas.openxmlformats.org/officeDocument/2006/relationships/tags" Target="../tags/tag73.xml"/><Relationship Id="rId12" Type="http://schemas.openxmlformats.org/officeDocument/2006/relationships/tags" Target="../tags/tag72.xml"/><Relationship Id="rId11" Type="http://schemas.openxmlformats.org/officeDocument/2006/relationships/tags" Target="../tags/tag71.xml"/><Relationship Id="rId10" Type="http://schemas.openxmlformats.org/officeDocument/2006/relationships/tags" Target="../tags/tag70.xml"/><Relationship Id="rId1" Type="http://schemas.openxmlformats.org/officeDocument/2006/relationships/tags" Target="../tags/tag6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Grafik 11"/>
          <p:cNvPicPr>
            <a:picLocks noChangeAspect="1"/>
          </p:cNvPicPr>
          <p:nvPr/>
        </p:nvPicPr>
        <p:blipFill>
          <a:blip r:embed="rId1"/>
          <a:stretch>
            <a:fillRect/>
          </a:stretch>
        </p:blipFill>
        <p:spPr>
          <a:xfrm>
            <a:off x="49619" y="1492250"/>
            <a:ext cx="12142381" cy="3873500"/>
          </a:xfrm>
          <a:prstGeom prst="rect">
            <a:avLst/>
          </a:prstGeom>
        </p:spPr>
      </p:pic>
      <p:sp>
        <p:nvSpPr>
          <p:cNvPr id="3" name="Text 1"/>
          <p:cNvSpPr txBox="1"/>
          <p:nvPr/>
        </p:nvSpPr>
        <p:spPr>
          <a:xfrm>
            <a:off x="731520" y="2059744"/>
            <a:ext cx="10515600" cy="892126"/>
          </a:xfrm>
          <a:prstGeom prst="rect">
            <a:avLst/>
          </a:prstGeom>
          <a:noFill/>
        </p:spPr>
        <p:txBody>
          <a:bodyPr wrap="square" lIns="0" tIns="0" rIns="0" bIns="0" rtlCol="0" anchor="t"/>
          <a:lstStyle/>
          <a:p>
            <a:pPr marL="0" indent="0">
              <a:buNone/>
            </a:pPr>
            <a:r>
              <a:rPr lang="en-US" sz="5400" b="1" dirty="0">
                <a:solidFill>
                  <a:srgbClr val="F6F3EC"/>
                </a:solidFill>
                <a:latin typeface="Palatino Linotype" panose="02040502050505030304" charset="0"/>
                <a:ea typeface="Cambria" panose="02040503050406030204" pitchFamily="34" charset="-122"/>
                <a:cs typeface="Palatino Linotype" panose="02040502050505030304" charset="0"/>
              </a:rPr>
              <a:t>Keep, review, or switch?</a:t>
            </a:r>
            <a:endParaRPr lang="en-US" sz="5400" b="1" dirty="0">
              <a:solidFill>
                <a:srgbClr val="F6F3EC"/>
              </a:solidFill>
              <a:latin typeface="Palatino Linotype" panose="02040502050505030304" charset="0"/>
              <a:ea typeface="Cambria" panose="02040503050406030204" pitchFamily="34" charset="-122"/>
              <a:cs typeface="Palatino Linotype" panose="02040502050505030304" charset="0"/>
            </a:endParaRPr>
          </a:p>
        </p:txBody>
      </p:sp>
      <p:sp>
        <p:nvSpPr>
          <p:cNvPr id="4" name="Text 2"/>
          <p:cNvSpPr txBox="1"/>
          <p:nvPr/>
        </p:nvSpPr>
        <p:spPr>
          <a:xfrm>
            <a:off x="731520" y="3643532"/>
            <a:ext cx="6202680" cy="1188720"/>
          </a:xfrm>
          <a:prstGeom prst="rect">
            <a:avLst/>
          </a:prstGeom>
          <a:noFill/>
        </p:spPr>
        <p:txBody>
          <a:bodyPr wrap="square" lIns="0" tIns="0" rIns="0" bIns="0" rtlCol="0" anchor="t"/>
          <a:lstStyle/>
          <a:p>
            <a:pPr marL="0" indent="0">
              <a:buNone/>
            </a:pPr>
            <a:r>
              <a:rPr lang="en-US" sz="2400" dirty="0">
                <a:solidFill>
                  <a:srgbClr val="D9DEE8"/>
                </a:solidFill>
                <a:latin typeface="Palatino Linotype" panose="02040502050505030304" charset="0"/>
                <a:ea typeface="Calibri" panose="020F0502020204030204" pitchFamily="34" charset="-122"/>
                <a:cs typeface="Palatino Linotype" panose="02040502050505030304" charset="0"/>
              </a:rPr>
              <a:t>One proposal for Germany’s planned public pension fund, and what it means for Lena, Thomas and Anna</a:t>
            </a:r>
            <a:endParaRPr lang="en-US" sz="2400" dirty="0">
              <a:solidFill>
                <a:srgbClr val="D9DEE8"/>
              </a:solidFill>
              <a:latin typeface="Palatino Linotype" panose="02040502050505030304" charset="0"/>
              <a:ea typeface="Calibri" panose="020F0502020204030204" pitchFamily="34" charset="-122"/>
              <a:cs typeface="Palatino Linotype" panose="02040502050505030304" charset="0"/>
            </a:endParaRPr>
          </a:p>
        </p:txBody>
      </p:sp>
      <p:sp>
        <p:nvSpPr>
          <p:cNvPr id="7" name="Text 1"/>
          <p:cNvSpPr txBox="1"/>
          <p:nvPr/>
        </p:nvSpPr>
        <p:spPr>
          <a:xfrm>
            <a:off x="731520" y="1417320"/>
            <a:ext cx="10515600" cy="873368"/>
          </a:xfrm>
          <a:prstGeom prst="rect">
            <a:avLst/>
          </a:prstGeom>
          <a:noFill/>
        </p:spPr>
        <p:txBody>
          <a:bodyPr wrap="square" lIns="0" tIns="0" rIns="0" bIns="0" rtlCol="0" anchor="t"/>
          <a:lstStyle/>
          <a:p>
            <a:pPr marL="0" indent="0">
              <a:buNone/>
            </a:pPr>
            <a:r>
              <a:rPr lang="en-US" sz="2000" b="1" i="0" dirty="0">
                <a:solidFill>
                  <a:srgbClr val="7FD1C7"/>
                </a:solidFill>
                <a:latin typeface="微软雅黑" panose="020B0503020204020204" charset="-122"/>
                <a:ea typeface="微软雅黑" panose="020B0503020204020204" charset="-122"/>
                <a:cs typeface="Palatino Linotype" panose="02040502050505030304" charset="0"/>
              </a:rPr>
              <a:t>TUM Quantum Hackathon · Finance track</a:t>
            </a:r>
            <a:endParaRPr lang="en-US" sz="2000" b="1" i="0" strike="sngStrike" dirty="0">
              <a:solidFill>
                <a:srgbClr val="7FD1C7"/>
              </a:solidFill>
              <a:latin typeface="微软雅黑" panose="020B0503020204020204" charset="-122"/>
              <a:ea typeface="微软雅黑" panose="020B0503020204020204" charset="-122"/>
              <a:cs typeface="Palatino Linotype" panose="02040502050505030304" charset="0"/>
            </a:endParaRPr>
          </a:p>
        </p:txBody>
      </p:sp>
      <p:sp>
        <p:nvSpPr>
          <p:cNvPr id="13" name="Team line"/>
          <p:cNvSpPr txBox="1"/>
          <p:nvPr/>
        </p:nvSpPr>
        <p:spPr>
          <a:xfrm>
            <a:off x="731520" y="5852160"/>
            <a:ext cx="7315200" cy="281305"/>
          </a:xfrm>
          <a:prstGeom prst="rect">
            <a:avLst/>
          </a:prstGeom>
          <a:noFill/>
        </p:spPr>
        <p:txBody>
          <a:bodyPr wrap="square" lIns="18288" tIns="18288" rIns="18288" bIns="18288" anchor="t">
            <a:spAutoFit/>
          </a:bodyPr>
          <a:lstStyle/>
          <a:p>
            <a:pPr>
              <a:spcAft>
                <a:spcPts val="400"/>
              </a:spcAft>
            </a:pPr>
            <a:r>
              <a:rPr sz="1600" b="0" i="0">
                <a:solidFill>
                  <a:srgbClr val="D9DEE8"/>
                </a:solidFill>
                <a:latin typeface="微软雅黑" panose="020B0503020204020204" charset="-122"/>
                <a:ea typeface="微软雅黑" panose="020B0503020204020204" charset="-122"/>
                <a:cs typeface="Palatino Linotype" panose="02040502050505030304" charset="0"/>
              </a:rPr>
              <a:t>Team Finance · 30 October 2026</a:t>
            </a:r>
            <a:endParaRPr sz="1600" b="0" i="0">
              <a:solidFill>
                <a:srgbClr val="D9DEE8"/>
              </a:solidFill>
              <a:latin typeface="微软雅黑" panose="020B0503020204020204" charset="-122"/>
              <a:ea typeface="微软雅黑" panose="020B0503020204020204" charset="-122"/>
              <a:cs typeface="Palatino Linotype" panose="0204050205050503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Orb" descr="image.jpg"/>
          <p:cNvPicPr>
            <a:picLocks noChangeAspect="1"/>
          </p:cNvPicPr>
          <p:nvPr/>
        </p:nvPicPr>
        <p:blipFill>
          <a:blip r:embed="rId1"/>
          <a:stretch>
            <a:fillRect/>
          </a:stretch>
        </p:blipFill>
        <p:spPr>
          <a:xfrm>
            <a:off x="45720" y="1490472"/>
            <a:ext cx="12143232" cy="3877056"/>
          </a:xfrm>
          <a:prstGeom prst="rect">
            <a:avLst/>
          </a:prstGeom>
        </p:spPr>
      </p:pic>
      <p:sp>
        <p:nvSpPr>
          <p:cNvPr id="3" name="Title"/>
          <p:cNvSpPr txBox="1"/>
          <p:nvPr/>
        </p:nvSpPr>
        <p:spPr>
          <a:xfrm>
            <a:off x="548640" y="502920"/>
            <a:ext cx="11064240" cy="527685"/>
          </a:xfrm>
          <a:prstGeom prst="rect">
            <a:avLst/>
          </a:prstGeom>
          <a:noFill/>
        </p:spPr>
        <p:txBody>
          <a:bodyPr wrap="square" lIns="18288" tIns="18288" rIns="18288" bIns="18288" anchor="t">
            <a:spAutoFit/>
          </a:bodyPr>
          <a:lstStyle/>
          <a:p>
            <a:pPr>
              <a:spcAft>
                <a:spcPts val="400"/>
              </a:spcAft>
            </a:pPr>
            <a:r>
              <a:rPr lang="en-US" sz="3200" b="1" i="0">
                <a:solidFill>
                  <a:srgbClr val="F6F3EC"/>
                </a:solidFill>
                <a:latin typeface="Palatino Linotype" panose="02040502050505030304" charset="0"/>
                <a:cs typeface="Palatino Linotype" panose="02040502050505030304" charset="0"/>
              </a:rPr>
              <a:t>Our savers:</a:t>
            </a:r>
            <a:r>
              <a:rPr sz="3200" b="1" i="0">
                <a:solidFill>
                  <a:srgbClr val="F6F3EC"/>
                </a:solidFill>
                <a:latin typeface="Palatino Linotype" panose="02040502050505030304" charset="0"/>
                <a:cs typeface="Palatino Linotype" panose="02040502050505030304" charset="0"/>
              </a:rPr>
              <a:t> Lena, Thomas and Anna</a:t>
            </a:r>
            <a:endParaRPr sz="3200" b="1" i="0">
              <a:solidFill>
                <a:srgbClr val="F6F3EC"/>
              </a:solidFill>
              <a:latin typeface="Palatino Linotype" panose="02040502050505030304" charset="0"/>
              <a:cs typeface="Palatino Linotype" panose="02040502050505030304" charset="0"/>
            </a:endParaRPr>
          </a:p>
        </p:txBody>
      </p:sp>
      <p:sp>
        <p:nvSpPr>
          <p:cNvPr id="4" name="Subtitle"/>
          <p:cNvSpPr txBox="1"/>
          <p:nvPr/>
        </p:nvSpPr>
        <p:spPr>
          <a:xfrm>
            <a:off x="548640" y="1143000"/>
            <a:ext cx="11064240" cy="411480"/>
          </a:xfrm>
          <a:prstGeom prst="rect">
            <a:avLst/>
          </a:prstGeom>
          <a:noFill/>
        </p:spPr>
        <p:txBody>
          <a:bodyPr wrap="square" lIns="18288" tIns="18288" rIns="18288" bIns="18288" anchor="t">
            <a:spAutoFit/>
          </a:bodyPr>
          <a:lstStyle/>
          <a:p>
            <a:pPr>
              <a:spcAft>
                <a:spcPts val="400"/>
              </a:spcAft>
            </a:pPr>
            <a:r>
              <a:rPr sz="1600" b="0" i="0">
                <a:solidFill>
                  <a:srgbClr val="D9DEE8"/>
                </a:solidFill>
                <a:latin typeface="Palatino Linotype" panose="02040502050505030304" charset="0"/>
                <a:cs typeface="Palatino Linotype" panose="02040502050505030304" charset="0"/>
              </a:rPr>
              <a:t>Three savers in Germany’s planned public pension fund. The names are labels for the three profiles, not real people.</a:t>
            </a:r>
            <a:endParaRPr sz="1600" b="0" i="0">
              <a:solidFill>
                <a:srgbClr val="D9DEE8"/>
              </a:solidFill>
              <a:latin typeface="Palatino Linotype" panose="02040502050505030304" charset="0"/>
              <a:cs typeface="Palatino Linotype" panose="02040502050505030304" charset="0"/>
            </a:endParaRPr>
          </a:p>
        </p:txBody>
      </p:sp>
      <p:sp>
        <p:nvSpPr>
          <p:cNvPr id="5" name="Lena card"/>
          <p:cNvSpPr/>
          <p:nvPr/>
        </p:nvSpPr>
        <p:spPr>
          <a:xfrm>
            <a:off x="548640" y="1828800"/>
            <a:ext cx="3566160" cy="237744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alatino Linotype" panose="02040502050505030304" charset="0"/>
              <a:cs typeface="Palatino Linotype" panose="02040502050505030304" charset="0"/>
            </a:endParaRPr>
          </a:p>
        </p:txBody>
      </p:sp>
      <p:sp>
        <p:nvSpPr>
          <p:cNvPr id="6" name="Oval 5"/>
          <p:cNvSpPr/>
          <p:nvPr/>
        </p:nvSpPr>
        <p:spPr>
          <a:xfrm>
            <a:off x="777240" y="2075688"/>
            <a:ext cx="320040" cy="320040"/>
          </a:xfrm>
          <a:prstGeom prst="ellipse">
            <a:avLst/>
          </a:prstGeom>
          <a:solidFill>
            <a:srgbClr val="1775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alatino Linotype" panose="02040502050505030304" charset="0"/>
              <a:cs typeface="Palatino Linotype" panose="02040502050505030304" charset="0"/>
            </a:endParaRPr>
          </a:p>
        </p:txBody>
      </p:sp>
      <p:sp>
        <p:nvSpPr>
          <p:cNvPr id="7" name="Text"/>
          <p:cNvSpPr txBox="1"/>
          <p:nvPr/>
        </p:nvSpPr>
        <p:spPr>
          <a:xfrm>
            <a:off x="1234440" y="2011680"/>
            <a:ext cx="2743200" cy="457200"/>
          </a:xfrm>
          <a:prstGeom prst="rect">
            <a:avLst/>
          </a:prstGeom>
          <a:noFill/>
        </p:spPr>
        <p:txBody>
          <a:bodyPr wrap="square" lIns="18288" tIns="18288" rIns="18288" bIns="18288" anchor="t">
            <a:spAutoFit/>
          </a:bodyPr>
          <a:lstStyle/>
          <a:p>
            <a:pPr>
              <a:spcAft>
                <a:spcPts val="400"/>
              </a:spcAft>
            </a:pPr>
            <a:r>
              <a:rPr sz="2400" b="1" i="0">
                <a:solidFill>
                  <a:srgbClr val="14213D"/>
                </a:solidFill>
                <a:latin typeface="Palatino Linotype" panose="02040502050505030304" charset="0"/>
                <a:cs typeface="Palatino Linotype" panose="02040502050505030304" charset="0"/>
              </a:rPr>
              <a:t>Lena</a:t>
            </a:r>
            <a:endParaRPr sz="2400" b="1" i="0">
              <a:solidFill>
                <a:srgbClr val="14213D"/>
              </a:solidFill>
              <a:latin typeface="Palatino Linotype" panose="02040502050505030304" charset="0"/>
              <a:cs typeface="Palatino Linotype" panose="02040502050505030304" charset="0"/>
            </a:endParaRPr>
          </a:p>
        </p:txBody>
      </p:sp>
      <p:sp>
        <p:nvSpPr>
          <p:cNvPr id="8" name="Text"/>
          <p:cNvSpPr txBox="1"/>
          <p:nvPr/>
        </p:nvSpPr>
        <p:spPr>
          <a:xfrm>
            <a:off x="777240" y="2606040"/>
            <a:ext cx="3154680" cy="640080"/>
          </a:xfrm>
          <a:prstGeom prst="rect">
            <a:avLst/>
          </a:prstGeom>
          <a:noFill/>
        </p:spPr>
        <p:txBody>
          <a:bodyPr wrap="square" lIns="18288" tIns="18288" rIns="18288" bIns="18288" anchor="t">
            <a:spAutoFit/>
          </a:bodyPr>
          <a:lstStyle/>
          <a:p>
            <a:pPr>
              <a:spcAft>
                <a:spcPts val="400"/>
              </a:spcAft>
            </a:pPr>
            <a:r>
              <a:rPr sz="1700" b="1" i="0">
                <a:solidFill>
                  <a:srgbClr val="17756F"/>
                </a:solidFill>
                <a:latin typeface="Palatino Linotype" panose="02040502050505030304" charset="0"/>
                <a:cs typeface="Palatino Linotype" panose="02040502050505030304" charset="0"/>
              </a:rPr>
              <a:t>Chose: growth</a:t>
            </a:r>
            <a:endParaRPr sz="1700" b="1" i="0">
              <a:solidFill>
                <a:srgbClr val="17756F"/>
              </a:solidFill>
              <a:latin typeface="Palatino Linotype" panose="02040502050505030304" charset="0"/>
              <a:cs typeface="Palatino Linotype" panose="02040502050505030304" charset="0"/>
            </a:endParaRPr>
          </a:p>
        </p:txBody>
      </p:sp>
      <p:sp>
        <p:nvSpPr>
          <p:cNvPr id="9" name="Text"/>
          <p:cNvSpPr txBox="1"/>
          <p:nvPr/>
        </p:nvSpPr>
        <p:spPr>
          <a:xfrm>
            <a:off x="777240" y="3291840"/>
            <a:ext cx="3154680" cy="822960"/>
          </a:xfrm>
          <a:prstGeom prst="rect">
            <a:avLst/>
          </a:prstGeom>
          <a:noFill/>
        </p:spPr>
        <p:txBody>
          <a:bodyPr wrap="square" lIns="18288" tIns="18288" rIns="18288" bIns="18288" anchor="t">
            <a:spAutoFit/>
          </a:bodyPr>
          <a:lstStyle/>
          <a:p>
            <a:pPr>
              <a:spcAft>
                <a:spcPts val="400"/>
              </a:spcAft>
            </a:pPr>
            <a:r>
              <a:rPr sz="1500" b="0" i="0">
                <a:solidFill>
                  <a:srgbClr val="4A5568"/>
                </a:solidFill>
                <a:latin typeface="Palatino Linotype" panose="02040502050505030304" charset="0"/>
                <a:cs typeface="Palatino Linotype" panose="02040502050505030304" charset="0"/>
              </a:rPr>
              <a:t>Accepts big swings.</a:t>
            </a:r>
            <a:endParaRPr sz="1500" b="0" i="0">
              <a:solidFill>
                <a:srgbClr val="4A5568"/>
              </a:solidFill>
              <a:latin typeface="Palatino Linotype" panose="02040502050505030304" charset="0"/>
              <a:cs typeface="Palatino Linotype" panose="02040502050505030304" charset="0"/>
            </a:endParaRPr>
          </a:p>
        </p:txBody>
      </p:sp>
      <p:sp>
        <p:nvSpPr>
          <p:cNvPr id="10" name="Thomas card"/>
          <p:cNvSpPr/>
          <p:nvPr/>
        </p:nvSpPr>
        <p:spPr>
          <a:xfrm>
            <a:off x="4297679" y="1828800"/>
            <a:ext cx="3566160" cy="237744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alatino Linotype" panose="02040502050505030304" charset="0"/>
              <a:cs typeface="Palatino Linotype" panose="02040502050505030304" charset="0"/>
            </a:endParaRPr>
          </a:p>
        </p:txBody>
      </p:sp>
      <p:sp>
        <p:nvSpPr>
          <p:cNvPr id="11" name="Oval 10"/>
          <p:cNvSpPr/>
          <p:nvPr/>
        </p:nvSpPr>
        <p:spPr>
          <a:xfrm>
            <a:off x="4526279" y="2075688"/>
            <a:ext cx="320040" cy="320040"/>
          </a:xfrm>
          <a:prstGeom prst="ellipse">
            <a:avLst/>
          </a:prstGeom>
          <a:solidFill>
            <a:srgbClr val="9A7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alatino Linotype" panose="02040502050505030304" charset="0"/>
              <a:cs typeface="Palatino Linotype" panose="02040502050505030304" charset="0"/>
            </a:endParaRPr>
          </a:p>
        </p:txBody>
      </p:sp>
      <p:sp>
        <p:nvSpPr>
          <p:cNvPr id="12" name="Text"/>
          <p:cNvSpPr txBox="1"/>
          <p:nvPr/>
        </p:nvSpPr>
        <p:spPr>
          <a:xfrm>
            <a:off x="4983479" y="2011680"/>
            <a:ext cx="2743200" cy="457200"/>
          </a:xfrm>
          <a:prstGeom prst="rect">
            <a:avLst/>
          </a:prstGeom>
          <a:noFill/>
        </p:spPr>
        <p:txBody>
          <a:bodyPr wrap="square" lIns="18288" tIns="18288" rIns="18288" bIns="18288" anchor="t">
            <a:spAutoFit/>
          </a:bodyPr>
          <a:lstStyle/>
          <a:p>
            <a:pPr>
              <a:spcAft>
                <a:spcPts val="400"/>
              </a:spcAft>
            </a:pPr>
            <a:r>
              <a:rPr sz="2400" b="1" i="0">
                <a:solidFill>
                  <a:srgbClr val="14213D"/>
                </a:solidFill>
                <a:latin typeface="Palatino Linotype" panose="02040502050505030304" charset="0"/>
                <a:cs typeface="Palatino Linotype" panose="02040502050505030304" charset="0"/>
              </a:rPr>
              <a:t>Thomas</a:t>
            </a:r>
            <a:endParaRPr sz="2400" b="1" i="0">
              <a:solidFill>
                <a:srgbClr val="14213D"/>
              </a:solidFill>
              <a:latin typeface="Palatino Linotype" panose="02040502050505030304" charset="0"/>
              <a:cs typeface="Palatino Linotype" panose="02040502050505030304" charset="0"/>
            </a:endParaRPr>
          </a:p>
        </p:txBody>
      </p:sp>
      <p:sp>
        <p:nvSpPr>
          <p:cNvPr id="13" name="Text"/>
          <p:cNvSpPr txBox="1"/>
          <p:nvPr/>
        </p:nvSpPr>
        <p:spPr>
          <a:xfrm>
            <a:off x="4526279" y="2606040"/>
            <a:ext cx="3154680" cy="640080"/>
          </a:xfrm>
          <a:prstGeom prst="rect">
            <a:avLst/>
          </a:prstGeom>
          <a:noFill/>
        </p:spPr>
        <p:txBody>
          <a:bodyPr wrap="square" lIns="18288" tIns="18288" rIns="18288" bIns="18288" anchor="t">
            <a:spAutoFit/>
          </a:bodyPr>
          <a:lstStyle/>
          <a:p>
            <a:pPr>
              <a:spcAft>
                <a:spcPts val="400"/>
              </a:spcAft>
            </a:pPr>
            <a:r>
              <a:rPr sz="1700" b="1" i="0">
                <a:solidFill>
                  <a:srgbClr val="9A7B1B"/>
                </a:solidFill>
                <a:latin typeface="Palatino Linotype" panose="02040502050505030304" charset="0"/>
                <a:cs typeface="Palatino Linotype" panose="02040502050505030304" charset="0"/>
              </a:rPr>
              <a:t>Made no choice: placed in balanced</a:t>
            </a:r>
            <a:endParaRPr sz="1700" b="1" i="0">
              <a:solidFill>
                <a:srgbClr val="9A7B1B"/>
              </a:solidFill>
              <a:latin typeface="Palatino Linotype" panose="02040502050505030304" charset="0"/>
              <a:cs typeface="Palatino Linotype" panose="02040502050505030304" charset="0"/>
            </a:endParaRPr>
          </a:p>
        </p:txBody>
      </p:sp>
      <p:sp>
        <p:nvSpPr>
          <p:cNvPr id="14" name="Text"/>
          <p:cNvSpPr txBox="1"/>
          <p:nvPr/>
        </p:nvSpPr>
        <p:spPr>
          <a:xfrm>
            <a:off x="4526279" y="3291840"/>
            <a:ext cx="3154680" cy="822960"/>
          </a:xfrm>
          <a:prstGeom prst="rect">
            <a:avLst/>
          </a:prstGeom>
          <a:noFill/>
        </p:spPr>
        <p:txBody>
          <a:bodyPr wrap="square" lIns="18288" tIns="18288" rIns="18288" bIns="18288" anchor="t">
            <a:spAutoFit/>
          </a:bodyPr>
          <a:lstStyle/>
          <a:p>
            <a:pPr>
              <a:spcAft>
                <a:spcPts val="400"/>
              </a:spcAft>
            </a:pPr>
            <a:r>
              <a:rPr sz="1500" b="0" i="0">
                <a:solidFill>
                  <a:srgbClr val="4A5568"/>
                </a:solidFill>
                <a:latin typeface="Palatino Linotype" panose="02040502050505030304" charset="0"/>
                <a:cs typeface="Palatino Linotype" panose="02040502050505030304" charset="0"/>
              </a:rPr>
              <a:t>The default for non-choosers (an open assumption).</a:t>
            </a:r>
            <a:endParaRPr sz="1500" b="0" i="0">
              <a:solidFill>
                <a:srgbClr val="4A5568"/>
              </a:solidFill>
              <a:latin typeface="Palatino Linotype" panose="02040502050505030304" charset="0"/>
              <a:cs typeface="Palatino Linotype" panose="02040502050505030304" charset="0"/>
            </a:endParaRPr>
          </a:p>
        </p:txBody>
      </p:sp>
      <p:sp>
        <p:nvSpPr>
          <p:cNvPr id="15" name="Anna card"/>
          <p:cNvSpPr/>
          <p:nvPr/>
        </p:nvSpPr>
        <p:spPr>
          <a:xfrm>
            <a:off x="8046719" y="1828800"/>
            <a:ext cx="3566160" cy="237744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alatino Linotype" panose="02040502050505030304" charset="0"/>
              <a:cs typeface="Palatino Linotype" panose="02040502050505030304" charset="0"/>
            </a:endParaRPr>
          </a:p>
        </p:txBody>
      </p:sp>
      <p:sp>
        <p:nvSpPr>
          <p:cNvPr id="16" name="Oval 15"/>
          <p:cNvSpPr/>
          <p:nvPr/>
        </p:nvSpPr>
        <p:spPr>
          <a:xfrm>
            <a:off x="8275319" y="2075688"/>
            <a:ext cx="320040" cy="320040"/>
          </a:xfrm>
          <a:prstGeom prst="ellipse">
            <a:avLst/>
          </a:prstGeom>
          <a:solidFill>
            <a:srgbClr val="B456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alatino Linotype" panose="02040502050505030304" charset="0"/>
              <a:cs typeface="Palatino Linotype" panose="02040502050505030304" charset="0"/>
            </a:endParaRPr>
          </a:p>
        </p:txBody>
      </p:sp>
      <p:sp>
        <p:nvSpPr>
          <p:cNvPr id="17" name="Text"/>
          <p:cNvSpPr txBox="1"/>
          <p:nvPr/>
        </p:nvSpPr>
        <p:spPr>
          <a:xfrm>
            <a:off x="8732519" y="2011680"/>
            <a:ext cx="2743200" cy="457200"/>
          </a:xfrm>
          <a:prstGeom prst="rect">
            <a:avLst/>
          </a:prstGeom>
          <a:noFill/>
        </p:spPr>
        <p:txBody>
          <a:bodyPr wrap="square" lIns="18288" tIns="18288" rIns="18288" bIns="18288" anchor="t">
            <a:spAutoFit/>
          </a:bodyPr>
          <a:lstStyle/>
          <a:p>
            <a:pPr>
              <a:spcAft>
                <a:spcPts val="400"/>
              </a:spcAft>
            </a:pPr>
            <a:r>
              <a:rPr sz="2400" b="1" i="0">
                <a:solidFill>
                  <a:srgbClr val="14213D"/>
                </a:solidFill>
                <a:latin typeface="Palatino Linotype" panose="02040502050505030304" charset="0"/>
                <a:cs typeface="Palatino Linotype" panose="02040502050505030304" charset="0"/>
              </a:rPr>
              <a:t>Anna</a:t>
            </a:r>
            <a:endParaRPr sz="2400" b="1" i="0">
              <a:solidFill>
                <a:srgbClr val="14213D"/>
              </a:solidFill>
              <a:latin typeface="Palatino Linotype" panose="02040502050505030304" charset="0"/>
              <a:cs typeface="Palatino Linotype" panose="02040502050505030304" charset="0"/>
            </a:endParaRPr>
          </a:p>
        </p:txBody>
      </p:sp>
      <p:sp>
        <p:nvSpPr>
          <p:cNvPr id="18" name="Text"/>
          <p:cNvSpPr txBox="1"/>
          <p:nvPr/>
        </p:nvSpPr>
        <p:spPr>
          <a:xfrm>
            <a:off x="8275319" y="2606040"/>
            <a:ext cx="3154680" cy="640080"/>
          </a:xfrm>
          <a:prstGeom prst="rect">
            <a:avLst/>
          </a:prstGeom>
          <a:noFill/>
        </p:spPr>
        <p:txBody>
          <a:bodyPr wrap="square" lIns="18288" tIns="18288" rIns="18288" bIns="18288" anchor="t">
            <a:spAutoFit/>
          </a:bodyPr>
          <a:lstStyle/>
          <a:p>
            <a:pPr>
              <a:spcAft>
                <a:spcPts val="400"/>
              </a:spcAft>
            </a:pPr>
            <a:r>
              <a:rPr sz="1700" b="1" i="0">
                <a:solidFill>
                  <a:srgbClr val="B4561A"/>
                </a:solidFill>
                <a:latin typeface="Palatino Linotype" panose="02040502050505030304" charset="0"/>
                <a:cs typeface="Palatino Linotype" panose="02040502050505030304" charset="0"/>
              </a:rPr>
              <a:t>Chose: risk-sensitive</a:t>
            </a:r>
            <a:endParaRPr sz="1700" b="1" i="0">
              <a:solidFill>
                <a:srgbClr val="B4561A"/>
              </a:solidFill>
              <a:latin typeface="Palatino Linotype" panose="02040502050505030304" charset="0"/>
              <a:cs typeface="Palatino Linotype" panose="02040502050505030304" charset="0"/>
            </a:endParaRPr>
          </a:p>
        </p:txBody>
      </p:sp>
      <p:sp>
        <p:nvSpPr>
          <p:cNvPr id="19" name="Text"/>
          <p:cNvSpPr txBox="1"/>
          <p:nvPr/>
        </p:nvSpPr>
        <p:spPr>
          <a:xfrm>
            <a:off x="8275319" y="3291840"/>
            <a:ext cx="3154680" cy="822960"/>
          </a:xfrm>
          <a:prstGeom prst="rect">
            <a:avLst/>
          </a:prstGeom>
          <a:noFill/>
        </p:spPr>
        <p:txBody>
          <a:bodyPr wrap="square" lIns="18288" tIns="18288" rIns="18288" bIns="18288" anchor="t">
            <a:spAutoFit/>
          </a:bodyPr>
          <a:lstStyle/>
          <a:p>
            <a:pPr>
              <a:spcAft>
                <a:spcPts val="400"/>
              </a:spcAft>
            </a:pPr>
            <a:r>
              <a:rPr sz="1500" b="0" i="0">
                <a:solidFill>
                  <a:srgbClr val="4A5568"/>
                </a:solidFill>
                <a:latin typeface="Palatino Linotype" panose="02040502050505030304" charset="0"/>
                <a:cs typeface="Palatino Linotype" panose="02040502050505030304" charset="0"/>
              </a:rPr>
              <a:t>Dislikes swings.</a:t>
            </a:r>
            <a:endParaRPr sz="1500" b="0" i="0">
              <a:solidFill>
                <a:srgbClr val="4A5568"/>
              </a:solidFill>
              <a:latin typeface="Palatino Linotype" panose="02040502050505030304" charset="0"/>
              <a:cs typeface="Palatino Linotype" panose="02040502050505030304" charset="0"/>
            </a:endParaRPr>
          </a:p>
        </p:txBody>
      </p:sp>
      <p:sp>
        <p:nvSpPr>
          <p:cNvPr id="20" name="Scope bar"/>
          <p:cNvSpPr/>
          <p:nvPr/>
        </p:nvSpPr>
        <p:spPr>
          <a:xfrm>
            <a:off x="548640" y="4480560"/>
            <a:ext cx="11064240" cy="914400"/>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alatino Linotype" panose="02040502050505030304" charset="0"/>
              <a:cs typeface="Palatino Linotype" panose="02040502050505030304" charset="0"/>
            </a:endParaRPr>
          </a:p>
        </p:txBody>
      </p:sp>
      <p:sp>
        <p:nvSpPr>
          <p:cNvPr id="21" name="Text"/>
          <p:cNvSpPr txBox="1"/>
          <p:nvPr/>
        </p:nvSpPr>
        <p:spPr>
          <a:xfrm>
            <a:off x="777240" y="4480560"/>
            <a:ext cx="10607040" cy="914400"/>
          </a:xfrm>
          <a:prstGeom prst="rect">
            <a:avLst/>
          </a:prstGeom>
          <a:noFill/>
        </p:spPr>
        <p:txBody>
          <a:bodyPr wrap="square" lIns="18288" tIns="18288" rIns="18288" bIns="18288" anchor="ctr">
            <a:spAutoFit/>
          </a:bodyPr>
          <a:lstStyle/>
          <a:p>
            <a:pPr>
              <a:spcAft>
                <a:spcPts val="400"/>
              </a:spcAft>
            </a:pPr>
            <a:r>
              <a:rPr sz="1700" b="0" i="0">
                <a:solidFill>
                  <a:srgbClr val="F6F3EC"/>
                </a:solidFill>
                <a:latin typeface="Palatino Linotype" panose="02040502050505030304" charset="0"/>
                <a:cs typeface="Palatino Linotype" panose="02040502050505030304" charset="0"/>
              </a:rPr>
              <a:t>The fund’s </a:t>
            </a:r>
            <a:r>
              <a:rPr sz="1700" b="1" i="0">
                <a:solidFill>
                  <a:srgbClr val="F6F3EC"/>
                </a:solidFill>
                <a:latin typeface="Palatino Linotype" panose="02040502050505030304" charset="0"/>
                <a:cs typeface="Palatino Linotype" panose="02040502050505030304" charset="0"/>
              </a:rPr>
              <a:t>investment committee</a:t>
            </a:r>
            <a:r>
              <a:rPr sz="1700" b="0" i="0">
                <a:solidFill>
                  <a:srgbClr val="F6F3EC"/>
                </a:solidFill>
                <a:latin typeface="Palatino Linotype" panose="02040502050505030304" charset="0"/>
                <a:cs typeface="Palatino Linotype" panose="02040502050505030304" charset="0"/>
              </a:rPr>
              <a:t> decides. The core is a broad index. We decide only the </a:t>
            </a:r>
            <a:r>
              <a:rPr sz="1700" b="1" i="0">
                <a:solidFill>
                  <a:srgbClr val="F6F3EC"/>
                </a:solidFill>
                <a:latin typeface="Palatino Linotype" panose="02040502050505030304" charset="0"/>
                <a:cs typeface="Palatino Linotype" panose="02040502050505030304" charset="0"/>
              </a:rPr>
              <a:t>satellite tilt (10%)</a:t>
            </a:r>
            <a:r>
              <a:rPr sz="1700" b="0" i="0">
                <a:solidFill>
                  <a:srgbClr val="F6F3EC"/>
                </a:solidFill>
                <a:latin typeface="Palatino Linotype" panose="02040502050505030304" charset="0"/>
                <a:cs typeface="Palatino Linotype" panose="02040502050505030304" charset="0"/>
              </a:rPr>
              <a:t>: which 3 of 6 sectors to hold.</a:t>
            </a:r>
            <a:endParaRPr sz="1700" b="0" i="0">
              <a:solidFill>
                <a:srgbClr val="F6F3EC"/>
              </a:solidFill>
              <a:latin typeface="Palatino Linotype" panose="02040502050505030304" charset="0"/>
              <a:cs typeface="Palatino Linotype" panose="02040502050505030304" charset="0"/>
            </a:endParaRPr>
          </a:p>
        </p:txBody>
      </p:sp>
      <p:sp>
        <p:nvSpPr>
          <p:cNvPr id="22" name="Text"/>
          <p:cNvSpPr txBox="1"/>
          <p:nvPr/>
        </p:nvSpPr>
        <p:spPr>
          <a:xfrm>
            <a:off x="548640" y="5577840"/>
            <a:ext cx="11064240" cy="250825"/>
          </a:xfrm>
          <a:prstGeom prst="rect">
            <a:avLst/>
          </a:prstGeom>
          <a:noFill/>
        </p:spPr>
        <p:txBody>
          <a:bodyPr wrap="square" lIns="18288" tIns="18288" rIns="18288" bIns="18288" anchor="t">
            <a:spAutoFit/>
          </a:bodyPr>
          <a:lstStyle/>
          <a:p>
            <a:pPr>
              <a:spcAft>
                <a:spcPts val="400"/>
              </a:spcAft>
            </a:pPr>
            <a:r>
              <a:rPr sz="1400" b="0" i="0">
                <a:solidFill>
                  <a:srgbClr val="D9DEE8"/>
                </a:solidFill>
                <a:latin typeface="Palatino Linotype" panose="02040502050505030304" charset="0"/>
                <a:cs typeface="Palatino Linotype" panose="02040502050505030304" charset="0"/>
              </a:rPr>
              <a:t>Each insured person chooses a profile actively.</a:t>
            </a:r>
            <a:endParaRPr sz="1400" b="0" i="0">
              <a:solidFill>
                <a:srgbClr val="D9DEE8"/>
              </a:solidFill>
              <a:latin typeface="Palatino Linotype" panose="02040502050505030304" charset="0"/>
              <a:cs typeface="Palatino Linotype" panose="02040502050505030304" charset="0"/>
            </a:endParaRPr>
          </a:p>
        </p:txBody>
      </p:sp>
      <p:sp>
        <p:nvSpPr>
          <p:cNvPr id="23" name="Source"/>
          <p:cNvSpPr txBox="1"/>
          <p:nvPr/>
        </p:nvSpPr>
        <p:spPr>
          <a:xfrm>
            <a:off x="548640" y="6355080"/>
            <a:ext cx="10424160" cy="204470"/>
          </a:xfrm>
          <a:prstGeom prst="rect">
            <a:avLst/>
          </a:prstGeom>
          <a:noFill/>
        </p:spPr>
        <p:txBody>
          <a:bodyPr wrap="square" lIns="18288" tIns="18288" rIns="18288" bIns="18288" anchor="t">
            <a:spAutoFit/>
          </a:bodyPr>
          <a:lstStyle/>
          <a:p>
            <a:pPr>
              <a:spcAft>
                <a:spcPts val="400"/>
              </a:spcAft>
            </a:pPr>
            <a:r>
              <a:rPr sz="1100" b="0" i="0">
                <a:solidFill>
                  <a:srgbClr val="8A94A6"/>
                </a:solidFill>
                <a:latin typeface="Palatino Linotype" panose="02040502050505030304" charset="0"/>
                <a:ea typeface="微软雅黑" panose="020B0503020204020204" charset="-122"/>
                <a:cs typeface="Palatino Linotype" panose="02040502050505030304" charset="0"/>
              </a:rPr>
              <a:t>Fund: 2% of gross wage, from 2028, no guarantees (Alterssicherungskommission, 2026) · Setting: README.md, docs/decisions.md</a:t>
            </a:r>
            <a:endParaRPr sz="1100" b="0" i="0">
              <a:solidFill>
                <a:srgbClr val="8A94A6"/>
              </a:solidFill>
              <a:latin typeface="Palatino Linotype" panose="02040502050505030304" charset="0"/>
              <a:ea typeface="微软雅黑" panose="020B0503020204020204" charset="-122"/>
              <a:cs typeface="Palatino Linotype" panose="02040502050505030304" charset="0"/>
            </a:endParaRPr>
          </a:p>
        </p:txBody>
      </p:sp>
      <p:sp>
        <p:nvSpPr>
          <p:cNvPr id="24" name="Page"/>
          <p:cNvSpPr txBox="1"/>
          <p:nvPr/>
        </p:nvSpPr>
        <p:spPr>
          <a:xfrm>
            <a:off x="11155680" y="6355080"/>
            <a:ext cx="457200" cy="274320"/>
          </a:xfrm>
          <a:prstGeom prst="rect">
            <a:avLst/>
          </a:prstGeom>
          <a:noFill/>
        </p:spPr>
        <p:txBody>
          <a:bodyPr wrap="square" lIns="18288" tIns="18288" rIns="18288" bIns="18288" anchor="t">
            <a:spAutoFit/>
          </a:bodyPr>
          <a:lstStyle/>
          <a:p>
            <a:pPr algn="r">
              <a:spcAft>
                <a:spcPts val="400"/>
              </a:spcAft>
            </a:pPr>
            <a:r>
              <a:rPr sz="1100" b="0" i="0">
                <a:solidFill>
                  <a:srgbClr val="8A94A6"/>
                </a:solidFill>
                <a:latin typeface="Palatino Linotype" panose="02040502050505030304" charset="0"/>
                <a:cs typeface="Palatino Linotype" panose="02040502050505030304" charset="0"/>
              </a:rPr>
              <a:t>2</a:t>
            </a:r>
            <a:endParaRPr sz="1100" b="0" i="0">
              <a:solidFill>
                <a:srgbClr val="8A94A6"/>
              </a:solidFill>
              <a:latin typeface="Palatino Linotype" panose="02040502050505030304" charset="0"/>
              <a:cs typeface="Palatino Linotype" panose="0204050205050503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txBox="1"/>
          <p:nvPr/>
        </p:nvSpPr>
        <p:spPr>
          <a:xfrm>
            <a:off x="548640" y="502920"/>
            <a:ext cx="11064240" cy="527685"/>
          </a:xfrm>
          <a:prstGeom prst="rect">
            <a:avLst/>
          </a:prstGeom>
          <a:noFill/>
        </p:spPr>
        <p:txBody>
          <a:bodyPr wrap="square" lIns="18288" tIns="18288" rIns="18288" bIns="18288" anchor="t">
            <a:spAutoFit/>
          </a:bodyPr>
          <a:lstStyle/>
          <a:p>
            <a:pPr>
              <a:spcAft>
                <a:spcPts val="400"/>
              </a:spcAft>
            </a:pPr>
            <a:r>
              <a:rPr sz="3200" b="1" i="0">
                <a:solidFill>
                  <a:srgbClr val="F6F3EC"/>
                </a:solidFill>
                <a:latin typeface="Palatino Linotype" panose="02040502050505030304" charset="0"/>
                <a:cs typeface="Palatino Linotype" panose="02040502050505030304" charset="0"/>
              </a:rPr>
              <a:t>Sell consumer staples, buy technology?</a:t>
            </a:r>
            <a:endParaRPr sz="3200" b="1" i="0">
              <a:solidFill>
                <a:srgbClr val="F6F3EC"/>
              </a:solidFill>
              <a:latin typeface="Palatino Linotype" panose="02040502050505030304" charset="0"/>
              <a:cs typeface="Palatino Linotype" panose="02040502050505030304" charset="0"/>
            </a:endParaRPr>
          </a:p>
        </p:txBody>
      </p:sp>
      <p:sp>
        <p:nvSpPr>
          <p:cNvPr id="3" name="Subtitle"/>
          <p:cNvSpPr txBox="1"/>
          <p:nvPr/>
        </p:nvSpPr>
        <p:spPr>
          <a:xfrm>
            <a:off x="548640" y="1143000"/>
            <a:ext cx="11064240" cy="411480"/>
          </a:xfrm>
          <a:prstGeom prst="rect">
            <a:avLst/>
          </a:prstGeom>
          <a:noFill/>
        </p:spPr>
        <p:txBody>
          <a:bodyPr wrap="square" lIns="18288" tIns="18288" rIns="18288" bIns="18288" anchor="t">
            <a:spAutoFit/>
          </a:bodyPr>
          <a:lstStyle/>
          <a:p>
            <a:pPr>
              <a:spcAft>
                <a:spcPts val="400"/>
              </a:spcAft>
            </a:pPr>
            <a:r>
              <a:rPr sz="1600" b="0" i="0">
                <a:solidFill>
                  <a:srgbClr val="D9DEE8"/>
                </a:solidFill>
                <a:latin typeface="Palatino Linotype" panose="02040502050505030304" charset="0"/>
                <a:cs typeface="Palatino Linotype" panose="02040502050505030304" charset="0"/>
              </a:rPr>
              <a:t>31 December 2019 · estimated on Jan 2015–Dec 2019 only</a:t>
            </a:r>
            <a:endParaRPr sz="1600" b="0" i="0">
              <a:solidFill>
                <a:srgbClr val="D9DEE8"/>
              </a:solidFill>
              <a:latin typeface="Palatino Linotype" panose="02040502050505030304" charset="0"/>
              <a:cs typeface="Palatino Linotype" panose="02040502050505030304" charset="0"/>
            </a:endParaRPr>
          </a:p>
        </p:txBody>
      </p:sp>
      <p:sp>
        <p:nvSpPr>
          <p:cNvPr id="4" name="Frame"/>
          <p:cNvSpPr/>
          <p:nvPr/>
        </p:nvSpPr>
        <p:spPr>
          <a:xfrm>
            <a:off x="548640" y="2040890"/>
            <a:ext cx="6126479" cy="39684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alatino Linotype" panose="02040502050505030304" charset="0"/>
              <a:cs typeface="Palatino Linotype" panose="02040502050505030304" charset="0"/>
            </a:endParaRPr>
          </a:p>
        </p:txBody>
      </p:sp>
      <p:pic>
        <p:nvPicPr>
          <p:cNvPr id="5" name="Picture 4" descr="Scatter chart of the 20 possible three-sector portfolios by monthly volatility and expected monthly return, 2015 to 2019; current portfolio green with lowest volatility, proposal red with higher return."/>
          <p:cNvPicPr>
            <a:picLocks noChangeAspect="1"/>
          </p:cNvPicPr>
          <p:nvPr/>
        </p:nvPicPr>
        <p:blipFill>
          <a:blip r:embed="rId1"/>
          <a:stretch>
            <a:fillRect/>
          </a:stretch>
        </p:blipFill>
        <p:spPr>
          <a:xfrm>
            <a:off x="548640" y="2053590"/>
            <a:ext cx="6035040" cy="3877056"/>
          </a:xfrm>
          <a:prstGeom prst="rect">
            <a:avLst/>
          </a:prstGeom>
        </p:spPr>
      </p:pic>
      <p:sp>
        <p:nvSpPr>
          <p:cNvPr id="6" name="Text"/>
          <p:cNvSpPr txBox="1"/>
          <p:nvPr/>
        </p:nvSpPr>
        <p:spPr>
          <a:xfrm>
            <a:off x="7040880" y="2273300"/>
            <a:ext cx="4572000" cy="1035685"/>
          </a:xfrm>
          <a:prstGeom prst="rect">
            <a:avLst/>
          </a:prstGeom>
          <a:noFill/>
        </p:spPr>
        <p:txBody>
          <a:bodyPr wrap="square" lIns="18288" tIns="18288" rIns="18288" bIns="18288" anchor="t">
            <a:spAutoFit/>
          </a:bodyPr>
          <a:lstStyle/>
          <a:p>
            <a:pPr>
              <a:spcAft>
                <a:spcPts val="600"/>
              </a:spcAft>
            </a:pPr>
            <a:r>
              <a:rPr lang="en-US" altLang="zh-CN" sz="1500" b="1" i="0">
                <a:solidFill>
                  <a:srgbClr val="D9DEE8"/>
                </a:solidFill>
                <a:latin typeface="Palatino Linotype" panose="02040502050505030304" charset="0"/>
                <a:cs typeface="Palatino Linotype" panose="02040502050505030304" charset="0"/>
              </a:rPr>
              <a:t>Current basket</a:t>
            </a:r>
            <a:r>
              <a:rPr sz="1500" b="1" i="0">
                <a:solidFill>
                  <a:srgbClr val="D9DEE8"/>
                </a:solidFill>
                <a:latin typeface="Palatino Linotype" panose="02040502050505030304" charset="0"/>
                <a:cs typeface="Palatino Linotype" panose="02040502050505030304" charset="0"/>
              </a:rPr>
              <a:t>: </a:t>
            </a:r>
            <a:r>
              <a:rPr sz="1500" b="0" i="0">
                <a:solidFill>
                  <a:srgbClr val="D9DEE8"/>
                </a:solidFill>
                <a:latin typeface="Palatino Linotype" panose="02040502050505030304" charset="0"/>
                <a:cs typeface="Palatino Linotype" panose="02040502050505030304" charset="0"/>
              </a:rPr>
              <a:t>consumer staples (NoDur: food, tobacco, textiles, apparel), healthcare (Hlth), utilities (Utils), one third each.</a:t>
            </a:r>
            <a:endParaRPr sz="1500" b="0" i="0">
              <a:solidFill>
                <a:srgbClr val="D9DEE8"/>
              </a:solidFill>
              <a:latin typeface="Palatino Linotype" panose="02040502050505030304" charset="0"/>
              <a:cs typeface="Palatino Linotype" panose="02040502050505030304" charset="0"/>
            </a:endParaRPr>
          </a:p>
          <a:p>
            <a:pPr>
              <a:spcAft>
                <a:spcPts val="600"/>
              </a:spcAft>
            </a:pPr>
            <a:r>
              <a:rPr sz="1500" b="1" i="0">
                <a:solidFill>
                  <a:srgbClr val="D9DEE8"/>
                </a:solidFill>
                <a:latin typeface="Palatino Linotype" panose="02040502050505030304" charset="0"/>
                <a:cs typeface="Palatino Linotype" panose="02040502050505030304" charset="0"/>
              </a:rPr>
              <a:t>Proposal: </a:t>
            </a:r>
            <a:r>
              <a:rPr sz="1500" b="0" i="0">
                <a:solidFill>
                  <a:srgbClr val="D9DEE8"/>
                </a:solidFill>
                <a:latin typeface="Palatino Linotype" panose="02040502050505030304" charset="0"/>
                <a:cs typeface="Palatino Linotype" panose="02040502050505030304" charset="0"/>
              </a:rPr>
              <a:t>replace NoDur with technology (HiTec).</a:t>
            </a:r>
            <a:endParaRPr sz="1500" b="0" i="0">
              <a:solidFill>
                <a:srgbClr val="D9DEE8"/>
              </a:solidFill>
              <a:latin typeface="Palatino Linotype" panose="02040502050505030304" charset="0"/>
              <a:cs typeface="Palatino Linotype" panose="02040502050505030304" charset="0"/>
            </a:endParaRPr>
          </a:p>
        </p:txBody>
      </p:sp>
      <p:graphicFrame>
        <p:nvGraphicFramePr>
          <p:cNvPr id="7" name="Table"/>
          <p:cNvGraphicFramePr>
            <a:graphicFrameLocks noGrp="1"/>
          </p:cNvGraphicFramePr>
          <p:nvPr/>
        </p:nvGraphicFramePr>
        <p:xfrm>
          <a:off x="7040880" y="3644900"/>
          <a:ext cx="4572000" cy="1920240"/>
        </p:xfrm>
        <a:graphic>
          <a:graphicData uri="http://schemas.openxmlformats.org/drawingml/2006/table">
            <a:tbl>
              <a:tblPr/>
              <a:tblGrid>
                <a:gridCol w="2377440"/>
                <a:gridCol w="1097280"/>
                <a:gridCol w="1097280"/>
              </a:tblGrid>
              <a:tr h="384048">
                <a:tc>
                  <a:txBody>
                    <a:bodyPr wrap="square"/>
                    <a:lstStyle/>
                    <a:p>
                      <a:r>
                        <a:rPr sz="1400" b="1" i="0">
                          <a:solidFill>
                            <a:srgbClr val="F6F3EC"/>
                          </a:solidFill>
                          <a:latin typeface="Palatino Linotype" panose="02040502050505030304" charset="0"/>
                          <a:cs typeface="Palatino Linotype" panose="02040502050505030304" charset="0"/>
                        </a:rPr>
                        <a:t>2015–19, per month</a:t>
                      </a:r>
                      <a:endParaRPr sz="1400" b="1" i="0">
                        <a:solidFill>
                          <a:srgbClr val="F6F3EC"/>
                        </a:solidFill>
                        <a:latin typeface="Palatino Linotype" panose="02040502050505030304" charset="0"/>
                        <a:cs typeface="Palatino Linotype" panose="02040502050505030304" charset="0"/>
                      </a:endParaRPr>
                    </a:p>
                  </a:txBody>
                  <a:tcPr marL="73152" marR="73152" marT="27432" marB="27432" anchor="ctr">
                    <a:solidFill>
                      <a:srgbClr val="14213D"/>
                    </a:solidFill>
                  </a:tcPr>
                </a:tc>
                <a:tc>
                  <a:txBody>
                    <a:bodyPr wrap="square"/>
                    <a:lstStyle/>
                    <a:p>
                      <a:pPr algn="r"/>
                      <a:r>
                        <a:rPr sz="1400" b="1" i="0">
                          <a:solidFill>
                            <a:srgbClr val="F6F3EC"/>
                          </a:solidFill>
                          <a:latin typeface="Palatino Linotype" panose="02040502050505030304" charset="0"/>
                          <a:cs typeface="Palatino Linotype" panose="02040502050505030304" charset="0"/>
                        </a:rPr>
                        <a:t>Today</a:t>
                      </a:r>
                      <a:endParaRPr sz="1400" b="1" i="0">
                        <a:solidFill>
                          <a:srgbClr val="F6F3EC"/>
                        </a:solidFill>
                        <a:latin typeface="Palatino Linotype" panose="02040502050505030304" charset="0"/>
                        <a:cs typeface="Palatino Linotype" panose="02040502050505030304" charset="0"/>
                      </a:endParaRPr>
                    </a:p>
                  </a:txBody>
                  <a:tcPr marL="73152" marR="73152" marT="27432" marB="27432" anchor="ctr">
                    <a:solidFill>
                      <a:srgbClr val="14213D"/>
                    </a:solidFill>
                  </a:tcPr>
                </a:tc>
                <a:tc>
                  <a:txBody>
                    <a:bodyPr wrap="square"/>
                    <a:lstStyle/>
                    <a:p>
                      <a:pPr algn="r"/>
                      <a:r>
                        <a:rPr sz="1400" b="1" i="0">
                          <a:solidFill>
                            <a:srgbClr val="F6F3EC"/>
                          </a:solidFill>
                          <a:latin typeface="Palatino Linotype" panose="02040502050505030304" charset="0"/>
                          <a:cs typeface="Palatino Linotype" panose="02040502050505030304" charset="0"/>
                        </a:rPr>
                        <a:t>Proposal</a:t>
                      </a:r>
                      <a:endParaRPr sz="1400" b="1" i="0">
                        <a:solidFill>
                          <a:srgbClr val="F6F3EC"/>
                        </a:solidFill>
                        <a:latin typeface="Palatino Linotype" panose="02040502050505030304" charset="0"/>
                        <a:cs typeface="Palatino Linotype" panose="02040502050505030304" charset="0"/>
                      </a:endParaRPr>
                    </a:p>
                  </a:txBody>
                  <a:tcPr marL="73152" marR="73152" marT="27432" marB="27432" anchor="ctr">
                    <a:solidFill>
                      <a:srgbClr val="14213D"/>
                    </a:solidFill>
                  </a:tcPr>
                </a:tc>
              </a:tr>
              <a:tr h="384048">
                <a:tc>
                  <a:txBody>
                    <a:bodyPr wrap="square"/>
                    <a:lstStyle/>
                    <a:p>
                      <a:r>
                        <a:rPr sz="1400" b="0" i="0">
                          <a:solidFill>
                            <a:srgbClr val="14213D"/>
                          </a:solidFill>
                          <a:latin typeface="Palatino Linotype" panose="02040502050505030304" charset="0"/>
                          <a:cs typeface="Palatino Linotype" panose="02040502050505030304" charset="0"/>
                        </a:rPr>
                        <a:t>Average return</a:t>
                      </a:r>
                      <a:endParaRPr sz="1400" b="0" i="0">
                        <a:solidFill>
                          <a:srgbClr val="14213D"/>
                        </a:solidFill>
                        <a:latin typeface="Palatino Linotype" panose="02040502050505030304" charset="0"/>
                        <a:cs typeface="Palatino Linotype" panose="02040502050505030304" charset="0"/>
                      </a:endParaRPr>
                    </a:p>
                  </a:txBody>
                  <a:tcPr marL="73152" marR="73152" marT="27432" marB="27432" anchor="ctr">
                    <a:solidFill>
                      <a:srgbClr val="FFFFFF"/>
                    </a:solidFill>
                  </a:tcPr>
                </a:tc>
                <a:tc>
                  <a:txBody>
                    <a:bodyPr wrap="square"/>
                    <a:lstStyle/>
                    <a:p>
                      <a:pPr algn="r"/>
                      <a:r>
                        <a:rPr sz="1400" b="0" i="0">
                          <a:solidFill>
                            <a:srgbClr val="14213D"/>
                          </a:solidFill>
                          <a:latin typeface="Palatino Linotype" panose="02040502050505030304" charset="0"/>
                          <a:cs typeface="Palatino Linotype" panose="02040502050505030304" charset="0"/>
                        </a:rPr>
                        <a:t>0.73%</a:t>
                      </a:r>
                      <a:endParaRPr sz="1400" b="0" i="0">
                        <a:solidFill>
                          <a:srgbClr val="14213D"/>
                        </a:solidFill>
                        <a:latin typeface="Palatino Linotype" panose="02040502050505030304" charset="0"/>
                        <a:cs typeface="Palatino Linotype" panose="02040502050505030304" charset="0"/>
                      </a:endParaRPr>
                    </a:p>
                  </a:txBody>
                  <a:tcPr marL="73152" marR="73152" marT="27432" marB="27432" anchor="ctr">
                    <a:solidFill>
                      <a:srgbClr val="FFFFFF"/>
                    </a:solidFill>
                  </a:tcPr>
                </a:tc>
                <a:tc>
                  <a:txBody>
                    <a:bodyPr wrap="square"/>
                    <a:lstStyle/>
                    <a:p>
                      <a:pPr algn="r"/>
                      <a:r>
                        <a:rPr sz="1400" b="0" i="0">
                          <a:solidFill>
                            <a:srgbClr val="14213D"/>
                          </a:solidFill>
                          <a:latin typeface="Palatino Linotype" panose="02040502050505030304" charset="0"/>
                          <a:cs typeface="Palatino Linotype" panose="02040502050505030304" charset="0"/>
                        </a:rPr>
                        <a:t>1.02%</a:t>
                      </a:r>
                      <a:endParaRPr sz="1400" b="0" i="0">
                        <a:solidFill>
                          <a:srgbClr val="14213D"/>
                        </a:solidFill>
                        <a:latin typeface="Palatino Linotype" panose="02040502050505030304" charset="0"/>
                        <a:cs typeface="Palatino Linotype" panose="02040502050505030304" charset="0"/>
                      </a:endParaRPr>
                    </a:p>
                  </a:txBody>
                  <a:tcPr marL="73152" marR="73152" marT="27432" marB="27432" anchor="ctr">
                    <a:solidFill>
                      <a:srgbClr val="FFFFFF"/>
                    </a:solidFill>
                  </a:tcPr>
                </a:tc>
              </a:tr>
              <a:tr h="384048">
                <a:tc>
                  <a:txBody>
                    <a:bodyPr wrap="square"/>
                    <a:lstStyle/>
                    <a:p>
                      <a:r>
                        <a:rPr sz="1400" b="0" i="0">
                          <a:solidFill>
                            <a:srgbClr val="14213D"/>
                          </a:solidFill>
                          <a:latin typeface="Palatino Linotype" panose="02040502050505030304" charset="0"/>
                          <a:cs typeface="Palatino Linotype" panose="02040502050505030304" charset="0"/>
                        </a:rPr>
                        <a:t>Volatility</a:t>
                      </a:r>
                      <a:endParaRPr sz="1400" b="0" i="0">
                        <a:solidFill>
                          <a:srgbClr val="14213D"/>
                        </a:solidFill>
                        <a:latin typeface="Palatino Linotype" panose="02040502050505030304" charset="0"/>
                        <a:cs typeface="Palatino Linotype" panose="02040502050505030304" charset="0"/>
                      </a:endParaRPr>
                    </a:p>
                  </a:txBody>
                  <a:tcPr marL="73152" marR="73152" marT="27432" marB="27432" anchor="ctr">
                    <a:solidFill>
                      <a:srgbClr val="F4F6F8"/>
                    </a:solidFill>
                  </a:tcPr>
                </a:tc>
                <a:tc>
                  <a:txBody>
                    <a:bodyPr wrap="square"/>
                    <a:lstStyle/>
                    <a:p>
                      <a:pPr algn="r"/>
                      <a:r>
                        <a:rPr sz="1400" b="0" i="0">
                          <a:solidFill>
                            <a:srgbClr val="14213D"/>
                          </a:solidFill>
                          <a:latin typeface="Palatino Linotype" panose="02040502050505030304" charset="0"/>
                          <a:cs typeface="Palatino Linotype" panose="02040502050505030304" charset="0"/>
                        </a:rPr>
                        <a:t>2.71%</a:t>
                      </a:r>
                      <a:endParaRPr sz="1400" b="0" i="0">
                        <a:solidFill>
                          <a:srgbClr val="14213D"/>
                        </a:solidFill>
                        <a:latin typeface="Palatino Linotype" panose="02040502050505030304" charset="0"/>
                        <a:cs typeface="Palatino Linotype" panose="02040502050505030304" charset="0"/>
                      </a:endParaRPr>
                    </a:p>
                  </a:txBody>
                  <a:tcPr marL="73152" marR="73152" marT="27432" marB="27432" anchor="ctr">
                    <a:solidFill>
                      <a:srgbClr val="F4F6F8"/>
                    </a:solidFill>
                  </a:tcPr>
                </a:tc>
                <a:tc>
                  <a:txBody>
                    <a:bodyPr wrap="square"/>
                    <a:lstStyle/>
                    <a:p>
                      <a:pPr algn="r"/>
                      <a:r>
                        <a:rPr sz="1400" b="0" i="0">
                          <a:solidFill>
                            <a:srgbClr val="14213D"/>
                          </a:solidFill>
                          <a:latin typeface="Palatino Linotype" panose="02040502050505030304" charset="0"/>
                          <a:cs typeface="Palatino Linotype" panose="02040502050505030304" charset="0"/>
                        </a:rPr>
                        <a:t>3.05%</a:t>
                      </a:r>
                      <a:endParaRPr sz="1400" b="0" i="0">
                        <a:solidFill>
                          <a:srgbClr val="14213D"/>
                        </a:solidFill>
                        <a:latin typeface="Palatino Linotype" panose="02040502050505030304" charset="0"/>
                        <a:cs typeface="Palatino Linotype" panose="02040502050505030304" charset="0"/>
                      </a:endParaRPr>
                    </a:p>
                  </a:txBody>
                  <a:tcPr marL="73152" marR="73152" marT="27432" marB="27432" anchor="ctr">
                    <a:solidFill>
                      <a:srgbClr val="F4F6F8"/>
                    </a:solidFill>
                  </a:tcPr>
                </a:tc>
              </a:tr>
              <a:tr h="384048">
                <a:tc>
                  <a:txBody>
                    <a:bodyPr wrap="square"/>
                    <a:lstStyle/>
                    <a:p>
                      <a:r>
                        <a:rPr sz="1400" b="0" i="0">
                          <a:solidFill>
                            <a:srgbClr val="14213D"/>
                          </a:solidFill>
                          <a:latin typeface="Palatino Linotype" panose="02040502050505030304" charset="0"/>
                          <a:cs typeface="Palatino Linotype" panose="02040502050505030304" charset="0"/>
                        </a:rPr>
                        <a:t>Worst month</a:t>
                      </a:r>
                      <a:endParaRPr sz="1400" b="0" i="0">
                        <a:solidFill>
                          <a:srgbClr val="14213D"/>
                        </a:solidFill>
                        <a:latin typeface="Palatino Linotype" panose="02040502050505030304" charset="0"/>
                        <a:cs typeface="Palatino Linotype" panose="02040502050505030304" charset="0"/>
                      </a:endParaRPr>
                    </a:p>
                  </a:txBody>
                  <a:tcPr marL="73152" marR="73152" marT="27432" marB="27432" anchor="ctr">
                    <a:solidFill>
                      <a:srgbClr val="FFFFFF"/>
                    </a:solidFill>
                  </a:tcPr>
                </a:tc>
                <a:tc>
                  <a:txBody>
                    <a:bodyPr wrap="square"/>
                    <a:lstStyle/>
                    <a:p>
                      <a:pPr algn="r"/>
                      <a:r>
                        <a:rPr sz="1400" b="0" i="0">
                          <a:solidFill>
                            <a:srgbClr val="14213D"/>
                          </a:solidFill>
                          <a:latin typeface="Palatino Linotype" panose="02040502050505030304" charset="0"/>
                          <a:cs typeface="Palatino Linotype" panose="02040502050505030304" charset="0"/>
                        </a:rPr>
                        <a:t>−8.11%</a:t>
                      </a:r>
                      <a:endParaRPr sz="1400" b="0" i="0">
                        <a:solidFill>
                          <a:srgbClr val="14213D"/>
                        </a:solidFill>
                        <a:latin typeface="Palatino Linotype" panose="02040502050505030304" charset="0"/>
                        <a:cs typeface="Palatino Linotype" panose="02040502050505030304" charset="0"/>
                      </a:endParaRPr>
                    </a:p>
                  </a:txBody>
                  <a:tcPr marL="73152" marR="73152" marT="27432" marB="27432" anchor="ctr">
                    <a:solidFill>
                      <a:srgbClr val="FFFFFF"/>
                    </a:solidFill>
                  </a:tcPr>
                </a:tc>
                <a:tc>
                  <a:txBody>
                    <a:bodyPr wrap="square"/>
                    <a:lstStyle/>
                    <a:p>
                      <a:pPr algn="r"/>
                      <a:r>
                        <a:rPr sz="1400" b="0" i="0">
                          <a:solidFill>
                            <a:srgbClr val="14213D"/>
                          </a:solidFill>
                          <a:latin typeface="Palatino Linotype" panose="02040502050505030304" charset="0"/>
                          <a:cs typeface="Palatino Linotype" panose="02040502050505030304" charset="0"/>
                        </a:rPr>
                        <a:t>−7.08%</a:t>
                      </a:r>
                      <a:endParaRPr sz="1400" b="0" i="0">
                        <a:solidFill>
                          <a:srgbClr val="14213D"/>
                        </a:solidFill>
                        <a:latin typeface="Palatino Linotype" panose="02040502050505030304" charset="0"/>
                        <a:cs typeface="Palatino Linotype" panose="02040502050505030304" charset="0"/>
                      </a:endParaRPr>
                    </a:p>
                  </a:txBody>
                  <a:tcPr marL="73152" marR="73152" marT="27432" marB="27432" anchor="ctr">
                    <a:solidFill>
                      <a:srgbClr val="FFFFFF"/>
                    </a:solidFill>
                  </a:tcPr>
                </a:tc>
              </a:tr>
              <a:tr h="384048">
                <a:tc>
                  <a:txBody>
                    <a:bodyPr wrap="square"/>
                    <a:lstStyle/>
                    <a:p>
                      <a:r>
                        <a:rPr sz="1400" b="0" i="0">
                          <a:solidFill>
                            <a:srgbClr val="14213D"/>
                          </a:solidFill>
                          <a:latin typeface="Palatino Linotype" panose="02040502050505030304" charset="0"/>
                          <a:cs typeface="Palatino Linotype" panose="02040502050505030304" charset="0"/>
                        </a:rPr>
                        <a:t>Months losing over 3%</a:t>
                      </a:r>
                      <a:endParaRPr sz="1400" b="0" i="0">
                        <a:solidFill>
                          <a:srgbClr val="14213D"/>
                        </a:solidFill>
                        <a:latin typeface="Palatino Linotype" panose="02040502050505030304" charset="0"/>
                        <a:cs typeface="Palatino Linotype" panose="02040502050505030304" charset="0"/>
                      </a:endParaRPr>
                    </a:p>
                  </a:txBody>
                  <a:tcPr marL="73152" marR="73152" marT="27432" marB="27432" anchor="ctr">
                    <a:solidFill>
                      <a:srgbClr val="F4F6F8"/>
                    </a:solidFill>
                  </a:tcPr>
                </a:tc>
                <a:tc>
                  <a:txBody>
                    <a:bodyPr wrap="square"/>
                    <a:lstStyle/>
                    <a:p>
                      <a:pPr algn="r"/>
                      <a:r>
                        <a:rPr sz="1400" b="0" i="0">
                          <a:solidFill>
                            <a:srgbClr val="14213D"/>
                          </a:solidFill>
                          <a:latin typeface="Palatino Linotype" panose="02040502050505030304" charset="0"/>
                          <a:cs typeface="Palatino Linotype" panose="02040502050505030304" charset="0"/>
                        </a:rPr>
                        <a:t>8.3%</a:t>
                      </a:r>
                      <a:endParaRPr sz="1400" b="0" i="0">
                        <a:solidFill>
                          <a:srgbClr val="14213D"/>
                        </a:solidFill>
                        <a:latin typeface="Palatino Linotype" panose="02040502050505030304" charset="0"/>
                        <a:cs typeface="Palatino Linotype" panose="02040502050505030304" charset="0"/>
                      </a:endParaRPr>
                    </a:p>
                  </a:txBody>
                  <a:tcPr marL="73152" marR="73152" marT="27432" marB="27432" anchor="ctr">
                    <a:solidFill>
                      <a:srgbClr val="F4F6F8"/>
                    </a:solidFill>
                  </a:tcPr>
                </a:tc>
                <a:tc>
                  <a:txBody>
                    <a:bodyPr wrap="square"/>
                    <a:lstStyle/>
                    <a:p>
                      <a:pPr algn="r"/>
                      <a:r>
                        <a:rPr sz="1400" b="0" i="0">
                          <a:solidFill>
                            <a:srgbClr val="14213D"/>
                          </a:solidFill>
                          <a:latin typeface="Palatino Linotype" panose="02040502050505030304" charset="0"/>
                          <a:cs typeface="Palatino Linotype" panose="02040502050505030304" charset="0"/>
                        </a:rPr>
                        <a:t>10.0%</a:t>
                      </a:r>
                      <a:endParaRPr sz="1400" b="0" i="0">
                        <a:solidFill>
                          <a:srgbClr val="14213D"/>
                        </a:solidFill>
                        <a:latin typeface="Palatino Linotype" panose="02040502050505030304" charset="0"/>
                        <a:cs typeface="Palatino Linotype" panose="02040502050505030304" charset="0"/>
                      </a:endParaRPr>
                    </a:p>
                  </a:txBody>
                  <a:tcPr marL="73152" marR="73152" marT="27432" marB="27432" anchor="ctr">
                    <a:solidFill>
                      <a:srgbClr val="F4F6F8"/>
                    </a:solidFill>
                  </a:tcPr>
                </a:tc>
              </a:tr>
            </a:tbl>
          </a:graphicData>
        </a:graphic>
      </p:graphicFrame>
      <p:sp>
        <p:nvSpPr>
          <p:cNvPr id="8" name="Source"/>
          <p:cNvSpPr txBox="1"/>
          <p:nvPr/>
        </p:nvSpPr>
        <p:spPr>
          <a:xfrm>
            <a:off x="548640" y="6355080"/>
            <a:ext cx="10424160" cy="274320"/>
          </a:xfrm>
          <a:prstGeom prst="rect">
            <a:avLst/>
          </a:prstGeom>
          <a:noFill/>
        </p:spPr>
        <p:txBody>
          <a:bodyPr wrap="square" lIns="18288" tIns="18288" rIns="18288" bIns="18288" anchor="t">
            <a:spAutoFit/>
          </a:bodyPr>
          <a:lstStyle/>
          <a:p>
            <a:pPr>
              <a:spcAft>
                <a:spcPts val="400"/>
              </a:spcAft>
            </a:pPr>
            <a:r>
              <a:rPr sz="1100" b="0" i="0">
                <a:solidFill>
                  <a:srgbClr val="8A94A6"/>
                </a:solidFill>
                <a:latin typeface="Palatino Linotype" panose="02040502050505030304" charset="0"/>
                <a:cs typeface="Palatino Linotype" panose="02040502050505030304" charset="0"/>
              </a:rPr>
              <a:t>Green dot: today · red dot: proposal · Data: Kenneth French, 10 Industry Portfolios · docs/problem.md, exact_rankings.csv</a:t>
            </a:r>
            <a:endParaRPr sz="1100" b="0" i="0">
              <a:solidFill>
                <a:srgbClr val="8A94A6"/>
              </a:solidFill>
              <a:latin typeface="Palatino Linotype" panose="02040502050505030304" charset="0"/>
              <a:cs typeface="Palatino Linotype" panose="02040502050505030304" charset="0"/>
            </a:endParaRPr>
          </a:p>
        </p:txBody>
      </p:sp>
      <p:sp>
        <p:nvSpPr>
          <p:cNvPr id="9" name="Page"/>
          <p:cNvSpPr txBox="1"/>
          <p:nvPr/>
        </p:nvSpPr>
        <p:spPr>
          <a:xfrm>
            <a:off x="11155680" y="6355080"/>
            <a:ext cx="457200" cy="274320"/>
          </a:xfrm>
          <a:prstGeom prst="rect">
            <a:avLst/>
          </a:prstGeom>
          <a:noFill/>
        </p:spPr>
        <p:txBody>
          <a:bodyPr wrap="square" lIns="18288" tIns="18288" rIns="18288" bIns="18288" anchor="t">
            <a:spAutoFit/>
          </a:bodyPr>
          <a:lstStyle/>
          <a:p>
            <a:pPr algn="r">
              <a:spcAft>
                <a:spcPts val="400"/>
              </a:spcAft>
            </a:pPr>
            <a:r>
              <a:rPr sz="1100" b="0" i="0">
                <a:solidFill>
                  <a:srgbClr val="8A94A6"/>
                </a:solidFill>
                <a:latin typeface="Palatino Linotype" panose="02040502050505030304" charset="0"/>
                <a:cs typeface="Palatino Linotype" panose="02040502050505030304" charset="0"/>
              </a:rPr>
              <a:t>3</a:t>
            </a:r>
            <a:endParaRPr sz="1100" b="0" i="0">
              <a:solidFill>
                <a:srgbClr val="8A94A6"/>
              </a:solidFill>
              <a:latin typeface="Palatino Linotype" panose="02040502050505030304" charset="0"/>
              <a:cs typeface="Palatino Linotype" panose="02040502050505030304" charset="0"/>
            </a:endParaRPr>
          </a:p>
        </p:txBody>
      </p:sp>
      <p:sp>
        <p:nvSpPr>
          <p:cNvPr id="10" name="Shape 2"/>
          <p:cNvSpPr/>
          <p:nvPr/>
        </p:nvSpPr>
        <p:spPr>
          <a:xfrm>
            <a:off x="6243955" y="1149985"/>
            <a:ext cx="702310" cy="678815"/>
          </a:xfrm>
          <a:prstGeom prst="ellipse">
            <a:avLst/>
          </a:prstGeom>
          <a:solidFill>
            <a:srgbClr val="7FD1C7"/>
          </a:solidFill>
          <a:ln w="12700">
            <a:solidFill>
              <a:srgbClr val="7FD1C7"/>
            </a:solidFill>
            <a:prstDash val="solid"/>
          </a:ln>
        </p:spPr>
        <p:txBody>
          <a:bodyPr/>
          <a:lstStyle/>
          <a:p/>
        </p:txBody>
      </p:sp>
      <p:sp>
        <p:nvSpPr>
          <p:cNvPr id="11" name="Text 3"/>
          <p:cNvSpPr txBox="1"/>
          <p:nvPr/>
        </p:nvSpPr>
        <p:spPr>
          <a:xfrm>
            <a:off x="6243955" y="1149985"/>
            <a:ext cx="702310" cy="678815"/>
          </a:xfrm>
          <a:prstGeom prst="rect">
            <a:avLst/>
          </a:prstGeom>
          <a:noFill/>
        </p:spPr>
        <p:txBody>
          <a:bodyPr wrap="square" lIns="0" tIns="0" rIns="0" bIns="0" rtlCol="0" anchor="ctr"/>
          <a:lstStyle/>
          <a:p>
            <a:pPr marL="0" indent="0" algn="ctr">
              <a:buNone/>
            </a:pPr>
            <a:r>
              <a:rPr lang="en-US" sz="1400" b="1" dirty="0">
                <a:solidFill>
                  <a:srgbClr val="14213D"/>
                </a:solidFill>
                <a:latin typeface="Calibri" panose="020F0502020204030204" pitchFamily="34" charset="0"/>
                <a:ea typeface="Calibri" panose="020F0502020204030204" pitchFamily="34" charset="-122"/>
                <a:cs typeface="Calibri" panose="020F0502020204030204" pitchFamily="34" charset="-120"/>
              </a:rPr>
              <a:t>NoDur</a:t>
            </a:r>
            <a:endParaRPr lang="en-US" sz="1400" dirty="0"/>
          </a:p>
        </p:txBody>
      </p:sp>
      <p:sp>
        <p:nvSpPr>
          <p:cNvPr id="12" name="Shape 4"/>
          <p:cNvSpPr/>
          <p:nvPr/>
        </p:nvSpPr>
        <p:spPr>
          <a:xfrm>
            <a:off x="7249795" y="1149985"/>
            <a:ext cx="702310" cy="678815"/>
          </a:xfrm>
          <a:prstGeom prst="ellipse">
            <a:avLst/>
          </a:prstGeom>
          <a:solidFill>
            <a:srgbClr val="2A3A5E"/>
          </a:solidFill>
          <a:ln w="12700">
            <a:solidFill>
              <a:srgbClr val="2A3A5E"/>
            </a:solidFill>
            <a:prstDash val="solid"/>
          </a:ln>
        </p:spPr>
        <p:txBody>
          <a:bodyPr/>
          <a:lstStyle/>
          <a:p/>
        </p:txBody>
      </p:sp>
      <p:sp>
        <p:nvSpPr>
          <p:cNvPr id="13" name="Text 5"/>
          <p:cNvSpPr txBox="1"/>
          <p:nvPr/>
        </p:nvSpPr>
        <p:spPr>
          <a:xfrm>
            <a:off x="7249795" y="1149985"/>
            <a:ext cx="702310" cy="678815"/>
          </a:xfrm>
          <a:prstGeom prst="rect">
            <a:avLst/>
          </a:prstGeom>
          <a:noFill/>
        </p:spPr>
        <p:txBody>
          <a:bodyPr wrap="square" lIns="0" tIns="0" rIns="0" bIns="0" rtlCol="0" anchor="ctr"/>
          <a:lstStyle/>
          <a:p>
            <a:pPr marL="0" indent="0" algn="ctr">
              <a:buNone/>
            </a:pPr>
            <a:r>
              <a:rPr lang="en-US" sz="1400" dirty="0">
                <a:solidFill>
                  <a:srgbClr val="BFC7D6"/>
                </a:solidFill>
                <a:latin typeface="Calibri" panose="020F0502020204030204" pitchFamily="34" charset="0"/>
                <a:ea typeface="Calibri" panose="020F0502020204030204" pitchFamily="34" charset="-122"/>
                <a:cs typeface="Calibri" panose="020F0502020204030204" pitchFamily="34" charset="-120"/>
              </a:rPr>
              <a:t>Manuf</a:t>
            </a:r>
            <a:endParaRPr lang="en-US" sz="1400" dirty="0"/>
          </a:p>
        </p:txBody>
      </p:sp>
      <p:sp>
        <p:nvSpPr>
          <p:cNvPr id="14" name="Shape 6"/>
          <p:cNvSpPr/>
          <p:nvPr/>
        </p:nvSpPr>
        <p:spPr>
          <a:xfrm>
            <a:off x="8255635" y="1149985"/>
            <a:ext cx="702310" cy="678815"/>
          </a:xfrm>
          <a:prstGeom prst="ellipse">
            <a:avLst/>
          </a:prstGeom>
          <a:solidFill>
            <a:srgbClr val="2A3A5E"/>
          </a:solidFill>
          <a:ln w="12700">
            <a:solidFill>
              <a:srgbClr val="2A3A5E"/>
            </a:solidFill>
            <a:prstDash val="solid"/>
          </a:ln>
        </p:spPr>
        <p:txBody>
          <a:bodyPr/>
          <a:lstStyle/>
          <a:p/>
        </p:txBody>
      </p:sp>
      <p:sp>
        <p:nvSpPr>
          <p:cNvPr id="15" name="Text 7"/>
          <p:cNvSpPr txBox="1"/>
          <p:nvPr/>
        </p:nvSpPr>
        <p:spPr>
          <a:xfrm>
            <a:off x="8255635" y="1149985"/>
            <a:ext cx="702310" cy="678815"/>
          </a:xfrm>
          <a:prstGeom prst="rect">
            <a:avLst/>
          </a:prstGeom>
          <a:noFill/>
        </p:spPr>
        <p:txBody>
          <a:bodyPr wrap="square" lIns="0" tIns="0" rIns="0" bIns="0" rtlCol="0" anchor="ctr"/>
          <a:lstStyle/>
          <a:p>
            <a:pPr marL="0" indent="0" algn="ctr">
              <a:buNone/>
            </a:pPr>
            <a:r>
              <a:rPr lang="en-US" sz="1400" dirty="0">
                <a:solidFill>
                  <a:srgbClr val="BFC7D6"/>
                </a:solidFill>
                <a:latin typeface="Calibri" panose="020F0502020204030204" pitchFamily="34" charset="0"/>
                <a:ea typeface="Calibri" panose="020F0502020204030204" pitchFamily="34" charset="-122"/>
                <a:cs typeface="Calibri" panose="020F0502020204030204" pitchFamily="34" charset="-120"/>
              </a:rPr>
              <a:t>Enrgy</a:t>
            </a:r>
            <a:endParaRPr lang="en-US" sz="1400" dirty="0"/>
          </a:p>
        </p:txBody>
      </p:sp>
      <p:sp>
        <p:nvSpPr>
          <p:cNvPr id="16" name="Shape 8"/>
          <p:cNvSpPr/>
          <p:nvPr/>
        </p:nvSpPr>
        <p:spPr>
          <a:xfrm>
            <a:off x="9261475" y="1149985"/>
            <a:ext cx="702310" cy="678815"/>
          </a:xfrm>
          <a:prstGeom prst="ellipse">
            <a:avLst/>
          </a:prstGeom>
          <a:solidFill>
            <a:srgbClr val="2A3A5E"/>
          </a:solidFill>
          <a:ln w="12700">
            <a:solidFill>
              <a:srgbClr val="2A3A5E"/>
            </a:solidFill>
            <a:prstDash val="solid"/>
          </a:ln>
        </p:spPr>
        <p:txBody>
          <a:bodyPr/>
          <a:lstStyle/>
          <a:p/>
        </p:txBody>
      </p:sp>
      <p:sp>
        <p:nvSpPr>
          <p:cNvPr id="17" name="Text 9"/>
          <p:cNvSpPr txBox="1"/>
          <p:nvPr/>
        </p:nvSpPr>
        <p:spPr>
          <a:xfrm>
            <a:off x="9261475" y="1149985"/>
            <a:ext cx="702310" cy="678815"/>
          </a:xfrm>
          <a:prstGeom prst="rect">
            <a:avLst/>
          </a:prstGeom>
          <a:noFill/>
        </p:spPr>
        <p:txBody>
          <a:bodyPr wrap="square" lIns="0" tIns="0" rIns="0" bIns="0" rtlCol="0" anchor="ctr"/>
          <a:lstStyle/>
          <a:p>
            <a:pPr marL="0" indent="0" algn="ctr">
              <a:buNone/>
            </a:pPr>
            <a:r>
              <a:rPr lang="en-US" sz="1400" dirty="0">
                <a:solidFill>
                  <a:srgbClr val="BFC7D6"/>
                </a:solidFill>
                <a:latin typeface="Calibri" panose="020F0502020204030204" pitchFamily="34" charset="0"/>
                <a:ea typeface="Calibri" panose="020F0502020204030204" pitchFamily="34" charset="-122"/>
                <a:cs typeface="Calibri" panose="020F0502020204030204" pitchFamily="34" charset="-120"/>
              </a:rPr>
              <a:t>HiTec</a:t>
            </a:r>
            <a:endParaRPr lang="en-US" sz="1400" dirty="0"/>
          </a:p>
        </p:txBody>
      </p:sp>
      <p:sp>
        <p:nvSpPr>
          <p:cNvPr id="18" name="Shape 10"/>
          <p:cNvSpPr/>
          <p:nvPr/>
        </p:nvSpPr>
        <p:spPr>
          <a:xfrm>
            <a:off x="10267315" y="1149985"/>
            <a:ext cx="702310" cy="678815"/>
          </a:xfrm>
          <a:prstGeom prst="ellipse">
            <a:avLst/>
          </a:prstGeom>
          <a:solidFill>
            <a:srgbClr val="7FD1C7"/>
          </a:solidFill>
          <a:ln w="12700">
            <a:solidFill>
              <a:srgbClr val="7FD1C7"/>
            </a:solidFill>
            <a:prstDash val="solid"/>
          </a:ln>
        </p:spPr>
        <p:txBody>
          <a:bodyPr/>
          <a:lstStyle/>
          <a:p/>
        </p:txBody>
      </p:sp>
      <p:sp>
        <p:nvSpPr>
          <p:cNvPr id="19" name="Text 11"/>
          <p:cNvSpPr txBox="1"/>
          <p:nvPr/>
        </p:nvSpPr>
        <p:spPr>
          <a:xfrm>
            <a:off x="10267315" y="1149985"/>
            <a:ext cx="702310" cy="678815"/>
          </a:xfrm>
          <a:prstGeom prst="rect">
            <a:avLst/>
          </a:prstGeom>
          <a:noFill/>
        </p:spPr>
        <p:txBody>
          <a:bodyPr wrap="square" lIns="0" tIns="0" rIns="0" bIns="0" rtlCol="0" anchor="ctr"/>
          <a:lstStyle/>
          <a:p>
            <a:pPr marL="0" indent="0" algn="ctr">
              <a:buNone/>
            </a:pPr>
            <a:r>
              <a:rPr lang="en-US" sz="1400" b="1" dirty="0">
                <a:solidFill>
                  <a:srgbClr val="14213D"/>
                </a:solidFill>
                <a:latin typeface="Calibri" panose="020F0502020204030204" pitchFamily="34" charset="0"/>
                <a:ea typeface="Calibri" panose="020F0502020204030204" pitchFamily="34" charset="-122"/>
                <a:cs typeface="Calibri" panose="020F0502020204030204" pitchFamily="34" charset="-120"/>
              </a:rPr>
              <a:t>Hlth</a:t>
            </a:r>
            <a:endParaRPr lang="en-US" sz="1400" dirty="0"/>
          </a:p>
        </p:txBody>
      </p:sp>
      <p:sp>
        <p:nvSpPr>
          <p:cNvPr id="20" name="Shape 12"/>
          <p:cNvSpPr/>
          <p:nvPr/>
        </p:nvSpPr>
        <p:spPr>
          <a:xfrm>
            <a:off x="11273155" y="1149985"/>
            <a:ext cx="702310" cy="678815"/>
          </a:xfrm>
          <a:prstGeom prst="ellipse">
            <a:avLst/>
          </a:prstGeom>
          <a:solidFill>
            <a:srgbClr val="7FD1C7"/>
          </a:solidFill>
          <a:ln w="12700">
            <a:solidFill>
              <a:srgbClr val="7FD1C7"/>
            </a:solidFill>
            <a:prstDash val="solid"/>
          </a:ln>
        </p:spPr>
        <p:txBody>
          <a:bodyPr/>
          <a:lstStyle/>
          <a:p/>
        </p:txBody>
      </p:sp>
      <p:sp>
        <p:nvSpPr>
          <p:cNvPr id="21" name="Text 13"/>
          <p:cNvSpPr txBox="1"/>
          <p:nvPr/>
        </p:nvSpPr>
        <p:spPr>
          <a:xfrm>
            <a:off x="11273155" y="1149985"/>
            <a:ext cx="702310" cy="678815"/>
          </a:xfrm>
          <a:prstGeom prst="rect">
            <a:avLst/>
          </a:prstGeom>
          <a:noFill/>
        </p:spPr>
        <p:txBody>
          <a:bodyPr wrap="square" lIns="0" tIns="0" rIns="0" bIns="0" rtlCol="0" anchor="ctr"/>
          <a:lstStyle/>
          <a:p>
            <a:pPr marL="0" indent="0" algn="ctr">
              <a:buNone/>
            </a:pPr>
            <a:r>
              <a:rPr lang="en-US" sz="1400" b="1" dirty="0">
                <a:solidFill>
                  <a:srgbClr val="14213D"/>
                </a:solidFill>
                <a:latin typeface="Calibri" panose="020F0502020204030204" pitchFamily="34" charset="0"/>
                <a:ea typeface="Calibri" panose="020F0502020204030204" pitchFamily="34" charset="-122"/>
                <a:cs typeface="Calibri" panose="020F0502020204030204" pitchFamily="34" charset="-120"/>
              </a:rPr>
              <a:t>Utils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Orb" descr="image.jpg"/>
          <p:cNvPicPr>
            <a:picLocks noChangeAspect="1"/>
          </p:cNvPicPr>
          <p:nvPr/>
        </p:nvPicPr>
        <p:blipFill>
          <a:blip r:embed="rId1"/>
          <a:stretch>
            <a:fillRect/>
          </a:stretch>
        </p:blipFill>
        <p:spPr>
          <a:xfrm>
            <a:off x="45720" y="1490472"/>
            <a:ext cx="12143232" cy="3877056"/>
          </a:xfrm>
          <a:prstGeom prst="rect">
            <a:avLst/>
          </a:prstGeom>
        </p:spPr>
      </p:pic>
      <p:sp>
        <p:nvSpPr>
          <p:cNvPr id="3" name="Title"/>
          <p:cNvSpPr txBox="1"/>
          <p:nvPr/>
        </p:nvSpPr>
        <p:spPr>
          <a:xfrm>
            <a:off x="548640" y="502920"/>
            <a:ext cx="11064240" cy="527685"/>
          </a:xfrm>
          <a:prstGeom prst="rect">
            <a:avLst/>
          </a:prstGeom>
          <a:noFill/>
        </p:spPr>
        <p:txBody>
          <a:bodyPr wrap="square" lIns="18288" tIns="18288" rIns="18288" bIns="18288" anchor="t">
            <a:spAutoFit/>
          </a:bodyPr>
          <a:lstStyle/>
          <a:p>
            <a:pPr>
              <a:spcAft>
                <a:spcPts val="400"/>
              </a:spcAft>
            </a:pPr>
            <a:r>
              <a:rPr sz="3200" b="1" i="0">
                <a:solidFill>
                  <a:srgbClr val="F6F3EC"/>
                </a:solidFill>
                <a:latin typeface="Palatino Linotype" panose="02040502050505030304" charset="0"/>
                <a:cs typeface="Palatino Linotype" panose="02040502050505030304" charset="0"/>
              </a:rPr>
              <a:t>Each profile has a loss limit that no return can buy</a:t>
            </a:r>
            <a:endParaRPr sz="3200" b="1" i="0">
              <a:solidFill>
                <a:srgbClr val="F6F3EC"/>
              </a:solidFill>
              <a:latin typeface="Palatino Linotype" panose="02040502050505030304" charset="0"/>
              <a:cs typeface="Palatino Linotype" panose="02040502050505030304" charset="0"/>
            </a:endParaRPr>
          </a:p>
        </p:txBody>
      </p:sp>
      <p:sp>
        <p:nvSpPr>
          <p:cNvPr id="4" name="Binding card"/>
          <p:cNvSpPr/>
          <p:nvPr/>
        </p:nvSpPr>
        <p:spPr>
          <a:xfrm>
            <a:off x="548640" y="1463040"/>
            <a:ext cx="5440680" cy="4480560"/>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alatino Linotype" panose="02040502050505030304" charset="0"/>
              <a:cs typeface="Palatino Linotype" panose="02040502050505030304" charset="0"/>
            </a:endParaRPr>
          </a:p>
        </p:txBody>
      </p:sp>
      <p:sp>
        <p:nvSpPr>
          <p:cNvPr id="5" name="Text"/>
          <p:cNvSpPr txBox="1"/>
          <p:nvPr/>
        </p:nvSpPr>
        <p:spPr>
          <a:xfrm>
            <a:off x="822960" y="1645920"/>
            <a:ext cx="4937760" cy="457200"/>
          </a:xfrm>
          <a:prstGeom prst="rect">
            <a:avLst/>
          </a:prstGeom>
          <a:noFill/>
        </p:spPr>
        <p:txBody>
          <a:bodyPr wrap="square" lIns="18288" tIns="18288" rIns="18288" bIns="18288" anchor="t">
            <a:spAutoFit/>
          </a:bodyPr>
          <a:lstStyle/>
          <a:p>
            <a:pPr>
              <a:spcAft>
                <a:spcPts val="400"/>
              </a:spcAft>
            </a:pPr>
            <a:r>
              <a:rPr sz="2400" b="1" i="0">
                <a:solidFill>
                  <a:srgbClr val="7FD1C7"/>
                </a:solidFill>
                <a:latin typeface="Palatino Linotype" panose="02040502050505030304" charset="0"/>
                <a:cs typeface="Palatino Linotype" panose="02040502050505030304" charset="0"/>
              </a:rPr>
              <a:t>Binding</a:t>
            </a:r>
            <a:endParaRPr sz="2400" b="1" i="0">
              <a:solidFill>
                <a:srgbClr val="7FD1C7"/>
              </a:solidFill>
              <a:latin typeface="Palatino Linotype" panose="02040502050505030304" charset="0"/>
              <a:cs typeface="Palatino Linotype" panose="02040502050505030304" charset="0"/>
            </a:endParaRPr>
          </a:p>
        </p:txBody>
      </p:sp>
      <p:sp>
        <p:nvSpPr>
          <p:cNvPr id="6" name="Text"/>
          <p:cNvSpPr txBox="1"/>
          <p:nvPr/>
        </p:nvSpPr>
        <p:spPr>
          <a:xfrm>
            <a:off x="822960" y="2148840"/>
            <a:ext cx="4892040" cy="457200"/>
          </a:xfrm>
          <a:prstGeom prst="rect">
            <a:avLst/>
          </a:prstGeom>
          <a:noFill/>
        </p:spPr>
        <p:txBody>
          <a:bodyPr wrap="square" lIns="18288" tIns="18288" rIns="18288" bIns="18288" anchor="t">
            <a:spAutoFit/>
          </a:bodyPr>
          <a:lstStyle/>
          <a:p>
            <a:pPr>
              <a:spcAft>
                <a:spcPts val="400"/>
              </a:spcAft>
            </a:pPr>
            <a:r>
              <a:rPr sz="1500" b="0" i="0">
                <a:solidFill>
                  <a:srgbClr val="BFC7D6"/>
                </a:solidFill>
                <a:latin typeface="Palatino Linotype" panose="02040502050505030304" charset="0"/>
                <a:cs typeface="Palatino Linotype" panose="02040502050505030304" charset="0"/>
              </a:rPr>
              <a:t>Break one and the basket is out. No amount of return buys it back.</a:t>
            </a:r>
            <a:endParaRPr sz="1500" b="0" i="0">
              <a:solidFill>
                <a:srgbClr val="BFC7D6"/>
              </a:solidFill>
              <a:latin typeface="Palatino Linotype" panose="02040502050505030304" charset="0"/>
              <a:cs typeface="Palatino Linotype" panose="02040502050505030304" charset="0"/>
            </a:endParaRPr>
          </a:p>
        </p:txBody>
      </p:sp>
      <p:sp>
        <p:nvSpPr>
          <p:cNvPr id="7" name="Text"/>
          <p:cNvSpPr txBox="1"/>
          <p:nvPr/>
        </p:nvSpPr>
        <p:spPr>
          <a:xfrm>
            <a:off x="822960" y="2743200"/>
            <a:ext cx="4892040" cy="2377440"/>
          </a:xfrm>
          <a:prstGeom prst="rect">
            <a:avLst/>
          </a:prstGeom>
          <a:noFill/>
        </p:spPr>
        <p:txBody>
          <a:bodyPr wrap="square" lIns="18288" tIns="18288" rIns="18288" bIns="18288" anchor="t">
            <a:spAutoFit/>
          </a:bodyPr>
          <a:lstStyle/>
          <a:p>
            <a:pPr marL="228600" indent="-228600">
              <a:spcAft>
                <a:spcPts val="800"/>
              </a:spcAft>
              <a:buClr>
                <a:srgbClr val="7FD1C7"/>
              </a:buClr>
              <a:buFont typeface="Arial" panose="020B0604020202020204"/>
              <a:buChar char="•"/>
            </a:pPr>
            <a:r>
              <a:rPr sz="1700" b="0" i="0">
                <a:solidFill>
                  <a:srgbClr val="F6F3EC"/>
                </a:solidFill>
                <a:latin typeface="Palatino Linotype" panose="02040502050505030304" charset="0"/>
                <a:cs typeface="Palatino Linotype" panose="02040502050505030304" charset="0"/>
              </a:rPr>
              <a:t>Exactly 3 sectors, equal weight</a:t>
            </a:r>
            <a:endParaRPr sz="1700" b="0" i="0">
              <a:solidFill>
                <a:srgbClr val="F6F3EC"/>
              </a:solidFill>
              <a:latin typeface="Palatino Linotype" panose="02040502050505030304" charset="0"/>
              <a:cs typeface="Palatino Linotype" panose="02040502050505030304" charset="0"/>
            </a:endParaRPr>
          </a:p>
          <a:p>
            <a:pPr marL="228600" indent="-228600">
              <a:spcAft>
                <a:spcPts val="800"/>
              </a:spcAft>
              <a:buClr>
                <a:srgbClr val="7FD1C7"/>
              </a:buClr>
              <a:buFont typeface="Arial" panose="020B0604020202020204"/>
              <a:buChar char="•"/>
            </a:pPr>
            <a:r>
              <a:rPr sz="1700" b="0" i="0">
                <a:solidFill>
                  <a:srgbClr val="F6F3EC"/>
                </a:solidFill>
                <a:latin typeface="Palatino Linotype" panose="02040502050505030304" charset="0"/>
                <a:cs typeface="Palatino Linotype" panose="02040502050505030304" charset="0"/>
              </a:rPr>
              <a:t>A loss month means losing more than 8% (Lena), 5% (Thomas) or 3% (Anna)</a:t>
            </a:r>
            <a:endParaRPr sz="1700" b="0" i="0">
              <a:solidFill>
                <a:srgbClr val="F6F3EC"/>
              </a:solidFill>
              <a:latin typeface="Palatino Linotype" panose="02040502050505030304" charset="0"/>
              <a:cs typeface="Palatino Linotype" panose="02040502050505030304" charset="0"/>
            </a:endParaRPr>
          </a:p>
          <a:p>
            <a:pPr marL="228600" indent="-228600">
              <a:spcAft>
                <a:spcPts val="800"/>
              </a:spcAft>
              <a:buClr>
                <a:srgbClr val="7FD1C7"/>
              </a:buClr>
              <a:buFont typeface="Arial" panose="020B0604020202020204"/>
              <a:buChar char="•"/>
            </a:pPr>
            <a:r>
              <a:rPr sz="1700" b="0" i="0">
                <a:solidFill>
                  <a:srgbClr val="F6F3EC"/>
                </a:solidFill>
                <a:latin typeface="Palatino Linotype" panose="02040502050505030304" charset="0"/>
                <a:cs typeface="Palatino Linotype" panose="02040502050505030304" charset="0"/>
              </a:rPr>
              <a:t>At most 10% of the 60 months may be loss months</a:t>
            </a:r>
            <a:endParaRPr sz="1700" b="0" i="0">
              <a:solidFill>
                <a:srgbClr val="F6F3EC"/>
              </a:solidFill>
              <a:latin typeface="Palatino Linotype" panose="02040502050505030304" charset="0"/>
              <a:cs typeface="Palatino Linotype" panose="02040502050505030304" charset="0"/>
            </a:endParaRPr>
          </a:p>
        </p:txBody>
      </p:sp>
      <p:sp>
        <p:nvSpPr>
          <p:cNvPr id="8" name="Text"/>
          <p:cNvSpPr txBox="1"/>
          <p:nvPr/>
        </p:nvSpPr>
        <p:spPr>
          <a:xfrm>
            <a:off x="822960" y="5349240"/>
            <a:ext cx="4892040" cy="457200"/>
          </a:xfrm>
          <a:prstGeom prst="rect">
            <a:avLst/>
          </a:prstGeom>
          <a:noFill/>
        </p:spPr>
        <p:txBody>
          <a:bodyPr wrap="square" lIns="18288" tIns="18288" rIns="18288" bIns="18288" anchor="t">
            <a:spAutoFit/>
          </a:bodyPr>
          <a:lstStyle/>
          <a:p>
            <a:pPr>
              <a:spcAft>
                <a:spcPts val="400"/>
              </a:spcAft>
            </a:pPr>
            <a:r>
              <a:rPr sz="1500" b="0" i="0">
                <a:solidFill>
                  <a:srgbClr val="F2B77B"/>
                </a:solidFill>
                <a:latin typeface="Palatino Linotype" panose="02040502050505030304" charset="0"/>
                <a:cs typeface="Palatino Linotype" panose="02040502050505030304" charset="0"/>
              </a:rPr>
              <a:t>Checked exactly, outside the score.</a:t>
            </a:r>
            <a:endParaRPr sz="1500" b="0" i="0">
              <a:solidFill>
                <a:srgbClr val="F2B77B"/>
              </a:solidFill>
              <a:latin typeface="Palatino Linotype" panose="02040502050505030304" charset="0"/>
              <a:cs typeface="Palatino Linotype" panose="02040502050505030304" charset="0"/>
            </a:endParaRPr>
          </a:p>
        </p:txBody>
      </p:sp>
      <p:sp>
        <p:nvSpPr>
          <p:cNvPr id="9" name="Preference card"/>
          <p:cNvSpPr/>
          <p:nvPr/>
        </p:nvSpPr>
        <p:spPr>
          <a:xfrm>
            <a:off x="6199632" y="1463040"/>
            <a:ext cx="5440680" cy="448056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alatino Linotype" panose="02040502050505030304" charset="0"/>
              <a:cs typeface="Palatino Linotype" panose="02040502050505030304" charset="0"/>
            </a:endParaRPr>
          </a:p>
        </p:txBody>
      </p:sp>
      <p:sp>
        <p:nvSpPr>
          <p:cNvPr id="10" name="Text"/>
          <p:cNvSpPr txBox="1"/>
          <p:nvPr/>
        </p:nvSpPr>
        <p:spPr>
          <a:xfrm>
            <a:off x="6473952" y="1645920"/>
            <a:ext cx="4937760" cy="457200"/>
          </a:xfrm>
          <a:prstGeom prst="rect">
            <a:avLst/>
          </a:prstGeom>
          <a:noFill/>
        </p:spPr>
        <p:txBody>
          <a:bodyPr wrap="square" lIns="18288" tIns="18288" rIns="18288" bIns="18288" anchor="t">
            <a:spAutoFit/>
          </a:bodyPr>
          <a:lstStyle/>
          <a:p>
            <a:pPr>
              <a:spcAft>
                <a:spcPts val="400"/>
              </a:spcAft>
            </a:pPr>
            <a:r>
              <a:rPr sz="2400" b="1" i="0">
                <a:solidFill>
                  <a:srgbClr val="B4561A"/>
                </a:solidFill>
                <a:latin typeface="Palatino Linotype" panose="02040502050505030304" charset="0"/>
                <a:cs typeface="Palatino Linotype" panose="02040502050505030304" charset="0"/>
              </a:rPr>
              <a:t>Preferences</a:t>
            </a:r>
            <a:endParaRPr sz="2400" b="1" i="0">
              <a:solidFill>
                <a:srgbClr val="B4561A"/>
              </a:solidFill>
              <a:latin typeface="Palatino Linotype" panose="02040502050505030304" charset="0"/>
              <a:cs typeface="Palatino Linotype" panose="02040502050505030304" charset="0"/>
            </a:endParaRPr>
          </a:p>
        </p:txBody>
      </p:sp>
      <p:sp>
        <p:nvSpPr>
          <p:cNvPr id="11" name="Text"/>
          <p:cNvSpPr txBox="1"/>
          <p:nvPr/>
        </p:nvSpPr>
        <p:spPr>
          <a:xfrm>
            <a:off x="6473952" y="2148840"/>
            <a:ext cx="4892040" cy="457200"/>
          </a:xfrm>
          <a:prstGeom prst="rect">
            <a:avLst/>
          </a:prstGeom>
          <a:noFill/>
        </p:spPr>
        <p:txBody>
          <a:bodyPr wrap="square" lIns="18288" tIns="18288" rIns="18288" bIns="18288" anchor="t">
            <a:spAutoFit/>
          </a:bodyPr>
          <a:lstStyle/>
          <a:p>
            <a:pPr>
              <a:spcAft>
                <a:spcPts val="400"/>
              </a:spcAft>
            </a:pPr>
            <a:r>
              <a:rPr sz="1500" b="0" i="0">
                <a:solidFill>
                  <a:srgbClr val="4A5568"/>
                </a:solidFill>
                <a:latin typeface="Palatino Linotype" panose="02040502050505030304" charset="0"/>
                <a:cs typeface="Palatino Linotype" panose="02040502050505030304" charset="0"/>
              </a:rPr>
              <a:t>Weighed against each other in one score.</a:t>
            </a:r>
            <a:endParaRPr sz="1500" b="0" i="0">
              <a:solidFill>
                <a:srgbClr val="4A5568"/>
              </a:solidFill>
              <a:latin typeface="Palatino Linotype" panose="02040502050505030304" charset="0"/>
              <a:cs typeface="Palatino Linotype" panose="02040502050505030304" charset="0"/>
            </a:endParaRPr>
          </a:p>
        </p:txBody>
      </p:sp>
      <p:sp>
        <p:nvSpPr>
          <p:cNvPr id="12" name="Text"/>
          <p:cNvSpPr txBox="1"/>
          <p:nvPr/>
        </p:nvSpPr>
        <p:spPr>
          <a:xfrm>
            <a:off x="6473952" y="2743200"/>
            <a:ext cx="4892040" cy="2377440"/>
          </a:xfrm>
          <a:prstGeom prst="rect">
            <a:avLst/>
          </a:prstGeom>
          <a:noFill/>
        </p:spPr>
        <p:txBody>
          <a:bodyPr wrap="square" lIns="18288" tIns="18288" rIns="18288" bIns="18288" anchor="t">
            <a:spAutoFit/>
          </a:bodyPr>
          <a:lstStyle/>
          <a:p>
            <a:pPr marL="228600" indent="-228600">
              <a:spcAft>
                <a:spcPts val="800"/>
              </a:spcAft>
              <a:buClr>
                <a:srgbClr val="B4561A"/>
              </a:buClr>
              <a:buFont typeface="Arial" panose="020B0604020202020204"/>
              <a:buChar char="•"/>
            </a:pPr>
            <a:r>
              <a:rPr sz="1700" b="0" i="0">
                <a:solidFill>
                  <a:srgbClr val="14213D"/>
                </a:solidFill>
                <a:latin typeface="Palatino Linotype" panose="02040502050505030304" charset="0"/>
                <a:cs typeface="Palatino Linotype" panose="02040502050505030304" charset="0"/>
              </a:rPr>
              <a:t>Higher return</a:t>
            </a:r>
            <a:endParaRPr sz="1700" b="0" i="0">
              <a:solidFill>
                <a:srgbClr val="14213D"/>
              </a:solidFill>
              <a:latin typeface="Palatino Linotype" panose="02040502050505030304" charset="0"/>
              <a:cs typeface="Palatino Linotype" panose="02040502050505030304" charset="0"/>
            </a:endParaRPr>
          </a:p>
          <a:p>
            <a:pPr marL="228600" indent="-228600">
              <a:spcAft>
                <a:spcPts val="800"/>
              </a:spcAft>
              <a:buClr>
                <a:srgbClr val="B4561A"/>
              </a:buClr>
              <a:buFont typeface="Arial" panose="020B0604020202020204"/>
              <a:buChar char="•"/>
            </a:pPr>
            <a:r>
              <a:rPr sz="1700" b="0" i="0">
                <a:solidFill>
                  <a:srgbClr val="14213D"/>
                </a:solidFill>
                <a:latin typeface="Palatino Linotype" panose="02040502050505030304" charset="0"/>
                <a:cs typeface="Palatino Linotype" panose="02040502050505030304" charset="0"/>
              </a:rPr>
              <a:t>Risk, weighted 1 / 5 / 20</a:t>
            </a:r>
            <a:endParaRPr sz="1700" b="0" i="0">
              <a:solidFill>
                <a:srgbClr val="14213D"/>
              </a:solidFill>
              <a:latin typeface="Palatino Linotype" panose="02040502050505030304" charset="0"/>
              <a:cs typeface="Palatino Linotype" panose="02040502050505030304" charset="0"/>
            </a:endParaRPr>
          </a:p>
          <a:p>
            <a:pPr marL="228600" indent="-228600">
              <a:spcAft>
                <a:spcPts val="800"/>
              </a:spcAft>
              <a:buClr>
                <a:srgbClr val="B4561A"/>
              </a:buClr>
              <a:buFont typeface="Arial" panose="020B0604020202020204"/>
              <a:buChar char="•"/>
            </a:pPr>
            <a:r>
              <a:rPr sz="1700" b="0" i="0">
                <a:solidFill>
                  <a:srgbClr val="14213D"/>
                </a:solidFill>
                <a:latin typeface="Palatino Linotype" panose="02040502050505030304" charset="0"/>
                <a:cs typeface="Palatino Linotype" panose="02040502050505030304" charset="0"/>
              </a:rPr>
              <a:t>Small switching cost (0.002 × turnover)</a:t>
            </a:r>
            <a:endParaRPr sz="1700" b="0" i="0">
              <a:solidFill>
                <a:srgbClr val="14213D"/>
              </a:solidFill>
              <a:latin typeface="Palatino Linotype" panose="02040502050505030304" charset="0"/>
              <a:cs typeface="Palatino Linotype" panose="02040502050505030304" charset="0"/>
            </a:endParaRPr>
          </a:p>
          <a:p>
            <a:pPr marL="228600" indent="-228600">
              <a:spcAft>
                <a:spcPts val="800"/>
              </a:spcAft>
              <a:buClr>
                <a:srgbClr val="B4561A"/>
              </a:buClr>
              <a:buFont typeface="Arial" panose="020B0604020202020204"/>
              <a:buChar char="•"/>
            </a:pPr>
            <a:r>
              <a:rPr sz="1700" b="0" i="0">
                <a:solidFill>
                  <a:srgbClr val="14213D"/>
                </a:solidFill>
                <a:latin typeface="Palatino Linotype" panose="02040502050505030304" charset="0"/>
                <a:cs typeface="Palatino Linotype" panose="02040502050505030304" charset="0"/>
              </a:rPr>
              <a:t>Tech share limit 100% / 35% / 20% (soft)</a:t>
            </a:r>
            <a:endParaRPr sz="1700" b="0" i="0">
              <a:solidFill>
                <a:srgbClr val="14213D"/>
              </a:solidFill>
              <a:latin typeface="Palatino Linotype" panose="02040502050505030304" charset="0"/>
              <a:cs typeface="Palatino Linotype" panose="02040502050505030304" charset="0"/>
            </a:endParaRPr>
          </a:p>
        </p:txBody>
      </p:sp>
      <p:sp>
        <p:nvSpPr>
          <p:cNvPr id="13" name="Text"/>
          <p:cNvSpPr txBox="1"/>
          <p:nvPr/>
        </p:nvSpPr>
        <p:spPr>
          <a:xfrm>
            <a:off x="6473952" y="5349240"/>
            <a:ext cx="4892040" cy="457200"/>
          </a:xfrm>
          <a:prstGeom prst="rect">
            <a:avLst/>
          </a:prstGeom>
          <a:noFill/>
        </p:spPr>
        <p:txBody>
          <a:bodyPr wrap="square" lIns="18288" tIns="18288" rIns="18288" bIns="18288" anchor="t">
            <a:spAutoFit/>
          </a:bodyPr>
          <a:lstStyle/>
          <a:p>
            <a:pPr>
              <a:spcAft>
                <a:spcPts val="400"/>
              </a:spcAft>
            </a:pPr>
            <a:r>
              <a:rPr sz="1500" b="0" i="0">
                <a:solidFill>
                  <a:srgbClr val="B4561A"/>
                </a:solidFill>
                <a:latin typeface="Palatino Linotype" panose="02040502050505030304" charset="0"/>
                <a:cs typeface="Palatino Linotype" panose="02040502050505030304" charset="0"/>
              </a:rPr>
              <a:t>All values: assumptions from the organiser configuration.</a:t>
            </a:r>
            <a:endParaRPr sz="1500" b="0" i="0">
              <a:solidFill>
                <a:srgbClr val="B4561A"/>
              </a:solidFill>
              <a:latin typeface="Palatino Linotype" panose="02040502050505030304" charset="0"/>
              <a:cs typeface="Palatino Linotype" panose="02040502050505030304" charset="0"/>
            </a:endParaRPr>
          </a:p>
        </p:txBody>
      </p:sp>
      <p:sp>
        <p:nvSpPr>
          <p:cNvPr id="14" name="Source"/>
          <p:cNvSpPr txBox="1"/>
          <p:nvPr/>
        </p:nvSpPr>
        <p:spPr>
          <a:xfrm>
            <a:off x="548640" y="6355080"/>
            <a:ext cx="10424160" cy="274320"/>
          </a:xfrm>
          <a:prstGeom prst="rect">
            <a:avLst/>
          </a:prstGeom>
          <a:noFill/>
        </p:spPr>
        <p:txBody>
          <a:bodyPr wrap="square" lIns="18288" tIns="18288" rIns="18288" bIns="18288" anchor="t">
            <a:spAutoFit/>
          </a:bodyPr>
          <a:lstStyle/>
          <a:p>
            <a:pPr>
              <a:spcAft>
                <a:spcPts val="400"/>
              </a:spcAft>
            </a:pPr>
            <a:r>
              <a:rPr sz="1100" b="0" i="0">
                <a:solidFill>
                  <a:srgbClr val="8A94A6"/>
                </a:solidFill>
                <a:latin typeface="Palatino Linotype" panose="02040502050505030304" charset="0"/>
                <a:cs typeface="Palatino Linotype" panose="02040502050505030304" charset="0"/>
              </a:rPr>
              <a:t>Source: src/qhf/config.py (profiles) · docs/decisions.md (tech limit made a preference on 16 Oct)</a:t>
            </a:r>
            <a:endParaRPr sz="1100" b="0" i="0">
              <a:solidFill>
                <a:srgbClr val="8A94A6"/>
              </a:solidFill>
              <a:latin typeface="Palatino Linotype" panose="02040502050505030304" charset="0"/>
              <a:cs typeface="Palatino Linotype" panose="02040502050505030304" charset="0"/>
            </a:endParaRPr>
          </a:p>
        </p:txBody>
      </p:sp>
      <p:sp>
        <p:nvSpPr>
          <p:cNvPr id="15" name="Page"/>
          <p:cNvSpPr txBox="1"/>
          <p:nvPr/>
        </p:nvSpPr>
        <p:spPr>
          <a:xfrm>
            <a:off x="11155680" y="6355080"/>
            <a:ext cx="457200" cy="274320"/>
          </a:xfrm>
          <a:prstGeom prst="rect">
            <a:avLst/>
          </a:prstGeom>
          <a:noFill/>
        </p:spPr>
        <p:txBody>
          <a:bodyPr wrap="square" lIns="18288" tIns="18288" rIns="18288" bIns="18288" anchor="t">
            <a:spAutoFit/>
          </a:bodyPr>
          <a:lstStyle/>
          <a:p>
            <a:pPr algn="r">
              <a:spcAft>
                <a:spcPts val="400"/>
              </a:spcAft>
            </a:pPr>
            <a:r>
              <a:rPr sz="1100" b="0" i="0">
                <a:solidFill>
                  <a:srgbClr val="8A94A6"/>
                </a:solidFill>
                <a:latin typeface="Palatino Linotype" panose="02040502050505030304" charset="0"/>
                <a:cs typeface="Palatino Linotype" panose="02040502050505030304" charset="0"/>
              </a:rPr>
              <a:t>4</a:t>
            </a:r>
            <a:endParaRPr sz="1100" b="0" i="0">
              <a:solidFill>
                <a:srgbClr val="8A94A6"/>
              </a:solidFill>
              <a:latin typeface="Palatino Linotype" panose="02040502050505030304" charset="0"/>
              <a:cs typeface="Palatino Linotype" panose="0204050205050503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txBox="1"/>
          <p:nvPr/>
        </p:nvSpPr>
        <p:spPr>
          <a:xfrm>
            <a:off x="548640" y="502920"/>
            <a:ext cx="11064240" cy="527685"/>
          </a:xfrm>
          <a:prstGeom prst="rect">
            <a:avLst/>
          </a:prstGeom>
          <a:noFill/>
        </p:spPr>
        <p:txBody>
          <a:bodyPr wrap="square" lIns="18288" tIns="18288" rIns="18288" bIns="18288" anchor="t">
            <a:spAutoFit/>
          </a:bodyPr>
          <a:lstStyle/>
          <a:p>
            <a:pPr>
              <a:spcAft>
                <a:spcPts val="400"/>
              </a:spcAft>
            </a:pPr>
            <a:r>
              <a:rPr sz="3200" b="1" i="0">
                <a:solidFill>
                  <a:srgbClr val="F6F3EC"/>
                </a:solidFill>
                <a:latin typeface="Palatino Linotype" panose="02040502050505030304" charset="0"/>
                <a:cs typeface="Palatino Linotype" panose="02040502050505030304" charset="0"/>
              </a:rPr>
              <a:t>Score every basket; check the loss limit separately</a:t>
            </a:r>
            <a:endParaRPr sz="3200" b="1" i="0">
              <a:solidFill>
                <a:srgbClr val="F6F3EC"/>
              </a:solidFill>
              <a:latin typeface="Palatino Linotype" panose="02040502050505030304" charset="0"/>
              <a:cs typeface="Palatino Linotype" panose="02040502050505030304" charset="0"/>
            </a:endParaRPr>
          </a:p>
        </p:txBody>
      </p:sp>
      <p:sp>
        <p:nvSpPr>
          <p:cNvPr id="3" name="Subtitle"/>
          <p:cNvSpPr txBox="1"/>
          <p:nvPr/>
        </p:nvSpPr>
        <p:spPr>
          <a:xfrm>
            <a:off x="548640" y="1143000"/>
            <a:ext cx="11064240" cy="411480"/>
          </a:xfrm>
          <a:prstGeom prst="rect">
            <a:avLst/>
          </a:prstGeom>
          <a:noFill/>
        </p:spPr>
        <p:txBody>
          <a:bodyPr wrap="square" lIns="18288" tIns="18288" rIns="18288" bIns="18288" anchor="t">
            <a:spAutoFit/>
          </a:bodyPr>
          <a:lstStyle/>
          <a:p>
            <a:pPr>
              <a:spcAft>
                <a:spcPts val="400"/>
              </a:spcAft>
            </a:pPr>
            <a:r>
              <a:rPr sz="1600" b="0" i="0">
                <a:solidFill>
                  <a:srgbClr val="D9DEE8"/>
                </a:solidFill>
                <a:latin typeface="Palatino Linotype" panose="02040502050505030304" charset="0"/>
                <a:cs typeface="Palatino Linotype" panose="02040502050505030304" charset="0"/>
              </a:rPr>
              <a:t>In our code: the scorecard (block 02)</a:t>
            </a:r>
            <a:endParaRPr sz="1600" b="0" i="0">
              <a:solidFill>
                <a:srgbClr val="D9DEE8"/>
              </a:solidFill>
              <a:latin typeface="Palatino Linotype" panose="02040502050505030304" charset="0"/>
              <a:cs typeface="Palatino Linotype" panose="02040502050505030304" charset="0"/>
            </a:endParaRPr>
          </a:p>
        </p:txBody>
      </p:sp>
      <p:sp>
        <p:nvSpPr>
          <p:cNvPr id="4" name="Code"/>
          <p:cNvSpPr/>
          <p:nvPr/>
        </p:nvSpPr>
        <p:spPr>
          <a:xfrm>
            <a:off x="548640" y="1555115"/>
            <a:ext cx="11064875" cy="3194685"/>
          </a:xfrm>
          <a:prstGeom prst="roundRect">
            <a:avLst>
              <a:gd name="adj" fmla="val 6000"/>
            </a:avLst>
          </a:prstGeom>
          <a:solidFill>
            <a:srgbClr val="0F1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alatino Linotype" panose="02040502050505030304" charset="0"/>
              <a:cs typeface="Palatino Linotype" panose="02040502050505030304" charset="0"/>
            </a:endParaRPr>
          </a:p>
        </p:txBody>
      </p:sp>
      <p:grpSp>
        <p:nvGrpSpPr>
          <p:cNvPr id="17" name="组合 16"/>
          <p:cNvGrpSpPr/>
          <p:nvPr>
            <p:custDataLst>
              <p:tags r:id="rId1"/>
            </p:custDataLst>
          </p:nvPr>
        </p:nvGrpSpPr>
        <p:grpSpPr>
          <a:xfrm>
            <a:off x="570230" y="4966970"/>
            <a:ext cx="3566160" cy="1234440"/>
            <a:chOff x="864" y="7848"/>
            <a:chExt cx="5616" cy="1944"/>
          </a:xfrm>
        </p:grpSpPr>
        <p:sp>
          <p:nvSpPr>
            <p:cNvPr id="6" name="Card"/>
            <p:cNvSpPr/>
            <p:nvPr>
              <p:custDataLst>
                <p:tags r:id="rId2"/>
              </p:custDataLst>
            </p:nvPr>
          </p:nvSpPr>
          <p:spPr>
            <a:xfrm>
              <a:off x="864" y="7848"/>
              <a:ext cx="5616" cy="1944"/>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alatino Linotype" panose="02040502050505030304" charset="0"/>
                <a:cs typeface="Palatino Linotype" panose="02040502050505030304" charset="0"/>
              </a:endParaRPr>
            </a:p>
          </p:txBody>
        </p:sp>
        <p:sp>
          <p:nvSpPr>
            <p:cNvPr id="7" name="Text"/>
            <p:cNvSpPr txBox="1"/>
            <p:nvPr>
              <p:custDataLst>
                <p:tags r:id="rId3"/>
              </p:custDataLst>
            </p:nvPr>
          </p:nvSpPr>
          <p:spPr>
            <a:xfrm>
              <a:off x="1152" y="8021"/>
              <a:ext cx="5040" cy="576"/>
            </a:xfrm>
            <a:prstGeom prst="rect">
              <a:avLst/>
            </a:prstGeom>
            <a:noFill/>
          </p:spPr>
          <p:txBody>
            <a:bodyPr wrap="square" lIns="18288" tIns="18288" rIns="18288" bIns="18288" anchor="t">
              <a:spAutoFit/>
            </a:bodyPr>
            <a:lstStyle/>
            <a:p>
              <a:pPr>
                <a:spcAft>
                  <a:spcPts val="400"/>
                </a:spcAft>
              </a:pPr>
              <a:r>
                <a:rPr sz="1600" b="1" i="0">
                  <a:solidFill>
                    <a:srgbClr val="17756F"/>
                  </a:solidFill>
                  <a:latin typeface="Palatino Linotype" panose="02040502050505030304" charset="0"/>
                  <a:cs typeface="Palatino Linotype" panose="02040502050505030304" charset="0"/>
                </a:rPr>
                <a:t>① Reward</a:t>
              </a:r>
              <a:endParaRPr sz="1600" b="1" i="0">
                <a:solidFill>
                  <a:srgbClr val="17756F"/>
                </a:solidFill>
                <a:latin typeface="Palatino Linotype" panose="02040502050505030304" charset="0"/>
                <a:cs typeface="Palatino Linotype" panose="02040502050505030304" charset="0"/>
              </a:endParaRPr>
            </a:p>
          </p:txBody>
        </p:sp>
        <p:sp>
          <p:nvSpPr>
            <p:cNvPr id="8" name="Text"/>
            <p:cNvSpPr txBox="1"/>
            <p:nvPr>
              <p:custDataLst>
                <p:tags r:id="rId4"/>
              </p:custDataLst>
            </p:nvPr>
          </p:nvSpPr>
          <p:spPr>
            <a:xfrm>
              <a:off x="1152" y="8640"/>
              <a:ext cx="5040" cy="1008"/>
            </a:xfrm>
            <a:prstGeom prst="rect">
              <a:avLst/>
            </a:prstGeom>
            <a:noFill/>
          </p:spPr>
          <p:txBody>
            <a:bodyPr wrap="square" lIns="18288" tIns="18288" rIns="18288" bIns="18288" anchor="t">
              <a:spAutoFit/>
            </a:bodyPr>
            <a:lstStyle/>
            <a:p>
              <a:pPr>
                <a:spcAft>
                  <a:spcPts val="400"/>
                </a:spcAft>
              </a:pPr>
              <a:r>
                <a:rPr sz="1400" b="0" i="0">
                  <a:solidFill>
                    <a:srgbClr val="4A5568"/>
                  </a:solidFill>
                  <a:latin typeface="Palatino Linotype" panose="02040502050505030304" charset="0"/>
                  <a:cs typeface="Palatino Linotype" panose="02040502050505030304" charset="0"/>
                </a:rPr>
                <a:t>Higher average return lowers the score.</a:t>
              </a:r>
              <a:endParaRPr sz="1400" b="0" i="0">
                <a:solidFill>
                  <a:srgbClr val="4A5568"/>
                </a:solidFill>
                <a:latin typeface="Palatino Linotype" panose="02040502050505030304" charset="0"/>
                <a:cs typeface="Palatino Linotype" panose="02040502050505030304" charset="0"/>
              </a:endParaRPr>
            </a:p>
          </p:txBody>
        </p:sp>
      </p:grpSp>
      <p:grpSp>
        <p:nvGrpSpPr>
          <p:cNvPr id="18" name="组合 17"/>
          <p:cNvGrpSpPr/>
          <p:nvPr>
            <p:custDataLst>
              <p:tags r:id="rId5"/>
            </p:custDataLst>
          </p:nvPr>
        </p:nvGrpSpPr>
        <p:grpSpPr>
          <a:xfrm>
            <a:off x="4308475" y="4966970"/>
            <a:ext cx="3566160" cy="1234440"/>
            <a:chOff x="6768" y="7848"/>
            <a:chExt cx="5616" cy="1944"/>
          </a:xfrm>
        </p:grpSpPr>
        <p:sp>
          <p:nvSpPr>
            <p:cNvPr id="9" name="Card"/>
            <p:cNvSpPr/>
            <p:nvPr>
              <p:custDataLst>
                <p:tags r:id="rId6"/>
              </p:custDataLst>
            </p:nvPr>
          </p:nvSpPr>
          <p:spPr>
            <a:xfrm>
              <a:off x="6768" y="7848"/>
              <a:ext cx="5616" cy="1944"/>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alatino Linotype" panose="02040502050505030304" charset="0"/>
                <a:cs typeface="Palatino Linotype" panose="02040502050505030304" charset="0"/>
              </a:endParaRPr>
            </a:p>
          </p:txBody>
        </p:sp>
        <p:sp>
          <p:nvSpPr>
            <p:cNvPr id="10" name="Text"/>
            <p:cNvSpPr txBox="1"/>
            <p:nvPr>
              <p:custDataLst>
                <p:tags r:id="rId7"/>
              </p:custDataLst>
            </p:nvPr>
          </p:nvSpPr>
          <p:spPr>
            <a:xfrm>
              <a:off x="7056" y="8021"/>
              <a:ext cx="5040" cy="576"/>
            </a:xfrm>
            <a:prstGeom prst="rect">
              <a:avLst/>
            </a:prstGeom>
            <a:noFill/>
          </p:spPr>
          <p:txBody>
            <a:bodyPr wrap="square" lIns="18288" tIns="18288" rIns="18288" bIns="18288" anchor="t">
              <a:spAutoFit/>
            </a:bodyPr>
            <a:lstStyle/>
            <a:p>
              <a:pPr>
                <a:spcAft>
                  <a:spcPts val="400"/>
                </a:spcAft>
              </a:pPr>
              <a:r>
                <a:rPr sz="1600" b="1" i="0">
                  <a:solidFill>
                    <a:srgbClr val="17756F"/>
                  </a:solidFill>
                  <a:latin typeface="Palatino Linotype" panose="02040502050505030304" charset="0"/>
                  <a:cs typeface="Palatino Linotype" panose="02040502050505030304" charset="0"/>
                </a:rPr>
                <a:t>② Risk, per saver</a:t>
              </a:r>
              <a:endParaRPr sz="1600" b="1" i="0">
                <a:solidFill>
                  <a:srgbClr val="17756F"/>
                </a:solidFill>
                <a:latin typeface="Palatino Linotype" panose="02040502050505030304" charset="0"/>
                <a:cs typeface="Palatino Linotype" panose="02040502050505030304" charset="0"/>
              </a:endParaRPr>
            </a:p>
          </p:txBody>
        </p:sp>
        <p:sp>
          <p:nvSpPr>
            <p:cNvPr id="11" name="Text"/>
            <p:cNvSpPr txBox="1"/>
            <p:nvPr>
              <p:custDataLst>
                <p:tags r:id="rId8"/>
              </p:custDataLst>
            </p:nvPr>
          </p:nvSpPr>
          <p:spPr>
            <a:xfrm>
              <a:off x="7056" y="8640"/>
              <a:ext cx="5040" cy="1008"/>
            </a:xfrm>
            <a:prstGeom prst="rect">
              <a:avLst/>
            </a:prstGeom>
            <a:noFill/>
          </p:spPr>
          <p:txBody>
            <a:bodyPr wrap="square" lIns="18288" tIns="18288" rIns="18288" bIns="18288" anchor="t">
              <a:spAutoFit/>
            </a:bodyPr>
            <a:lstStyle/>
            <a:p>
              <a:pPr>
                <a:spcAft>
                  <a:spcPts val="400"/>
                </a:spcAft>
              </a:pPr>
              <a:r>
                <a:rPr sz="1400" b="0" i="0">
                  <a:solidFill>
                    <a:srgbClr val="4A5568"/>
                  </a:solidFill>
                  <a:latin typeface="Palatino Linotype" panose="02040502050505030304" charset="0"/>
                  <a:cs typeface="Palatino Linotype" panose="02040502050505030304" charset="0"/>
                </a:rPr>
                <a:t>Swings count 1× for Lena, 20× for Anna.</a:t>
              </a:r>
              <a:endParaRPr sz="1400" b="0" i="0">
                <a:solidFill>
                  <a:srgbClr val="4A5568"/>
                </a:solidFill>
                <a:latin typeface="Palatino Linotype" panose="02040502050505030304" charset="0"/>
                <a:cs typeface="Palatino Linotype" panose="02040502050505030304" charset="0"/>
              </a:endParaRPr>
            </a:p>
          </p:txBody>
        </p:sp>
      </p:grpSp>
      <p:grpSp>
        <p:nvGrpSpPr>
          <p:cNvPr id="19" name="组合 18"/>
          <p:cNvGrpSpPr/>
          <p:nvPr>
            <p:custDataLst>
              <p:tags r:id="rId9"/>
            </p:custDataLst>
          </p:nvPr>
        </p:nvGrpSpPr>
        <p:grpSpPr>
          <a:xfrm>
            <a:off x="8046720" y="4966970"/>
            <a:ext cx="3566160" cy="1234440"/>
            <a:chOff x="12672" y="7848"/>
            <a:chExt cx="5616" cy="1944"/>
          </a:xfrm>
        </p:grpSpPr>
        <p:sp>
          <p:nvSpPr>
            <p:cNvPr id="12" name="Card"/>
            <p:cNvSpPr/>
            <p:nvPr>
              <p:custDataLst>
                <p:tags r:id="rId10"/>
              </p:custDataLst>
            </p:nvPr>
          </p:nvSpPr>
          <p:spPr>
            <a:xfrm>
              <a:off x="12672" y="7848"/>
              <a:ext cx="5616" cy="1944"/>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alatino Linotype" panose="02040502050505030304" charset="0"/>
                <a:cs typeface="Palatino Linotype" panose="02040502050505030304" charset="0"/>
              </a:endParaRPr>
            </a:p>
          </p:txBody>
        </p:sp>
        <p:sp>
          <p:nvSpPr>
            <p:cNvPr id="13" name="Text"/>
            <p:cNvSpPr txBox="1"/>
            <p:nvPr>
              <p:custDataLst>
                <p:tags r:id="rId11"/>
              </p:custDataLst>
            </p:nvPr>
          </p:nvSpPr>
          <p:spPr>
            <a:xfrm>
              <a:off x="12960" y="8021"/>
              <a:ext cx="5040" cy="576"/>
            </a:xfrm>
            <a:prstGeom prst="rect">
              <a:avLst/>
            </a:prstGeom>
            <a:noFill/>
          </p:spPr>
          <p:txBody>
            <a:bodyPr wrap="square" lIns="18288" tIns="18288" rIns="18288" bIns="18288" anchor="t">
              <a:spAutoFit/>
            </a:bodyPr>
            <a:lstStyle/>
            <a:p>
              <a:pPr>
                <a:spcAft>
                  <a:spcPts val="400"/>
                </a:spcAft>
              </a:pPr>
              <a:r>
                <a:rPr sz="1600" b="1" i="0">
                  <a:solidFill>
                    <a:srgbClr val="B4561A"/>
                  </a:solidFill>
                  <a:latin typeface="Palatino Linotype" panose="02040502050505030304" charset="0"/>
                  <a:cs typeface="Palatino Linotype" panose="02040502050505030304" charset="0"/>
                </a:rPr>
                <a:t>③ Loss limit: yes or no</a:t>
              </a:r>
              <a:endParaRPr sz="1600" b="1" i="0">
                <a:solidFill>
                  <a:srgbClr val="B4561A"/>
                </a:solidFill>
                <a:latin typeface="Palatino Linotype" panose="02040502050505030304" charset="0"/>
                <a:cs typeface="Palatino Linotype" panose="02040502050505030304" charset="0"/>
              </a:endParaRPr>
            </a:p>
          </p:txBody>
        </p:sp>
        <p:sp>
          <p:nvSpPr>
            <p:cNvPr id="14" name="Text"/>
            <p:cNvSpPr txBox="1"/>
            <p:nvPr>
              <p:custDataLst>
                <p:tags r:id="rId12"/>
              </p:custDataLst>
            </p:nvPr>
          </p:nvSpPr>
          <p:spPr>
            <a:xfrm>
              <a:off x="12960" y="8640"/>
              <a:ext cx="5040" cy="1008"/>
            </a:xfrm>
            <a:prstGeom prst="rect">
              <a:avLst/>
            </a:prstGeom>
            <a:noFill/>
          </p:spPr>
          <p:txBody>
            <a:bodyPr wrap="square" lIns="18288" tIns="18288" rIns="18288" bIns="18288" anchor="t">
              <a:spAutoFit/>
            </a:bodyPr>
            <a:lstStyle/>
            <a:p>
              <a:pPr>
                <a:spcAft>
                  <a:spcPts val="400"/>
                </a:spcAft>
              </a:pPr>
              <a:r>
                <a:rPr sz="1400" b="0" i="0">
                  <a:solidFill>
                    <a:srgbClr val="4A5568"/>
                  </a:solidFill>
                  <a:latin typeface="Palatino Linotype" panose="02040502050505030304" charset="0"/>
                  <a:cs typeface="Palatino Linotype" panose="02040502050505030304" charset="0"/>
                </a:rPr>
                <a:t>Counts loss months. Not in the score, so return can never buy it.</a:t>
              </a:r>
              <a:endParaRPr sz="1400" b="0" i="0">
                <a:solidFill>
                  <a:srgbClr val="4A5568"/>
                </a:solidFill>
                <a:latin typeface="Palatino Linotype" panose="02040502050505030304" charset="0"/>
                <a:cs typeface="Palatino Linotype" panose="02040502050505030304" charset="0"/>
              </a:endParaRPr>
            </a:p>
          </p:txBody>
        </p:sp>
      </p:grpSp>
      <p:sp>
        <p:nvSpPr>
          <p:cNvPr id="15" name="Source"/>
          <p:cNvSpPr txBox="1"/>
          <p:nvPr/>
        </p:nvSpPr>
        <p:spPr>
          <a:xfrm>
            <a:off x="548640" y="6355080"/>
            <a:ext cx="10424160" cy="274320"/>
          </a:xfrm>
          <a:prstGeom prst="rect">
            <a:avLst/>
          </a:prstGeom>
          <a:noFill/>
        </p:spPr>
        <p:txBody>
          <a:bodyPr wrap="square" lIns="18288" tIns="18288" rIns="18288" bIns="18288" anchor="t">
            <a:spAutoFit/>
          </a:bodyPr>
          <a:lstStyle/>
          <a:p>
            <a:pPr>
              <a:spcAft>
                <a:spcPts val="400"/>
              </a:spcAft>
            </a:pPr>
            <a:r>
              <a:rPr sz="1100" b="0" i="0">
                <a:solidFill>
                  <a:srgbClr val="8A94A6"/>
                </a:solidFill>
                <a:latin typeface="Palatino Linotype" panose="02040502050505030304" charset="0"/>
                <a:cs typeface="Palatino Linotype" panose="02040502050505030304" charset="0"/>
              </a:rPr>
              <a:t>Shortened from src/qhf/portfolio.py (holding-horizon factor omitted); comments added for this slide</a:t>
            </a:r>
            <a:endParaRPr sz="1100" b="0" i="0">
              <a:solidFill>
                <a:srgbClr val="8A94A6"/>
              </a:solidFill>
              <a:latin typeface="Palatino Linotype" panose="02040502050505030304" charset="0"/>
              <a:cs typeface="Palatino Linotype" panose="02040502050505030304" charset="0"/>
            </a:endParaRPr>
          </a:p>
        </p:txBody>
      </p:sp>
      <p:sp>
        <p:nvSpPr>
          <p:cNvPr id="16" name="Page"/>
          <p:cNvSpPr txBox="1"/>
          <p:nvPr/>
        </p:nvSpPr>
        <p:spPr>
          <a:xfrm>
            <a:off x="11155680" y="6355080"/>
            <a:ext cx="457200" cy="274320"/>
          </a:xfrm>
          <a:prstGeom prst="rect">
            <a:avLst/>
          </a:prstGeom>
          <a:noFill/>
        </p:spPr>
        <p:txBody>
          <a:bodyPr wrap="square" lIns="18288" tIns="18288" rIns="18288" bIns="18288" anchor="t">
            <a:spAutoFit/>
          </a:bodyPr>
          <a:lstStyle/>
          <a:p>
            <a:pPr algn="r">
              <a:spcAft>
                <a:spcPts val="400"/>
              </a:spcAft>
            </a:pPr>
            <a:r>
              <a:rPr sz="1100" b="0" i="0">
                <a:solidFill>
                  <a:srgbClr val="8A94A6"/>
                </a:solidFill>
                <a:latin typeface="Palatino Linotype" panose="02040502050505030304" charset="0"/>
                <a:cs typeface="Palatino Linotype" panose="02040502050505030304" charset="0"/>
              </a:rPr>
              <a:t>5</a:t>
            </a:r>
            <a:endParaRPr sz="1100" b="0" i="0">
              <a:solidFill>
                <a:srgbClr val="8A94A6"/>
              </a:solidFill>
              <a:latin typeface="Palatino Linotype" panose="02040502050505030304" charset="0"/>
              <a:cs typeface="Palatino Linotype" panose="02040502050505030304" charset="0"/>
            </a:endParaRPr>
          </a:p>
        </p:txBody>
      </p:sp>
      <p:pic>
        <p:nvPicPr>
          <p:cNvPr id="20" name="图片 19"/>
          <p:cNvPicPr>
            <a:picLocks noChangeAspect="1"/>
          </p:cNvPicPr>
          <p:nvPr/>
        </p:nvPicPr>
        <p:blipFill>
          <a:blip r:embed="rId13"/>
          <a:srcRect b="49066"/>
          <a:stretch>
            <a:fillRect/>
          </a:stretch>
        </p:blipFill>
        <p:spPr>
          <a:xfrm>
            <a:off x="654685" y="1729105"/>
            <a:ext cx="5274945" cy="2766060"/>
          </a:xfrm>
          <a:prstGeom prst="rect">
            <a:avLst/>
          </a:prstGeom>
        </p:spPr>
      </p:pic>
      <p:pic>
        <p:nvPicPr>
          <p:cNvPr id="21" name="图片 20"/>
          <p:cNvPicPr>
            <a:picLocks noChangeAspect="1"/>
          </p:cNvPicPr>
          <p:nvPr/>
        </p:nvPicPr>
        <p:blipFill>
          <a:blip r:embed="rId13"/>
          <a:srcRect t="51175"/>
          <a:stretch>
            <a:fillRect/>
          </a:stretch>
        </p:blipFill>
        <p:spPr>
          <a:xfrm>
            <a:off x="6149340" y="1784985"/>
            <a:ext cx="5280660" cy="26543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Orb" descr="image.jpg"/>
          <p:cNvPicPr>
            <a:picLocks noChangeAspect="1"/>
          </p:cNvPicPr>
          <p:nvPr/>
        </p:nvPicPr>
        <p:blipFill>
          <a:blip r:embed="rId1"/>
          <a:stretch>
            <a:fillRect/>
          </a:stretch>
        </p:blipFill>
        <p:spPr>
          <a:xfrm>
            <a:off x="45720" y="1490472"/>
            <a:ext cx="12143232" cy="3877056"/>
          </a:xfrm>
          <a:prstGeom prst="rect">
            <a:avLst/>
          </a:prstGeom>
        </p:spPr>
      </p:pic>
      <p:sp>
        <p:nvSpPr>
          <p:cNvPr id="3" name="Title"/>
          <p:cNvSpPr txBox="1"/>
          <p:nvPr/>
        </p:nvSpPr>
        <p:spPr>
          <a:xfrm>
            <a:off x="548640" y="502920"/>
            <a:ext cx="11064240" cy="527685"/>
          </a:xfrm>
          <a:prstGeom prst="rect">
            <a:avLst/>
          </a:prstGeom>
          <a:noFill/>
        </p:spPr>
        <p:txBody>
          <a:bodyPr wrap="square" lIns="18288" tIns="18288" rIns="18288" bIns="18288" anchor="t">
            <a:spAutoFit/>
          </a:bodyPr>
          <a:lstStyle/>
          <a:p>
            <a:pPr>
              <a:spcAft>
                <a:spcPts val="400"/>
              </a:spcAft>
            </a:pPr>
            <a:r>
              <a:rPr sz="3200" b="1" i="0">
                <a:solidFill>
                  <a:srgbClr val="F6F3EC"/>
                </a:solidFill>
                <a:latin typeface="Palatino Linotype" panose="02040502050505030304" charset="0"/>
                <a:cs typeface="Palatino Linotype" panose="02040502050505030304" charset="0"/>
              </a:rPr>
              <a:t>Only Thomas’s best basket changes under stress</a:t>
            </a:r>
            <a:endParaRPr sz="3200" b="1" i="0">
              <a:solidFill>
                <a:srgbClr val="F6F3EC"/>
              </a:solidFill>
              <a:latin typeface="Palatino Linotype" panose="02040502050505030304" charset="0"/>
              <a:cs typeface="Palatino Linotype" panose="02040502050505030304" charset="0"/>
            </a:endParaRPr>
          </a:p>
        </p:txBody>
      </p:sp>
      <p:sp>
        <p:nvSpPr>
          <p:cNvPr id="4" name="Subtitle"/>
          <p:cNvSpPr txBox="1"/>
          <p:nvPr/>
        </p:nvSpPr>
        <p:spPr>
          <a:xfrm>
            <a:off x="548640" y="1143000"/>
            <a:ext cx="11064240" cy="411480"/>
          </a:xfrm>
          <a:prstGeom prst="rect">
            <a:avLst/>
          </a:prstGeom>
          <a:noFill/>
        </p:spPr>
        <p:txBody>
          <a:bodyPr wrap="square" lIns="18288" tIns="18288" rIns="18288" bIns="18288" anchor="t">
            <a:spAutoFit/>
          </a:bodyPr>
          <a:lstStyle/>
          <a:p>
            <a:pPr>
              <a:spcAft>
                <a:spcPts val="400"/>
              </a:spcAft>
            </a:pPr>
            <a:r>
              <a:rPr sz="1600" b="0" i="0">
                <a:solidFill>
                  <a:srgbClr val="D9DEE8"/>
                </a:solidFill>
                <a:latin typeface="Palatino Linotype" panose="02040502050505030304" charset="0"/>
                <a:cs typeface="Palatino Linotype" panose="02040502050505030304" charset="0"/>
              </a:rPr>
              <a:t>Result 1 · the exact answer key: all 20 baskets scored in 3 test settings</a:t>
            </a:r>
            <a:endParaRPr sz="1600" b="0" i="0">
              <a:solidFill>
                <a:srgbClr val="D9DEE8"/>
              </a:solidFill>
              <a:latin typeface="Palatino Linotype" panose="02040502050505030304" charset="0"/>
              <a:cs typeface="Palatino Linotype" panose="02040502050505030304" charset="0"/>
            </a:endParaRPr>
          </a:p>
        </p:txBody>
      </p:sp>
      <p:graphicFrame>
        <p:nvGraphicFramePr>
          <p:cNvPr id="5" name="Table"/>
          <p:cNvGraphicFramePr>
            <a:graphicFrameLocks noGrp="1"/>
          </p:cNvGraphicFramePr>
          <p:nvPr/>
        </p:nvGraphicFramePr>
        <p:xfrm>
          <a:off x="548640" y="1783080"/>
          <a:ext cx="11064240" cy="2286000"/>
        </p:xfrm>
        <a:graphic>
          <a:graphicData uri="http://schemas.openxmlformats.org/drawingml/2006/table">
            <a:tbl>
              <a:tblPr/>
              <a:tblGrid>
                <a:gridCol w="3108960"/>
                <a:gridCol w="2651760"/>
                <a:gridCol w="2651760"/>
                <a:gridCol w="2651760"/>
              </a:tblGrid>
              <a:tr h="457200">
                <a:tc>
                  <a:txBody>
                    <a:bodyPr wrap="square"/>
                    <a:lstStyle/>
                    <a:p>
                      <a:r>
                        <a:rPr sz="1600" b="1" i="0">
                          <a:solidFill>
                            <a:srgbClr val="F6F3EC"/>
                          </a:solidFill>
                          <a:latin typeface="Palatino Linotype" panose="02040502050505030304" charset="0"/>
                          <a:cs typeface="Palatino Linotype" panose="02040502050505030304" charset="0"/>
                        </a:rPr>
                        <a:t>Best basket</a:t>
                      </a:r>
                      <a:endParaRPr sz="1600" b="1" i="0">
                        <a:solidFill>
                          <a:srgbClr val="F6F3EC"/>
                        </a:solidFill>
                        <a:latin typeface="Palatino Linotype" panose="02040502050505030304" charset="0"/>
                        <a:cs typeface="Palatino Linotype" panose="02040502050505030304" charset="0"/>
                      </a:endParaRPr>
                    </a:p>
                  </a:txBody>
                  <a:tcPr marL="73152" marR="73152" marT="27432" marB="27432" anchor="ctr">
                    <a:solidFill>
                      <a:srgbClr val="14213D"/>
                    </a:solidFill>
                  </a:tcPr>
                </a:tc>
                <a:tc>
                  <a:txBody>
                    <a:bodyPr wrap="square"/>
                    <a:lstStyle/>
                    <a:p>
                      <a:pPr algn="ctr"/>
                      <a:r>
                        <a:rPr sz="1600" b="1" i="0">
                          <a:solidFill>
                            <a:srgbClr val="F6F3EC"/>
                          </a:solidFill>
                          <a:latin typeface="Palatino Linotype" panose="02040502050505030304" charset="0"/>
                          <a:cs typeface="Palatino Linotype" panose="02040502050505030304" charset="0"/>
                        </a:rPr>
                        <a:t>Base case</a:t>
                      </a:r>
                      <a:endParaRPr sz="1600" b="1" i="0">
                        <a:solidFill>
                          <a:srgbClr val="F6F3EC"/>
                        </a:solidFill>
                        <a:latin typeface="Palatino Linotype" panose="02040502050505030304" charset="0"/>
                        <a:cs typeface="Palatino Linotype" panose="02040502050505030304" charset="0"/>
                      </a:endParaRPr>
                    </a:p>
                  </a:txBody>
                  <a:tcPr marL="73152" marR="73152" marT="27432" marB="27432" anchor="ctr">
                    <a:solidFill>
                      <a:srgbClr val="14213D"/>
                    </a:solidFill>
                  </a:tcPr>
                </a:tc>
                <a:tc>
                  <a:txBody>
                    <a:bodyPr wrap="square"/>
                    <a:lstStyle/>
                    <a:p>
                      <a:pPr algn="ctr"/>
                      <a:r>
                        <a:rPr sz="1600" b="1" i="0">
                          <a:solidFill>
                            <a:srgbClr val="F6F3EC"/>
                          </a:solidFill>
                          <a:latin typeface="Palatino Linotype" panose="02040502050505030304" charset="0"/>
                          <a:cs typeface="Palatino Linotype" panose="02040502050505030304" charset="0"/>
                        </a:rPr>
                        <a:t>Sectors move together</a:t>
                      </a:r>
                      <a:endParaRPr sz="1600" b="1" i="0">
                        <a:solidFill>
                          <a:srgbClr val="F6F3EC"/>
                        </a:solidFill>
                        <a:latin typeface="Palatino Linotype" panose="02040502050505030304" charset="0"/>
                        <a:cs typeface="Palatino Linotype" panose="02040502050505030304" charset="0"/>
                      </a:endParaRPr>
                    </a:p>
                  </a:txBody>
                  <a:tcPr marL="73152" marR="73152" marT="27432" marB="27432" anchor="ctr">
                    <a:solidFill>
                      <a:srgbClr val="14213D"/>
                    </a:solidFill>
                  </a:tcPr>
                </a:tc>
                <a:tc>
                  <a:txBody>
                    <a:bodyPr wrap="square"/>
                    <a:lstStyle/>
                    <a:p>
                      <a:pPr algn="ctr"/>
                      <a:r>
                        <a:rPr sz="1600" b="1" i="0">
                          <a:solidFill>
                            <a:srgbClr val="F6F3EC"/>
                          </a:solidFill>
                          <a:latin typeface="Palatino Linotype" panose="02040502050505030304" charset="0"/>
                          <a:cs typeface="Palatino Linotype" panose="02040502050505030304" charset="0"/>
                        </a:rPr>
                        <a:t>Tech earns 0.5 pts less</a:t>
                      </a:r>
                      <a:endParaRPr sz="1600" b="1" i="0">
                        <a:solidFill>
                          <a:srgbClr val="F6F3EC"/>
                        </a:solidFill>
                        <a:latin typeface="Palatino Linotype" panose="02040502050505030304" charset="0"/>
                        <a:cs typeface="Palatino Linotype" panose="02040502050505030304" charset="0"/>
                      </a:endParaRPr>
                    </a:p>
                  </a:txBody>
                  <a:tcPr marL="73152" marR="73152" marT="27432" marB="27432" anchor="ctr">
                    <a:solidFill>
                      <a:srgbClr val="14213D"/>
                    </a:solidFill>
                  </a:tcPr>
                </a:tc>
              </a:tr>
              <a:tr h="457200">
                <a:tc>
                  <a:txBody>
                    <a:bodyPr wrap="square"/>
                    <a:lstStyle/>
                    <a:p>
                      <a:r>
                        <a:rPr sz="1600" b="0" i="0">
                          <a:solidFill>
                            <a:srgbClr val="14213D"/>
                          </a:solidFill>
                          <a:latin typeface="Palatino Linotype" panose="02040502050505030304" charset="0"/>
                          <a:cs typeface="Palatino Linotype" panose="02040502050505030304" charset="0"/>
                        </a:rPr>
                        <a:t>Lena · growth</a:t>
                      </a:r>
                      <a:endParaRPr sz="1600" b="0" i="0">
                        <a:solidFill>
                          <a:srgbClr val="14213D"/>
                        </a:solidFill>
                        <a:latin typeface="Palatino Linotype" panose="02040502050505030304" charset="0"/>
                        <a:cs typeface="Palatino Linotype" panose="02040502050505030304" charset="0"/>
                      </a:endParaRPr>
                    </a:p>
                  </a:txBody>
                  <a:tcPr marL="73152" marR="73152" marT="27432" marB="27432" anchor="ctr">
                    <a:solidFill>
                      <a:srgbClr val="FFFFFF"/>
                    </a:solidFill>
                  </a:tcPr>
                </a:tc>
                <a:tc>
                  <a:txBody>
                    <a:bodyPr wrap="square"/>
                    <a:lstStyle/>
                    <a:p>
                      <a:pPr algn="ctr"/>
                      <a:r>
                        <a:rPr sz="1600" b="0" i="0">
                          <a:solidFill>
                            <a:srgbClr val="14213D"/>
                          </a:solidFill>
                          <a:latin typeface="Palatino Linotype" panose="02040502050505030304" charset="0"/>
                          <a:cs typeface="Palatino Linotype" panose="02040502050505030304" charset="0"/>
                        </a:rPr>
                        <a:t>Tech basket</a:t>
                      </a:r>
                      <a:endParaRPr sz="1600" b="0" i="0">
                        <a:solidFill>
                          <a:srgbClr val="14213D"/>
                        </a:solidFill>
                        <a:latin typeface="Palatino Linotype" panose="02040502050505030304" charset="0"/>
                        <a:cs typeface="Palatino Linotype" panose="02040502050505030304" charset="0"/>
                      </a:endParaRPr>
                    </a:p>
                  </a:txBody>
                  <a:tcPr marL="73152" marR="73152" marT="27432" marB="27432" anchor="ctr">
                    <a:solidFill>
                      <a:srgbClr val="FFFFFF"/>
                    </a:solidFill>
                  </a:tcPr>
                </a:tc>
                <a:tc>
                  <a:txBody>
                    <a:bodyPr wrap="square"/>
                    <a:lstStyle/>
                    <a:p>
                      <a:pPr algn="ctr"/>
                      <a:r>
                        <a:rPr sz="1600" b="0" i="0">
                          <a:solidFill>
                            <a:srgbClr val="14213D"/>
                          </a:solidFill>
                          <a:latin typeface="Palatino Linotype" panose="02040502050505030304" charset="0"/>
                          <a:cs typeface="Palatino Linotype" panose="02040502050505030304" charset="0"/>
                        </a:rPr>
                        <a:t>Tech basket</a:t>
                      </a:r>
                      <a:endParaRPr sz="1600" b="0" i="0">
                        <a:solidFill>
                          <a:srgbClr val="14213D"/>
                        </a:solidFill>
                        <a:latin typeface="Palatino Linotype" panose="02040502050505030304" charset="0"/>
                        <a:cs typeface="Palatino Linotype" panose="02040502050505030304" charset="0"/>
                      </a:endParaRPr>
                    </a:p>
                  </a:txBody>
                  <a:tcPr marL="73152" marR="73152" marT="27432" marB="27432" anchor="ctr">
                    <a:solidFill>
                      <a:srgbClr val="FFFFFF"/>
                    </a:solidFill>
                  </a:tcPr>
                </a:tc>
                <a:tc>
                  <a:txBody>
                    <a:bodyPr wrap="square"/>
                    <a:lstStyle/>
                    <a:p>
                      <a:pPr algn="ctr"/>
                      <a:r>
                        <a:rPr sz="1600" b="0" i="0">
                          <a:solidFill>
                            <a:srgbClr val="14213D"/>
                          </a:solidFill>
                          <a:latin typeface="Palatino Linotype" panose="02040502050505030304" charset="0"/>
                          <a:cs typeface="Palatino Linotype" panose="02040502050505030304" charset="0"/>
                        </a:rPr>
                        <a:t>Tech basket</a:t>
                      </a:r>
                      <a:endParaRPr sz="1600" b="0" i="0">
                        <a:solidFill>
                          <a:srgbClr val="14213D"/>
                        </a:solidFill>
                        <a:latin typeface="Palatino Linotype" panose="02040502050505030304" charset="0"/>
                        <a:cs typeface="Palatino Linotype" panose="02040502050505030304" charset="0"/>
                      </a:endParaRPr>
                    </a:p>
                  </a:txBody>
                  <a:tcPr marL="73152" marR="73152" marT="27432" marB="27432" anchor="ctr">
                    <a:solidFill>
                      <a:srgbClr val="FFFFFF"/>
                    </a:solidFill>
                  </a:tcPr>
                </a:tc>
              </a:tr>
              <a:tr h="457200">
                <a:tc>
                  <a:txBody>
                    <a:bodyPr wrap="square"/>
                    <a:lstStyle/>
                    <a:p>
                      <a:r>
                        <a:rPr sz="1600" b="0" i="0">
                          <a:solidFill>
                            <a:srgbClr val="14213D"/>
                          </a:solidFill>
                          <a:latin typeface="Palatino Linotype" panose="02040502050505030304" charset="0"/>
                          <a:cs typeface="Palatino Linotype" panose="02040502050505030304" charset="0"/>
                        </a:rPr>
                        <a:t>Thomas · balanced</a:t>
                      </a:r>
                      <a:endParaRPr sz="1600" b="0" i="0">
                        <a:solidFill>
                          <a:srgbClr val="14213D"/>
                        </a:solidFill>
                        <a:latin typeface="Palatino Linotype" panose="02040502050505030304" charset="0"/>
                        <a:cs typeface="Palatino Linotype" panose="02040502050505030304" charset="0"/>
                      </a:endParaRPr>
                    </a:p>
                  </a:txBody>
                  <a:tcPr marL="73152" marR="73152" marT="27432" marB="27432" anchor="ctr">
                    <a:solidFill>
                      <a:srgbClr val="FBEFE6"/>
                    </a:solidFill>
                  </a:tcPr>
                </a:tc>
                <a:tc>
                  <a:txBody>
                    <a:bodyPr wrap="square"/>
                    <a:lstStyle/>
                    <a:p>
                      <a:pPr algn="ctr"/>
                      <a:r>
                        <a:rPr sz="1600" b="0" i="0">
                          <a:solidFill>
                            <a:srgbClr val="14213D"/>
                          </a:solidFill>
                          <a:latin typeface="Palatino Linotype" panose="02040502050505030304" charset="0"/>
                          <a:cs typeface="Palatino Linotype" panose="02040502050505030304" charset="0"/>
                        </a:rPr>
                        <a:t>Tech basket</a:t>
                      </a:r>
                      <a:endParaRPr sz="1600" b="0" i="0">
                        <a:solidFill>
                          <a:srgbClr val="14213D"/>
                        </a:solidFill>
                        <a:latin typeface="Palatino Linotype" panose="02040502050505030304" charset="0"/>
                        <a:cs typeface="Palatino Linotype" panose="02040502050505030304" charset="0"/>
                      </a:endParaRPr>
                    </a:p>
                  </a:txBody>
                  <a:tcPr marL="73152" marR="73152" marT="27432" marB="27432" anchor="ctr">
                    <a:solidFill>
                      <a:srgbClr val="FBEFE6"/>
                    </a:solidFill>
                  </a:tcPr>
                </a:tc>
                <a:tc>
                  <a:txBody>
                    <a:bodyPr wrap="square"/>
                    <a:lstStyle/>
                    <a:p>
                      <a:pPr algn="ctr"/>
                      <a:r>
                        <a:rPr sz="1600" b="0" i="0">
                          <a:solidFill>
                            <a:srgbClr val="14213D"/>
                          </a:solidFill>
                          <a:latin typeface="Palatino Linotype" panose="02040502050505030304" charset="0"/>
                          <a:cs typeface="Palatino Linotype" panose="02040502050505030304" charset="0"/>
                        </a:rPr>
                        <a:t>Tech basket</a:t>
                      </a:r>
                      <a:endParaRPr sz="1600" b="0" i="0">
                        <a:solidFill>
                          <a:srgbClr val="14213D"/>
                        </a:solidFill>
                        <a:latin typeface="Palatino Linotype" panose="02040502050505030304" charset="0"/>
                        <a:cs typeface="Palatino Linotype" panose="02040502050505030304" charset="0"/>
                      </a:endParaRPr>
                    </a:p>
                  </a:txBody>
                  <a:tcPr marL="73152" marR="73152" marT="27432" marB="27432" anchor="ctr">
                    <a:solidFill>
                      <a:srgbClr val="FBEFE6"/>
                    </a:solidFill>
                  </a:tcPr>
                </a:tc>
                <a:tc>
                  <a:txBody>
                    <a:bodyPr wrap="square"/>
                    <a:lstStyle/>
                    <a:p>
                      <a:pPr algn="ctr"/>
                      <a:r>
                        <a:rPr sz="1600" b="1">
                          <a:solidFill>
                            <a:srgbClr val="14213D"/>
                          </a:solidFill>
                          <a:latin typeface="Palatino Linotype" panose="02040502050505030304" charset="0"/>
                          <a:cs typeface="Palatino Linotype" panose="02040502050505030304" charset="0"/>
                          <a:sym typeface="+mn-ea"/>
                        </a:rPr>
                        <a:t>Current </a:t>
                      </a:r>
                      <a:r>
                        <a:rPr sz="1600" b="1" i="0">
                          <a:solidFill>
                            <a:srgbClr val="14213D"/>
                          </a:solidFill>
                          <a:latin typeface="Palatino Linotype" panose="02040502050505030304" charset="0"/>
                          <a:cs typeface="Palatino Linotype" panose="02040502050505030304" charset="0"/>
                        </a:rPr>
                        <a:t>basket</a:t>
                      </a:r>
                      <a:endParaRPr sz="1600" b="1" i="0">
                        <a:solidFill>
                          <a:srgbClr val="14213D"/>
                        </a:solidFill>
                        <a:latin typeface="Palatino Linotype" panose="02040502050505030304" charset="0"/>
                        <a:cs typeface="Palatino Linotype" panose="02040502050505030304" charset="0"/>
                      </a:endParaRPr>
                    </a:p>
                  </a:txBody>
                  <a:tcPr marL="73152" marR="73152" marT="27432" marB="27432" anchor="ctr">
                    <a:solidFill>
                      <a:srgbClr val="FBEFE6"/>
                    </a:solidFill>
                  </a:tcPr>
                </a:tc>
              </a:tr>
              <a:tr h="457200">
                <a:tc>
                  <a:txBody>
                    <a:bodyPr wrap="square"/>
                    <a:lstStyle/>
                    <a:p>
                      <a:r>
                        <a:rPr sz="1600" b="0" i="0">
                          <a:solidFill>
                            <a:srgbClr val="14213D"/>
                          </a:solidFill>
                          <a:latin typeface="Palatino Linotype" panose="02040502050505030304" charset="0"/>
                          <a:cs typeface="Palatino Linotype" panose="02040502050505030304" charset="0"/>
                        </a:rPr>
                        <a:t>Anna · risk-sensitive</a:t>
                      </a:r>
                      <a:endParaRPr sz="1600" b="0" i="0">
                        <a:solidFill>
                          <a:srgbClr val="14213D"/>
                        </a:solidFill>
                        <a:latin typeface="Palatino Linotype" panose="02040502050505030304" charset="0"/>
                        <a:cs typeface="Palatino Linotype" panose="02040502050505030304" charset="0"/>
                      </a:endParaRPr>
                    </a:p>
                  </a:txBody>
                  <a:tcPr marL="73152" marR="73152" marT="27432" marB="27432" anchor="ctr">
                    <a:solidFill>
                      <a:srgbClr val="FFFFFF"/>
                    </a:solidFill>
                  </a:tcPr>
                </a:tc>
                <a:tc>
                  <a:txBody>
                    <a:bodyPr wrap="square"/>
                    <a:lstStyle/>
                    <a:p>
                      <a:pPr algn="ctr"/>
                      <a:r>
                        <a:rPr sz="1600">
                          <a:solidFill>
                            <a:srgbClr val="14213D"/>
                          </a:solidFill>
                          <a:latin typeface="Palatino Linotype" panose="02040502050505030304" charset="0"/>
                          <a:cs typeface="Palatino Linotype" panose="02040502050505030304" charset="0"/>
                          <a:sym typeface="+mn-ea"/>
                        </a:rPr>
                        <a:t>Current basket</a:t>
                      </a:r>
                      <a:endParaRPr sz="1600" b="0" i="0">
                        <a:solidFill>
                          <a:srgbClr val="14213D"/>
                        </a:solidFill>
                        <a:latin typeface="Palatino Linotype" panose="02040502050505030304" charset="0"/>
                        <a:cs typeface="Palatino Linotype" panose="02040502050505030304" charset="0"/>
                      </a:endParaRPr>
                    </a:p>
                  </a:txBody>
                  <a:tcPr marL="73152" marR="73152" marT="27432" marB="27432" anchor="ctr">
                    <a:solidFill>
                      <a:srgbClr val="FFFFFF"/>
                    </a:solidFill>
                  </a:tcPr>
                </a:tc>
                <a:tc>
                  <a:txBody>
                    <a:bodyPr wrap="square"/>
                    <a:lstStyle/>
                    <a:p>
                      <a:pPr algn="ctr"/>
                      <a:r>
                        <a:rPr sz="1600" b="0">
                          <a:solidFill>
                            <a:srgbClr val="14213D"/>
                          </a:solidFill>
                          <a:latin typeface="Palatino Linotype" panose="02040502050505030304" charset="0"/>
                          <a:cs typeface="Palatino Linotype" panose="02040502050505030304" charset="0"/>
                          <a:sym typeface="+mn-ea"/>
                        </a:rPr>
                        <a:t>Current </a:t>
                      </a:r>
                      <a:r>
                        <a:rPr sz="1600" b="0">
                          <a:solidFill>
                            <a:srgbClr val="14213D"/>
                          </a:solidFill>
                          <a:latin typeface="Palatino Linotype" panose="02040502050505030304" charset="0"/>
                          <a:cs typeface="Palatino Linotype" panose="02040502050505030304" charset="0"/>
                          <a:sym typeface="+mn-ea"/>
                        </a:rPr>
                        <a:t>basket</a:t>
                      </a:r>
                      <a:endParaRPr sz="1600" b="0" i="0">
                        <a:solidFill>
                          <a:srgbClr val="14213D"/>
                        </a:solidFill>
                        <a:latin typeface="Palatino Linotype" panose="02040502050505030304" charset="0"/>
                        <a:cs typeface="Palatino Linotype" panose="02040502050505030304" charset="0"/>
                      </a:endParaRPr>
                    </a:p>
                  </a:txBody>
                  <a:tcPr marL="73152" marR="73152" marT="27432" marB="27432" anchor="ctr">
                    <a:solidFill>
                      <a:srgbClr val="FFFFFF"/>
                    </a:solidFill>
                  </a:tcPr>
                </a:tc>
                <a:tc>
                  <a:txBody>
                    <a:bodyPr wrap="square"/>
                    <a:lstStyle/>
                    <a:p>
                      <a:pPr algn="ctr"/>
                      <a:r>
                        <a:rPr sz="1600">
                          <a:solidFill>
                            <a:srgbClr val="14213D"/>
                          </a:solidFill>
                          <a:latin typeface="Palatino Linotype" panose="02040502050505030304" charset="0"/>
                          <a:cs typeface="Palatino Linotype" panose="02040502050505030304" charset="0"/>
                          <a:sym typeface="+mn-ea"/>
                        </a:rPr>
                        <a:t>Current basket</a:t>
                      </a:r>
                      <a:endParaRPr sz="1600" b="0" i="0">
                        <a:solidFill>
                          <a:srgbClr val="14213D"/>
                        </a:solidFill>
                        <a:latin typeface="Palatino Linotype" panose="02040502050505030304" charset="0"/>
                        <a:cs typeface="Palatino Linotype" panose="02040502050505030304" charset="0"/>
                      </a:endParaRPr>
                    </a:p>
                  </a:txBody>
                  <a:tcPr marL="73152" marR="73152" marT="27432" marB="27432" anchor="ctr">
                    <a:solidFill>
                      <a:srgbClr val="FFFFFF"/>
                    </a:solidFill>
                  </a:tcPr>
                </a:tc>
              </a:tr>
              <a:tr h="457200">
                <a:tc>
                  <a:txBody>
                    <a:bodyPr wrap="square"/>
                    <a:lstStyle/>
                    <a:p>
                      <a:r>
                        <a:rPr sz="1600" b="0" i="0">
                          <a:solidFill>
                            <a:srgbClr val="14213D"/>
                          </a:solidFill>
                          <a:latin typeface="Palatino Linotype" panose="02040502050505030304" charset="0"/>
                          <a:cs typeface="Palatino Linotype" panose="02040502050505030304" charset="0"/>
                        </a:rPr>
                        <a:t>Baskets within Anna’s loss limit</a:t>
                      </a:r>
                      <a:endParaRPr sz="1600" b="0" i="0">
                        <a:solidFill>
                          <a:srgbClr val="14213D"/>
                        </a:solidFill>
                        <a:latin typeface="Palatino Linotype" panose="02040502050505030304" charset="0"/>
                        <a:cs typeface="Palatino Linotype" panose="02040502050505030304" charset="0"/>
                      </a:endParaRPr>
                    </a:p>
                  </a:txBody>
                  <a:tcPr marL="73152" marR="73152" marT="27432" marB="27432" anchor="ctr">
                    <a:solidFill>
                      <a:srgbClr val="F4F6F8"/>
                    </a:solidFill>
                  </a:tcPr>
                </a:tc>
                <a:tc>
                  <a:txBody>
                    <a:bodyPr wrap="square"/>
                    <a:lstStyle/>
                    <a:p>
                      <a:pPr algn="ctr"/>
                      <a:r>
                        <a:rPr sz="1600" b="0" i="0">
                          <a:solidFill>
                            <a:srgbClr val="14213D"/>
                          </a:solidFill>
                          <a:latin typeface="Palatino Linotype" panose="02040502050505030304" charset="0"/>
                          <a:cs typeface="Palatino Linotype" panose="02040502050505030304" charset="0"/>
                        </a:rPr>
                        <a:t>7 of 20</a:t>
                      </a:r>
                      <a:endParaRPr sz="1600" b="0" i="0">
                        <a:solidFill>
                          <a:srgbClr val="14213D"/>
                        </a:solidFill>
                        <a:latin typeface="Palatino Linotype" panose="02040502050505030304" charset="0"/>
                        <a:cs typeface="Palatino Linotype" panose="02040502050505030304" charset="0"/>
                      </a:endParaRPr>
                    </a:p>
                  </a:txBody>
                  <a:tcPr marL="73152" marR="73152" marT="27432" marB="27432" anchor="ctr">
                    <a:solidFill>
                      <a:srgbClr val="F4F6F8"/>
                    </a:solidFill>
                  </a:tcPr>
                </a:tc>
                <a:tc>
                  <a:txBody>
                    <a:bodyPr wrap="square"/>
                    <a:lstStyle/>
                    <a:p>
                      <a:pPr algn="ctr"/>
                      <a:r>
                        <a:rPr sz="1600" b="0" i="0">
                          <a:solidFill>
                            <a:srgbClr val="14213D"/>
                          </a:solidFill>
                          <a:latin typeface="Palatino Linotype" panose="02040502050505030304" charset="0"/>
                          <a:cs typeface="Palatino Linotype" panose="02040502050505030304" charset="0"/>
                        </a:rPr>
                        <a:t>5 of 20</a:t>
                      </a:r>
                      <a:endParaRPr sz="1600" b="0" i="0">
                        <a:solidFill>
                          <a:srgbClr val="14213D"/>
                        </a:solidFill>
                        <a:latin typeface="Palatino Linotype" panose="02040502050505030304" charset="0"/>
                        <a:cs typeface="Palatino Linotype" panose="02040502050505030304" charset="0"/>
                      </a:endParaRPr>
                    </a:p>
                  </a:txBody>
                  <a:tcPr marL="73152" marR="73152" marT="27432" marB="27432" anchor="ctr">
                    <a:solidFill>
                      <a:srgbClr val="F4F6F8"/>
                    </a:solidFill>
                  </a:tcPr>
                </a:tc>
                <a:tc>
                  <a:txBody>
                    <a:bodyPr wrap="square"/>
                    <a:lstStyle/>
                    <a:p>
                      <a:pPr algn="ctr"/>
                      <a:r>
                        <a:rPr sz="1600" b="0" i="0">
                          <a:solidFill>
                            <a:srgbClr val="14213D"/>
                          </a:solidFill>
                          <a:latin typeface="Palatino Linotype" panose="02040502050505030304" charset="0"/>
                          <a:cs typeface="Palatino Linotype" panose="02040502050505030304" charset="0"/>
                        </a:rPr>
                        <a:t>5 of 20</a:t>
                      </a:r>
                      <a:endParaRPr sz="1600" b="0" i="0">
                        <a:solidFill>
                          <a:srgbClr val="14213D"/>
                        </a:solidFill>
                        <a:latin typeface="Palatino Linotype" panose="02040502050505030304" charset="0"/>
                        <a:cs typeface="Palatino Linotype" panose="02040502050505030304" charset="0"/>
                      </a:endParaRPr>
                    </a:p>
                  </a:txBody>
                  <a:tcPr marL="73152" marR="73152" marT="27432" marB="27432" anchor="ctr">
                    <a:solidFill>
                      <a:srgbClr val="F4F6F8"/>
                    </a:solidFill>
                  </a:tcPr>
                </a:tc>
              </a:tr>
            </a:tbl>
          </a:graphicData>
        </a:graphic>
      </p:graphicFrame>
      <p:sp>
        <p:nvSpPr>
          <p:cNvPr id="6" name="Card"/>
          <p:cNvSpPr/>
          <p:nvPr>
            <p:custDataLst>
              <p:tags r:id="rId2"/>
            </p:custDataLst>
          </p:nvPr>
        </p:nvSpPr>
        <p:spPr>
          <a:xfrm>
            <a:off x="548640" y="4343400"/>
            <a:ext cx="5440680" cy="132588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alatino Linotype" panose="02040502050505030304" charset="0"/>
              <a:cs typeface="Palatino Linotype" panose="02040502050505030304" charset="0"/>
            </a:endParaRPr>
          </a:p>
        </p:txBody>
      </p:sp>
      <p:sp>
        <p:nvSpPr>
          <p:cNvPr id="7" name="Text"/>
          <p:cNvSpPr txBox="1"/>
          <p:nvPr>
            <p:custDataLst>
              <p:tags r:id="rId3"/>
            </p:custDataLst>
          </p:nvPr>
        </p:nvSpPr>
        <p:spPr>
          <a:xfrm>
            <a:off x="731520" y="4453128"/>
            <a:ext cx="5074920" cy="365760"/>
          </a:xfrm>
          <a:prstGeom prst="rect">
            <a:avLst/>
          </a:prstGeom>
          <a:noFill/>
        </p:spPr>
        <p:txBody>
          <a:bodyPr wrap="square" lIns="18288" tIns="18288" rIns="18288" bIns="18288" anchor="t">
            <a:spAutoFit/>
          </a:bodyPr>
          <a:lstStyle/>
          <a:p>
            <a:pPr>
              <a:spcAft>
                <a:spcPts val="400"/>
              </a:spcAft>
            </a:pPr>
            <a:r>
              <a:rPr sz="1600" b="1" i="0">
                <a:solidFill>
                  <a:srgbClr val="17756F"/>
                </a:solidFill>
                <a:latin typeface="Palatino Linotype" panose="02040502050505030304" charset="0"/>
                <a:cs typeface="Palatino Linotype" panose="02040502050505030304" charset="0"/>
              </a:rPr>
              <a:t>What the baskets are</a:t>
            </a:r>
            <a:endParaRPr sz="1600" b="1" i="0">
              <a:solidFill>
                <a:srgbClr val="17756F"/>
              </a:solidFill>
              <a:latin typeface="Palatino Linotype" panose="02040502050505030304" charset="0"/>
              <a:cs typeface="Palatino Linotype" panose="02040502050505030304" charset="0"/>
            </a:endParaRPr>
          </a:p>
        </p:txBody>
      </p:sp>
      <p:sp>
        <p:nvSpPr>
          <p:cNvPr id="8" name="Text"/>
          <p:cNvSpPr txBox="1"/>
          <p:nvPr>
            <p:custDataLst>
              <p:tags r:id="rId4"/>
            </p:custDataLst>
          </p:nvPr>
        </p:nvSpPr>
        <p:spPr>
          <a:xfrm>
            <a:off x="731520" y="4846320"/>
            <a:ext cx="5074920" cy="517525"/>
          </a:xfrm>
          <a:prstGeom prst="rect">
            <a:avLst/>
          </a:prstGeom>
          <a:noFill/>
        </p:spPr>
        <p:txBody>
          <a:bodyPr wrap="square" lIns="18288" tIns="18288" rIns="18288" bIns="18288" anchor="t">
            <a:spAutoFit/>
          </a:bodyPr>
          <a:lstStyle/>
          <a:p>
            <a:pPr>
              <a:spcAft>
                <a:spcPts val="400"/>
              </a:spcAft>
            </a:pPr>
            <a:r>
              <a:rPr sz="1400" b="0" i="0">
                <a:solidFill>
                  <a:srgbClr val="4A5568"/>
                </a:solidFill>
                <a:latin typeface="Palatino Linotype" panose="02040502050505030304" charset="0"/>
                <a:cs typeface="Palatino Linotype" panose="02040502050505030304" charset="0"/>
              </a:rPr>
              <a:t>Tech basket = tech, healthcare, utilities. </a:t>
            </a:r>
            <a:endParaRPr sz="1400" b="0" i="0">
              <a:solidFill>
                <a:srgbClr val="4A5568"/>
              </a:solidFill>
              <a:latin typeface="Palatino Linotype" panose="02040502050505030304" charset="0"/>
              <a:cs typeface="Palatino Linotype" panose="02040502050505030304" charset="0"/>
            </a:endParaRPr>
          </a:p>
          <a:p>
            <a:pPr>
              <a:spcAft>
                <a:spcPts val="400"/>
              </a:spcAft>
            </a:pPr>
            <a:r>
              <a:rPr lang="en-US" sz="1400" b="0" i="0">
                <a:solidFill>
                  <a:srgbClr val="4A5568"/>
                </a:solidFill>
                <a:latin typeface="Palatino Linotype" panose="02040502050505030304" charset="0"/>
                <a:cs typeface="Palatino Linotype" panose="02040502050505030304" charset="0"/>
              </a:rPr>
              <a:t>Current</a:t>
            </a:r>
            <a:r>
              <a:rPr sz="1400" b="0" i="0">
                <a:solidFill>
                  <a:srgbClr val="4A5568"/>
                </a:solidFill>
                <a:latin typeface="Palatino Linotype" panose="02040502050505030304" charset="0"/>
                <a:cs typeface="Palatino Linotype" panose="02040502050505030304" charset="0"/>
              </a:rPr>
              <a:t> basket = consumer staples, healthcare, utilities.</a:t>
            </a:r>
            <a:endParaRPr sz="1400" b="0" i="0">
              <a:solidFill>
                <a:srgbClr val="4A5568"/>
              </a:solidFill>
              <a:latin typeface="Palatino Linotype" panose="02040502050505030304" charset="0"/>
              <a:cs typeface="Palatino Linotype" panose="02040502050505030304" charset="0"/>
            </a:endParaRPr>
          </a:p>
        </p:txBody>
      </p:sp>
      <p:sp>
        <p:nvSpPr>
          <p:cNvPr id="9" name="Card"/>
          <p:cNvSpPr/>
          <p:nvPr>
            <p:custDataLst>
              <p:tags r:id="rId5"/>
            </p:custDataLst>
          </p:nvPr>
        </p:nvSpPr>
        <p:spPr>
          <a:xfrm>
            <a:off x="6199632" y="4343400"/>
            <a:ext cx="5440680" cy="132588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alatino Linotype" panose="02040502050505030304" charset="0"/>
              <a:cs typeface="Palatino Linotype" panose="02040502050505030304" charset="0"/>
            </a:endParaRPr>
          </a:p>
        </p:txBody>
      </p:sp>
      <p:sp>
        <p:nvSpPr>
          <p:cNvPr id="10" name="Text"/>
          <p:cNvSpPr txBox="1"/>
          <p:nvPr>
            <p:custDataLst>
              <p:tags r:id="rId6"/>
            </p:custDataLst>
          </p:nvPr>
        </p:nvSpPr>
        <p:spPr>
          <a:xfrm>
            <a:off x="6382512" y="4453128"/>
            <a:ext cx="5074920" cy="365760"/>
          </a:xfrm>
          <a:prstGeom prst="rect">
            <a:avLst/>
          </a:prstGeom>
          <a:noFill/>
        </p:spPr>
        <p:txBody>
          <a:bodyPr wrap="square" lIns="18288" tIns="18288" rIns="18288" bIns="18288" anchor="t">
            <a:spAutoFit/>
          </a:bodyPr>
          <a:lstStyle/>
          <a:p>
            <a:pPr>
              <a:spcAft>
                <a:spcPts val="400"/>
              </a:spcAft>
            </a:pPr>
            <a:r>
              <a:rPr sz="1600" b="1" i="0">
                <a:solidFill>
                  <a:srgbClr val="B4561A"/>
                </a:solidFill>
                <a:latin typeface="Palatino Linotype" panose="02040502050505030304" charset="0"/>
                <a:cs typeface="Palatino Linotype" panose="02040502050505030304" charset="0"/>
              </a:rPr>
              <a:t>For Anna, tech sits right on her limit</a:t>
            </a:r>
            <a:endParaRPr sz="1600" b="1" i="0">
              <a:solidFill>
                <a:srgbClr val="B4561A"/>
              </a:solidFill>
              <a:latin typeface="Palatino Linotype" panose="02040502050505030304" charset="0"/>
              <a:cs typeface="Palatino Linotype" panose="02040502050505030304" charset="0"/>
            </a:endParaRPr>
          </a:p>
        </p:txBody>
      </p:sp>
      <p:sp>
        <p:nvSpPr>
          <p:cNvPr id="11" name="Text"/>
          <p:cNvSpPr txBox="1"/>
          <p:nvPr>
            <p:custDataLst>
              <p:tags r:id="rId7"/>
            </p:custDataLst>
          </p:nvPr>
        </p:nvSpPr>
        <p:spPr>
          <a:xfrm>
            <a:off x="6382512" y="4846320"/>
            <a:ext cx="5074920" cy="731519"/>
          </a:xfrm>
          <a:prstGeom prst="rect">
            <a:avLst/>
          </a:prstGeom>
          <a:noFill/>
        </p:spPr>
        <p:txBody>
          <a:bodyPr wrap="square" lIns="18288" tIns="18288" rIns="18288" bIns="18288" anchor="t">
            <a:spAutoFit/>
          </a:bodyPr>
          <a:lstStyle/>
          <a:p>
            <a:pPr>
              <a:spcAft>
                <a:spcPts val="400"/>
              </a:spcAft>
            </a:pPr>
            <a:r>
              <a:rPr sz="1400" b="0" i="0">
                <a:solidFill>
                  <a:srgbClr val="4A5568"/>
                </a:solidFill>
                <a:latin typeface="Palatino Linotype" panose="02040502050505030304" charset="0"/>
                <a:cs typeface="Palatino Linotype" panose="02040502050505030304" charset="0"/>
              </a:rPr>
              <a:t>6 loss months of 60 in the base case (6 allowed); 9 and 7 under the two stress tests.</a:t>
            </a:r>
            <a:endParaRPr sz="1400" b="0" i="0">
              <a:solidFill>
                <a:srgbClr val="4A5568"/>
              </a:solidFill>
              <a:latin typeface="Palatino Linotype" panose="02040502050505030304" charset="0"/>
              <a:cs typeface="Palatino Linotype" panose="02040502050505030304" charset="0"/>
            </a:endParaRPr>
          </a:p>
        </p:txBody>
      </p:sp>
      <p:sp>
        <p:nvSpPr>
          <p:cNvPr id="12" name="Source"/>
          <p:cNvSpPr txBox="1"/>
          <p:nvPr/>
        </p:nvSpPr>
        <p:spPr>
          <a:xfrm>
            <a:off x="548640" y="6355080"/>
            <a:ext cx="10424160" cy="274320"/>
          </a:xfrm>
          <a:prstGeom prst="rect">
            <a:avLst/>
          </a:prstGeom>
          <a:noFill/>
        </p:spPr>
        <p:txBody>
          <a:bodyPr wrap="square" lIns="18288" tIns="18288" rIns="18288" bIns="18288" anchor="t">
            <a:spAutoFit/>
          </a:bodyPr>
          <a:lstStyle/>
          <a:p>
            <a:pPr>
              <a:spcAft>
                <a:spcPts val="400"/>
              </a:spcAft>
            </a:pPr>
            <a:r>
              <a:rPr sz="1100" b="0" i="0">
                <a:solidFill>
                  <a:srgbClr val="8A94A6"/>
                </a:solidFill>
                <a:latin typeface="Palatino Linotype" panose="02040502050505030304" charset="0"/>
                <a:cs typeface="Palatino Linotype" panose="02040502050505030304" charset="0"/>
              </a:rPr>
              <a:t>Source: results/canonical/summary.json, “exact” · exact.py ranks every basket in milliseconds</a:t>
            </a:r>
            <a:endParaRPr sz="1100" b="0" i="0">
              <a:solidFill>
                <a:srgbClr val="8A94A6"/>
              </a:solidFill>
              <a:latin typeface="Palatino Linotype" panose="02040502050505030304" charset="0"/>
              <a:cs typeface="Palatino Linotype" panose="02040502050505030304" charset="0"/>
            </a:endParaRPr>
          </a:p>
        </p:txBody>
      </p:sp>
      <p:sp>
        <p:nvSpPr>
          <p:cNvPr id="13" name="Page"/>
          <p:cNvSpPr txBox="1"/>
          <p:nvPr/>
        </p:nvSpPr>
        <p:spPr>
          <a:xfrm>
            <a:off x="11155680" y="6355080"/>
            <a:ext cx="457200" cy="274320"/>
          </a:xfrm>
          <a:prstGeom prst="rect">
            <a:avLst/>
          </a:prstGeom>
          <a:noFill/>
        </p:spPr>
        <p:txBody>
          <a:bodyPr wrap="square" lIns="18288" tIns="18288" rIns="18288" bIns="18288" anchor="t">
            <a:spAutoFit/>
          </a:bodyPr>
          <a:lstStyle/>
          <a:p>
            <a:pPr algn="r">
              <a:spcAft>
                <a:spcPts val="400"/>
              </a:spcAft>
            </a:pPr>
            <a:r>
              <a:rPr sz="1100" b="0" i="0">
                <a:solidFill>
                  <a:srgbClr val="8A94A6"/>
                </a:solidFill>
                <a:latin typeface="Palatino Linotype" panose="02040502050505030304" charset="0"/>
                <a:cs typeface="Palatino Linotype" panose="02040502050505030304" charset="0"/>
              </a:rPr>
              <a:t>6</a:t>
            </a:r>
            <a:endParaRPr sz="1100" b="0" i="0">
              <a:solidFill>
                <a:srgbClr val="8A94A6"/>
              </a:solidFill>
              <a:latin typeface="Palatino Linotype" panose="02040502050505030304" charset="0"/>
              <a:cs typeface="Palatino Linotype" panose="0204050205050503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txBox="1"/>
          <p:nvPr/>
        </p:nvSpPr>
        <p:spPr>
          <a:xfrm>
            <a:off x="548640" y="311785"/>
            <a:ext cx="11064240" cy="527685"/>
          </a:xfrm>
          <a:prstGeom prst="rect">
            <a:avLst/>
          </a:prstGeom>
          <a:noFill/>
        </p:spPr>
        <p:txBody>
          <a:bodyPr wrap="square" lIns="18288" tIns="18288" rIns="18288" bIns="18288" anchor="t">
            <a:spAutoFit/>
          </a:bodyPr>
          <a:lstStyle/>
          <a:p>
            <a:pPr>
              <a:spcAft>
                <a:spcPts val="400"/>
              </a:spcAft>
            </a:pPr>
            <a:r>
              <a:rPr sz="3200" b="1" i="0">
                <a:solidFill>
                  <a:srgbClr val="F6F3EC"/>
                </a:solidFill>
                <a:latin typeface="Palatino Linotype" panose="02040502050505030304" charset="0"/>
                <a:cs typeface="Palatino Linotype" panose="02040502050505030304" charset="0"/>
              </a:rPr>
              <a:t>Switching must pass every check; otherwise, hold</a:t>
            </a:r>
            <a:endParaRPr sz="3200" b="1" i="0">
              <a:solidFill>
                <a:srgbClr val="F6F3EC"/>
              </a:solidFill>
              <a:latin typeface="Palatino Linotype" panose="02040502050505030304" charset="0"/>
              <a:cs typeface="Palatino Linotype" panose="02040502050505030304" charset="0"/>
            </a:endParaRPr>
          </a:p>
        </p:txBody>
      </p:sp>
      <p:sp>
        <p:nvSpPr>
          <p:cNvPr id="3" name="Subtitle"/>
          <p:cNvSpPr txBox="1"/>
          <p:nvPr/>
        </p:nvSpPr>
        <p:spPr>
          <a:xfrm>
            <a:off x="548640" y="927735"/>
            <a:ext cx="11064240" cy="411480"/>
          </a:xfrm>
          <a:prstGeom prst="rect">
            <a:avLst/>
          </a:prstGeom>
          <a:noFill/>
        </p:spPr>
        <p:txBody>
          <a:bodyPr wrap="square" lIns="18288" tIns="18288" rIns="18288" bIns="18288" anchor="t">
            <a:spAutoFit/>
          </a:bodyPr>
          <a:lstStyle/>
          <a:p>
            <a:pPr>
              <a:spcAft>
                <a:spcPts val="400"/>
              </a:spcAft>
            </a:pPr>
            <a:r>
              <a:rPr sz="1600" b="0" i="0">
                <a:solidFill>
                  <a:srgbClr val="D9DEE8"/>
                </a:solidFill>
                <a:latin typeface="Palatino Linotype" panose="02040502050505030304" charset="0"/>
                <a:cs typeface="Palatino Linotype" panose="02040502050505030304" charset="0"/>
              </a:rPr>
              <a:t>In our code: the burden of proof (block 03)</a:t>
            </a:r>
            <a:endParaRPr sz="1600" b="0" i="0">
              <a:solidFill>
                <a:srgbClr val="D9DEE8"/>
              </a:solidFill>
              <a:latin typeface="Palatino Linotype" panose="02040502050505030304" charset="0"/>
              <a:cs typeface="Palatino Linotype" panose="02040502050505030304" charset="0"/>
            </a:endParaRPr>
          </a:p>
        </p:txBody>
      </p:sp>
      <p:sp>
        <p:nvSpPr>
          <p:cNvPr id="4" name="Code"/>
          <p:cNvSpPr/>
          <p:nvPr/>
        </p:nvSpPr>
        <p:spPr>
          <a:xfrm>
            <a:off x="548640" y="1371600"/>
            <a:ext cx="6951980" cy="4965700"/>
          </a:xfrm>
          <a:prstGeom prst="roundRect">
            <a:avLst>
              <a:gd name="adj" fmla="val 6000"/>
            </a:avLst>
          </a:prstGeom>
          <a:solidFill>
            <a:srgbClr val="0F1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alatino Linotype" panose="02040502050505030304" charset="0"/>
              <a:cs typeface="Palatino Linotype" panose="02040502050505030304" charset="0"/>
            </a:endParaRPr>
          </a:p>
        </p:txBody>
      </p:sp>
      <p:sp>
        <p:nvSpPr>
          <p:cNvPr id="6" name="Text"/>
          <p:cNvSpPr txBox="1"/>
          <p:nvPr/>
        </p:nvSpPr>
        <p:spPr>
          <a:xfrm>
            <a:off x="7893050" y="2385060"/>
            <a:ext cx="3654425" cy="1189355"/>
          </a:xfrm>
          <a:prstGeom prst="rect">
            <a:avLst/>
          </a:prstGeom>
          <a:noFill/>
        </p:spPr>
        <p:txBody>
          <a:bodyPr wrap="square" lIns="18288" tIns="18288" rIns="18288" bIns="18288" anchor="t">
            <a:spAutoFit/>
          </a:bodyPr>
          <a:lstStyle/>
          <a:p>
            <a:pPr>
              <a:spcAft>
                <a:spcPts val="400"/>
              </a:spcAft>
            </a:pPr>
            <a:r>
              <a:rPr lang="en-US" altLang="zh-CN" sz="1500" b="0" i="0">
                <a:solidFill>
                  <a:srgbClr val="D9DEE8"/>
                </a:solidFill>
                <a:latin typeface="Palatino Linotype" panose="02040502050505030304" charset="0"/>
                <a:cs typeface="Palatino Linotype" panose="02040502050505030304" charset="0"/>
              </a:rPr>
              <a:t>Switch only if the same basket wins in all 3 test settings, beats Current basket in at least 70% of 500 replays, and stays within the loss limit in at least 70%. Otherwise: review, and nothing changes.</a:t>
            </a:r>
            <a:endParaRPr lang="en-US" altLang="zh-CN" sz="1500" b="0" i="0">
              <a:solidFill>
                <a:srgbClr val="D9DEE8"/>
              </a:solidFill>
              <a:latin typeface="Palatino Linotype" panose="02040502050505030304" charset="0"/>
              <a:cs typeface="Palatino Linotype" panose="02040502050505030304" charset="0"/>
            </a:endParaRPr>
          </a:p>
        </p:txBody>
      </p:sp>
      <p:sp>
        <p:nvSpPr>
          <p:cNvPr id="7" name="Source"/>
          <p:cNvSpPr txBox="1"/>
          <p:nvPr/>
        </p:nvSpPr>
        <p:spPr>
          <a:xfrm>
            <a:off x="548640" y="6456680"/>
            <a:ext cx="10424160" cy="274320"/>
          </a:xfrm>
          <a:prstGeom prst="rect">
            <a:avLst/>
          </a:prstGeom>
          <a:noFill/>
        </p:spPr>
        <p:txBody>
          <a:bodyPr wrap="square" lIns="18288" tIns="18288" rIns="18288" bIns="18288" anchor="t">
            <a:spAutoFit/>
          </a:bodyPr>
          <a:lstStyle/>
          <a:p>
            <a:pPr>
              <a:spcAft>
                <a:spcPts val="400"/>
              </a:spcAft>
            </a:pPr>
            <a:r>
              <a:rPr sz="1100" b="0" i="0">
                <a:solidFill>
                  <a:srgbClr val="8A94A6"/>
                </a:solidFill>
                <a:latin typeface="Palatino Linotype" panose="02040502050505030304" charset="0"/>
                <a:cs typeface="Palatino Linotype" panose="02040502050505030304" charset="0"/>
              </a:rPr>
              <a:t>Shortened from src/qhf/decision.py, decide(): the real code also checks a minimum margin and records a reason</a:t>
            </a:r>
            <a:endParaRPr sz="1100" b="0" i="0">
              <a:solidFill>
                <a:srgbClr val="8A94A6"/>
              </a:solidFill>
              <a:latin typeface="Palatino Linotype" panose="02040502050505030304" charset="0"/>
              <a:cs typeface="Palatino Linotype" panose="02040502050505030304" charset="0"/>
            </a:endParaRPr>
          </a:p>
        </p:txBody>
      </p:sp>
      <p:sp>
        <p:nvSpPr>
          <p:cNvPr id="8" name="Page"/>
          <p:cNvSpPr txBox="1"/>
          <p:nvPr/>
        </p:nvSpPr>
        <p:spPr>
          <a:xfrm>
            <a:off x="11155680" y="6355080"/>
            <a:ext cx="457200" cy="274320"/>
          </a:xfrm>
          <a:prstGeom prst="rect">
            <a:avLst/>
          </a:prstGeom>
          <a:noFill/>
        </p:spPr>
        <p:txBody>
          <a:bodyPr wrap="square" lIns="18288" tIns="18288" rIns="18288" bIns="18288" anchor="t">
            <a:spAutoFit/>
          </a:bodyPr>
          <a:lstStyle/>
          <a:p>
            <a:pPr algn="r">
              <a:spcAft>
                <a:spcPts val="400"/>
              </a:spcAft>
            </a:pPr>
            <a:r>
              <a:rPr sz="1100" b="0" i="0">
                <a:solidFill>
                  <a:srgbClr val="8A94A6"/>
                </a:solidFill>
                <a:latin typeface="Palatino Linotype" panose="02040502050505030304" charset="0"/>
                <a:cs typeface="Palatino Linotype" panose="02040502050505030304" charset="0"/>
              </a:rPr>
              <a:t>7</a:t>
            </a:r>
            <a:endParaRPr sz="1100" b="0" i="0">
              <a:solidFill>
                <a:srgbClr val="8A94A6"/>
              </a:solidFill>
              <a:latin typeface="Palatino Linotype" panose="02040502050505030304" charset="0"/>
              <a:cs typeface="Palatino Linotype" panose="02040502050505030304" charset="0"/>
            </a:endParaRPr>
          </a:p>
        </p:txBody>
      </p:sp>
      <p:pic>
        <p:nvPicPr>
          <p:cNvPr id="9" name="图片 8"/>
          <p:cNvPicPr>
            <a:picLocks noChangeAspect="1"/>
          </p:cNvPicPr>
          <p:nvPr/>
        </p:nvPicPr>
        <p:blipFill>
          <a:blip r:embed="rId1"/>
          <a:stretch>
            <a:fillRect/>
          </a:stretch>
        </p:blipFill>
        <p:spPr>
          <a:xfrm>
            <a:off x="823595" y="1583690"/>
            <a:ext cx="6417310" cy="45415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Orb" descr="image.jpg"/>
          <p:cNvPicPr>
            <a:picLocks noChangeAspect="1"/>
          </p:cNvPicPr>
          <p:nvPr>
            <p:custDataLst>
              <p:tags r:id="rId1"/>
            </p:custDataLst>
          </p:nvPr>
        </p:nvPicPr>
        <p:blipFill>
          <a:blip r:embed="rId2"/>
          <a:stretch>
            <a:fillRect/>
          </a:stretch>
        </p:blipFill>
        <p:spPr>
          <a:xfrm>
            <a:off x="45720" y="1490472"/>
            <a:ext cx="12143232" cy="3877056"/>
          </a:xfrm>
          <a:prstGeom prst="rect">
            <a:avLst/>
          </a:prstGeom>
        </p:spPr>
      </p:pic>
      <p:sp>
        <p:nvSpPr>
          <p:cNvPr id="3" name="Title"/>
          <p:cNvSpPr txBox="1"/>
          <p:nvPr/>
        </p:nvSpPr>
        <p:spPr>
          <a:xfrm>
            <a:off x="548640" y="502920"/>
            <a:ext cx="11064240" cy="527685"/>
          </a:xfrm>
          <a:prstGeom prst="rect">
            <a:avLst/>
          </a:prstGeom>
          <a:noFill/>
        </p:spPr>
        <p:txBody>
          <a:bodyPr wrap="square" lIns="18288" tIns="18288" rIns="18288" bIns="18288" anchor="t">
            <a:spAutoFit/>
          </a:bodyPr>
          <a:lstStyle/>
          <a:p>
            <a:pPr>
              <a:spcAft>
                <a:spcPts val="400"/>
              </a:spcAft>
            </a:pPr>
            <a:r>
              <a:rPr sz="3200" b="1" i="0">
                <a:solidFill>
                  <a:srgbClr val="F6F3EC"/>
                </a:solidFill>
                <a:latin typeface="Palatino Linotype" panose="02040502050505030304" charset="0"/>
                <a:cs typeface="Palatino Linotype" panose="02040502050505030304" charset="0"/>
              </a:rPr>
              <a:t>One proposal, three answers</a:t>
            </a:r>
            <a:endParaRPr sz="3200" b="1" i="0">
              <a:solidFill>
                <a:srgbClr val="F6F3EC"/>
              </a:solidFill>
              <a:latin typeface="Palatino Linotype" panose="02040502050505030304" charset="0"/>
              <a:cs typeface="Palatino Linotype" panose="02040502050505030304" charset="0"/>
            </a:endParaRPr>
          </a:p>
        </p:txBody>
      </p:sp>
      <p:sp>
        <p:nvSpPr>
          <p:cNvPr id="4" name="Subtitle"/>
          <p:cNvSpPr txBox="1"/>
          <p:nvPr/>
        </p:nvSpPr>
        <p:spPr>
          <a:xfrm>
            <a:off x="548640" y="1143000"/>
            <a:ext cx="11064240" cy="411480"/>
          </a:xfrm>
          <a:prstGeom prst="rect">
            <a:avLst/>
          </a:prstGeom>
          <a:noFill/>
        </p:spPr>
        <p:txBody>
          <a:bodyPr wrap="square" lIns="18288" tIns="18288" rIns="18288" bIns="18288" anchor="t">
            <a:spAutoFit/>
          </a:bodyPr>
          <a:lstStyle/>
          <a:p>
            <a:pPr>
              <a:spcAft>
                <a:spcPts val="400"/>
              </a:spcAft>
            </a:pPr>
            <a:r>
              <a:rPr sz="1600" b="0" i="0">
                <a:solidFill>
                  <a:srgbClr val="D9DEE8"/>
                </a:solidFill>
                <a:latin typeface="Palatino Linotype" panose="02040502050505030304" charset="0"/>
                <a:cs typeface="Palatino Linotype" panose="02040502050505030304" charset="0"/>
              </a:rPr>
              <a:t>Result 2 · Lena switches, Thomas waits, Anna keeps</a:t>
            </a:r>
            <a:endParaRPr sz="1600" b="0" i="0">
              <a:solidFill>
                <a:srgbClr val="D9DEE8"/>
              </a:solidFill>
              <a:latin typeface="Palatino Linotype" panose="02040502050505030304" charset="0"/>
              <a:cs typeface="Palatino Linotype" panose="02040502050505030304" charset="0"/>
            </a:endParaRPr>
          </a:p>
        </p:txBody>
      </p:sp>
      <p:sp>
        <p:nvSpPr>
          <p:cNvPr id="5" name="Verdict Switch"/>
          <p:cNvSpPr/>
          <p:nvPr>
            <p:custDataLst>
              <p:tags r:id="rId3"/>
            </p:custDataLst>
          </p:nvPr>
        </p:nvSpPr>
        <p:spPr>
          <a:xfrm>
            <a:off x="548640" y="1691640"/>
            <a:ext cx="3566160" cy="338328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alatino Linotype" panose="02040502050505030304" charset="0"/>
              <a:cs typeface="Palatino Linotype" panose="02040502050505030304" charset="0"/>
            </a:endParaRPr>
          </a:p>
        </p:txBody>
      </p:sp>
      <p:sp>
        <p:nvSpPr>
          <p:cNvPr id="6" name="Text"/>
          <p:cNvSpPr txBox="1"/>
          <p:nvPr>
            <p:custDataLst>
              <p:tags r:id="rId4"/>
            </p:custDataLst>
          </p:nvPr>
        </p:nvSpPr>
        <p:spPr>
          <a:xfrm>
            <a:off x="777240" y="1874519"/>
            <a:ext cx="3108960" cy="365760"/>
          </a:xfrm>
          <a:prstGeom prst="rect">
            <a:avLst/>
          </a:prstGeom>
          <a:noFill/>
        </p:spPr>
        <p:txBody>
          <a:bodyPr wrap="square" lIns="18288" tIns="18288" rIns="18288" bIns="18288" anchor="t">
            <a:spAutoFit/>
          </a:bodyPr>
          <a:lstStyle/>
          <a:p>
            <a:pPr>
              <a:spcAft>
                <a:spcPts val="400"/>
              </a:spcAft>
            </a:pPr>
            <a:r>
              <a:rPr sz="1300" b="1" i="0">
                <a:solidFill>
                  <a:srgbClr val="4A5568"/>
                </a:solidFill>
                <a:latin typeface="Palatino Linotype" panose="02040502050505030304" charset="0"/>
                <a:cs typeface="Palatino Linotype" panose="02040502050505030304" charset="0"/>
              </a:rPr>
              <a:t>LENA · GROWTH</a:t>
            </a:r>
            <a:endParaRPr sz="1300" b="1" i="0">
              <a:solidFill>
                <a:srgbClr val="4A5568"/>
              </a:solidFill>
              <a:latin typeface="Palatino Linotype" panose="02040502050505030304" charset="0"/>
              <a:cs typeface="Palatino Linotype" panose="02040502050505030304" charset="0"/>
            </a:endParaRPr>
          </a:p>
        </p:txBody>
      </p:sp>
      <p:sp>
        <p:nvSpPr>
          <p:cNvPr id="7" name="Text"/>
          <p:cNvSpPr txBox="1"/>
          <p:nvPr>
            <p:custDataLst>
              <p:tags r:id="rId5"/>
            </p:custDataLst>
          </p:nvPr>
        </p:nvSpPr>
        <p:spPr>
          <a:xfrm>
            <a:off x="777240" y="2286000"/>
            <a:ext cx="3108960" cy="731520"/>
          </a:xfrm>
          <a:prstGeom prst="rect">
            <a:avLst/>
          </a:prstGeom>
          <a:noFill/>
        </p:spPr>
        <p:txBody>
          <a:bodyPr wrap="square" lIns="18288" tIns="18288" rIns="18288" bIns="18288" anchor="t">
            <a:spAutoFit/>
          </a:bodyPr>
          <a:lstStyle/>
          <a:p>
            <a:pPr>
              <a:spcAft>
                <a:spcPts val="400"/>
              </a:spcAft>
            </a:pPr>
            <a:r>
              <a:rPr sz="4000" b="1" i="0">
                <a:solidFill>
                  <a:srgbClr val="17756F"/>
                </a:solidFill>
                <a:latin typeface="Palatino Linotype" panose="02040502050505030304" charset="0"/>
                <a:cs typeface="Palatino Linotype" panose="02040502050505030304" charset="0"/>
              </a:rPr>
              <a:t>Switch</a:t>
            </a:r>
            <a:endParaRPr sz="4000" b="1" i="0">
              <a:solidFill>
                <a:srgbClr val="17756F"/>
              </a:solidFill>
              <a:latin typeface="Palatino Linotype" panose="02040502050505030304" charset="0"/>
              <a:cs typeface="Palatino Linotype" panose="02040502050505030304" charset="0"/>
            </a:endParaRPr>
          </a:p>
        </p:txBody>
      </p:sp>
      <p:sp>
        <p:nvSpPr>
          <p:cNvPr id="8" name="Text"/>
          <p:cNvSpPr txBox="1"/>
          <p:nvPr>
            <p:custDataLst>
              <p:tags r:id="rId6"/>
            </p:custDataLst>
          </p:nvPr>
        </p:nvSpPr>
        <p:spPr>
          <a:xfrm>
            <a:off x="777240" y="3154680"/>
            <a:ext cx="3108960" cy="1828800"/>
          </a:xfrm>
          <a:prstGeom prst="rect">
            <a:avLst/>
          </a:prstGeom>
          <a:noFill/>
        </p:spPr>
        <p:txBody>
          <a:bodyPr wrap="square" lIns="18288" tIns="18288" rIns="18288" bIns="18288" anchor="t">
            <a:spAutoFit/>
          </a:bodyPr>
          <a:lstStyle/>
          <a:p>
            <a:pPr>
              <a:spcAft>
                <a:spcPts val="400"/>
              </a:spcAft>
            </a:pPr>
            <a:r>
              <a:rPr sz="1500" b="0" i="0">
                <a:solidFill>
                  <a:srgbClr val="14213D"/>
                </a:solidFill>
                <a:latin typeface="Palatino Linotype" panose="02040502050505030304" charset="0"/>
                <a:cs typeface="Palatino Linotype" panose="02040502050505030304" charset="0"/>
              </a:rPr>
              <a:t>We replayed history 500 times. The switch won in 89% of them, in every test setting.</a:t>
            </a:r>
            <a:endParaRPr sz="1500" b="0" i="0">
              <a:solidFill>
                <a:srgbClr val="14213D"/>
              </a:solidFill>
              <a:latin typeface="Palatino Linotype" panose="02040502050505030304" charset="0"/>
              <a:cs typeface="Palatino Linotype" panose="02040502050505030304" charset="0"/>
            </a:endParaRPr>
          </a:p>
        </p:txBody>
      </p:sp>
      <p:sp>
        <p:nvSpPr>
          <p:cNvPr id="9" name="Verdict Review"/>
          <p:cNvSpPr/>
          <p:nvPr>
            <p:custDataLst>
              <p:tags r:id="rId7"/>
            </p:custDataLst>
          </p:nvPr>
        </p:nvSpPr>
        <p:spPr>
          <a:xfrm>
            <a:off x="4297679" y="1691640"/>
            <a:ext cx="3566160" cy="338328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alatino Linotype" panose="02040502050505030304" charset="0"/>
              <a:cs typeface="Palatino Linotype" panose="02040502050505030304" charset="0"/>
            </a:endParaRPr>
          </a:p>
        </p:txBody>
      </p:sp>
      <p:sp>
        <p:nvSpPr>
          <p:cNvPr id="10" name="Text"/>
          <p:cNvSpPr txBox="1"/>
          <p:nvPr>
            <p:custDataLst>
              <p:tags r:id="rId8"/>
            </p:custDataLst>
          </p:nvPr>
        </p:nvSpPr>
        <p:spPr>
          <a:xfrm>
            <a:off x="4526279" y="1874519"/>
            <a:ext cx="3108960" cy="365760"/>
          </a:xfrm>
          <a:prstGeom prst="rect">
            <a:avLst/>
          </a:prstGeom>
          <a:noFill/>
        </p:spPr>
        <p:txBody>
          <a:bodyPr wrap="square" lIns="18288" tIns="18288" rIns="18288" bIns="18288" anchor="t">
            <a:spAutoFit/>
          </a:bodyPr>
          <a:lstStyle/>
          <a:p>
            <a:pPr>
              <a:spcAft>
                <a:spcPts val="400"/>
              </a:spcAft>
            </a:pPr>
            <a:r>
              <a:rPr sz="1300" b="1" i="0">
                <a:solidFill>
                  <a:srgbClr val="4A5568"/>
                </a:solidFill>
                <a:latin typeface="Palatino Linotype" panose="02040502050505030304" charset="0"/>
                <a:cs typeface="Palatino Linotype" panose="02040502050505030304" charset="0"/>
              </a:rPr>
              <a:t>THOMAS · BALANCED</a:t>
            </a:r>
            <a:endParaRPr sz="1300" b="1" i="0">
              <a:solidFill>
                <a:srgbClr val="4A5568"/>
              </a:solidFill>
              <a:latin typeface="Palatino Linotype" panose="02040502050505030304" charset="0"/>
              <a:cs typeface="Palatino Linotype" panose="02040502050505030304" charset="0"/>
            </a:endParaRPr>
          </a:p>
        </p:txBody>
      </p:sp>
      <p:sp>
        <p:nvSpPr>
          <p:cNvPr id="11" name="Text"/>
          <p:cNvSpPr txBox="1"/>
          <p:nvPr>
            <p:custDataLst>
              <p:tags r:id="rId9"/>
            </p:custDataLst>
          </p:nvPr>
        </p:nvSpPr>
        <p:spPr>
          <a:xfrm>
            <a:off x="4526279" y="2286000"/>
            <a:ext cx="3108960" cy="731520"/>
          </a:xfrm>
          <a:prstGeom prst="rect">
            <a:avLst/>
          </a:prstGeom>
          <a:noFill/>
        </p:spPr>
        <p:txBody>
          <a:bodyPr wrap="square" lIns="18288" tIns="18288" rIns="18288" bIns="18288" anchor="t">
            <a:spAutoFit/>
          </a:bodyPr>
          <a:lstStyle/>
          <a:p>
            <a:pPr>
              <a:spcAft>
                <a:spcPts val="400"/>
              </a:spcAft>
            </a:pPr>
            <a:r>
              <a:rPr sz="4000" b="1" i="0">
                <a:solidFill>
                  <a:srgbClr val="9A7B1B"/>
                </a:solidFill>
                <a:latin typeface="Palatino Linotype" panose="02040502050505030304" charset="0"/>
                <a:cs typeface="Palatino Linotype" panose="02040502050505030304" charset="0"/>
              </a:rPr>
              <a:t>Review</a:t>
            </a:r>
            <a:endParaRPr sz="4000" b="1" i="0">
              <a:solidFill>
                <a:srgbClr val="9A7B1B"/>
              </a:solidFill>
              <a:latin typeface="Palatino Linotype" panose="02040502050505030304" charset="0"/>
              <a:cs typeface="Palatino Linotype" panose="02040502050505030304" charset="0"/>
            </a:endParaRPr>
          </a:p>
        </p:txBody>
      </p:sp>
      <p:sp>
        <p:nvSpPr>
          <p:cNvPr id="12" name="Text"/>
          <p:cNvSpPr txBox="1"/>
          <p:nvPr>
            <p:custDataLst>
              <p:tags r:id="rId10"/>
            </p:custDataLst>
          </p:nvPr>
        </p:nvSpPr>
        <p:spPr>
          <a:xfrm>
            <a:off x="4526279" y="3154680"/>
            <a:ext cx="3108960" cy="1828800"/>
          </a:xfrm>
          <a:prstGeom prst="rect">
            <a:avLst/>
          </a:prstGeom>
          <a:noFill/>
        </p:spPr>
        <p:txBody>
          <a:bodyPr wrap="square" lIns="18288" tIns="18288" rIns="18288" bIns="18288" anchor="t">
            <a:spAutoFit/>
          </a:bodyPr>
          <a:lstStyle/>
          <a:p>
            <a:pPr>
              <a:spcAft>
                <a:spcPts val="400"/>
              </a:spcAft>
            </a:pPr>
            <a:r>
              <a:rPr sz="1500" b="0" i="0">
                <a:solidFill>
                  <a:srgbClr val="14213D"/>
                </a:solidFill>
                <a:latin typeface="Palatino Linotype" panose="02040502050505030304" charset="0"/>
                <a:cs typeface="Palatino Linotype" panose="02040502050505030304" charset="0"/>
              </a:rPr>
              <a:t>Wins 74% of replays, but a stress test flips it. The committee decides; until then, nothing changes.</a:t>
            </a:r>
            <a:endParaRPr sz="1500" b="0" i="0">
              <a:solidFill>
                <a:srgbClr val="14213D"/>
              </a:solidFill>
              <a:latin typeface="Palatino Linotype" panose="02040502050505030304" charset="0"/>
              <a:cs typeface="Palatino Linotype" panose="02040502050505030304" charset="0"/>
            </a:endParaRPr>
          </a:p>
        </p:txBody>
      </p:sp>
      <p:sp>
        <p:nvSpPr>
          <p:cNvPr id="13" name="Verdict Keep"/>
          <p:cNvSpPr/>
          <p:nvPr>
            <p:custDataLst>
              <p:tags r:id="rId11"/>
            </p:custDataLst>
          </p:nvPr>
        </p:nvSpPr>
        <p:spPr>
          <a:xfrm>
            <a:off x="8046719" y="1691640"/>
            <a:ext cx="3566160" cy="338328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alatino Linotype" panose="02040502050505030304" charset="0"/>
              <a:cs typeface="Palatino Linotype" panose="02040502050505030304" charset="0"/>
            </a:endParaRPr>
          </a:p>
        </p:txBody>
      </p:sp>
      <p:sp>
        <p:nvSpPr>
          <p:cNvPr id="14" name="Text"/>
          <p:cNvSpPr txBox="1"/>
          <p:nvPr>
            <p:custDataLst>
              <p:tags r:id="rId12"/>
            </p:custDataLst>
          </p:nvPr>
        </p:nvSpPr>
        <p:spPr>
          <a:xfrm>
            <a:off x="8275319" y="1874519"/>
            <a:ext cx="3108960" cy="365760"/>
          </a:xfrm>
          <a:prstGeom prst="rect">
            <a:avLst/>
          </a:prstGeom>
          <a:noFill/>
        </p:spPr>
        <p:txBody>
          <a:bodyPr wrap="square" lIns="18288" tIns="18288" rIns="18288" bIns="18288" anchor="t">
            <a:spAutoFit/>
          </a:bodyPr>
          <a:lstStyle/>
          <a:p>
            <a:pPr>
              <a:spcAft>
                <a:spcPts val="400"/>
              </a:spcAft>
            </a:pPr>
            <a:r>
              <a:rPr sz="1300" b="1" i="0">
                <a:solidFill>
                  <a:srgbClr val="4A5568"/>
                </a:solidFill>
                <a:latin typeface="Palatino Linotype" panose="02040502050505030304" charset="0"/>
                <a:cs typeface="Palatino Linotype" panose="02040502050505030304" charset="0"/>
              </a:rPr>
              <a:t>ANNA · RISK-SENSITIVE</a:t>
            </a:r>
            <a:endParaRPr sz="1300" b="1" i="0">
              <a:solidFill>
                <a:srgbClr val="4A5568"/>
              </a:solidFill>
              <a:latin typeface="Palatino Linotype" panose="02040502050505030304" charset="0"/>
              <a:cs typeface="Palatino Linotype" panose="02040502050505030304" charset="0"/>
            </a:endParaRPr>
          </a:p>
        </p:txBody>
      </p:sp>
      <p:sp>
        <p:nvSpPr>
          <p:cNvPr id="15" name="Text"/>
          <p:cNvSpPr txBox="1"/>
          <p:nvPr>
            <p:custDataLst>
              <p:tags r:id="rId13"/>
            </p:custDataLst>
          </p:nvPr>
        </p:nvSpPr>
        <p:spPr>
          <a:xfrm>
            <a:off x="8275319" y="2286000"/>
            <a:ext cx="3108960" cy="731520"/>
          </a:xfrm>
          <a:prstGeom prst="rect">
            <a:avLst/>
          </a:prstGeom>
          <a:noFill/>
        </p:spPr>
        <p:txBody>
          <a:bodyPr wrap="square" lIns="18288" tIns="18288" rIns="18288" bIns="18288" anchor="t">
            <a:spAutoFit/>
          </a:bodyPr>
          <a:lstStyle/>
          <a:p>
            <a:pPr>
              <a:spcAft>
                <a:spcPts val="400"/>
              </a:spcAft>
            </a:pPr>
            <a:r>
              <a:rPr sz="4000" b="1" i="0">
                <a:solidFill>
                  <a:srgbClr val="B4561A"/>
                </a:solidFill>
                <a:latin typeface="Palatino Linotype" panose="02040502050505030304" charset="0"/>
                <a:cs typeface="Palatino Linotype" panose="02040502050505030304" charset="0"/>
              </a:rPr>
              <a:t>Keep</a:t>
            </a:r>
            <a:endParaRPr sz="4000" b="1" i="0">
              <a:solidFill>
                <a:srgbClr val="B4561A"/>
              </a:solidFill>
              <a:latin typeface="Palatino Linotype" panose="02040502050505030304" charset="0"/>
              <a:cs typeface="Palatino Linotype" panose="02040502050505030304" charset="0"/>
            </a:endParaRPr>
          </a:p>
        </p:txBody>
      </p:sp>
      <p:sp>
        <p:nvSpPr>
          <p:cNvPr id="16" name="Text"/>
          <p:cNvSpPr txBox="1"/>
          <p:nvPr>
            <p:custDataLst>
              <p:tags r:id="rId14"/>
            </p:custDataLst>
          </p:nvPr>
        </p:nvSpPr>
        <p:spPr>
          <a:xfrm>
            <a:off x="8275319" y="3154680"/>
            <a:ext cx="3108960" cy="1828800"/>
          </a:xfrm>
          <a:prstGeom prst="rect">
            <a:avLst/>
          </a:prstGeom>
          <a:noFill/>
        </p:spPr>
        <p:txBody>
          <a:bodyPr wrap="square" lIns="18288" tIns="18288" rIns="18288" bIns="18288" anchor="t">
            <a:spAutoFit/>
          </a:bodyPr>
          <a:lstStyle/>
          <a:p>
            <a:pPr>
              <a:spcAft>
                <a:spcPts val="400"/>
              </a:spcAft>
            </a:pPr>
            <a:r>
              <a:rPr sz="1500" b="0" i="0">
                <a:solidFill>
                  <a:srgbClr val="14213D"/>
                </a:solidFill>
                <a:latin typeface="Palatino Linotype" panose="02040502050505030304" charset="0"/>
                <a:cs typeface="Palatino Linotype" panose="02040502050505030304" charset="0"/>
              </a:rPr>
              <a:t>Her basket stays within her loss limit in 76% of replays. Tech sits on the line and fails under stress.</a:t>
            </a:r>
            <a:endParaRPr sz="1500" b="0" i="0">
              <a:solidFill>
                <a:srgbClr val="14213D"/>
              </a:solidFill>
              <a:latin typeface="Palatino Linotype" panose="02040502050505030304" charset="0"/>
              <a:cs typeface="Palatino Linotype" panose="02040502050505030304" charset="0"/>
            </a:endParaRPr>
          </a:p>
        </p:txBody>
      </p:sp>
      <p:sp>
        <p:nvSpPr>
          <p:cNvPr id="17" name="Burden of proof"/>
          <p:cNvSpPr/>
          <p:nvPr/>
        </p:nvSpPr>
        <p:spPr>
          <a:xfrm>
            <a:off x="548640" y="5303520"/>
            <a:ext cx="11064240" cy="777240"/>
          </a:xfrm>
          <a:prstGeom prst="roundRect">
            <a:avLst>
              <a:gd name="adj" fmla="val 6000"/>
            </a:avLst>
          </a:prstGeom>
          <a:solidFill>
            <a:srgbClr val="D6EB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alatino Linotype" panose="02040502050505030304" charset="0"/>
              <a:cs typeface="Palatino Linotype" panose="02040502050505030304" charset="0"/>
            </a:endParaRPr>
          </a:p>
        </p:txBody>
      </p:sp>
      <p:sp>
        <p:nvSpPr>
          <p:cNvPr id="18" name="Text"/>
          <p:cNvSpPr txBox="1"/>
          <p:nvPr/>
        </p:nvSpPr>
        <p:spPr>
          <a:xfrm>
            <a:off x="777240" y="5303520"/>
            <a:ext cx="10607040" cy="777240"/>
          </a:xfrm>
          <a:prstGeom prst="rect">
            <a:avLst/>
          </a:prstGeom>
          <a:noFill/>
        </p:spPr>
        <p:txBody>
          <a:bodyPr wrap="square" lIns="18288" tIns="18288" rIns="18288" bIns="18288" anchor="ctr">
            <a:spAutoFit/>
          </a:bodyPr>
          <a:lstStyle/>
          <a:p>
            <a:pPr>
              <a:spcAft>
                <a:spcPts val="400"/>
              </a:spcAft>
            </a:pPr>
            <a:r>
              <a:rPr sz="1600" b="1" i="0">
                <a:solidFill>
                  <a:srgbClr val="14213D"/>
                </a:solidFill>
                <a:latin typeface="Palatino Linotype" panose="02040502050505030304" charset="0"/>
                <a:cs typeface="Palatino Linotype" panose="02040502050505030304" charset="0"/>
              </a:rPr>
              <a:t>Changing must earn it: </a:t>
            </a:r>
            <a:r>
              <a:rPr sz="1600" b="0" i="0">
                <a:solidFill>
                  <a:srgbClr val="14213D"/>
                </a:solidFill>
                <a:latin typeface="Palatino Linotype" panose="02040502050505030304" charset="0"/>
                <a:cs typeface="Palatino Linotype" panose="02040502050505030304" charset="0"/>
              </a:rPr>
              <a:t>the same winner in all 3 test settings, and better in at least 70% of 500 replays. Otherwise: review, and hold.</a:t>
            </a:r>
            <a:endParaRPr sz="1600" b="0" i="0">
              <a:solidFill>
                <a:srgbClr val="14213D"/>
              </a:solidFill>
              <a:latin typeface="Palatino Linotype" panose="02040502050505030304" charset="0"/>
              <a:cs typeface="Palatino Linotype" panose="02040502050505030304" charset="0"/>
            </a:endParaRPr>
          </a:p>
        </p:txBody>
      </p:sp>
      <p:sp>
        <p:nvSpPr>
          <p:cNvPr id="19" name="Source"/>
          <p:cNvSpPr txBox="1"/>
          <p:nvPr/>
        </p:nvSpPr>
        <p:spPr>
          <a:xfrm>
            <a:off x="548640" y="6355080"/>
            <a:ext cx="10424160" cy="274320"/>
          </a:xfrm>
          <a:prstGeom prst="rect">
            <a:avLst/>
          </a:prstGeom>
          <a:noFill/>
        </p:spPr>
        <p:txBody>
          <a:bodyPr wrap="square" lIns="18288" tIns="18288" rIns="18288" bIns="18288" anchor="t">
            <a:spAutoFit/>
          </a:bodyPr>
          <a:lstStyle/>
          <a:p>
            <a:pPr>
              <a:spcAft>
                <a:spcPts val="400"/>
              </a:spcAft>
            </a:pPr>
            <a:r>
              <a:rPr sz="1100" b="0" i="0">
                <a:solidFill>
                  <a:srgbClr val="8A94A6"/>
                </a:solidFill>
                <a:latin typeface="Palatino Linotype" panose="02040502050505030304" charset="0"/>
                <a:cs typeface="Palatino Linotype" panose="02040502050505030304" charset="0"/>
              </a:rPr>
              <a:t>Source: summary.json, “verdicts” (growth 0.886 · balanced 0.74 · risk-sensitive 0.764)</a:t>
            </a:r>
            <a:endParaRPr sz="1100" b="0" i="0">
              <a:solidFill>
                <a:srgbClr val="8A94A6"/>
              </a:solidFill>
              <a:latin typeface="Palatino Linotype" panose="02040502050505030304" charset="0"/>
              <a:cs typeface="Palatino Linotype" panose="02040502050505030304" charset="0"/>
            </a:endParaRPr>
          </a:p>
        </p:txBody>
      </p:sp>
      <p:sp>
        <p:nvSpPr>
          <p:cNvPr id="20" name="Page"/>
          <p:cNvSpPr txBox="1"/>
          <p:nvPr/>
        </p:nvSpPr>
        <p:spPr>
          <a:xfrm>
            <a:off x="11155680" y="6355080"/>
            <a:ext cx="457200" cy="274320"/>
          </a:xfrm>
          <a:prstGeom prst="rect">
            <a:avLst/>
          </a:prstGeom>
          <a:noFill/>
        </p:spPr>
        <p:txBody>
          <a:bodyPr wrap="square" lIns="18288" tIns="18288" rIns="18288" bIns="18288" anchor="t">
            <a:spAutoFit/>
          </a:bodyPr>
          <a:lstStyle/>
          <a:p>
            <a:pPr algn="r">
              <a:spcAft>
                <a:spcPts val="400"/>
              </a:spcAft>
            </a:pPr>
            <a:r>
              <a:rPr sz="1100" b="0" i="0">
                <a:solidFill>
                  <a:srgbClr val="8A94A6"/>
                </a:solidFill>
                <a:latin typeface="Palatino Linotype" panose="02040502050505030304" charset="0"/>
                <a:cs typeface="Palatino Linotype" panose="02040502050505030304" charset="0"/>
              </a:rPr>
              <a:t>8</a:t>
            </a:r>
            <a:endParaRPr sz="1100" b="0" i="0">
              <a:solidFill>
                <a:srgbClr val="8A94A6"/>
              </a:solidFill>
              <a:latin typeface="Palatino Linotype" panose="02040502050505030304" charset="0"/>
              <a:cs typeface="Palatino Linotype" panose="0204050205050503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Grafik 17"/>
          <p:cNvPicPr>
            <a:picLocks noChangeAspect="1"/>
          </p:cNvPicPr>
          <p:nvPr/>
        </p:nvPicPr>
        <p:blipFill>
          <a:blip r:embed="rId1"/>
          <a:stretch>
            <a:fillRect/>
          </a:stretch>
        </p:blipFill>
        <p:spPr>
          <a:xfrm>
            <a:off x="49619" y="1235710"/>
            <a:ext cx="12142381" cy="3873500"/>
          </a:xfrm>
          <a:prstGeom prst="rect">
            <a:avLst/>
          </a:prstGeom>
        </p:spPr>
      </p:pic>
      <p:sp>
        <p:nvSpPr>
          <p:cNvPr id="3" name="Text 1"/>
          <p:cNvSpPr txBox="1"/>
          <p:nvPr/>
        </p:nvSpPr>
        <p:spPr>
          <a:xfrm>
            <a:off x="548640" y="383540"/>
            <a:ext cx="11064240" cy="822960"/>
          </a:xfrm>
          <a:prstGeom prst="rect">
            <a:avLst/>
          </a:prstGeom>
          <a:noFill/>
        </p:spPr>
        <p:txBody>
          <a:bodyPr wrap="square" lIns="0" tIns="0" rIns="0" bIns="0" rtlCol="0" anchor="t"/>
          <a:lstStyle/>
          <a:p>
            <a:pPr marL="0" indent="0">
              <a:buNone/>
            </a:pPr>
            <a:r>
              <a:rPr lang="en-US" sz="3200" b="1" dirty="0">
                <a:solidFill>
                  <a:schemeClr val="bg1"/>
                </a:solidFill>
                <a:latin typeface="Palatino Linotype" panose="02040502050505030304" charset="0"/>
                <a:ea typeface="Cambria" panose="02040503050406030204" pitchFamily="34" charset="-122"/>
                <a:cs typeface="Palatino Linotype" panose="02040502050505030304" charset="0"/>
              </a:rPr>
              <a:t>Balanced sits right on the edge</a:t>
            </a:r>
            <a:endParaRPr lang="en-US" sz="3200" b="1" dirty="0">
              <a:solidFill>
                <a:schemeClr val="bg1"/>
              </a:solidFill>
              <a:latin typeface="Palatino Linotype" panose="02040502050505030304" charset="0"/>
              <a:ea typeface="Cambria" panose="02040503050406030204" pitchFamily="34" charset="-122"/>
              <a:cs typeface="Palatino Linotype" panose="02040502050505030304" charset="0"/>
            </a:endParaRPr>
          </a:p>
        </p:txBody>
      </p:sp>
      <p:grpSp>
        <p:nvGrpSpPr>
          <p:cNvPr id="21" name="组合 20"/>
          <p:cNvGrpSpPr/>
          <p:nvPr/>
        </p:nvGrpSpPr>
        <p:grpSpPr>
          <a:xfrm>
            <a:off x="548640" y="1297940"/>
            <a:ext cx="3566160" cy="1097280"/>
            <a:chOff x="864" y="2044"/>
            <a:chExt cx="5616" cy="1728"/>
          </a:xfrm>
        </p:grpSpPr>
        <p:sp>
          <p:nvSpPr>
            <p:cNvPr id="4" name="Shape 2"/>
            <p:cNvSpPr/>
            <p:nvPr>
              <p:custDataLst>
                <p:tags r:id="rId2"/>
              </p:custDataLst>
            </p:nvPr>
          </p:nvSpPr>
          <p:spPr>
            <a:xfrm>
              <a:off x="864" y="2044"/>
              <a:ext cx="5616" cy="1728"/>
            </a:xfrm>
            <a:prstGeom prst="roundRect">
              <a:avLst>
                <a:gd name="adj" fmla="val 6667"/>
              </a:avLst>
            </a:prstGeom>
            <a:solidFill>
              <a:srgbClr val="FBEFE6"/>
            </a:solidFill>
            <a:ln w="9525">
              <a:solidFill>
                <a:srgbClr val="F0D3BC"/>
              </a:solidFill>
              <a:prstDash val="solid"/>
            </a:ln>
          </p:spPr>
          <p:txBody>
            <a:bodyPr/>
            <a:lstStyle/>
            <a:p>
              <a:endParaRPr>
                <a:latin typeface="Palatino Linotype" panose="02040502050505030304" charset="0"/>
                <a:cs typeface="Palatino Linotype" panose="02040502050505030304" charset="0"/>
              </a:endParaRPr>
            </a:p>
          </p:txBody>
        </p:sp>
        <p:sp>
          <p:nvSpPr>
            <p:cNvPr id="5" name="Text 3"/>
            <p:cNvSpPr txBox="1"/>
            <p:nvPr>
              <p:custDataLst>
                <p:tags r:id="rId3"/>
              </p:custDataLst>
            </p:nvPr>
          </p:nvSpPr>
          <p:spPr>
            <a:xfrm>
              <a:off x="1136" y="2188"/>
              <a:ext cx="5040" cy="648"/>
            </a:xfrm>
            <a:prstGeom prst="rect">
              <a:avLst/>
            </a:prstGeom>
            <a:noFill/>
          </p:spPr>
          <p:txBody>
            <a:bodyPr wrap="square" lIns="0" tIns="0" rIns="0" bIns="0" rtlCol="0" anchor="t"/>
            <a:lstStyle/>
            <a:p>
              <a:pPr marL="0" indent="0">
                <a:buNone/>
              </a:pPr>
              <a:r>
                <a:rPr lang="en-US" altLang="zh-CN" sz="1800" b="1" dirty="0">
                  <a:solidFill>
                    <a:srgbClr val="B4561A"/>
                  </a:solidFill>
                  <a:latin typeface="Palatino Linotype" panose="02040502050505030304" charset="0"/>
                  <a:ea typeface="Calibri" panose="020F0502020204030204" pitchFamily="34" charset="-122"/>
                  <a:cs typeface="Palatino Linotype" panose="02040502050505030304" charset="0"/>
                </a:rPr>
                <a:t>Tech edge −0.37 pts</a:t>
              </a:r>
              <a:endParaRPr lang="en-US" altLang="zh-CN" sz="1800" b="1" dirty="0">
                <a:solidFill>
                  <a:srgbClr val="B4561A"/>
                </a:solidFill>
                <a:latin typeface="Palatino Linotype" panose="02040502050505030304" charset="0"/>
                <a:ea typeface="Calibri" panose="020F0502020204030204" pitchFamily="34" charset="-122"/>
                <a:cs typeface="Palatino Linotype" panose="02040502050505030304" charset="0"/>
              </a:endParaRPr>
            </a:p>
            <a:p>
              <a:pPr marL="0" indent="0">
                <a:buNone/>
              </a:pPr>
              <a:endParaRPr lang="en-US" altLang="zh-CN" sz="1800" b="1" dirty="0">
                <a:solidFill>
                  <a:srgbClr val="B4561A"/>
                </a:solidFill>
                <a:latin typeface="Palatino Linotype" panose="02040502050505030304" charset="0"/>
                <a:ea typeface="Calibri" panose="020F0502020204030204" pitchFamily="34" charset="-122"/>
                <a:cs typeface="Palatino Linotype" panose="02040502050505030304" charset="0"/>
              </a:endParaRPr>
            </a:p>
          </p:txBody>
        </p:sp>
        <p:sp>
          <p:nvSpPr>
            <p:cNvPr id="6" name="Text 4"/>
            <p:cNvSpPr txBox="1"/>
            <p:nvPr>
              <p:custDataLst>
                <p:tags r:id="rId4"/>
              </p:custDataLst>
            </p:nvPr>
          </p:nvSpPr>
          <p:spPr>
            <a:xfrm>
              <a:off x="1152" y="2908"/>
              <a:ext cx="5040" cy="720"/>
            </a:xfrm>
            <a:prstGeom prst="rect">
              <a:avLst/>
            </a:prstGeom>
            <a:noFill/>
          </p:spPr>
          <p:txBody>
            <a:bodyPr wrap="square" lIns="0" tIns="0" rIns="0" bIns="0" rtlCol="0" anchor="t"/>
            <a:lstStyle/>
            <a:p>
              <a:pPr marL="0" indent="0">
                <a:buNone/>
              </a:pPr>
              <a:r>
                <a:rPr lang="en-US" altLang="zh-CN" sz="1400" dirty="0">
                  <a:solidFill>
                    <a:srgbClr val="14213D"/>
                  </a:solidFill>
                  <a:latin typeface="Palatino Linotype" panose="02040502050505030304" charset="0"/>
                  <a:ea typeface="Calibri" panose="020F0502020204030204" pitchFamily="34" charset="-122"/>
                  <a:cs typeface="Palatino Linotype" panose="02040502050505030304" charset="0"/>
                </a:rPr>
                <a:t>Tech earns 0.37 pts less </a:t>
              </a:r>
              <a:r>
                <a:rPr lang="en-US" sz="1400" dirty="0">
                  <a:solidFill>
                    <a:srgbClr val="14213D"/>
                  </a:solidFill>
                  <a:latin typeface="Palatino Linotype" panose="02040502050505030304" charset="0"/>
                  <a:ea typeface="Calibri" panose="020F0502020204030204" pitchFamily="34" charset="-122"/>
                  <a:cs typeface="Palatino Linotype" panose="02040502050505030304" charset="0"/>
                </a:rPr>
                <a:t>per month (supplied stress: −0.50)</a:t>
              </a:r>
              <a:endParaRPr lang="en-US" sz="1400" dirty="0">
                <a:solidFill>
                  <a:srgbClr val="14213D"/>
                </a:solidFill>
                <a:latin typeface="Palatino Linotype" panose="02040502050505030304" charset="0"/>
                <a:ea typeface="Calibri" panose="020F0502020204030204" pitchFamily="34" charset="-122"/>
                <a:cs typeface="Palatino Linotype" panose="02040502050505030304" charset="0"/>
              </a:endParaRPr>
            </a:p>
          </p:txBody>
        </p:sp>
      </p:grpSp>
      <p:grpSp>
        <p:nvGrpSpPr>
          <p:cNvPr id="22" name="组合 21"/>
          <p:cNvGrpSpPr/>
          <p:nvPr/>
        </p:nvGrpSpPr>
        <p:grpSpPr>
          <a:xfrm>
            <a:off x="4297680" y="1297940"/>
            <a:ext cx="3566160" cy="1097280"/>
            <a:chOff x="6768" y="2044"/>
            <a:chExt cx="5616" cy="1728"/>
          </a:xfrm>
        </p:grpSpPr>
        <p:sp>
          <p:nvSpPr>
            <p:cNvPr id="7" name="Shape 5"/>
            <p:cNvSpPr/>
            <p:nvPr>
              <p:custDataLst>
                <p:tags r:id="rId5"/>
              </p:custDataLst>
            </p:nvPr>
          </p:nvSpPr>
          <p:spPr>
            <a:xfrm>
              <a:off x="6768" y="2044"/>
              <a:ext cx="5616" cy="1728"/>
            </a:xfrm>
            <a:prstGeom prst="roundRect">
              <a:avLst>
                <a:gd name="adj" fmla="val 6667"/>
              </a:avLst>
            </a:prstGeom>
            <a:solidFill>
              <a:srgbClr val="FBEFE6"/>
            </a:solidFill>
            <a:ln w="9525">
              <a:solidFill>
                <a:srgbClr val="F0D3BC"/>
              </a:solidFill>
              <a:prstDash val="solid"/>
            </a:ln>
          </p:spPr>
          <p:txBody>
            <a:bodyPr/>
            <a:lstStyle/>
            <a:p>
              <a:endParaRPr>
                <a:latin typeface="Palatino Linotype" panose="02040502050505030304" charset="0"/>
                <a:cs typeface="Palatino Linotype" panose="02040502050505030304" charset="0"/>
              </a:endParaRPr>
            </a:p>
          </p:txBody>
        </p:sp>
        <p:sp>
          <p:nvSpPr>
            <p:cNvPr id="8" name="Text 6"/>
            <p:cNvSpPr txBox="1"/>
            <p:nvPr>
              <p:custDataLst>
                <p:tags r:id="rId6"/>
              </p:custDataLst>
            </p:nvPr>
          </p:nvSpPr>
          <p:spPr>
            <a:xfrm>
              <a:off x="7056" y="2188"/>
              <a:ext cx="5040" cy="648"/>
            </a:xfrm>
            <a:prstGeom prst="rect">
              <a:avLst/>
            </a:prstGeom>
            <a:noFill/>
          </p:spPr>
          <p:txBody>
            <a:bodyPr wrap="square" lIns="0" tIns="0" rIns="0" bIns="0" rtlCol="0" anchor="t"/>
            <a:lstStyle/>
            <a:p>
              <a:pPr marL="0" indent="0">
                <a:buNone/>
              </a:pPr>
              <a:r>
                <a:rPr lang="en-US" altLang="zh-CN" sz="1800" b="1" dirty="0">
                  <a:solidFill>
                    <a:srgbClr val="B4561A"/>
                  </a:solidFill>
                  <a:latin typeface="Palatino Linotype" panose="02040502050505030304" charset="0"/>
                  <a:ea typeface="Calibri" panose="020F0502020204030204" pitchFamily="34" charset="-122"/>
                  <a:cs typeface="Palatino Linotype" panose="02040502050505030304" charset="0"/>
                </a:rPr>
                <a:t/>
              </a:r>
              <a:r>
                <a:rPr lang="en-US" sz="1800" b="1" dirty="0">
                  <a:solidFill>
                    <a:srgbClr val="B4561A"/>
                  </a:solidFill>
                  <a:latin typeface="Palatino Linotype" panose="02040502050505030304" charset="0"/>
                  <a:ea typeface="Calibri" panose="020F0502020204030204" pitchFamily="34" charset="-122"/>
                  <a:cs typeface="Palatino Linotype" panose="02040502050505030304" charset="0"/>
                </a:rPr>
                <a:t>Switching cost 0.0057</a:t>
              </a:r>
              <a:endParaRPr lang="en-US" sz="1800" b="1" dirty="0">
                <a:solidFill>
                  <a:srgbClr val="B4561A"/>
                </a:solidFill>
                <a:latin typeface="Palatino Linotype" panose="02040502050505030304" charset="0"/>
                <a:ea typeface="Calibri" panose="020F0502020204030204" pitchFamily="34" charset="-122"/>
                <a:cs typeface="Palatino Linotype" panose="02040502050505030304" charset="0"/>
              </a:endParaRPr>
            </a:p>
          </p:txBody>
        </p:sp>
        <p:sp>
          <p:nvSpPr>
            <p:cNvPr id="9" name="Text 7"/>
            <p:cNvSpPr txBox="1"/>
            <p:nvPr>
              <p:custDataLst>
                <p:tags r:id="rId7"/>
              </p:custDataLst>
            </p:nvPr>
          </p:nvSpPr>
          <p:spPr>
            <a:xfrm>
              <a:off x="7056" y="2908"/>
              <a:ext cx="5040" cy="720"/>
            </a:xfrm>
            <a:prstGeom prst="rect">
              <a:avLst/>
            </a:prstGeom>
            <a:noFill/>
          </p:spPr>
          <p:txBody>
            <a:bodyPr wrap="square" lIns="0" tIns="0" rIns="0" bIns="0" rtlCol="0" anchor="t"/>
            <a:lstStyle/>
            <a:p>
              <a:pPr marL="0" indent="0">
                <a:buNone/>
              </a:pPr>
              <a:r>
                <a:rPr lang="en-US" sz="1400" dirty="0">
                  <a:solidFill>
                    <a:srgbClr val="14213D"/>
                  </a:solidFill>
                  <a:latin typeface="Palatino Linotype" panose="02040502050505030304" charset="0"/>
                  <a:ea typeface="Calibri" panose="020F0502020204030204" pitchFamily="34" charset="-122"/>
                  <a:cs typeface="Palatino Linotype" panose="02040502050505030304" charset="0"/>
                </a:rPr>
                <a:t>about 3× the base 0.002</a:t>
              </a:r>
              <a:endParaRPr lang="en-US" sz="1400" dirty="0">
                <a:solidFill>
                  <a:srgbClr val="14213D"/>
                </a:solidFill>
                <a:latin typeface="Palatino Linotype" panose="02040502050505030304" charset="0"/>
                <a:ea typeface="Calibri" panose="020F0502020204030204" pitchFamily="34" charset="-122"/>
                <a:cs typeface="Palatino Linotype" panose="02040502050505030304" charset="0"/>
              </a:endParaRPr>
            </a:p>
          </p:txBody>
        </p:sp>
      </p:grpSp>
      <p:sp>
        <p:nvSpPr>
          <p:cNvPr id="10" name="Shape 8"/>
          <p:cNvSpPr/>
          <p:nvPr>
            <p:custDataLst>
              <p:tags r:id="rId8"/>
            </p:custDataLst>
          </p:nvPr>
        </p:nvSpPr>
        <p:spPr>
          <a:xfrm>
            <a:off x="8046720" y="1297940"/>
            <a:ext cx="3566160" cy="1097280"/>
          </a:xfrm>
          <a:prstGeom prst="roundRect">
            <a:avLst>
              <a:gd name="adj" fmla="val 6667"/>
            </a:avLst>
          </a:prstGeom>
          <a:solidFill>
            <a:srgbClr val="FBEFE6"/>
          </a:solidFill>
          <a:ln w="9525">
            <a:solidFill>
              <a:srgbClr val="F0D3BC"/>
            </a:solidFill>
            <a:prstDash val="solid"/>
          </a:ln>
        </p:spPr>
        <p:txBody>
          <a:bodyPr/>
          <a:lstStyle/>
          <a:p>
            <a:endParaRPr>
              <a:latin typeface="Palatino Linotype" panose="02040502050505030304" charset="0"/>
              <a:cs typeface="Palatino Linotype" panose="02040502050505030304" charset="0"/>
            </a:endParaRPr>
          </a:p>
        </p:txBody>
      </p:sp>
      <p:sp>
        <p:nvSpPr>
          <p:cNvPr id="11" name="Text 9"/>
          <p:cNvSpPr txBox="1"/>
          <p:nvPr>
            <p:custDataLst>
              <p:tags r:id="rId9"/>
            </p:custDataLst>
          </p:nvPr>
        </p:nvSpPr>
        <p:spPr>
          <a:xfrm>
            <a:off x="8229600" y="1389380"/>
            <a:ext cx="3200400" cy="411480"/>
          </a:xfrm>
          <a:prstGeom prst="rect">
            <a:avLst/>
          </a:prstGeom>
          <a:noFill/>
        </p:spPr>
        <p:txBody>
          <a:bodyPr wrap="square" lIns="0" tIns="0" rIns="0" bIns="0" rtlCol="0" anchor="t"/>
          <a:lstStyle/>
          <a:p>
            <a:pPr marL="0" indent="0">
              <a:buNone/>
            </a:pPr>
            <a:r>
              <a:rPr lang="en-US" altLang="zh-CN" sz="1800" b="1" dirty="0">
                <a:solidFill>
                  <a:srgbClr val="B4561A"/>
                </a:solidFill>
                <a:latin typeface="Palatino Linotype" panose="02040502050505030304" charset="0"/>
                <a:ea typeface="Calibri" panose="020F0502020204030204" pitchFamily="34" charset="-122"/>
                <a:cs typeface="Palatino Linotype" panose="02040502050505030304" charset="0"/>
              </a:rPr>
              <a:t/>
            </a:r>
            <a:r>
              <a:rPr lang="en-US" sz="1800" b="1" dirty="0">
                <a:solidFill>
                  <a:srgbClr val="B4561A"/>
                </a:solidFill>
                <a:latin typeface="Palatino Linotype" panose="02040502050505030304" charset="0"/>
                <a:ea typeface="Calibri" panose="020F0502020204030204" pitchFamily="34" charset="-122"/>
                <a:cs typeface="Palatino Linotype" panose="02040502050505030304" charset="0"/>
              </a:rPr>
              <a:t>Risk weight 7.5 / 14.9</a:t>
            </a:r>
            <a:endParaRPr lang="en-US" sz="1800" b="1" dirty="0">
              <a:solidFill>
                <a:srgbClr val="B4561A"/>
              </a:solidFill>
              <a:latin typeface="Palatino Linotype" panose="02040502050505030304" charset="0"/>
              <a:ea typeface="Calibri" panose="020F0502020204030204" pitchFamily="34" charset="-122"/>
              <a:cs typeface="Palatino Linotype" panose="02040502050505030304" charset="0"/>
            </a:endParaRPr>
          </a:p>
        </p:txBody>
      </p:sp>
      <p:sp>
        <p:nvSpPr>
          <p:cNvPr id="12" name="Text 10"/>
          <p:cNvSpPr txBox="1"/>
          <p:nvPr>
            <p:custDataLst>
              <p:tags r:id="rId10"/>
            </p:custDataLst>
          </p:nvPr>
        </p:nvSpPr>
        <p:spPr>
          <a:xfrm>
            <a:off x="8229600" y="1846580"/>
            <a:ext cx="3200400" cy="457200"/>
          </a:xfrm>
          <a:prstGeom prst="rect">
            <a:avLst/>
          </a:prstGeom>
          <a:noFill/>
        </p:spPr>
        <p:txBody>
          <a:bodyPr wrap="square" lIns="0" tIns="0" rIns="0" bIns="0" rtlCol="0" anchor="t"/>
          <a:lstStyle/>
          <a:p>
            <a:pPr marL="0" indent="0">
              <a:buNone/>
            </a:pPr>
            <a:r>
              <a:rPr lang="en-US" sz="1400" dirty="0">
                <a:solidFill>
                  <a:srgbClr val="14213D"/>
                </a:solidFill>
                <a:latin typeface="Palatino Linotype" panose="02040502050505030304" charset="0"/>
                <a:ea typeface="Calibri" panose="020F0502020204030204" pitchFamily="34" charset="-122"/>
                <a:cs typeface="Palatino Linotype" panose="02040502050505030304" charset="0"/>
              </a:rPr>
              <a:t>to NoDur+HiTec+Utils / to current (base 5)</a:t>
            </a:r>
            <a:endParaRPr lang="en-US" sz="1400" dirty="0">
              <a:solidFill>
                <a:srgbClr val="14213D"/>
              </a:solidFill>
              <a:latin typeface="Palatino Linotype" panose="02040502050505030304" charset="0"/>
              <a:ea typeface="Calibri" panose="020F0502020204030204" pitchFamily="34" charset="-122"/>
              <a:cs typeface="Palatino Linotype" panose="02040502050505030304" charset="0"/>
            </a:endParaRPr>
          </a:p>
        </p:txBody>
      </p:sp>
      <p:sp>
        <p:nvSpPr>
          <p:cNvPr id="13" name="Shape 11"/>
          <p:cNvSpPr/>
          <p:nvPr/>
        </p:nvSpPr>
        <p:spPr>
          <a:xfrm>
            <a:off x="548640" y="2623820"/>
            <a:ext cx="5394960" cy="3273552"/>
          </a:xfrm>
          <a:prstGeom prst="rect">
            <a:avLst/>
          </a:prstGeom>
          <a:solidFill>
            <a:srgbClr val="FFFFFF"/>
          </a:solidFill>
          <a:ln w="9525">
            <a:solidFill>
              <a:srgbClr val="D5DAE0"/>
            </a:solidFill>
            <a:prstDash val="solid"/>
          </a:ln>
        </p:spPr>
        <p:txBody>
          <a:bodyPr/>
          <a:lstStyle/>
          <a:p>
            <a:endParaRPr>
              <a:latin typeface="Palatino Linotype" panose="02040502050505030304" charset="0"/>
              <a:cs typeface="Palatino Linotype" panose="02040502050505030304" charset="0"/>
            </a:endParaRPr>
          </a:p>
        </p:txBody>
      </p:sp>
      <p:pic>
        <p:nvPicPr>
          <p:cNvPr id="14" name="Image 0" descr="Decision map: best portfolio by risk weight and HiTec return shift"/>
          <p:cNvPicPr>
            <a:picLocks noChangeAspect="1"/>
          </p:cNvPicPr>
          <p:nvPr/>
        </p:nvPicPr>
        <p:blipFill>
          <a:blip r:embed="rId11"/>
          <a:stretch>
            <a:fillRect/>
          </a:stretch>
        </p:blipFill>
        <p:spPr>
          <a:xfrm>
            <a:off x="594360" y="2669540"/>
            <a:ext cx="5303520" cy="3182112"/>
          </a:xfrm>
          <a:prstGeom prst="rect">
            <a:avLst/>
          </a:prstGeom>
        </p:spPr>
      </p:pic>
      <p:sp>
        <p:nvSpPr>
          <p:cNvPr id="15" name="Shape 12"/>
          <p:cNvSpPr/>
          <p:nvPr/>
        </p:nvSpPr>
        <p:spPr>
          <a:xfrm>
            <a:off x="6217920" y="2623820"/>
            <a:ext cx="5394960" cy="3273552"/>
          </a:xfrm>
          <a:prstGeom prst="rect">
            <a:avLst/>
          </a:prstGeom>
          <a:solidFill>
            <a:srgbClr val="FFFFFF"/>
          </a:solidFill>
          <a:ln w="9525">
            <a:solidFill>
              <a:srgbClr val="D5DAE0"/>
            </a:solidFill>
            <a:prstDash val="solid"/>
          </a:ln>
        </p:spPr>
        <p:txBody>
          <a:bodyPr/>
          <a:lstStyle/>
          <a:p>
            <a:endParaRPr>
              <a:latin typeface="Palatino Linotype" panose="02040502050505030304" charset="0"/>
              <a:cs typeface="Palatino Linotype" panose="02040502050505030304" charset="0"/>
            </a:endParaRPr>
          </a:p>
        </p:txBody>
      </p:sp>
      <p:pic>
        <p:nvPicPr>
          <p:cNvPr id="16" name="Image 1" descr="Decision map: best portfolio by risk weight and switching cost"/>
          <p:cNvPicPr>
            <a:picLocks noChangeAspect="1"/>
          </p:cNvPicPr>
          <p:nvPr/>
        </p:nvPicPr>
        <p:blipFill>
          <a:blip r:embed="rId12"/>
          <a:stretch>
            <a:fillRect/>
          </a:stretch>
        </p:blipFill>
        <p:spPr>
          <a:xfrm>
            <a:off x="6263640" y="2669540"/>
            <a:ext cx="5303520" cy="3182112"/>
          </a:xfrm>
          <a:prstGeom prst="rect">
            <a:avLst/>
          </a:prstGeom>
        </p:spPr>
      </p:pic>
      <p:sp>
        <p:nvSpPr>
          <p:cNvPr id="2" name="文本框 1"/>
          <p:cNvSpPr txBox="1"/>
          <p:nvPr/>
        </p:nvSpPr>
        <p:spPr>
          <a:xfrm>
            <a:off x="731520" y="6028055"/>
            <a:ext cx="10744835" cy="737235"/>
          </a:xfrm>
          <a:prstGeom prst="rect">
            <a:avLst/>
          </a:prstGeom>
        </p:spPr>
        <p:txBody>
          <a:bodyPr wrap="square">
            <a:spAutoFit/>
          </a:bodyPr>
          <a:p>
            <a:r>
              <a:rPr lang="en-US" altLang="zh-CN" sz="1400">
                <a:solidFill>
                  <a:schemeClr val="bg1"/>
                </a:solidFill>
                <a:latin typeface="Palatino Linotype" panose="02040502050505030304" charset="0"/>
                <a:cs typeface="Palatino Linotype" panose="02040502050505030304" charset="0"/>
              </a:rPr>
              <a:t>Thomas changes his mind if tech earns just 0.37 points less, and the organisers’ own stress test is already at minus 0.50. Lena would only change her mind if tech earned 0.60 points less, so her answer is more stable. And Anna never flips, because she doesn’t hold tech in the first place.</a:t>
            </a:r>
            <a:endParaRPr lang="en-US" altLang="zh-CN" sz="1400">
              <a:solidFill>
                <a:schemeClr val="bg1"/>
              </a:solidFill>
              <a:latin typeface="Palatino Linotype" panose="02040502050505030304" charset="0"/>
              <a:cs typeface="Palatino Linotype" panose="02040502050505030304" charset="0"/>
            </a:endParaRPr>
          </a:p>
        </p:txBody>
      </p:sp>
      <p:sp>
        <p:nvSpPr>
          <p:cNvPr id="19" name="Page"/>
          <p:cNvSpPr txBox="1"/>
          <p:nvPr/>
        </p:nvSpPr>
        <p:spPr>
          <a:xfrm>
            <a:off x="11271885" y="6275705"/>
            <a:ext cx="457200" cy="274320"/>
          </a:xfrm>
          <a:prstGeom prst="rect">
            <a:avLst/>
          </a:prstGeom>
          <a:noFill/>
        </p:spPr>
        <p:txBody>
          <a:bodyPr wrap="none">
            <a:spAutoFit/>
          </a:bodyPr>
          <a:lstStyle/>
          <a:p>
            <a:pPr algn="r"/>
            <a:r>
              <a:rPr sz="1100">
                <a:solidFill>
                  <a:srgbClr val="8A94A6"/>
                </a:solidFill>
                <a:latin typeface="Calibri" panose="020F0502020204030204"/>
              </a:rPr>
              <a:t>9</a:t>
            </a:r>
            <a:endParaRPr sz="1100">
              <a:solidFill>
                <a:srgbClr val="8A94A6"/>
              </a:solidFill>
              <a:latin typeface="Calibri" panose="020F0502020204030204"/>
            </a:endParaRPr>
          </a:p>
        </p:txBody>
      </p:sp>
      <p:sp>
        <p:nvSpPr>
          <p:cNvPr id="20" name="Subtitle"/>
          <p:cNvSpPr txBox="1"/>
          <p:nvPr/>
        </p:nvSpPr>
        <p:spPr>
          <a:xfrm>
            <a:off x="548640" y="886460"/>
            <a:ext cx="11064240" cy="250825"/>
          </a:xfrm>
          <a:prstGeom prst="rect">
            <a:avLst/>
          </a:prstGeom>
          <a:noFill/>
        </p:spPr>
        <p:txBody>
          <a:bodyPr wrap="square" lIns="18288" tIns="18288" rIns="18288" bIns="18288" anchor="t">
            <a:spAutoFit/>
          </a:bodyPr>
          <a:lstStyle/>
          <a:p>
            <a:pPr>
              <a:spcAft>
                <a:spcPts val="400"/>
              </a:spcAft>
            </a:pPr>
            <a:r>
              <a:rPr lang="en-US" altLang="zh-CN" sz="1400" b="0" i="0">
                <a:solidFill>
                  <a:srgbClr val="D9DEE8"/>
                </a:solidFill>
                <a:latin typeface="Palatino Linotype" panose="02040502050505030304" charset="0"/>
                <a:cs typeface="Palatino Linotype" panose="02040502050505030304" charset="0"/>
              </a:rPr>
              <a:t>Result 3 · Thomas’s three tipping points, from our sensitivity code</a:t>
            </a:r>
            <a:endParaRPr lang="en-US" altLang="zh-CN" sz="1400" b="0" i="0">
              <a:solidFill>
                <a:srgbClr val="D9DEE8"/>
              </a:solidFill>
              <a:latin typeface="Palatino Linotype" panose="02040502050505030304" charset="0"/>
              <a:cs typeface="Palatino Linotype" panose="0204050205050503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txBox="1"/>
          <p:nvPr/>
        </p:nvSpPr>
        <p:spPr>
          <a:xfrm>
            <a:off x="548640" y="502920"/>
            <a:ext cx="11064240" cy="527685"/>
          </a:xfrm>
          <a:prstGeom prst="rect">
            <a:avLst/>
          </a:prstGeom>
          <a:noFill/>
        </p:spPr>
        <p:txBody>
          <a:bodyPr wrap="square" lIns="18288" tIns="18288" rIns="18288" bIns="18288" anchor="t">
            <a:spAutoFit/>
          </a:bodyPr>
          <a:lstStyle/>
          <a:p>
            <a:pPr>
              <a:spcAft>
                <a:spcPts val="400"/>
              </a:spcAft>
            </a:pPr>
            <a:r>
              <a:rPr sz="3200" b="1" i="0">
                <a:solidFill>
                  <a:srgbClr val="F6F3EC"/>
                </a:solidFill>
                <a:latin typeface="Palatino Linotype" panose="02040502050505030304" charset="0"/>
                <a:cs typeface="Palatino Linotype" panose="02040502050505030304" charset="0"/>
              </a:rPr>
              <a:t>A circuit that can only suggest a legal basket</a:t>
            </a:r>
            <a:endParaRPr sz="3200" b="1" i="0">
              <a:solidFill>
                <a:srgbClr val="F6F3EC"/>
              </a:solidFill>
              <a:latin typeface="Palatino Linotype" panose="02040502050505030304" charset="0"/>
              <a:cs typeface="Palatino Linotype" panose="02040502050505030304" charset="0"/>
            </a:endParaRPr>
          </a:p>
        </p:txBody>
      </p:sp>
      <p:sp>
        <p:nvSpPr>
          <p:cNvPr id="3" name="Subtitle"/>
          <p:cNvSpPr txBox="1"/>
          <p:nvPr/>
        </p:nvSpPr>
        <p:spPr>
          <a:xfrm>
            <a:off x="548640" y="1143000"/>
            <a:ext cx="11064240" cy="411480"/>
          </a:xfrm>
          <a:prstGeom prst="rect">
            <a:avLst/>
          </a:prstGeom>
          <a:noFill/>
        </p:spPr>
        <p:txBody>
          <a:bodyPr wrap="square" lIns="18288" tIns="18288" rIns="18288" bIns="18288" anchor="t">
            <a:spAutoFit/>
          </a:bodyPr>
          <a:lstStyle/>
          <a:p>
            <a:pPr>
              <a:spcAft>
                <a:spcPts val="400"/>
              </a:spcAft>
            </a:pPr>
            <a:r>
              <a:rPr sz="1600" b="0" i="0">
                <a:solidFill>
                  <a:srgbClr val="D9DEE8"/>
                </a:solidFill>
                <a:latin typeface="Palatino Linotype" panose="02040502050505030304" charset="0"/>
                <a:cs typeface="Palatino Linotype" panose="02040502050505030304" charset="0"/>
              </a:rPr>
              <a:t>In our code: the quantum step (block 04)</a:t>
            </a:r>
            <a:endParaRPr sz="1600" b="0" i="0">
              <a:solidFill>
                <a:srgbClr val="D9DEE8"/>
              </a:solidFill>
              <a:latin typeface="Palatino Linotype" panose="02040502050505030304" charset="0"/>
              <a:cs typeface="Palatino Linotype" panose="02040502050505030304" charset="0"/>
            </a:endParaRPr>
          </a:p>
        </p:txBody>
      </p:sp>
      <p:sp>
        <p:nvSpPr>
          <p:cNvPr id="4" name="Code"/>
          <p:cNvSpPr/>
          <p:nvPr/>
        </p:nvSpPr>
        <p:spPr>
          <a:xfrm>
            <a:off x="548640" y="1645920"/>
            <a:ext cx="11064240" cy="2606040"/>
          </a:xfrm>
          <a:prstGeom prst="roundRect">
            <a:avLst>
              <a:gd name="adj" fmla="val 6000"/>
            </a:avLst>
          </a:prstGeom>
          <a:solidFill>
            <a:srgbClr val="0F1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alatino Linotype" panose="02040502050505030304" charset="0"/>
              <a:cs typeface="Palatino Linotype" panose="02040502050505030304" charset="0"/>
            </a:endParaRPr>
          </a:p>
        </p:txBody>
      </p:sp>
      <p:sp>
        <p:nvSpPr>
          <p:cNvPr id="6" name="Step card 1"/>
          <p:cNvSpPr/>
          <p:nvPr>
            <p:custDataLst>
              <p:tags r:id="rId1"/>
            </p:custDataLst>
          </p:nvPr>
        </p:nvSpPr>
        <p:spPr>
          <a:xfrm>
            <a:off x="548640" y="4434840"/>
            <a:ext cx="2651760" cy="1783080"/>
          </a:xfrm>
          <a:prstGeom prst="roundRect">
            <a:avLst>
              <a:gd name="adj" fmla="val 6000"/>
            </a:avLst>
          </a:prstGeom>
          <a:solidFill>
            <a:srgbClr val="1E2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alatino Linotype" panose="02040502050505030304" charset="0"/>
              <a:cs typeface="Palatino Linotype" panose="02040502050505030304" charset="0"/>
            </a:endParaRPr>
          </a:p>
        </p:txBody>
      </p:sp>
      <p:sp>
        <p:nvSpPr>
          <p:cNvPr id="7" name="Text"/>
          <p:cNvSpPr txBox="1"/>
          <p:nvPr>
            <p:custDataLst>
              <p:tags r:id="rId2"/>
            </p:custDataLst>
          </p:nvPr>
        </p:nvSpPr>
        <p:spPr>
          <a:xfrm>
            <a:off x="731520" y="4553712"/>
            <a:ext cx="2286000" cy="320040"/>
          </a:xfrm>
          <a:prstGeom prst="rect">
            <a:avLst/>
          </a:prstGeom>
          <a:noFill/>
        </p:spPr>
        <p:txBody>
          <a:bodyPr wrap="square" lIns="18288" tIns="18288" rIns="18288" bIns="18288" anchor="t">
            <a:spAutoFit/>
          </a:bodyPr>
          <a:lstStyle/>
          <a:p>
            <a:pPr>
              <a:spcAft>
                <a:spcPts val="400"/>
              </a:spcAft>
            </a:pPr>
            <a:r>
              <a:rPr sz="1200" b="1" i="0">
                <a:solidFill>
                  <a:srgbClr val="7FD1C7"/>
                </a:solidFill>
                <a:latin typeface="Palatino Linotype" panose="02040502050505030304" charset="0"/>
                <a:cs typeface="Palatino Linotype" panose="02040502050505030304" charset="0"/>
              </a:rPr>
              <a:t>STEP 1 · START</a:t>
            </a:r>
            <a:endParaRPr sz="1200" b="1" i="0">
              <a:solidFill>
                <a:srgbClr val="7FD1C7"/>
              </a:solidFill>
              <a:latin typeface="Palatino Linotype" panose="02040502050505030304" charset="0"/>
              <a:cs typeface="Palatino Linotype" panose="02040502050505030304" charset="0"/>
            </a:endParaRPr>
          </a:p>
        </p:txBody>
      </p:sp>
      <p:sp>
        <p:nvSpPr>
          <p:cNvPr id="8" name="Text"/>
          <p:cNvSpPr txBox="1"/>
          <p:nvPr>
            <p:custDataLst>
              <p:tags r:id="rId3"/>
            </p:custDataLst>
          </p:nvPr>
        </p:nvSpPr>
        <p:spPr>
          <a:xfrm>
            <a:off x="731520" y="4919472"/>
            <a:ext cx="2286000" cy="1234440"/>
          </a:xfrm>
          <a:prstGeom prst="rect">
            <a:avLst/>
          </a:prstGeom>
          <a:noFill/>
        </p:spPr>
        <p:txBody>
          <a:bodyPr wrap="square" lIns="18288" tIns="18288" rIns="18288" bIns="18288" anchor="t">
            <a:spAutoFit/>
          </a:bodyPr>
          <a:lstStyle/>
          <a:p>
            <a:pPr>
              <a:spcAft>
                <a:spcPts val="400"/>
              </a:spcAft>
            </a:pPr>
            <a:r>
              <a:rPr sz="1400" b="0" i="0">
                <a:solidFill>
                  <a:srgbClr val="F6F3EC"/>
                </a:solidFill>
                <a:latin typeface="Palatino Linotype" panose="02040502050505030304" charset="0"/>
                <a:cs typeface="Palatino Linotype" panose="02040502050505030304" charset="0"/>
              </a:rPr>
              <a:t>A “cloud” over all 20 legal baskets. Illegal ones never appear.</a:t>
            </a:r>
            <a:endParaRPr sz="1400" b="0" i="0">
              <a:solidFill>
                <a:srgbClr val="F6F3EC"/>
              </a:solidFill>
              <a:latin typeface="Palatino Linotype" panose="02040502050505030304" charset="0"/>
              <a:cs typeface="Palatino Linotype" panose="02040502050505030304" charset="0"/>
            </a:endParaRPr>
          </a:p>
        </p:txBody>
      </p:sp>
      <p:sp>
        <p:nvSpPr>
          <p:cNvPr id="9" name="Step card 2"/>
          <p:cNvSpPr/>
          <p:nvPr>
            <p:custDataLst>
              <p:tags r:id="rId4"/>
            </p:custDataLst>
          </p:nvPr>
        </p:nvSpPr>
        <p:spPr>
          <a:xfrm>
            <a:off x="3364992" y="4434840"/>
            <a:ext cx="2651760" cy="1783080"/>
          </a:xfrm>
          <a:prstGeom prst="roundRect">
            <a:avLst>
              <a:gd name="adj" fmla="val 6000"/>
            </a:avLst>
          </a:prstGeom>
          <a:solidFill>
            <a:srgbClr val="1E2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alatino Linotype" panose="02040502050505030304" charset="0"/>
              <a:cs typeface="Palatino Linotype" panose="02040502050505030304" charset="0"/>
            </a:endParaRPr>
          </a:p>
        </p:txBody>
      </p:sp>
      <p:sp>
        <p:nvSpPr>
          <p:cNvPr id="10" name="Text"/>
          <p:cNvSpPr txBox="1"/>
          <p:nvPr>
            <p:custDataLst>
              <p:tags r:id="rId5"/>
            </p:custDataLst>
          </p:nvPr>
        </p:nvSpPr>
        <p:spPr>
          <a:xfrm>
            <a:off x="3547872" y="4553712"/>
            <a:ext cx="2286000" cy="320040"/>
          </a:xfrm>
          <a:prstGeom prst="rect">
            <a:avLst/>
          </a:prstGeom>
          <a:noFill/>
        </p:spPr>
        <p:txBody>
          <a:bodyPr wrap="square" lIns="18288" tIns="18288" rIns="18288" bIns="18288" anchor="t">
            <a:spAutoFit/>
          </a:bodyPr>
          <a:lstStyle/>
          <a:p>
            <a:pPr>
              <a:spcAft>
                <a:spcPts val="400"/>
              </a:spcAft>
            </a:pPr>
            <a:r>
              <a:rPr sz="1200" b="1" i="0">
                <a:solidFill>
                  <a:srgbClr val="7FD1C7"/>
                </a:solidFill>
                <a:latin typeface="Palatino Linotype" panose="02040502050505030304" charset="0"/>
                <a:cs typeface="Palatino Linotype" panose="02040502050505030304" charset="0"/>
              </a:rPr>
              <a:t>STEP 2 · TILT</a:t>
            </a:r>
            <a:endParaRPr sz="1200" b="1" i="0">
              <a:solidFill>
                <a:srgbClr val="7FD1C7"/>
              </a:solidFill>
              <a:latin typeface="Palatino Linotype" panose="02040502050505030304" charset="0"/>
              <a:cs typeface="Palatino Linotype" panose="02040502050505030304" charset="0"/>
            </a:endParaRPr>
          </a:p>
        </p:txBody>
      </p:sp>
      <p:sp>
        <p:nvSpPr>
          <p:cNvPr id="11" name="Text"/>
          <p:cNvSpPr txBox="1"/>
          <p:nvPr>
            <p:custDataLst>
              <p:tags r:id="rId6"/>
            </p:custDataLst>
          </p:nvPr>
        </p:nvSpPr>
        <p:spPr>
          <a:xfrm>
            <a:off x="3547872" y="4919472"/>
            <a:ext cx="2286000" cy="1234440"/>
          </a:xfrm>
          <a:prstGeom prst="rect">
            <a:avLst/>
          </a:prstGeom>
          <a:noFill/>
        </p:spPr>
        <p:txBody>
          <a:bodyPr wrap="square" lIns="18288" tIns="18288" rIns="18288" bIns="18288" anchor="t">
            <a:spAutoFit/>
          </a:bodyPr>
          <a:lstStyle/>
          <a:p>
            <a:pPr>
              <a:spcAft>
                <a:spcPts val="400"/>
              </a:spcAft>
            </a:pPr>
            <a:r>
              <a:rPr sz="1400" b="0" i="0">
                <a:solidFill>
                  <a:srgbClr val="F6F3EC"/>
                </a:solidFill>
                <a:latin typeface="Palatino Linotype" panose="02040502050505030304" charset="0"/>
                <a:cs typeface="Palatino Linotype" panose="02040502050505030304" charset="0"/>
              </a:rPr>
              <a:t>Push the cloud towards baskets with a better score.</a:t>
            </a:r>
            <a:endParaRPr sz="1400" b="0" i="0">
              <a:solidFill>
                <a:srgbClr val="F6F3EC"/>
              </a:solidFill>
              <a:latin typeface="Palatino Linotype" panose="02040502050505030304" charset="0"/>
              <a:cs typeface="Palatino Linotype" panose="02040502050505030304" charset="0"/>
            </a:endParaRPr>
          </a:p>
        </p:txBody>
      </p:sp>
      <p:sp>
        <p:nvSpPr>
          <p:cNvPr id="12" name="Step card 3"/>
          <p:cNvSpPr/>
          <p:nvPr>
            <p:custDataLst>
              <p:tags r:id="rId7"/>
            </p:custDataLst>
          </p:nvPr>
        </p:nvSpPr>
        <p:spPr>
          <a:xfrm>
            <a:off x="6181344" y="4434840"/>
            <a:ext cx="2651760" cy="1783080"/>
          </a:xfrm>
          <a:prstGeom prst="roundRect">
            <a:avLst>
              <a:gd name="adj" fmla="val 6000"/>
            </a:avLst>
          </a:prstGeom>
          <a:solidFill>
            <a:srgbClr val="1E2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alatino Linotype" panose="02040502050505030304" charset="0"/>
              <a:cs typeface="Palatino Linotype" panose="02040502050505030304" charset="0"/>
            </a:endParaRPr>
          </a:p>
        </p:txBody>
      </p:sp>
      <p:sp>
        <p:nvSpPr>
          <p:cNvPr id="13" name="Text"/>
          <p:cNvSpPr txBox="1"/>
          <p:nvPr>
            <p:custDataLst>
              <p:tags r:id="rId8"/>
            </p:custDataLst>
          </p:nvPr>
        </p:nvSpPr>
        <p:spPr>
          <a:xfrm>
            <a:off x="6364224" y="4553712"/>
            <a:ext cx="2286000" cy="320040"/>
          </a:xfrm>
          <a:prstGeom prst="rect">
            <a:avLst/>
          </a:prstGeom>
          <a:noFill/>
        </p:spPr>
        <p:txBody>
          <a:bodyPr wrap="square" lIns="18288" tIns="18288" rIns="18288" bIns="18288" anchor="t">
            <a:spAutoFit/>
          </a:bodyPr>
          <a:lstStyle/>
          <a:p>
            <a:pPr>
              <a:spcAft>
                <a:spcPts val="400"/>
              </a:spcAft>
            </a:pPr>
            <a:r>
              <a:rPr sz="1200" b="1" i="0">
                <a:solidFill>
                  <a:srgbClr val="7FD1C7"/>
                </a:solidFill>
                <a:latin typeface="Palatino Linotype" panose="02040502050505030304" charset="0"/>
                <a:cs typeface="Palatino Linotype" panose="02040502050505030304" charset="0"/>
              </a:rPr>
              <a:t>STEP 3 · STIR</a:t>
            </a:r>
            <a:endParaRPr sz="1200" b="1" i="0">
              <a:solidFill>
                <a:srgbClr val="7FD1C7"/>
              </a:solidFill>
              <a:latin typeface="Palatino Linotype" panose="02040502050505030304" charset="0"/>
              <a:cs typeface="Palatino Linotype" panose="02040502050505030304" charset="0"/>
            </a:endParaRPr>
          </a:p>
        </p:txBody>
      </p:sp>
      <p:sp>
        <p:nvSpPr>
          <p:cNvPr id="14" name="Text"/>
          <p:cNvSpPr txBox="1"/>
          <p:nvPr>
            <p:custDataLst>
              <p:tags r:id="rId9"/>
            </p:custDataLst>
          </p:nvPr>
        </p:nvSpPr>
        <p:spPr>
          <a:xfrm>
            <a:off x="6364224" y="4919472"/>
            <a:ext cx="2286000" cy="1234440"/>
          </a:xfrm>
          <a:prstGeom prst="rect">
            <a:avLst/>
          </a:prstGeom>
          <a:noFill/>
        </p:spPr>
        <p:txBody>
          <a:bodyPr wrap="square" lIns="18288" tIns="18288" rIns="18288" bIns="18288" anchor="t">
            <a:spAutoFit/>
          </a:bodyPr>
          <a:lstStyle/>
          <a:p>
            <a:pPr>
              <a:spcAft>
                <a:spcPts val="400"/>
              </a:spcAft>
            </a:pPr>
            <a:r>
              <a:rPr sz="1400" b="0" i="0">
                <a:solidFill>
                  <a:srgbClr val="F6F3EC"/>
                </a:solidFill>
                <a:latin typeface="Palatino Linotype" panose="02040502050505030304" charset="0"/>
                <a:cs typeface="Palatino Linotype" panose="02040502050505030304" charset="0"/>
              </a:rPr>
              <a:t>Let it drift to neighbouring baskets, always with 3 sectors.</a:t>
            </a:r>
            <a:endParaRPr sz="1400" b="0" i="0">
              <a:solidFill>
                <a:srgbClr val="F6F3EC"/>
              </a:solidFill>
              <a:latin typeface="Palatino Linotype" panose="02040502050505030304" charset="0"/>
              <a:cs typeface="Palatino Linotype" panose="02040502050505030304" charset="0"/>
            </a:endParaRPr>
          </a:p>
        </p:txBody>
      </p:sp>
      <p:sp>
        <p:nvSpPr>
          <p:cNvPr id="15" name="Step card 4"/>
          <p:cNvSpPr/>
          <p:nvPr>
            <p:custDataLst>
              <p:tags r:id="rId10"/>
            </p:custDataLst>
          </p:nvPr>
        </p:nvSpPr>
        <p:spPr>
          <a:xfrm>
            <a:off x="8997696" y="4434840"/>
            <a:ext cx="2651760" cy="1783080"/>
          </a:xfrm>
          <a:prstGeom prst="roundRect">
            <a:avLst>
              <a:gd name="adj" fmla="val 6000"/>
            </a:avLst>
          </a:prstGeom>
          <a:solidFill>
            <a:srgbClr val="1E2E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alatino Linotype" panose="02040502050505030304" charset="0"/>
              <a:cs typeface="Palatino Linotype" panose="02040502050505030304" charset="0"/>
            </a:endParaRPr>
          </a:p>
        </p:txBody>
      </p:sp>
      <p:sp>
        <p:nvSpPr>
          <p:cNvPr id="16" name="Text"/>
          <p:cNvSpPr txBox="1"/>
          <p:nvPr>
            <p:custDataLst>
              <p:tags r:id="rId11"/>
            </p:custDataLst>
          </p:nvPr>
        </p:nvSpPr>
        <p:spPr>
          <a:xfrm>
            <a:off x="9180576" y="4553712"/>
            <a:ext cx="2286000" cy="320040"/>
          </a:xfrm>
          <a:prstGeom prst="rect">
            <a:avLst/>
          </a:prstGeom>
          <a:noFill/>
        </p:spPr>
        <p:txBody>
          <a:bodyPr wrap="square" lIns="18288" tIns="18288" rIns="18288" bIns="18288" anchor="t">
            <a:spAutoFit/>
          </a:bodyPr>
          <a:lstStyle/>
          <a:p>
            <a:pPr>
              <a:spcAft>
                <a:spcPts val="400"/>
              </a:spcAft>
            </a:pPr>
            <a:r>
              <a:rPr sz="1200" b="1" i="0">
                <a:solidFill>
                  <a:srgbClr val="F2B77B"/>
                </a:solidFill>
                <a:latin typeface="Palatino Linotype" panose="02040502050505030304" charset="0"/>
                <a:cs typeface="Palatino Linotype" panose="02040502050505030304" charset="0"/>
              </a:rPr>
              <a:t>THEN · MEASURE</a:t>
            </a:r>
            <a:endParaRPr sz="1200" b="1" i="0">
              <a:solidFill>
                <a:srgbClr val="F2B77B"/>
              </a:solidFill>
              <a:latin typeface="Palatino Linotype" panose="02040502050505030304" charset="0"/>
              <a:cs typeface="Palatino Linotype" panose="02040502050505030304" charset="0"/>
            </a:endParaRPr>
          </a:p>
        </p:txBody>
      </p:sp>
      <p:sp>
        <p:nvSpPr>
          <p:cNvPr id="17" name="Text"/>
          <p:cNvSpPr txBox="1"/>
          <p:nvPr>
            <p:custDataLst>
              <p:tags r:id="rId12"/>
            </p:custDataLst>
          </p:nvPr>
        </p:nvSpPr>
        <p:spPr>
          <a:xfrm>
            <a:off x="9180576" y="4919472"/>
            <a:ext cx="2286000" cy="1234440"/>
          </a:xfrm>
          <a:prstGeom prst="rect">
            <a:avLst/>
          </a:prstGeom>
          <a:noFill/>
        </p:spPr>
        <p:txBody>
          <a:bodyPr wrap="square" lIns="18288" tIns="18288" rIns="18288" bIns="18288" anchor="t">
            <a:spAutoFit/>
          </a:bodyPr>
          <a:lstStyle/>
          <a:p>
            <a:pPr>
              <a:spcAft>
                <a:spcPts val="400"/>
              </a:spcAft>
            </a:pPr>
            <a:r>
              <a:rPr sz="1400" b="0" i="0">
                <a:solidFill>
                  <a:srgbClr val="F6F3EC"/>
                </a:solidFill>
                <a:latin typeface="Palatino Linotype" panose="02040502050505030304" charset="0"/>
                <a:cs typeface="Palatino Linotype" panose="02040502050505030304" charset="0"/>
              </a:rPr>
              <a:t>A laptop tunes the two dials; we look 4,096 times and take the most frequent basket.</a:t>
            </a:r>
            <a:endParaRPr sz="1400" b="0" i="0">
              <a:solidFill>
                <a:srgbClr val="F6F3EC"/>
              </a:solidFill>
              <a:latin typeface="Palatino Linotype" panose="02040502050505030304" charset="0"/>
              <a:cs typeface="Palatino Linotype" panose="02040502050505030304" charset="0"/>
            </a:endParaRPr>
          </a:p>
        </p:txBody>
      </p:sp>
      <p:sp>
        <p:nvSpPr>
          <p:cNvPr id="18" name="Source"/>
          <p:cNvSpPr txBox="1"/>
          <p:nvPr/>
        </p:nvSpPr>
        <p:spPr>
          <a:xfrm>
            <a:off x="548640" y="6355080"/>
            <a:ext cx="10424160" cy="274320"/>
          </a:xfrm>
          <a:prstGeom prst="rect">
            <a:avLst/>
          </a:prstGeom>
          <a:noFill/>
        </p:spPr>
        <p:txBody>
          <a:bodyPr wrap="square" lIns="18288" tIns="18288" rIns="18288" bIns="18288" anchor="t">
            <a:spAutoFit/>
          </a:bodyPr>
          <a:lstStyle/>
          <a:p>
            <a:pPr>
              <a:spcAft>
                <a:spcPts val="400"/>
              </a:spcAft>
            </a:pPr>
            <a:r>
              <a:rPr sz="1100" b="0" i="0">
                <a:solidFill>
                  <a:srgbClr val="8A94A6"/>
                </a:solidFill>
                <a:latin typeface="Palatino Linotype" panose="02040502050505030304" charset="0"/>
                <a:cs typeface="Palatino Linotype" panose="02040502050505030304" charset="0"/>
              </a:rPr>
              <a:t>From src/qhf/circuits.py, qaoa_circuit(); comments added for this slide · Method: Hadfield et al. (2019) · circuit diagram: appendix</a:t>
            </a:r>
            <a:endParaRPr sz="1100" b="0" i="0">
              <a:solidFill>
                <a:srgbClr val="8A94A6"/>
              </a:solidFill>
              <a:latin typeface="Palatino Linotype" panose="02040502050505030304" charset="0"/>
              <a:cs typeface="Palatino Linotype" panose="02040502050505030304" charset="0"/>
            </a:endParaRPr>
          </a:p>
        </p:txBody>
      </p:sp>
      <p:sp>
        <p:nvSpPr>
          <p:cNvPr id="19" name="Page"/>
          <p:cNvSpPr txBox="1"/>
          <p:nvPr/>
        </p:nvSpPr>
        <p:spPr>
          <a:xfrm>
            <a:off x="11155680" y="6355080"/>
            <a:ext cx="457200" cy="274320"/>
          </a:xfrm>
          <a:prstGeom prst="rect">
            <a:avLst/>
          </a:prstGeom>
          <a:noFill/>
        </p:spPr>
        <p:txBody>
          <a:bodyPr wrap="square" lIns="18288" tIns="18288" rIns="18288" bIns="18288" anchor="t">
            <a:spAutoFit/>
          </a:bodyPr>
          <a:lstStyle/>
          <a:p>
            <a:pPr algn="r">
              <a:spcAft>
                <a:spcPts val="400"/>
              </a:spcAft>
            </a:pPr>
            <a:r>
              <a:rPr sz="1100" b="0" i="0">
                <a:solidFill>
                  <a:srgbClr val="8A94A6"/>
                </a:solidFill>
                <a:latin typeface="Palatino Linotype" panose="02040502050505030304" charset="0"/>
                <a:cs typeface="Palatino Linotype" panose="02040502050505030304" charset="0"/>
              </a:rPr>
              <a:t>11</a:t>
            </a:r>
            <a:endParaRPr sz="1100" b="0" i="0">
              <a:solidFill>
                <a:srgbClr val="8A94A6"/>
              </a:solidFill>
              <a:latin typeface="Palatino Linotype" panose="02040502050505030304" charset="0"/>
              <a:cs typeface="Palatino Linotype" panose="02040502050505030304" charset="0"/>
            </a:endParaRPr>
          </a:p>
        </p:txBody>
      </p:sp>
      <p:pic>
        <p:nvPicPr>
          <p:cNvPr id="20" name="图片 19"/>
          <p:cNvPicPr>
            <a:picLocks noChangeAspect="1"/>
          </p:cNvPicPr>
          <p:nvPr/>
        </p:nvPicPr>
        <p:blipFill>
          <a:blip r:embed="rId13"/>
          <a:stretch>
            <a:fillRect/>
          </a:stretch>
        </p:blipFill>
        <p:spPr>
          <a:xfrm>
            <a:off x="846455" y="1821180"/>
            <a:ext cx="5972175" cy="2254885"/>
          </a:xfrm>
          <a:prstGeom prst="rect">
            <a:avLst/>
          </a:prstGeom>
        </p:spPr>
      </p:pic>
      <p:sp>
        <p:nvSpPr>
          <p:cNvPr id="5" name="文本框 4"/>
          <p:cNvSpPr txBox="1"/>
          <p:nvPr/>
        </p:nvSpPr>
        <p:spPr>
          <a:xfrm>
            <a:off x="7112000" y="1821180"/>
            <a:ext cx="4097655" cy="2245360"/>
          </a:xfrm>
          <a:prstGeom prst="rect">
            <a:avLst/>
          </a:prstGeom>
        </p:spPr>
        <p:txBody>
          <a:bodyPr wrap="square">
            <a:spAutoFit/>
          </a:bodyPr>
          <a:p>
            <a:r>
              <a:rPr lang="en-US" altLang="zh-CN" sz="1400">
                <a:solidFill>
                  <a:schemeClr val="bg1"/>
                </a:solidFill>
                <a:latin typeface="Palatino Linotype" panose="02040502050505030304" charset="0"/>
                <a:cs typeface="Palatino Linotype" panose="02040502050505030304" charset="0"/>
              </a:rPr>
              <a:t>Result (ideal simulation, 3 layers)</a:t>
            </a:r>
            <a:endParaRPr lang="en-US" altLang="zh-CN" sz="1400">
              <a:solidFill>
                <a:schemeClr val="bg1"/>
              </a:solidFill>
              <a:latin typeface="Palatino Linotype" panose="02040502050505030304" charset="0"/>
              <a:cs typeface="Palatino Linotype" panose="02040502050505030304" charset="0"/>
            </a:endParaRPr>
          </a:p>
          <a:p>
            <a:r>
              <a:rPr lang="en-US" altLang="zh-CN" sz="1400">
                <a:solidFill>
                  <a:schemeClr val="bg1"/>
                </a:solidFill>
                <a:latin typeface="Palatino Linotype" panose="02040502050505030304" charset="0"/>
                <a:cs typeface="Palatino Linotype" panose="02040502050505030304" charset="0"/>
              </a:rPr>
              <a:t> Legal baskets: 100% · organisers’ 97–98% (tuned: 32–55%)</a:t>
            </a:r>
            <a:endParaRPr lang="en-US" altLang="zh-CN" sz="1400">
              <a:solidFill>
                <a:schemeClr val="bg1"/>
              </a:solidFill>
              <a:latin typeface="Palatino Linotype" panose="02040502050505030304" charset="0"/>
              <a:cs typeface="Palatino Linotype" panose="02040502050505030304" charset="0"/>
            </a:endParaRPr>
          </a:p>
          <a:p>
            <a:r>
              <a:rPr lang="en-US" altLang="zh-CN" sz="1400">
                <a:solidFill>
                  <a:schemeClr val="bg1"/>
                </a:solidFill>
                <a:latin typeface="Palatino Linotype" panose="02040502050505030304" charset="0"/>
                <a:cs typeface="Palatino Linotype" panose="02040502050505030304" charset="0"/>
              </a:rPr>
              <a:t> Anna’s best basket found: 0.78 · organisers’ 0.05, no better than a random guess (1 in 20)</a:t>
            </a:r>
            <a:endParaRPr lang="en-US" altLang="zh-CN" sz="1400">
              <a:solidFill>
                <a:schemeClr val="bg1"/>
              </a:solidFill>
              <a:latin typeface="Palatino Linotype" panose="02040502050505030304" charset="0"/>
              <a:cs typeface="Palatino Linotype" panose="02040502050505030304" charset="0"/>
            </a:endParaRPr>
          </a:p>
          <a:p>
            <a:endParaRPr lang="en-US" altLang="zh-CN" sz="1400">
              <a:solidFill>
                <a:schemeClr val="bg1"/>
              </a:solidFill>
              <a:latin typeface="Palatino Linotype" panose="02040502050505030304" charset="0"/>
              <a:cs typeface="Palatino Linotype" panose="02040502050505030304" charset="0"/>
            </a:endParaRPr>
          </a:p>
          <a:p>
            <a:r>
              <a:rPr lang="en-US" altLang="zh-CN" sz="1400">
                <a:solidFill>
                  <a:schemeClr val="bg1">
                    <a:lumMod val="75000"/>
                  </a:schemeClr>
                </a:solidFill>
                <a:latin typeface="Palatino Linotype" panose="02040502050505030304" charset="0"/>
                <a:cs typeface="Palatino Linotype" panose="02040502050505030304" charset="0"/>
              </a:rPr>
              <a:t>So the rule is never broken, and for Anna it finds the right answer far more often. For Lena and Thomas the gain is smaller, and there is no quantum advantage at this size.</a:t>
            </a:r>
            <a:endParaRPr lang="en-US" altLang="zh-CN" sz="1400">
              <a:solidFill>
                <a:schemeClr val="bg1">
                  <a:lumMod val="75000"/>
                </a:schemeClr>
              </a:solidFill>
              <a:latin typeface="Palatino Linotype" panose="02040502050505030304" charset="0"/>
              <a:cs typeface="Palatino Linotype" panose="020405020505050303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txBox="1"/>
          <p:nvPr/>
        </p:nvSpPr>
        <p:spPr>
          <a:xfrm>
            <a:off x="548640" y="502920"/>
            <a:ext cx="11064240" cy="527685"/>
          </a:xfrm>
          <a:prstGeom prst="rect">
            <a:avLst/>
          </a:prstGeom>
          <a:noFill/>
        </p:spPr>
        <p:txBody>
          <a:bodyPr wrap="square" lIns="18288" tIns="18288" rIns="18288" bIns="18288" anchor="t">
            <a:spAutoFit/>
          </a:bodyPr>
          <a:lstStyle/>
          <a:p>
            <a:pPr>
              <a:spcAft>
                <a:spcPts val="400"/>
              </a:spcAft>
            </a:pPr>
            <a:r>
              <a:rPr sz="3200" b="1" i="0">
                <a:solidFill>
                  <a:srgbClr val="F6F3EC"/>
                </a:solidFill>
                <a:latin typeface="Palatino Linotype" panose="02040502050505030304" charset="0"/>
                <a:cs typeface="Palatino Linotype" panose="02040502050505030304" charset="0"/>
              </a:rPr>
              <a:t>Tech grew more; loss months came more often</a:t>
            </a:r>
            <a:endParaRPr sz="3200" b="1" i="0">
              <a:solidFill>
                <a:srgbClr val="F6F3EC"/>
              </a:solidFill>
              <a:latin typeface="Palatino Linotype" panose="02040502050505030304" charset="0"/>
              <a:cs typeface="Palatino Linotype" panose="02040502050505030304" charset="0"/>
            </a:endParaRPr>
          </a:p>
        </p:txBody>
      </p:sp>
      <p:sp>
        <p:nvSpPr>
          <p:cNvPr id="3" name="Subtitle"/>
          <p:cNvSpPr txBox="1"/>
          <p:nvPr/>
        </p:nvSpPr>
        <p:spPr>
          <a:xfrm>
            <a:off x="548640" y="1143000"/>
            <a:ext cx="11064240" cy="281305"/>
          </a:xfrm>
          <a:prstGeom prst="rect">
            <a:avLst/>
          </a:prstGeom>
          <a:noFill/>
        </p:spPr>
        <p:txBody>
          <a:bodyPr wrap="square" lIns="18288" tIns="18288" rIns="18288" bIns="18288" anchor="t">
            <a:spAutoFit/>
          </a:bodyPr>
          <a:lstStyle/>
          <a:p>
            <a:pPr>
              <a:spcAft>
                <a:spcPts val="400"/>
              </a:spcAft>
            </a:pPr>
            <a:r>
              <a:rPr sz="1600" b="0" i="0">
                <a:solidFill>
                  <a:srgbClr val="D9DEE8"/>
                </a:solidFill>
                <a:latin typeface="Palatino Linotype" panose="02040502050505030304" charset="0"/>
                <a:cs typeface="Palatino Linotype" panose="02040502050505030304" charset="0"/>
              </a:rPr>
              <a:t>Result</a:t>
            </a:r>
            <a:r>
              <a:rPr lang="en-US" sz="1600" b="0" i="0">
                <a:solidFill>
                  <a:srgbClr val="D9DEE8"/>
                </a:solidFill>
                <a:latin typeface="Palatino Linotype" panose="02040502050505030304" charset="0"/>
                <a:cs typeface="Palatino Linotype" panose="02040502050505030304" charset="0"/>
              </a:rPr>
              <a:t> 5</a:t>
            </a:r>
            <a:r>
              <a:rPr sz="1600" b="0" i="0">
                <a:solidFill>
                  <a:srgbClr val="D9DEE8"/>
                </a:solidFill>
                <a:latin typeface="Palatino Linotype" panose="02040502050505030304" charset="0"/>
                <a:cs typeface="Palatino Linotype" panose="02040502050505030304" charset="0"/>
              </a:rPr>
              <a:t> · 2020–2024 is a check, never a decision input</a:t>
            </a:r>
            <a:endParaRPr sz="1600" b="0" i="0">
              <a:solidFill>
                <a:srgbClr val="D9DEE8"/>
              </a:solidFill>
              <a:latin typeface="Palatino Linotype" panose="02040502050505030304" charset="0"/>
              <a:cs typeface="Palatino Linotype" panose="02040502050505030304" charset="0"/>
            </a:endParaRPr>
          </a:p>
        </p:txBody>
      </p:sp>
      <p:sp>
        <p:nvSpPr>
          <p:cNvPr id="4" name="Frame"/>
          <p:cNvSpPr/>
          <p:nvPr/>
        </p:nvSpPr>
        <p:spPr>
          <a:xfrm>
            <a:off x="548640" y="1737360"/>
            <a:ext cx="6858000" cy="387705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alatino Linotype" panose="02040502050505030304" charset="0"/>
              <a:cs typeface="Palatino Linotype" panose="02040502050505030304" charset="0"/>
            </a:endParaRPr>
          </a:p>
        </p:txBody>
      </p:sp>
      <p:pic>
        <p:nvPicPr>
          <p:cNvPr id="5" name="Picture 4" descr="Line chart of wealth per 1 invested from 2020 to 2024 after switching cost: proposal ends at 1.86, current portfolio at 1.38."/>
          <p:cNvPicPr>
            <a:picLocks noChangeAspect="1"/>
          </p:cNvPicPr>
          <p:nvPr/>
        </p:nvPicPr>
        <p:blipFill>
          <a:blip r:embed="rId1"/>
          <a:stretch>
            <a:fillRect/>
          </a:stretch>
        </p:blipFill>
        <p:spPr>
          <a:xfrm>
            <a:off x="594360" y="1783080"/>
            <a:ext cx="6766560" cy="3785615"/>
          </a:xfrm>
          <a:prstGeom prst="rect">
            <a:avLst/>
          </a:prstGeom>
        </p:spPr>
      </p:pic>
      <p:graphicFrame>
        <p:nvGraphicFramePr>
          <p:cNvPr id="6" name="Table"/>
          <p:cNvGraphicFramePr>
            <a:graphicFrameLocks noGrp="1"/>
          </p:cNvGraphicFramePr>
          <p:nvPr/>
        </p:nvGraphicFramePr>
        <p:xfrm>
          <a:off x="7680960" y="1737360"/>
          <a:ext cx="3931920" cy="2286000"/>
        </p:xfrm>
        <a:graphic>
          <a:graphicData uri="http://schemas.openxmlformats.org/drawingml/2006/table">
            <a:tbl>
              <a:tblPr/>
              <a:tblGrid>
                <a:gridCol w="2103120"/>
                <a:gridCol w="914400"/>
                <a:gridCol w="914400"/>
              </a:tblGrid>
              <a:tr h="457200">
                <a:tc>
                  <a:txBody>
                    <a:bodyPr wrap="square"/>
                    <a:lstStyle/>
                    <a:p>
                      <a:r>
                        <a:rPr sz="1300" b="1" i="0">
                          <a:solidFill>
                            <a:srgbClr val="F6F3EC"/>
                          </a:solidFill>
                          <a:latin typeface="Palatino Linotype" panose="02040502050505030304" charset="0"/>
                          <a:cs typeface="Palatino Linotype" panose="02040502050505030304" charset="0"/>
                        </a:rPr>
                        <a:t>2020–24</a:t>
                      </a:r>
                      <a:endParaRPr sz="1300" b="1" i="0">
                        <a:solidFill>
                          <a:srgbClr val="F6F3EC"/>
                        </a:solidFill>
                        <a:latin typeface="Palatino Linotype" panose="02040502050505030304" charset="0"/>
                        <a:cs typeface="Palatino Linotype" panose="02040502050505030304" charset="0"/>
                      </a:endParaRPr>
                    </a:p>
                  </a:txBody>
                  <a:tcPr marL="73152" marR="73152" marT="27432" marB="27432" anchor="ctr">
                    <a:solidFill>
                      <a:srgbClr val="14213D"/>
                    </a:solidFill>
                  </a:tcPr>
                </a:tc>
                <a:tc>
                  <a:txBody>
                    <a:bodyPr wrap="square"/>
                    <a:lstStyle/>
                    <a:p>
                      <a:pPr algn="r"/>
                      <a:r>
                        <a:rPr sz="1300" b="1" i="0">
                          <a:solidFill>
                            <a:srgbClr val="F6F3EC"/>
                          </a:solidFill>
                          <a:latin typeface="Palatino Linotype" panose="02040502050505030304" charset="0"/>
                          <a:cs typeface="Palatino Linotype" panose="02040502050505030304" charset="0"/>
                        </a:rPr>
                        <a:t>Today</a:t>
                      </a:r>
                      <a:endParaRPr sz="1300" b="1" i="0">
                        <a:solidFill>
                          <a:srgbClr val="F6F3EC"/>
                        </a:solidFill>
                        <a:latin typeface="Palatino Linotype" panose="02040502050505030304" charset="0"/>
                        <a:cs typeface="Palatino Linotype" panose="02040502050505030304" charset="0"/>
                      </a:endParaRPr>
                    </a:p>
                  </a:txBody>
                  <a:tcPr marL="73152" marR="73152" marT="27432" marB="27432" anchor="ctr">
                    <a:solidFill>
                      <a:srgbClr val="14213D"/>
                    </a:solidFill>
                  </a:tcPr>
                </a:tc>
                <a:tc>
                  <a:txBody>
                    <a:bodyPr wrap="square"/>
                    <a:lstStyle/>
                    <a:p>
                      <a:pPr algn="r"/>
                      <a:r>
                        <a:rPr sz="1300" b="1" i="0">
                          <a:solidFill>
                            <a:srgbClr val="F6F3EC"/>
                          </a:solidFill>
                          <a:latin typeface="Palatino Linotype" panose="02040502050505030304" charset="0"/>
                          <a:cs typeface="Palatino Linotype" panose="02040502050505030304" charset="0"/>
                        </a:rPr>
                        <a:t>Proposal</a:t>
                      </a:r>
                      <a:endParaRPr sz="1300" b="1" i="0">
                        <a:solidFill>
                          <a:srgbClr val="F6F3EC"/>
                        </a:solidFill>
                        <a:latin typeface="Palatino Linotype" panose="02040502050505030304" charset="0"/>
                        <a:cs typeface="Palatino Linotype" panose="02040502050505030304" charset="0"/>
                      </a:endParaRPr>
                    </a:p>
                  </a:txBody>
                  <a:tcPr marL="73152" marR="73152" marT="27432" marB="27432" anchor="ctr">
                    <a:solidFill>
                      <a:srgbClr val="14213D"/>
                    </a:solidFill>
                  </a:tcPr>
                </a:tc>
              </a:tr>
              <a:tr h="457200">
                <a:tc>
                  <a:txBody>
                    <a:bodyPr wrap="square"/>
                    <a:lstStyle/>
                    <a:p>
                      <a:r>
                        <a:rPr sz="1300" b="0" i="0">
                          <a:solidFill>
                            <a:srgbClr val="14213D"/>
                          </a:solidFill>
                          <a:latin typeface="Palatino Linotype" panose="02040502050505030304" charset="0"/>
                          <a:cs typeface="Palatino Linotype" panose="02040502050505030304" charset="0"/>
                        </a:rPr>
                        <a:t>Wealth per 1 invested</a:t>
                      </a:r>
                      <a:endParaRPr sz="1300" b="0" i="0">
                        <a:solidFill>
                          <a:srgbClr val="14213D"/>
                        </a:solidFill>
                        <a:latin typeface="Palatino Linotype" panose="02040502050505030304" charset="0"/>
                        <a:cs typeface="Palatino Linotype" panose="02040502050505030304" charset="0"/>
                      </a:endParaRPr>
                    </a:p>
                  </a:txBody>
                  <a:tcPr marL="73152" marR="73152" marT="27432" marB="27432" anchor="ctr">
                    <a:solidFill>
                      <a:srgbClr val="FFFFFF"/>
                    </a:solidFill>
                  </a:tcPr>
                </a:tc>
                <a:tc>
                  <a:txBody>
                    <a:bodyPr wrap="square"/>
                    <a:lstStyle/>
                    <a:p>
                      <a:pPr algn="r"/>
                      <a:r>
                        <a:rPr sz="1300" b="0" i="0">
                          <a:solidFill>
                            <a:srgbClr val="14213D"/>
                          </a:solidFill>
                          <a:latin typeface="Palatino Linotype" panose="02040502050505030304" charset="0"/>
                          <a:cs typeface="Palatino Linotype" panose="02040502050505030304" charset="0"/>
                        </a:rPr>
                        <a:t>1.38</a:t>
                      </a:r>
                      <a:endParaRPr sz="1300" b="0" i="0">
                        <a:solidFill>
                          <a:srgbClr val="14213D"/>
                        </a:solidFill>
                        <a:latin typeface="Palatino Linotype" panose="02040502050505030304" charset="0"/>
                        <a:cs typeface="Palatino Linotype" panose="02040502050505030304" charset="0"/>
                      </a:endParaRPr>
                    </a:p>
                  </a:txBody>
                  <a:tcPr marL="73152" marR="73152" marT="27432" marB="27432" anchor="ctr">
                    <a:solidFill>
                      <a:srgbClr val="FFFFFF"/>
                    </a:solidFill>
                  </a:tcPr>
                </a:tc>
                <a:tc>
                  <a:txBody>
                    <a:bodyPr wrap="square"/>
                    <a:lstStyle/>
                    <a:p>
                      <a:pPr algn="r"/>
                      <a:r>
                        <a:rPr sz="1300" b="0" i="0">
                          <a:solidFill>
                            <a:srgbClr val="14213D"/>
                          </a:solidFill>
                          <a:latin typeface="Palatino Linotype" panose="02040502050505030304" charset="0"/>
                          <a:cs typeface="Palatino Linotype" panose="02040502050505030304" charset="0"/>
                        </a:rPr>
                        <a:t>1.86</a:t>
                      </a:r>
                      <a:endParaRPr sz="1300" b="0" i="0">
                        <a:solidFill>
                          <a:srgbClr val="14213D"/>
                        </a:solidFill>
                        <a:latin typeface="Palatino Linotype" panose="02040502050505030304" charset="0"/>
                        <a:cs typeface="Palatino Linotype" panose="02040502050505030304" charset="0"/>
                      </a:endParaRPr>
                    </a:p>
                  </a:txBody>
                  <a:tcPr marL="73152" marR="73152" marT="27432" marB="27432" anchor="ctr">
                    <a:solidFill>
                      <a:srgbClr val="FFFFFF"/>
                    </a:solidFill>
                  </a:tcPr>
                </a:tc>
              </a:tr>
              <a:tr h="457200">
                <a:tc>
                  <a:txBody>
                    <a:bodyPr wrap="square"/>
                    <a:lstStyle/>
                    <a:p>
                      <a:r>
                        <a:rPr sz="1300" b="0" i="0">
                          <a:solidFill>
                            <a:srgbClr val="14213D"/>
                          </a:solidFill>
                          <a:latin typeface="Palatino Linotype" panose="02040502050505030304" charset="0"/>
                          <a:cs typeface="Palatino Linotype" panose="02040502050505030304" charset="0"/>
                        </a:rPr>
                        <a:t>Deepest fall</a:t>
                      </a:r>
                      <a:endParaRPr sz="1300" b="0" i="0">
                        <a:solidFill>
                          <a:srgbClr val="14213D"/>
                        </a:solidFill>
                        <a:latin typeface="Palatino Linotype" panose="02040502050505030304" charset="0"/>
                        <a:cs typeface="Palatino Linotype" panose="02040502050505030304" charset="0"/>
                      </a:endParaRPr>
                    </a:p>
                  </a:txBody>
                  <a:tcPr marL="73152" marR="73152" marT="27432" marB="27432" anchor="ctr">
                    <a:solidFill>
                      <a:srgbClr val="F4F6F8"/>
                    </a:solidFill>
                  </a:tcPr>
                </a:tc>
                <a:tc>
                  <a:txBody>
                    <a:bodyPr wrap="square"/>
                    <a:lstStyle/>
                    <a:p>
                      <a:pPr algn="r"/>
                      <a:r>
                        <a:rPr sz="1300" b="0" i="0">
                          <a:solidFill>
                            <a:srgbClr val="14213D"/>
                          </a:solidFill>
                          <a:latin typeface="Palatino Linotype" panose="02040502050505030304" charset="0"/>
                          <a:cs typeface="Palatino Linotype" panose="02040502050505030304" charset="0"/>
                        </a:rPr>
                        <a:t>−17%</a:t>
                      </a:r>
                      <a:endParaRPr sz="1300" b="0" i="0">
                        <a:solidFill>
                          <a:srgbClr val="14213D"/>
                        </a:solidFill>
                        <a:latin typeface="Palatino Linotype" panose="02040502050505030304" charset="0"/>
                        <a:cs typeface="Palatino Linotype" panose="02040502050505030304" charset="0"/>
                      </a:endParaRPr>
                    </a:p>
                  </a:txBody>
                  <a:tcPr marL="73152" marR="73152" marT="27432" marB="27432" anchor="ctr">
                    <a:solidFill>
                      <a:srgbClr val="F4F6F8"/>
                    </a:solidFill>
                  </a:tcPr>
                </a:tc>
                <a:tc>
                  <a:txBody>
                    <a:bodyPr wrap="square"/>
                    <a:lstStyle/>
                    <a:p>
                      <a:pPr algn="r"/>
                      <a:r>
                        <a:rPr sz="1300" b="0" i="0">
                          <a:solidFill>
                            <a:srgbClr val="14213D"/>
                          </a:solidFill>
                          <a:latin typeface="Palatino Linotype" panose="02040502050505030304" charset="0"/>
                          <a:cs typeface="Palatino Linotype" panose="02040502050505030304" charset="0"/>
                        </a:rPr>
                        <a:t>−21%</a:t>
                      </a:r>
                      <a:endParaRPr sz="1300" b="0" i="0">
                        <a:solidFill>
                          <a:srgbClr val="14213D"/>
                        </a:solidFill>
                        <a:latin typeface="Palatino Linotype" panose="02040502050505030304" charset="0"/>
                        <a:cs typeface="Palatino Linotype" panose="02040502050505030304" charset="0"/>
                      </a:endParaRPr>
                    </a:p>
                  </a:txBody>
                  <a:tcPr marL="73152" marR="73152" marT="27432" marB="27432" anchor="ctr">
                    <a:solidFill>
                      <a:srgbClr val="F4F6F8"/>
                    </a:solidFill>
                  </a:tcPr>
                </a:tc>
              </a:tr>
              <a:tr h="457200">
                <a:tc>
                  <a:txBody>
                    <a:bodyPr wrap="square"/>
                    <a:lstStyle/>
                    <a:p>
                      <a:r>
                        <a:rPr sz="1300" b="0" i="0">
                          <a:solidFill>
                            <a:srgbClr val="14213D"/>
                          </a:solidFill>
                          <a:latin typeface="Palatino Linotype" panose="02040502050505030304" charset="0"/>
                          <a:cs typeface="Palatino Linotype" panose="02040502050505030304" charset="0"/>
                        </a:rPr>
                        <a:t>Thomas’s loss months (limit 10%)</a:t>
                      </a:r>
                      <a:endParaRPr sz="1300" b="0" i="0">
                        <a:solidFill>
                          <a:srgbClr val="14213D"/>
                        </a:solidFill>
                        <a:latin typeface="Palatino Linotype" panose="02040502050505030304" charset="0"/>
                        <a:cs typeface="Palatino Linotype" panose="02040502050505030304" charset="0"/>
                      </a:endParaRPr>
                    </a:p>
                  </a:txBody>
                  <a:tcPr marL="73152" marR="73152" marT="27432" marB="27432" anchor="ctr">
                    <a:solidFill>
                      <a:srgbClr val="FFFFFF"/>
                    </a:solidFill>
                  </a:tcPr>
                </a:tc>
                <a:tc>
                  <a:txBody>
                    <a:bodyPr wrap="square"/>
                    <a:lstStyle/>
                    <a:p>
                      <a:pPr algn="r"/>
                      <a:r>
                        <a:rPr sz="1300" b="0" i="0">
                          <a:solidFill>
                            <a:srgbClr val="14213D"/>
                          </a:solidFill>
                          <a:latin typeface="Palatino Linotype" panose="02040502050505030304" charset="0"/>
                          <a:cs typeface="Palatino Linotype" panose="02040502050505030304" charset="0"/>
                        </a:rPr>
                        <a:t>8%</a:t>
                      </a:r>
                      <a:endParaRPr sz="1300" b="0" i="0">
                        <a:solidFill>
                          <a:srgbClr val="14213D"/>
                        </a:solidFill>
                        <a:latin typeface="Palatino Linotype" panose="02040502050505030304" charset="0"/>
                        <a:cs typeface="Palatino Linotype" panose="02040502050505030304" charset="0"/>
                      </a:endParaRPr>
                    </a:p>
                  </a:txBody>
                  <a:tcPr marL="73152" marR="73152" marT="27432" marB="27432" anchor="ctr">
                    <a:solidFill>
                      <a:srgbClr val="FFFFFF"/>
                    </a:solidFill>
                  </a:tcPr>
                </a:tc>
                <a:tc>
                  <a:txBody>
                    <a:bodyPr wrap="square"/>
                    <a:lstStyle/>
                    <a:p>
                      <a:pPr algn="r"/>
                      <a:r>
                        <a:rPr sz="1300" b="0" i="0">
                          <a:solidFill>
                            <a:srgbClr val="14213D"/>
                          </a:solidFill>
                          <a:latin typeface="Palatino Linotype" panose="02040502050505030304" charset="0"/>
                          <a:cs typeface="Palatino Linotype" panose="02040502050505030304" charset="0"/>
                        </a:rPr>
                        <a:t>13%</a:t>
                      </a:r>
                      <a:endParaRPr sz="1300" b="0" i="0">
                        <a:solidFill>
                          <a:srgbClr val="14213D"/>
                        </a:solidFill>
                        <a:latin typeface="Palatino Linotype" panose="02040502050505030304" charset="0"/>
                        <a:cs typeface="Palatino Linotype" panose="02040502050505030304" charset="0"/>
                      </a:endParaRPr>
                    </a:p>
                  </a:txBody>
                  <a:tcPr marL="73152" marR="73152" marT="27432" marB="27432" anchor="ctr">
                    <a:solidFill>
                      <a:srgbClr val="FFFFFF"/>
                    </a:solidFill>
                  </a:tcPr>
                </a:tc>
              </a:tr>
              <a:tr h="457200">
                <a:tc>
                  <a:txBody>
                    <a:bodyPr wrap="square"/>
                    <a:lstStyle/>
                    <a:p>
                      <a:r>
                        <a:rPr sz="1300" b="0" i="0">
                          <a:solidFill>
                            <a:srgbClr val="14213D"/>
                          </a:solidFill>
                          <a:latin typeface="Palatino Linotype" panose="02040502050505030304" charset="0"/>
                          <a:cs typeface="Palatino Linotype" panose="02040502050505030304" charset="0"/>
                        </a:rPr>
                        <a:t>Anna’s loss months (limit 10%)</a:t>
                      </a:r>
                      <a:endParaRPr sz="1300" b="0" i="0">
                        <a:solidFill>
                          <a:srgbClr val="14213D"/>
                        </a:solidFill>
                        <a:latin typeface="Palatino Linotype" panose="02040502050505030304" charset="0"/>
                        <a:cs typeface="Palatino Linotype" panose="02040502050505030304" charset="0"/>
                      </a:endParaRPr>
                    </a:p>
                  </a:txBody>
                  <a:tcPr marL="73152" marR="73152" marT="27432" marB="27432" anchor="ctr">
                    <a:solidFill>
                      <a:srgbClr val="F4F6F8"/>
                    </a:solidFill>
                  </a:tcPr>
                </a:tc>
                <a:tc>
                  <a:txBody>
                    <a:bodyPr wrap="square"/>
                    <a:lstStyle/>
                    <a:p>
                      <a:pPr algn="r"/>
                      <a:r>
                        <a:rPr sz="1300" b="0" i="0">
                          <a:solidFill>
                            <a:srgbClr val="14213D"/>
                          </a:solidFill>
                          <a:latin typeface="Palatino Linotype" panose="02040502050505030304" charset="0"/>
                          <a:cs typeface="Palatino Linotype" panose="02040502050505030304" charset="0"/>
                        </a:rPr>
                        <a:t>20%</a:t>
                      </a:r>
                      <a:endParaRPr sz="1300" b="0" i="0">
                        <a:solidFill>
                          <a:srgbClr val="14213D"/>
                        </a:solidFill>
                        <a:latin typeface="Palatino Linotype" panose="02040502050505030304" charset="0"/>
                        <a:cs typeface="Palatino Linotype" panose="02040502050505030304" charset="0"/>
                      </a:endParaRPr>
                    </a:p>
                  </a:txBody>
                  <a:tcPr marL="73152" marR="73152" marT="27432" marB="27432" anchor="ctr">
                    <a:solidFill>
                      <a:srgbClr val="F4F6F8"/>
                    </a:solidFill>
                  </a:tcPr>
                </a:tc>
                <a:tc>
                  <a:txBody>
                    <a:bodyPr wrap="square"/>
                    <a:lstStyle/>
                    <a:p>
                      <a:pPr algn="r"/>
                      <a:r>
                        <a:rPr sz="1300" b="0" i="0">
                          <a:solidFill>
                            <a:srgbClr val="14213D"/>
                          </a:solidFill>
                          <a:latin typeface="Palatino Linotype" panose="02040502050505030304" charset="0"/>
                          <a:cs typeface="Palatino Linotype" panose="02040502050505030304" charset="0"/>
                        </a:rPr>
                        <a:t>20%</a:t>
                      </a:r>
                      <a:endParaRPr sz="1300" b="0" i="0">
                        <a:solidFill>
                          <a:srgbClr val="14213D"/>
                        </a:solidFill>
                        <a:latin typeface="Palatino Linotype" panose="02040502050505030304" charset="0"/>
                        <a:cs typeface="Palatino Linotype" panose="02040502050505030304" charset="0"/>
                      </a:endParaRPr>
                    </a:p>
                  </a:txBody>
                  <a:tcPr marL="73152" marR="73152" marT="27432" marB="27432" anchor="ctr">
                    <a:solidFill>
                      <a:srgbClr val="F4F6F8"/>
                    </a:solidFill>
                  </a:tcPr>
                </a:tc>
              </a:tr>
            </a:tbl>
          </a:graphicData>
        </a:graphic>
      </p:graphicFrame>
      <p:sp>
        <p:nvSpPr>
          <p:cNvPr id="7" name="Text"/>
          <p:cNvSpPr txBox="1"/>
          <p:nvPr/>
        </p:nvSpPr>
        <p:spPr>
          <a:xfrm>
            <a:off x="7680960" y="4343400"/>
            <a:ext cx="3931920" cy="1189355"/>
          </a:xfrm>
          <a:prstGeom prst="rect">
            <a:avLst/>
          </a:prstGeom>
          <a:noFill/>
        </p:spPr>
        <p:txBody>
          <a:bodyPr wrap="square" lIns="18288" tIns="18288" rIns="18288" bIns="18288" anchor="t">
            <a:spAutoFit/>
          </a:bodyPr>
          <a:lstStyle/>
          <a:p>
            <a:pPr>
              <a:spcAft>
                <a:spcPts val="600"/>
              </a:spcAft>
            </a:pPr>
            <a:r>
              <a:rPr sz="1400" b="0" i="0">
                <a:solidFill>
                  <a:srgbClr val="D9DEE8"/>
                </a:solidFill>
                <a:latin typeface="Palatino Linotype" panose="02040502050505030304" charset="0"/>
                <a:cs typeface="Palatino Linotype" panose="02040502050505030304" charset="0"/>
              </a:rPr>
              <a:t>Feb–Mar 2020: Current basket lost 17% in two months. In 2022, tech fell 32%.</a:t>
            </a:r>
            <a:endParaRPr sz="1400" b="0" i="0">
              <a:solidFill>
                <a:srgbClr val="D9DEE8"/>
              </a:solidFill>
              <a:latin typeface="Palatino Linotype" panose="02040502050505030304" charset="0"/>
              <a:cs typeface="Palatino Linotype" panose="02040502050505030304" charset="0"/>
            </a:endParaRPr>
          </a:p>
          <a:p>
            <a:pPr>
              <a:spcAft>
                <a:spcPts val="600"/>
              </a:spcAft>
            </a:pPr>
            <a:r>
              <a:rPr sz="1400" b="0" i="0">
                <a:solidFill>
                  <a:srgbClr val="D9DEE8"/>
                </a:solidFill>
                <a:latin typeface="Palatino Linotype" panose="02040502050505030304" charset="0"/>
                <a:cs typeface="Palatino Linotype" panose="02040502050505030304" charset="0"/>
              </a:rPr>
              <a:t>One path cannot prove the 2019 decision right or wrong. It shows our loss model was too optimistic.</a:t>
            </a:r>
            <a:endParaRPr sz="1400" b="0" i="0">
              <a:solidFill>
                <a:srgbClr val="D9DEE8"/>
              </a:solidFill>
              <a:latin typeface="Palatino Linotype" panose="02040502050505030304" charset="0"/>
              <a:cs typeface="Palatino Linotype" panose="02040502050505030304" charset="0"/>
            </a:endParaRPr>
          </a:p>
        </p:txBody>
      </p:sp>
      <p:sp>
        <p:nvSpPr>
          <p:cNvPr id="8" name="Source"/>
          <p:cNvSpPr txBox="1"/>
          <p:nvPr/>
        </p:nvSpPr>
        <p:spPr>
          <a:xfrm>
            <a:off x="548640" y="6355080"/>
            <a:ext cx="10424160" cy="274320"/>
          </a:xfrm>
          <a:prstGeom prst="rect">
            <a:avLst/>
          </a:prstGeom>
          <a:noFill/>
        </p:spPr>
        <p:txBody>
          <a:bodyPr wrap="square" lIns="18288" tIns="18288" rIns="18288" bIns="18288" anchor="t">
            <a:spAutoFit/>
          </a:bodyPr>
          <a:lstStyle/>
          <a:p>
            <a:pPr>
              <a:spcAft>
                <a:spcPts val="400"/>
              </a:spcAft>
            </a:pPr>
            <a:r>
              <a:rPr sz="1100" b="0" i="0">
                <a:solidFill>
                  <a:srgbClr val="8A94A6"/>
                </a:solidFill>
                <a:latin typeface="Palatino Linotype" panose="02040502050505030304" charset="0"/>
                <a:cs typeface="Palatino Linotype" panose="02040502050505030304" charset="0"/>
              </a:rPr>
              <a:t>Source: summary.json, “holdout” (evaluation.py), incl. switching cost · 2020 and 2022 figures computed from the organisers’ data</a:t>
            </a:r>
            <a:endParaRPr sz="1100" b="0" i="0">
              <a:solidFill>
                <a:srgbClr val="8A94A6"/>
              </a:solidFill>
              <a:latin typeface="Palatino Linotype" panose="02040502050505030304" charset="0"/>
              <a:cs typeface="Palatino Linotype" panose="02040502050505030304" charset="0"/>
            </a:endParaRPr>
          </a:p>
        </p:txBody>
      </p:sp>
      <p:sp>
        <p:nvSpPr>
          <p:cNvPr id="9" name="Page"/>
          <p:cNvSpPr txBox="1"/>
          <p:nvPr/>
        </p:nvSpPr>
        <p:spPr>
          <a:xfrm>
            <a:off x="11155680" y="6355080"/>
            <a:ext cx="457200" cy="274320"/>
          </a:xfrm>
          <a:prstGeom prst="rect">
            <a:avLst/>
          </a:prstGeom>
          <a:noFill/>
        </p:spPr>
        <p:txBody>
          <a:bodyPr wrap="square" lIns="18288" tIns="18288" rIns="18288" bIns="18288" anchor="t">
            <a:spAutoFit/>
          </a:bodyPr>
          <a:lstStyle/>
          <a:p>
            <a:pPr algn="r">
              <a:spcAft>
                <a:spcPts val="400"/>
              </a:spcAft>
            </a:pPr>
            <a:r>
              <a:rPr sz="1100" b="0" i="0">
                <a:solidFill>
                  <a:srgbClr val="8A94A6"/>
                </a:solidFill>
                <a:latin typeface="Palatino Linotype" panose="02040502050505030304" charset="0"/>
                <a:cs typeface="Palatino Linotype" panose="02040502050505030304" charset="0"/>
              </a:rPr>
              <a:t>13</a:t>
            </a:r>
            <a:endParaRPr sz="1100" b="0" i="0">
              <a:solidFill>
                <a:srgbClr val="8A94A6"/>
              </a:solidFill>
              <a:latin typeface="Palatino Linotype" panose="02040502050505030304" charset="0"/>
              <a:cs typeface="Palatino Linotype" panose="020405020505050303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Orb" descr="image.jpg"/>
          <p:cNvPicPr>
            <a:picLocks noChangeAspect="1"/>
          </p:cNvPicPr>
          <p:nvPr>
            <p:custDataLst>
              <p:tags r:id="rId1"/>
            </p:custDataLst>
          </p:nvPr>
        </p:nvPicPr>
        <p:blipFill>
          <a:blip r:embed="rId2"/>
          <a:stretch>
            <a:fillRect/>
          </a:stretch>
        </p:blipFill>
        <p:spPr>
          <a:xfrm>
            <a:off x="45720" y="1490472"/>
            <a:ext cx="12143232" cy="3877056"/>
          </a:xfrm>
          <a:prstGeom prst="rect">
            <a:avLst/>
          </a:prstGeom>
        </p:spPr>
      </p:pic>
      <p:sp>
        <p:nvSpPr>
          <p:cNvPr id="3" name="Title"/>
          <p:cNvSpPr txBox="1"/>
          <p:nvPr/>
        </p:nvSpPr>
        <p:spPr>
          <a:xfrm>
            <a:off x="548640" y="502920"/>
            <a:ext cx="11064240" cy="527685"/>
          </a:xfrm>
          <a:prstGeom prst="rect">
            <a:avLst/>
          </a:prstGeom>
          <a:noFill/>
        </p:spPr>
        <p:txBody>
          <a:bodyPr wrap="square" lIns="18288" tIns="18288" rIns="18288" bIns="18288" anchor="t">
            <a:spAutoFit/>
          </a:bodyPr>
          <a:lstStyle/>
          <a:p>
            <a:pPr>
              <a:spcAft>
                <a:spcPts val="400"/>
              </a:spcAft>
            </a:pPr>
            <a:r>
              <a:rPr sz="3200" b="1" i="0">
                <a:solidFill>
                  <a:srgbClr val="F6F3EC"/>
                </a:solidFill>
                <a:latin typeface="Palatino Linotype" panose="02040502050505030304" charset="0"/>
                <a:cs typeface="Palatino Linotype" panose="02040502050505030304" charset="0"/>
              </a:rPr>
              <a:t>No quantum advantage, and we say so</a:t>
            </a:r>
            <a:endParaRPr sz="3200" b="1" i="0">
              <a:solidFill>
                <a:srgbClr val="F6F3EC"/>
              </a:solidFill>
              <a:latin typeface="Palatino Linotype" panose="02040502050505030304" charset="0"/>
              <a:cs typeface="Palatino Linotype" panose="02040502050505030304" charset="0"/>
            </a:endParaRPr>
          </a:p>
        </p:txBody>
      </p:sp>
      <p:sp>
        <p:nvSpPr>
          <p:cNvPr id="4" name="What we showed card"/>
          <p:cNvSpPr/>
          <p:nvPr>
            <p:custDataLst>
              <p:tags r:id="rId3"/>
            </p:custDataLst>
          </p:nvPr>
        </p:nvSpPr>
        <p:spPr>
          <a:xfrm>
            <a:off x="548640" y="1463040"/>
            <a:ext cx="3566160" cy="361188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alatino Linotype" panose="02040502050505030304" charset="0"/>
              <a:cs typeface="Palatino Linotype" panose="02040502050505030304" charset="0"/>
            </a:endParaRPr>
          </a:p>
        </p:txBody>
      </p:sp>
      <p:sp>
        <p:nvSpPr>
          <p:cNvPr id="5" name="Text"/>
          <p:cNvSpPr txBox="1"/>
          <p:nvPr>
            <p:custDataLst>
              <p:tags r:id="rId4"/>
            </p:custDataLst>
          </p:nvPr>
        </p:nvSpPr>
        <p:spPr>
          <a:xfrm>
            <a:off x="777240" y="1627632"/>
            <a:ext cx="3108960" cy="411480"/>
          </a:xfrm>
          <a:prstGeom prst="rect">
            <a:avLst/>
          </a:prstGeom>
          <a:noFill/>
        </p:spPr>
        <p:txBody>
          <a:bodyPr wrap="square" lIns="18288" tIns="18288" rIns="18288" bIns="18288" anchor="t">
            <a:spAutoFit/>
          </a:bodyPr>
          <a:lstStyle/>
          <a:p>
            <a:pPr>
              <a:spcAft>
                <a:spcPts val="400"/>
              </a:spcAft>
            </a:pPr>
            <a:r>
              <a:rPr sz="1900" b="1" i="0">
                <a:solidFill>
                  <a:srgbClr val="17756F"/>
                </a:solidFill>
                <a:latin typeface="Palatino Linotype" panose="02040502050505030304" charset="0"/>
                <a:cs typeface="Palatino Linotype" panose="02040502050505030304" charset="0"/>
              </a:rPr>
              <a:t>What we showed</a:t>
            </a:r>
            <a:endParaRPr sz="1900" b="1" i="0">
              <a:solidFill>
                <a:srgbClr val="17756F"/>
              </a:solidFill>
              <a:latin typeface="Palatino Linotype" panose="02040502050505030304" charset="0"/>
              <a:cs typeface="Palatino Linotype" panose="02040502050505030304" charset="0"/>
            </a:endParaRPr>
          </a:p>
        </p:txBody>
      </p:sp>
      <p:sp>
        <p:nvSpPr>
          <p:cNvPr id="6" name="Text"/>
          <p:cNvSpPr txBox="1"/>
          <p:nvPr>
            <p:custDataLst>
              <p:tags r:id="rId5"/>
            </p:custDataLst>
          </p:nvPr>
        </p:nvSpPr>
        <p:spPr>
          <a:xfrm>
            <a:off x="777240" y="2148840"/>
            <a:ext cx="3154680" cy="2834640"/>
          </a:xfrm>
          <a:prstGeom prst="rect">
            <a:avLst/>
          </a:prstGeom>
          <a:noFill/>
        </p:spPr>
        <p:txBody>
          <a:bodyPr wrap="square" lIns="18288" tIns="18288" rIns="18288" bIns="18288" anchor="t">
            <a:spAutoFit/>
          </a:bodyPr>
          <a:lstStyle/>
          <a:p>
            <a:pPr marL="228600" indent="-228600">
              <a:spcAft>
                <a:spcPts val="600"/>
              </a:spcAft>
              <a:buClr>
                <a:srgbClr val="17756F"/>
              </a:buClr>
              <a:buFont typeface="Arial" panose="020B0604020202020204"/>
              <a:buChar char="•"/>
            </a:pPr>
            <a:r>
              <a:rPr sz="1400" b="0" i="0">
                <a:solidFill>
                  <a:srgbClr val="14213D"/>
                </a:solidFill>
                <a:latin typeface="Palatino Linotype" panose="02040502050505030304" charset="0"/>
                <a:cs typeface="Palatino Linotype" panose="02040502050505030304" charset="0"/>
              </a:rPr>
              <a:t>An encoding that keeps the rules: 100% legal samples</a:t>
            </a:r>
            <a:endParaRPr sz="1400" b="0" i="0">
              <a:solidFill>
                <a:srgbClr val="14213D"/>
              </a:solidFill>
              <a:latin typeface="Palatino Linotype" panose="02040502050505030304" charset="0"/>
              <a:cs typeface="Palatino Linotype" panose="02040502050505030304" charset="0"/>
            </a:endParaRPr>
          </a:p>
          <a:p>
            <a:pPr marL="228600" indent="-228600">
              <a:spcAft>
                <a:spcPts val="600"/>
              </a:spcAft>
              <a:buClr>
                <a:srgbClr val="17756F"/>
              </a:buClr>
              <a:buFont typeface="Arial" panose="020B0604020202020204"/>
              <a:buChar char="•"/>
            </a:pPr>
            <a:r>
              <a:rPr sz="1400" b="0" i="0">
                <a:solidFill>
                  <a:srgbClr val="14213D"/>
                </a:solidFill>
                <a:latin typeface="Palatino Linotype" panose="02040502050505030304" charset="0"/>
                <a:cs typeface="Palatino Linotype" panose="02040502050505030304" charset="0"/>
              </a:rPr>
              <a:t>Every result graded against the exact answer</a:t>
            </a:r>
            <a:endParaRPr sz="1400" b="0" i="0">
              <a:solidFill>
                <a:srgbClr val="14213D"/>
              </a:solidFill>
              <a:latin typeface="Palatino Linotype" panose="02040502050505030304" charset="0"/>
              <a:cs typeface="Palatino Linotype" panose="02040502050505030304" charset="0"/>
            </a:endParaRPr>
          </a:p>
          <a:p>
            <a:pPr marL="228600" indent="-228600">
              <a:spcAft>
                <a:spcPts val="600"/>
              </a:spcAft>
              <a:buClr>
                <a:srgbClr val="17756F"/>
              </a:buClr>
              <a:buFont typeface="Arial" panose="020B0604020202020204"/>
              <a:buChar char="•"/>
            </a:pPr>
            <a:r>
              <a:rPr sz="1400" b="0" i="0">
                <a:solidFill>
                  <a:srgbClr val="14213D"/>
                </a:solidFill>
                <a:latin typeface="Palatino Linotype" panose="02040502050505030304" charset="0"/>
                <a:cs typeface="Palatino Linotype" panose="02040502050505030304" charset="0"/>
              </a:rPr>
              <a:t>A map of what flips the answer</a:t>
            </a:r>
            <a:endParaRPr sz="1400" b="0" i="0">
              <a:solidFill>
                <a:srgbClr val="14213D"/>
              </a:solidFill>
              <a:latin typeface="Palatino Linotype" panose="02040502050505030304" charset="0"/>
              <a:cs typeface="Palatino Linotype" panose="02040502050505030304" charset="0"/>
            </a:endParaRPr>
          </a:p>
          <a:p>
            <a:pPr marL="228600" indent="-228600">
              <a:spcAft>
                <a:spcPts val="600"/>
              </a:spcAft>
              <a:buClr>
                <a:srgbClr val="17756F"/>
              </a:buClr>
              <a:buFont typeface="Arial" panose="020B0604020202020204"/>
              <a:buChar char="•"/>
            </a:pPr>
            <a:r>
              <a:rPr sz="1400" b="0" i="0">
                <a:solidFill>
                  <a:srgbClr val="14213D"/>
                </a:solidFill>
                <a:latin typeface="Palatino Linotype" panose="02040502050505030304" charset="0"/>
                <a:cs typeface="Palatino Linotype" panose="02040502050505030304" charset="0"/>
              </a:rPr>
              <a:t>Same verdicts on a second laptop, one command</a:t>
            </a:r>
            <a:endParaRPr sz="1400" b="0" i="0">
              <a:solidFill>
                <a:srgbClr val="14213D"/>
              </a:solidFill>
              <a:latin typeface="Palatino Linotype" panose="02040502050505030304" charset="0"/>
              <a:cs typeface="Palatino Linotype" panose="02040502050505030304" charset="0"/>
            </a:endParaRPr>
          </a:p>
        </p:txBody>
      </p:sp>
      <p:sp>
        <p:nvSpPr>
          <p:cNvPr id="7" name="What we assumed card"/>
          <p:cNvSpPr/>
          <p:nvPr>
            <p:custDataLst>
              <p:tags r:id="rId6"/>
            </p:custDataLst>
          </p:nvPr>
        </p:nvSpPr>
        <p:spPr>
          <a:xfrm>
            <a:off x="4297679" y="1463040"/>
            <a:ext cx="3566160" cy="361188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alatino Linotype" panose="02040502050505030304" charset="0"/>
              <a:cs typeface="Palatino Linotype" panose="02040502050505030304" charset="0"/>
            </a:endParaRPr>
          </a:p>
        </p:txBody>
      </p:sp>
      <p:sp>
        <p:nvSpPr>
          <p:cNvPr id="8" name="Text"/>
          <p:cNvSpPr txBox="1"/>
          <p:nvPr>
            <p:custDataLst>
              <p:tags r:id="rId7"/>
            </p:custDataLst>
          </p:nvPr>
        </p:nvSpPr>
        <p:spPr>
          <a:xfrm>
            <a:off x="4526279" y="1627632"/>
            <a:ext cx="3108960" cy="411480"/>
          </a:xfrm>
          <a:prstGeom prst="rect">
            <a:avLst/>
          </a:prstGeom>
          <a:noFill/>
        </p:spPr>
        <p:txBody>
          <a:bodyPr wrap="square" lIns="18288" tIns="18288" rIns="18288" bIns="18288" anchor="t">
            <a:spAutoFit/>
          </a:bodyPr>
          <a:lstStyle/>
          <a:p>
            <a:pPr>
              <a:spcAft>
                <a:spcPts val="400"/>
              </a:spcAft>
            </a:pPr>
            <a:r>
              <a:rPr sz="1900" b="1" i="0">
                <a:solidFill>
                  <a:srgbClr val="9A7B1B"/>
                </a:solidFill>
                <a:latin typeface="Palatino Linotype" panose="02040502050505030304" charset="0"/>
                <a:cs typeface="Palatino Linotype" panose="02040502050505030304" charset="0"/>
              </a:rPr>
              <a:t>What we assumed</a:t>
            </a:r>
            <a:endParaRPr sz="1900" b="1" i="0">
              <a:solidFill>
                <a:srgbClr val="9A7B1B"/>
              </a:solidFill>
              <a:latin typeface="Palatino Linotype" panose="02040502050505030304" charset="0"/>
              <a:cs typeface="Palatino Linotype" panose="02040502050505030304" charset="0"/>
            </a:endParaRPr>
          </a:p>
        </p:txBody>
      </p:sp>
      <p:sp>
        <p:nvSpPr>
          <p:cNvPr id="9" name="Text"/>
          <p:cNvSpPr txBox="1"/>
          <p:nvPr>
            <p:custDataLst>
              <p:tags r:id="rId8"/>
            </p:custDataLst>
          </p:nvPr>
        </p:nvSpPr>
        <p:spPr>
          <a:xfrm>
            <a:off x="4526279" y="2148840"/>
            <a:ext cx="3154680" cy="2834640"/>
          </a:xfrm>
          <a:prstGeom prst="rect">
            <a:avLst/>
          </a:prstGeom>
          <a:noFill/>
        </p:spPr>
        <p:txBody>
          <a:bodyPr wrap="square" lIns="18288" tIns="18288" rIns="18288" bIns="18288" anchor="t">
            <a:spAutoFit/>
          </a:bodyPr>
          <a:lstStyle/>
          <a:p>
            <a:pPr marL="228600" indent="-228600">
              <a:spcAft>
                <a:spcPts val="600"/>
              </a:spcAft>
              <a:buClr>
                <a:srgbClr val="9A7B1B"/>
              </a:buClr>
              <a:buFont typeface="Arial" panose="020B0604020202020204"/>
              <a:buChar char="•"/>
            </a:pPr>
            <a:r>
              <a:rPr sz="1400" b="0" i="0">
                <a:solidFill>
                  <a:srgbClr val="14213D"/>
                </a:solidFill>
                <a:latin typeface="Palatino Linotype" panose="02040502050505030304" charset="0"/>
                <a:cs typeface="Palatino Linotype" panose="02040502050505030304" charset="0"/>
              </a:rPr>
              <a:t>Mandate numbers are ours, not the fund’s</a:t>
            </a:r>
            <a:endParaRPr sz="1400" b="0" i="0">
              <a:solidFill>
                <a:srgbClr val="14213D"/>
              </a:solidFill>
              <a:latin typeface="Palatino Linotype" panose="02040502050505030304" charset="0"/>
              <a:cs typeface="Palatino Linotype" panose="02040502050505030304" charset="0"/>
            </a:endParaRPr>
          </a:p>
          <a:p>
            <a:pPr marL="228600" indent="-228600">
              <a:spcAft>
                <a:spcPts val="600"/>
              </a:spcAft>
              <a:buClr>
                <a:srgbClr val="9A7B1B"/>
              </a:buClr>
              <a:buFont typeface="Arial" panose="020B0604020202020204"/>
              <a:buChar char="•"/>
            </a:pPr>
            <a:r>
              <a:rPr sz="1400" b="0" i="0">
                <a:solidFill>
                  <a:srgbClr val="14213D"/>
                </a:solidFill>
                <a:latin typeface="Palatino Linotype" panose="02040502050505030304" charset="0"/>
                <a:cs typeface="Palatino Linotype" panose="02040502050505030304" charset="0"/>
              </a:rPr>
              <a:t>Equal weights, exactly 3 of 6 sectors</a:t>
            </a:r>
            <a:endParaRPr sz="1400" b="0" i="0">
              <a:solidFill>
                <a:srgbClr val="14213D"/>
              </a:solidFill>
              <a:latin typeface="Palatino Linotype" panose="02040502050505030304" charset="0"/>
              <a:cs typeface="Palatino Linotype" panose="02040502050505030304" charset="0"/>
            </a:endParaRPr>
          </a:p>
          <a:p>
            <a:pPr marL="228600" indent="-228600">
              <a:spcAft>
                <a:spcPts val="600"/>
              </a:spcAft>
              <a:buClr>
                <a:srgbClr val="9A7B1B"/>
              </a:buClr>
              <a:buFont typeface="Arial" panose="020B0604020202020204"/>
              <a:buChar char="•"/>
            </a:pPr>
            <a:r>
              <a:rPr sz="1400" b="0" i="0">
                <a:solidFill>
                  <a:srgbClr val="14213D"/>
                </a:solidFill>
                <a:latin typeface="Palatino Linotype" panose="02040502050505030304" charset="0"/>
                <a:cs typeface="Palatino Linotype" panose="02040502050505030304" charset="0"/>
              </a:rPr>
              <a:t>Switching cost is a proxy, not a fee model</a:t>
            </a:r>
            <a:endParaRPr sz="1400" b="0" i="0">
              <a:solidFill>
                <a:srgbClr val="14213D"/>
              </a:solidFill>
              <a:latin typeface="Palatino Linotype" panose="02040502050505030304" charset="0"/>
              <a:cs typeface="Palatino Linotype" panose="02040502050505030304" charset="0"/>
            </a:endParaRPr>
          </a:p>
          <a:p>
            <a:pPr marL="228600" indent="-228600">
              <a:spcAft>
                <a:spcPts val="600"/>
              </a:spcAft>
              <a:buClr>
                <a:srgbClr val="9A7B1B"/>
              </a:buClr>
              <a:buFont typeface="Arial" panose="020B0604020202020204"/>
              <a:buChar char="•"/>
            </a:pPr>
            <a:r>
              <a:rPr sz="1400" b="0" i="0">
                <a:solidFill>
                  <a:srgbClr val="14213D"/>
                </a:solidFill>
                <a:latin typeface="Palatino Linotype" panose="02040502050505030304" charset="0"/>
                <a:cs typeface="Palatino Linotype" panose="02040502050505030304" charset="0"/>
              </a:rPr>
              <a:t>60 months of US sectors, in dollars</a:t>
            </a:r>
            <a:endParaRPr sz="1400" b="0" i="0">
              <a:solidFill>
                <a:srgbClr val="14213D"/>
              </a:solidFill>
              <a:latin typeface="Palatino Linotype" panose="02040502050505030304" charset="0"/>
              <a:cs typeface="Palatino Linotype" panose="02040502050505030304" charset="0"/>
            </a:endParaRPr>
          </a:p>
          <a:p>
            <a:pPr marL="228600" indent="-228600">
              <a:spcAft>
                <a:spcPts val="600"/>
              </a:spcAft>
              <a:buClr>
                <a:srgbClr val="9A7B1B"/>
              </a:buClr>
              <a:buFont typeface="Arial" panose="020B0604020202020204"/>
              <a:buChar char="•"/>
            </a:pPr>
            <a:r>
              <a:rPr sz="1400" b="0" i="0">
                <a:solidFill>
                  <a:srgbClr val="14213D"/>
                </a:solidFill>
                <a:latin typeface="Palatino Linotype" panose="02040502050505030304" charset="0"/>
                <a:cs typeface="Palatino Linotype" panose="02040502050505030304" charset="0"/>
              </a:rPr>
              <a:t>Loss rule applied to the tilt; whole portfolio only as a side view</a:t>
            </a:r>
            <a:endParaRPr sz="1400" b="0" i="0">
              <a:solidFill>
                <a:srgbClr val="14213D"/>
              </a:solidFill>
              <a:latin typeface="Palatino Linotype" panose="02040502050505030304" charset="0"/>
              <a:cs typeface="Palatino Linotype" panose="02040502050505030304" charset="0"/>
            </a:endParaRPr>
          </a:p>
        </p:txBody>
      </p:sp>
      <p:sp>
        <p:nvSpPr>
          <p:cNvPr id="10" name="Not tested yet: next card"/>
          <p:cNvSpPr/>
          <p:nvPr>
            <p:custDataLst>
              <p:tags r:id="rId9"/>
            </p:custDataLst>
          </p:nvPr>
        </p:nvSpPr>
        <p:spPr>
          <a:xfrm>
            <a:off x="8046719" y="1463040"/>
            <a:ext cx="3566160" cy="361188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alatino Linotype" panose="02040502050505030304" charset="0"/>
              <a:cs typeface="Palatino Linotype" panose="02040502050505030304" charset="0"/>
            </a:endParaRPr>
          </a:p>
        </p:txBody>
      </p:sp>
      <p:sp>
        <p:nvSpPr>
          <p:cNvPr id="13" name="Text"/>
          <p:cNvSpPr txBox="1"/>
          <p:nvPr/>
        </p:nvSpPr>
        <p:spPr>
          <a:xfrm>
            <a:off x="548640" y="5303520"/>
            <a:ext cx="11064240" cy="822960"/>
          </a:xfrm>
          <a:prstGeom prst="rect">
            <a:avLst/>
          </a:prstGeom>
          <a:noFill/>
        </p:spPr>
        <p:txBody>
          <a:bodyPr wrap="square" lIns="18288" tIns="18288" rIns="18288" bIns="18288" anchor="t">
            <a:spAutoFit/>
          </a:bodyPr>
          <a:lstStyle/>
          <a:p>
            <a:pPr>
              <a:spcAft>
                <a:spcPts val="400"/>
              </a:spcAft>
            </a:pPr>
            <a:r>
              <a:rPr sz="1400" b="1" i="0">
                <a:solidFill>
                  <a:srgbClr val="F6F3EC"/>
                </a:solidFill>
                <a:latin typeface="Palatino Linotype" panose="02040502050505030304" charset="0"/>
                <a:cs typeface="Palatino Linotype" panose="02040502050505030304" charset="0"/>
              </a:rPr>
              <a:t>Already known, not claimed by us: </a:t>
            </a:r>
            <a:r>
              <a:rPr sz="1400" b="0" i="0">
                <a:solidFill>
                  <a:srgbClr val="D9DEE8"/>
                </a:solidFill>
                <a:latin typeface="Palatino Linotype" panose="02040502050505030304" charset="0"/>
                <a:cs typeface="Palatino Linotype" panose="02040502050505030304" charset="0"/>
              </a:rPr>
              <a:t>optimisers amplify estimation error (Michaud, 1989); quantum optimisation has no established advantage; claims should stay proportionate to evidence (Kop et al., 2024).</a:t>
            </a:r>
            <a:endParaRPr sz="1400" b="0" i="0">
              <a:solidFill>
                <a:srgbClr val="D9DEE8"/>
              </a:solidFill>
              <a:latin typeface="Palatino Linotype" panose="02040502050505030304" charset="0"/>
              <a:cs typeface="Palatino Linotype" panose="02040502050505030304" charset="0"/>
            </a:endParaRPr>
          </a:p>
        </p:txBody>
      </p:sp>
      <p:sp>
        <p:nvSpPr>
          <p:cNvPr id="14" name="Page"/>
          <p:cNvSpPr txBox="1"/>
          <p:nvPr/>
        </p:nvSpPr>
        <p:spPr>
          <a:xfrm>
            <a:off x="11155680" y="6355080"/>
            <a:ext cx="457200" cy="274320"/>
          </a:xfrm>
          <a:prstGeom prst="rect">
            <a:avLst/>
          </a:prstGeom>
          <a:noFill/>
        </p:spPr>
        <p:txBody>
          <a:bodyPr wrap="square" lIns="18288" tIns="18288" rIns="18288" bIns="18288" anchor="t">
            <a:spAutoFit/>
          </a:bodyPr>
          <a:lstStyle/>
          <a:p>
            <a:pPr algn="r">
              <a:spcAft>
                <a:spcPts val="400"/>
              </a:spcAft>
            </a:pPr>
            <a:r>
              <a:rPr sz="1100" b="0" i="0">
                <a:solidFill>
                  <a:srgbClr val="8A94A6"/>
                </a:solidFill>
                <a:latin typeface="Palatino Linotype" panose="02040502050505030304" charset="0"/>
                <a:cs typeface="Palatino Linotype" panose="02040502050505030304" charset="0"/>
              </a:rPr>
              <a:t>15</a:t>
            </a:r>
            <a:endParaRPr sz="1100" b="0" i="0">
              <a:solidFill>
                <a:srgbClr val="8A94A6"/>
              </a:solidFill>
              <a:latin typeface="Palatino Linotype" panose="02040502050505030304" charset="0"/>
              <a:cs typeface="Palatino Linotype" panose="02040502050505030304" charset="0"/>
            </a:endParaRPr>
          </a:p>
        </p:txBody>
      </p:sp>
      <p:sp>
        <p:nvSpPr>
          <p:cNvPr id="16" name="Text"/>
          <p:cNvSpPr txBox="1"/>
          <p:nvPr>
            <p:custDataLst>
              <p:tags r:id="rId10"/>
            </p:custDataLst>
          </p:nvPr>
        </p:nvSpPr>
        <p:spPr>
          <a:xfrm>
            <a:off x="8275319" y="1627632"/>
            <a:ext cx="3108960" cy="327660"/>
          </a:xfrm>
          <a:prstGeom prst="rect">
            <a:avLst/>
          </a:prstGeom>
          <a:noFill/>
        </p:spPr>
        <p:txBody>
          <a:bodyPr wrap="square" lIns="18288" tIns="18288" rIns="18288" bIns="18288" anchor="t">
            <a:spAutoFit/>
          </a:bodyPr>
          <a:lstStyle/>
          <a:p>
            <a:pPr>
              <a:spcAft>
                <a:spcPts val="400"/>
              </a:spcAft>
            </a:pPr>
            <a:r>
              <a:rPr sz="1900" b="1" i="0">
                <a:solidFill>
                  <a:srgbClr val="B4561A"/>
                </a:solidFill>
                <a:latin typeface="Palatino Linotype" panose="02040502050505030304" charset="0"/>
                <a:cs typeface="Palatino Linotype" panose="02040502050505030304" charset="0"/>
              </a:rPr>
              <a:t>Next steps</a:t>
            </a:r>
            <a:endParaRPr lang="en-US" sz="1900" b="1" i="0">
              <a:solidFill>
                <a:srgbClr val="B4561A"/>
              </a:solidFill>
              <a:latin typeface="Palatino Linotype" panose="02040502050505030304" charset="0"/>
              <a:cs typeface="Palatino Linotype" panose="02040502050505030304" charset="0"/>
            </a:endParaRPr>
          </a:p>
        </p:txBody>
      </p:sp>
      <p:sp>
        <p:nvSpPr>
          <p:cNvPr id="40" name="Text"/>
          <p:cNvSpPr txBox="1"/>
          <p:nvPr/>
        </p:nvSpPr>
        <p:spPr>
          <a:xfrm>
            <a:off x="8275319" y="2148840"/>
            <a:ext cx="3154680" cy="2834640"/>
          </a:xfrm>
          <a:prstGeom prst="rect">
            <a:avLst/>
          </a:prstGeom>
          <a:noFill/>
        </p:spPr>
        <p:txBody>
          <a:bodyPr wrap="square" lIns="18288" tIns="18288" rIns="18288" bIns="18288" anchor="t">
            <a:spAutoFit/>
          </a:bodyPr>
          <a:lstStyle/>
          <a:p>
            <a:pPr marL="228600" indent="-228600">
              <a:spcAft>
                <a:spcPts val="600"/>
              </a:spcAft>
              <a:buClr>
                <a:srgbClr val="B4561A"/>
              </a:buClr>
              <a:buFont typeface="Arial" panose="020B0604020202020204"/>
              <a:buChar char="•"/>
            </a:pPr>
            <a:r>
              <a:rPr sz="1400" b="0" i="0">
                <a:solidFill>
                  <a:srgbClr val="14213D"/>
                </a:solidFill>
                <a:latin typeface="Palatino Linotype" panose="02040502050505030304" charset="0"/>
                <a:cs typeface="Palatino Linotype" panose="02040502050505030304" charset="0"/>
              </a:rPr>
              <a:t>Noisy simulation, then real hardware</a:t>
            </a:r>
            <a:endParaRPr sz="1400" b="0" i="0">
              <a:solidFill>
                <a:srgbClr val="14213D"/>
              </a:solidFill>
              <a:latin typeface="Palatino Linotype" panose="02040502050505030304" charset="0"/>
              <a:cs typeface="Palatino Linotype" panose="02040502050505030304" charset="0"/>
            </a:endParaRPr>
          </a:p>
          <a:p>
            <a:pPr marL="228600" indent="-228600">
              <a:spcAft>
                <a:spcPts val="600"/>
              </a:spcAft>
              <a:buClr>
                <a:srgbClr val="B4561A"/>
              </a:buClr>
              <a:buFont typeface="Arial" panose="020B0604020202020204"/>
              <a:buChar char="•"/>
            </a:pPr>
            <a:r>
              <a:rPr sz="1400" b="0" i="0">
                <a:solidFill>
                  <a:srgbClr val="14213D"/>
                </a:solidFill>
                <a:latin typeface="Palatino Linotype" panose="02040502050505030304" charset="0"/>
                <a:cs typeface="Palatino Linotype" panose="02040502050505030304" charset="0"/>
              </a:rPr>
              <a:t>Strong classical solvers on larger problems</a:t>
            </a:r>
            <a:endParaRPr sz="1400" b="0" i="0">
              <a:solidFill>
                <a:srgbClr val="14213D"/>
              </a:solidFill>
              <a:latin typeface="Palatino Linotype" panose="02040502050505030304" charset="0"/>
              <a:cs typeface="Palatino Linotype" panose="02040502050505030304" charset="0"/>
            </a:endParaRPr>
          </a:p>
          <a:p>
            <a:pPr marL="228600" indent="-228600">
              <a:spcAft>
                <a:spcPts val="600"/>
              </a:spcAft>
              <a:buClr>
                <a:srgbClr val="B4561A"/>
              </a:buClr>
              <a:buFont typeface="Arial" panose="020B0604020202020204"/>
              <a:buChar char="•"/>
            </a:pPr>
            <a:r>
              <a:rPr sz="1400" b="0" i="0">
                <a:solidFill>
                  <a:srgbClr val="14213D"/>
                </a:solidFill>
                <a:latin typeface="Palatino Linotype" panose="02040502050505030304" charset="0"/>
                <a:cs typeface="Palatino Linotype" panose="02040502050505030304" charset="0"/>
              </a:rPr>
              <a:t>Global data, in euros</a:t>
            </a:r>
            <a:endParaRPr sz="1400" b="0" i="0">
              <a:solidFill>
                <a:srgbClr val="14213D"/>
              </a:solidFill>
              <a:latin typeface="Palatino Linotype" panose="02040502050505030304" charset="0"/>
              <a:cs typeface="Palatino Linotype" panose="02040502050505030304" charset="0"/>
            </a:endParaRPr>
          </a:p>
          <a:p>
            <a:pPr marL="228600" indent="-228600">
              <a:spcAft>
                <a:spcPts val="600"/>
              </a:spcAft>
              <a:buClr>
                <a:srgbClr val="B4561A"/>
              </a:buClr>
              <a:buFont typeface="Arial" panose="020B0604020202020204"/>
              <a:buChar char="•"/>
            </a:pPr>
            <a:r>
              <a:rPr sz="1400" b="0" i="0">
                <a:solidFill>
                  <a:srgbClr val="14213D"/>
                </a:solidFill>
                <a:latin typeface="Palatino Linotype" panose="02040502050505030304" charset="0"/>
                <a:cs typeface="Palatino Linotype" panose="02040502050505030304" charset="0"/>
              </a:rPr>
              <a:t>A tail-risk model beyond 60 calm months</a:t>
            </a:r>
            <a:endParaRPr sz="1400" b="0" i="0">
              <a:solidFill>
                <a:srgbClr val="14213D"/>
              </a:solidFill>
              <a:latin typeface="Palatino Linotype" panose="02040502050505030304" charset="0"/>
              <a:cs typeface="Palatino Linotype" panose="02040502050505030304" charset="0"/>
            </a:endParaRPr>
          </a:p>
          <a:p>
            <a:pPr marL="228600" indent="-228600">
              <a:spcAft>
                <a:spcPts val="600"/>
              </a:spcAft>
              <a:buClr>
                <a:srgbClr val="B4561A"/>
              </a:buClr>
              <a:buFont typeface="Arial" panose="020B0604020202020204"/>
              <a:buChar char="•"/>
            </a:pPr>
            <a:r>
              <a:rPr sz="1400" b="0" i="0">
                <a:solidFill>
                  <a:srgbClr val="14213D"/>
                </a:solidFill>
                <a:latin typeface="Palatino Linotype" panose="02040502050505030304" charset="0"/>
                <a:cs typeface="Palatino Linotype" panose="02040502050505030304" charset="0"/>
              </a:rPr>
              <a:t>The profile choice tested with real savers</a:t>
            </a:r>
            <a:endParaRPr sz="1400" b="0" i="0">
              <a:solidFill>
                <a:srgbClr val="14213D"/>
              </a:solidFill>
              <a:latin typeface="Palatino Linotype" panose="02040502050505030304" charset="0"/>
              <a:cs typeface="Palatino Linotype" panose="020405020505050303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Orb" descr="image.jpg"/>
          <p:cNvPicPr>
            <a:picLocks noChangeAspect="1"/>
          </p:cNvPicPr>
          <p:nvPr/>
        </p:nvPicPr>
        <p:blipFill>
          <a:blip r:embed="rId1"/>
          <a:stretch>
            <a:fillRect/>
          </a:stretch>
        </p:blipFill>
        <p:spPr>
          <a:xfrm>
            <a:off x="45720" y="1490472"/>
            <a:ext cx="12143232" cy="3877056"/>
          </a:xfrm>
          <a:prstGeom prst="rect">
            <a:avLst/>
          </a:prstGeom>
        </p:spPr>
      </p:pic>
      <p:sp>
        <p:nvSpPr>
          <p:cNvPr id="3" name="Title"/>
          <p:cNvSpPr txBox="1"/>
          <p:nvPr/>
        </p:nvSpPr>
        <p:spPr>
          <a:xfrm>
            <a:off x="548640" y="502920"/>
            <a:ext cx="11064240" cy="527685"/>
          </a:xfrm>
          <a:prstGeom prst="rect">
            <a:avLst/>
          </a:prstGeom>
          <a:noFill/>
        </p:spPr>
        <p:txBody>
          <a:bodyPr wrap="square" lIns="18288" tIns="18288" rIns="18288" bIns="18288" anchor="t">
            <a:spAutoFit/>
          </a:bodyPr>
          <a:lstStyle/>
          <a:p>
            <a:pPr>
              <a:spcAft>
                <a:spcPts val="400"/>
              </a:spcAft>
            </a:pPr>
            <a:r>
              <a:rPr sz="3200" b="1" i="0">
                <a:solidFill>
                  <a:srgbClr val="F6F3EC"/>
                </a:solidFill>
                <a:latin typeface="Palatino Linotype" panose="02040502050505030304" charset="0"/>
                <a:cs typeface="Palatino Linotype" panose="02040502050505030304" charset="0"/>
              </a:rPr>
              <a:t>Decision card: use the optimiser as advice</a:t>
            </a:r>
            <a:endParaRPr sz="3200" b="1" i="0">
              <a:solidFill>
                <a:srgbClr val="F6F3EC"/>
              </a:solidFill>
              <a:latin typeface="Palatino Linotype" panose="02040502050505030304" charset="0"/>
              <a:cs typeface="Palatino Linotype" panose="02040502050505030304" charset="0"/>
            </a:endParaRPr>
          </a:p>
        </p:txBody>
      </p:sp>
      <p:sp>
        <p:nvSpPr>
          <p:cNvPr id="4" name="Subtitle"/>
          <p:cNvSpPr txBox="1"/>
          <p:nvPr/>
        </p:nvSpPr>
        <p:spPr>
          <a:xfrm>
            <a:off x="548640" y="1143000"/>
            <a:ext cx="11064240" cy="411480"/>
          </a:xfrm>
          <a:prstGeom prst="rect">
            <a:avLst/>
          </a:prstGeom>
          <a:noFill/>
        </p:spPr>
        <p:txBody>
          <a:bodyPr wrap="square" lIns="18288" tIns="18288" rIns="18288" bIns="18288" anchor="t">
            <a:spAutoFit/>
          </a:bodyPr>
          <a:lstStyle/>
          <a:p>
            <a:pPr>
              <a:spcAft>
                <a:spcPts val="400"/>
              </a:spcAft>
            </a:pPr>
            <a:r>
              <a:rPr sz="1600" b="0" i="0">
                <a:solidFill>
                  <a:srgbClr val="D9DEE8"/>
                </a:solidFill>
                <a:latin typeface="Palatino Linotype" panose="02040502050505030304" charset="0"/>
                <a:cs typeface="Palatino Linotype" panose="02040502050505030304" charset="0"/>
              </a:rPr>
              <a:t>Switch growth · review balanced (hold until the committee decides) · keep risk-sensitive</a:t>
            </a:r>
            <a:endParaRPr sz="1600" b="0" i="0">
              <a:solidFill>
                <a:srgbClr val="D9DEE8"/>
              </a:solidFill>
              <a:latin typeface="Palatino Linotype" panose="02040502050505030304" charset="0"/>
              <a:cs typeface="Palatino Linotype" panose="02040502050505030304" charset="0"/>
            </a:endParaRPr>
          </a:p>
        </p:txBody>
      </p:sp>
      <p:sp>
        <p:nvSpPr>
          <p:cNvPr id="5" name="Card"/>
          <p:cNvSpPr/>
          <p:nvPr/>
        </p:nvSpPr>
        <p:spPr>
          <a:xfrm>
            <a:off x="548640" y="1783080"/>
            <a:ext cx="3566160" cy="205740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alatino Linotype" panose="02040502050505030304" charset="0"/>
              <a:cs typeface="Palatino Linotype" panose="02040502050505030304" charset="0"/>
            </a:endParaRPr>
          </a:p>
        </p:txBody>
      </p:sp>
      <p:sp>
        <p:nvSpPr>
          <p:cNvPr id="6" name="Text"/>
          <p:cNvSpPr txBox="1"/>
          <p:nvPr/>
        </p:nvSpPr>
        <p:spPr>
          <a:xfrm>
            <a:off x="731520" y="1892807"/>
            <a:ext cx="3200400" cy="365760"/>
          </a:xfrm>
          <a:prstGeom prst="rect">
            <a:avLst/>
          </a:prstGeom>
          <a:noFill/>
        </p:spPr>
        <p:txBody>
          <a:bodyPr wrap="square" lIns="18288" tIns="18288" rIns="18288" bIns="18288" anchor="t">
            <a:spAutoFit/>
          </a:bodyPr>
          <a:lstStyle/>
          <a:p>
            <a:pPr>
              <a:spcAft>
                <a:spcPts val="400"/>
              </a:spcAft>
            </a:pPr>
            <a:r>
              <a:rPr sz="1400" b="1" i="0">
                <a:solidFill>
                  <a:srgbClr val="17756F"/>
                </a:solidFill>
                <a:latin typeface="Palatino Linotype" panose="02040502050505030304" charset="0"/>
                <a:cs typeface="Palatino Linotype" panose="02040502050505030304" charset="0"/>
              </a:rPr>
              <a:t>WHO GAINS</a:t>
            </a:r>
            <a:endParaRPr sz="1400" b="1" i="0">
              <a:solidFill>
                <a:srgbClr val="17756F"/>
              </a:solidFill>
              <a:latin typeface="Palatino Linotype" panose="02040502050505030304" charset="0"/>
              <a:cs typeface="Palatino Linotype" panose="02040502050505030304" charset="0"/>
            </a:endParaRPr>
          </a:p>
        </p:txBody>
      </p:sp>
      <p:sp>
        <p:nvSpPr>
          <p:cNvPr id="7" name="Text"/>
          <p:cNvSpPr txBox="1"/>
          <p:nvPr/>
        </p:nvSpPr>
        <p:spPr>
          <a:xfrm>
            <a:off x="731520" y="2286000"/>
            <a:ext cx="3200400" cy="1463040"/>
          </a:xfrm>
          <a:prstGeom prst="rect">
            <a:avLst/>
          </a:prstGeom>
          <a:noFill/>
        </p:spPr>
        <p:txBody>
          <a:bodyPr wrap="square" lIns="18288" tIns="18288" rIns="18288" bIns="18288" anchor="t">
            <a:spAutoFit/>
          </a:bodyPr>
          <a:lstStyle/>
          <a:p>
            <a:pPr>
              <a:spcAft>
                <a:spcPts val="400"/>
              </a:spcAft>
            </a:pPr>
            <a:r>
              <a:rPr sz="1500" b="0" i="0">
                <a:solidFill>
                  <a:srgbClr val="14213D"/>
                </a:solidFill>
                <a:latin typeface="Palatino Linotype" panose="02040502050505030304" charset="0"/>
                <a:cs typeface="Palatino Linotype" panose="02040502050505030304" charset="0"/>
              </a:rPr>
              <a:t>Growth savers: more expected return. All savers: decisions that are recorded and checkable.</a:t>
            </a:r>
            <a:endParaRPr sz="1500" b="0" i="0">
              <a:solidFill>
                <a:srgbClr val="14213D"/>
              </a:solidFill>
              <a:latin typeface="Palatino Linotype" panose="02040502050505030304" charset="0"/>
              <a:cs typeface="Palatino Linotype" panose="02040502050505030304" charset="0"/>
            </a:endParaRPr>
          </a:p>
        </p:txBody>
      </p:sp>
      <p:sp>
        <p:nvSpPr>
          <p:cNvPr id="8" name="Card"/>
          <p:cNvSpPr/>
          <p:nvPr/>
        </p:nvSpPr>
        <p:spPr>
          <a:xfrm>
            <a:off x="4297679" y="1783080"/>
            <a:ext cx="3566160" cy="205740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alatino Linotype" panose="02040502050505030304" charset="0"/>
              <a:cs typeface="Palatino Linotype" panose="02040502050505030304" charset="0"/>
            </a:endParaRPr>
          </a:p>
        </p:txBody>
      </p:sp>
      <p:sp>
        <p:nvSpPr>
          <p:cNvPr id="9" name="Text"/>
          <p:cNvSpPr txBox="1"/>
          <p:nvPr/>
        </p:nvSpPr>
        <p:spPr>
          <a:xfrm>
            <a:off x="4480559" y="1892807"/>
            <a:ext cx="3200400" cy="365760"/>
          </a:xfrm>
          <a:prstGeom prst="rect">
            <a:avLst/>
          </a:prstGeom>
          <a:noFill/>
        </p:spPr>
        <p:txBody>
          <a:bodyPr wrap="square" lIns="18288" tIns="18288" rIns="18288" bIns="18288" anchor="t">
            <a:spAutoFit/>
          </a:bodyPr>
          <a:lstStyle/>
          <a:p>
            <a:pPr>
              <a:spcAft>
                <a:spcPts val="400"/>
              </a:spcAft>
            </a:pPr>
            <a:r>
              <a:rPr sz="1400" b="1" i="0">
                <a:solidFill>
                  <a:srgbClr val="B4561A"/>
                </a:solidFill>
                <a:latin typeface="Palatino Linotype" panose="02040502050505030304" charset="0"/>
                <a:cs typeface="Palatino Linotype" panose="02040502050505030304" charset="0"/>
              </a:rPr>
              <a:t>WHO LOSES</a:t>
            </a:r>
            <a:endParaRPr sz="1400" b="1" i="0">
              <a:solidFill>
                <a:srgbClr val="B4561A"/>
              </a:solidFill>
              <a:latin typeface="Palatino Linotype" panose="02040502050505030304" charset="0"/>
              <a:cs typeface="Palatino Linotype" panose="02040502050505030304" charset="0"/>
            </a:endParaRPr>
          </a:p>
        </p:txBody>
      </p:sp>
      <p:sp>
        <p:nvSpPr>
          <p:cNvPr id="10" name="Text"/>
          <p:cNvSpPr txBox="1"/>
          <p:nvPr/>
        </p:nvSpPr>
        <p:spPr>
          <a:xfrm>
            <a:off x="4480559" y="2286000"/>
            <a:ext cx="3200400" cy="1463040"/>
          </a:xfrm>
          <a:prstGeom prst="rect">
            <a:avLst/>
          </a:prstGeom>
          <a:noFill/>
        </p:spPr>
        <p:txBody>
          <a:bodyPr wrap="square" lIns="18288" tIns="18288" rIns="18288" bIns="18288" anchor="t">
            <a:spAutoFit/>
          </a:bodyPr>
          <a:lstStyle/>
          <a:p>
            <a:pPr>
              <a:spcAft>
                <a:spcPts val="400"/>
              </a:spcAft>
            </a:pPr>
            <a:r>
              <a:rPr sz="1500" b="0" i="0">
                <a:solidFill>
                  <a:srgbClr val="14213D"/>
                </a:solidFill>
                <a:latin typeface="Palatino Linotype" panose="02040502050505030304" charset="0"/>
                <a:cs typeface="Palatino Linotype" panose="02040502050505030304" charset="0"/>
              </a:rPr>
              <a:t>Growth savers carry more concentration and deeper falls (−21% vs −17%). Cautious savers give up return if tech keeps winning.</a:t>
            </a:r>
            <a:endParaRPr sz="1500" b="0" i="0">
              <a:solidFill>
                <a:srgbClr val="14213D"/>
              </a:solidFill>
              <a:latin typeface="Palatino Linotype" panose="02040502050505030304" charset="0"/>
              <a:cs typeface="Palatino Linotype" panose="02040502050505030304" charset="0"/>
            </a:endParaRPr>
          </a:p>
        </p:txBody>
      </p:sp>
      <p:sp>
        <p:nvSpPr>
          <p:cNvPr id="11" name="Card"/>
          <p:cNvSpPr/>
          <p:nvPr/>
        </p:nvSpPr>
        <p:spPr>
          <a:xfrm>
            <a:off x="8046719" y="1783080"/>
            <a:ext cx="3566160" cy="205740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alatino Linotype" panose="02040502050505030304" charset="0"/>
              <a:cs typeface="Palatino Linotype" panose="02040502050505030304" charset="0"/>
            </a:endParaRPr>
          </a:p>
        </p:txBody>
      </p:sp>
      <p:sp>
        <p:nvSpPr>
          <p:cNvPr id="12" name="Text"/>
          <p:cNvSpPr txBox="1"/>
          <p:nvPr/>
        </p:nvSpPr>
        <p:spPr>
          <a:xfrm>
            <a:off x="8229599" y="1892807"/>
            <a:ext cx="3200400" cy="365760"/>
          </a:xfrm>
          <a:prstGeom prst="rect">
            <a:avLst/>
          </a:prstGeom>
          <a:noFill/>
        </p:spPr>
        <p:txBody>
          <a:bodyPr wrap="square" lIns="18288" tIns="18288" rIns="18288" bIns="18288" anchor="t">
            <a:spAutoFit/>
          </a:bodyPr>
          <a:lstStyle/>
          <a:p>
            <a:pPr>
              <a:spcAft>
                <a:spcPts val="400"/>
              </a:spcAft>
            </a:pPr>
            <a:r>
              <a:rPr sz="1400" b="1" i="0">
                <a:solidFill>
                  <a:srgbClr val="14213D"/>
                </a:solidFill>
                <a:latin typeface="Palatino Linotype" panose="02040502050505030304" charset="0"/>
                <a:cs typeface="Palatino Linotype" panose="02040502050505030304" charset="0"/>
              </a:rPr>
              <a:t>HOW CONFIDENT</a:t>
            </a:r>
            <a:endParaRPr sz="1400" b="1" i="0">
              <a:solidFill>
                <a:srgbClr val="14213D"/>
              </a:solidFill>
              <a:latin typeface="Palatino Linotype" panose="02040502050505030304" charset="0"/>
              <a:cs typeface="Palatino Linotype" panose="02040502050505030304" charset="0"/>
            </a:endParaRPr>
          </a:p>
        </p:txBody>
      </p:sp>
      <p:sp>
        <p:nvSpPr>
          <p:cNvPr id="13" name="Text"/>
          <p:cNvSpPr txBox="1"/>
          <p:nvPr/>
        </p:nvSpPr>
        <p:spPr>
          <a:xfrm>
            <a:off x="8229599" y="2286000"/>
            <a:ext cx="3200400" cy="1463040"/>
          </a:xfrm>
          <a:prstGeom prst="rect">
            <a:avLst/>
          </a:prstGeom>
          <a:noFill/>
        </p:spPr>
        <p:txBody>
          <a:bodyPr wrap="square" lIns="18288" tIns="18288" rIns="18288" bIns="18288" anchor="t">
            <a:spAutoFit/>
          </a:bodyPr>
          <a:lstStyle/>
          <a:p>
            <a:pPr>
              <a:spcAft>
                <a:spcPts val="400"/>
              </a:spcAft>
            </a:pPr>
            <a:r>
              <a:rPr sz="1500" b="0" i="0">
                <a:solidFill>
                  <a:srgbClr val="14213D"/>
                </a:solidFill>
                <a:latin typeface="Palatino Linotype" panose="02040502050505030304" charset="0"/>
                <a:cs typeface="Palatino Linotype" panose="02040502050505030304" charset="0"/>
              </a:rPr>
              <a:t>Growth: fairly high. Risk-sensitive: moderate to high. Balanced: low, a near-tie that flips under stress.</a:t>
            </a:r>
            <a:endParaRPr sz="1500" b="0" i="0">
              <a:solidFill>
                <a:srgbClr val="14213D"/>
              </a:solidFill>
              <a:latin typeface="Palatino Linotype" panose="02040502050505030304" charset="0"/>
              <a:cs typeface="Palatino Linotype" panose="02040502050505030304" charset="0"/>
            </a:endParaRPr>
          </a:p>
        </p:txBody>
      </p:sp>
      <p:sp>
        <p:nvSpPr>
          <p:cNvPr id="14" name="Card"/>
          <p:cNvSpPr/>
          <p:nvPr/>
        </p:nvSpPr>
        <p:spPr>
          <a:xfrm>
            <a:off x="548640" y="4023360"/>
            <a:ext cx="3566160" cy="2148840"/>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alatino Linotype" panose="02040502050505030304" charset="0"/>
              <a:cs typeface="Palatino Linotype" panose="02040502050505030304" charset="0"/>
            </a:endParaRPr>
          </a:p>
        </p:txBody>
      </p:sp>
      <p:sp>
        <p:nvSpPr>
          <p:cNvPr id="15" name="Text"/>
          <p:cNvSpPr txBox="1"/>
          <p:nvPr/>
        </p:nvSpPr>
        <p:spPr>
          <a:xfrm>
            <a:off x="731520" y="4133088"/>
            <a:ext cx="3200400" cy="365760"/>
          </a:xfrm>
          <a:prstGeom prst="rect">
            <a:avLst/>
          </a:prstGeom>
          <a:noFill/>
        </p:spPr>
        <p:txBody>
          <a:bodyPr wrap="square" lIns="18288" tIns="18288" rIns="18288" bIns="18288" anchor="t">
            <a:spAutoFit/>
          </a:bodyPr>
          <a:lstStyle/>
          <a:p>
            <a:pPr>
              <a:spcAft>
                <a:spcPts val="400"/>
              </a:spcAft>
            </a:pPr>
            <a:r>
              <a:rPr sz="1400" b="1" i="0">
                <a:solidFill>
                  <a:srgbClr val="F2B77B"/>
                </a:solidFill>
                <a:latin typeface="Palatino Linotype" panose="02040502050505030304" charset="0"/>
                <a:cs typeface="Palatino Linotype" panose="02040502050505030304" charset="0"/>
              </a:rPr>
              <a:t>DO NOT FOLLOW IT IF</a:t>
            </a:r>
            <a:endParaRPr sz="1400" b="1" i="0">
              <a:solidFill>
                <a:srgbClr val="F2B77B"/>
              </a:solidFill>
              <a:latin typeface="Palatino Linotype" panose="02040502050505030304" charset="0"/>
              <a:cs typeface="Palatino Linotype" panose="02040502050505030304" charset="0"/>
            </a:endParaRPr>
          </a:p>
        </p:txBody>
      </p:sp>
      <p:sp>
        <p:nvSpPr>
          <p:cNvPr id="16" name="Text"/>
          <p:cNvSpPr txBox="1"/>
          <p:nvPr/>
        </p:nvSpPr>
        <p:spPr>
          <a:xfrm>
            <a:off x="731520" y="4526280"/>
            <a:ext cx="3200400" cy="1554480"/>
          </a:xfrm>
          <a:prstGeom prst="rect">
            <a:avLst/>
          </a:prstGeom>
          <a:noFill/>
        </p:spPr>
        <p:txBody>
          <a:bodyPr wrap="square" lIns="18288" tIns="18288" rIns="18288" bIns="18288" anchor="t">
            <a:spAutoFit/>
          </a:bodyPr>
          <a:lstStyle/>
          <a:p>
            <a:pPr>
              <a:spcAft>
                <a:spcPts val="400"/>
              </a:spcAft>
            </a:pPr>
            <a:r>
              <a:rPr sz="1600" b="0" i="0">
                <a:solidFill>
                  <a:srgbClr val="F6F3EC"/>
                </a:solidFill>
                <a:latin typeface="Palatino Linotype" panose="02040502050505030304" charset="0"/>
                <a:cs typeface="Palatino Linotype" panose="02040502050505030304" charset="0"/>
              </a:rPr>
              <a:t>tech’s 2015–19 edge came from a rally you do not expect to continue.</a:t>
            </a:r>
            <a:endParaRPr sz="1600" b="0" i="0">
              <a:solidFill>
                <a:srgbClr val="F6F3EC"/>
              </a:solidFill>
              <a:latin typeface="Palatino Linotype" panose="02040502050505030304" charset="0"/>
              <a:cs typeface="Palatino Linotype" panose="02040502050505030304" charset="0"/>
            </a:endParaRPr>
          </a:p>
        </p:txBody>
      </p:sp>
      <p:sp>
        <p:nvSpPr>
          <p:cNvPr id="17" name="Card"/>
          <p:cNvSpPr/>
          <p:nvPr/>
        </p:nvSpPr>
        <p:spPr>
          <a:xfrm>
            <a:off x="4297680" y="4023360"/>
            <a:ext cx="7315200" cy="214884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Palatino Linotype" panose="02040502050505030304" charset="0"/>
              <a:cs typeface="Palatino Linotype" panose="02040502050505030304" charset="0"/>
            </a:endParaRPr>
          </a:p>
        </p:txBody>
      </p:sp>
      <p:sp>
        <p:nvSpPr>
          <p:cNvPr id="18" name="Text"/>
          <p:cNvSpPr txBox="1"/>
          <p:nvPr/>
        </p:nvSpPr>
        <p:spPr>
          <a:xfrm>
            <a:off x="4480560" y="4133088"/>
            <a:ext cx="6949440" cy="365760"/>
          </a:xfrm>
          <a:prstGeom prst="rect">
            <a:avLst/>
          </a:prstGeom>
          <a:noFill/>
        </p:spPr>
        <p:txBody>
          <a:bodyPr wrap="square" lIns="18288" tIns="18288" rIns="18288" bIns="18288" anchor="t">
            <a:spAutoFit/>
          </a:bodyPr>
          <a:lstStyle/>
          <a:p>
            <a:pPr>
              <a:spcAft>
                <a:spcPts val="400"/>
              </a:spcAft>
            </a:pPr>
            <a:r>
              <a:rPr sz="1400" b="1" i="0">
                <a:solidFill>
                  <a:srgbClr val="4A5568"/>
                </a:solidFill>
                <a:latin typeface="Palatino Linotype" panose="02040502050505030304" charset="0"/>
                <a:cs typeface="Palatino Linotype" panose="02040502050505030304" charset="0"/>
              </a:rPr>
              <a:t>WHAT AI SUGGESTED, AND WHAT WE DID</a:t>
            </a:r>
            <a:endParaRPr sz="1400" b="1" i="0">
              <a:solidFill>
                <a:srgbClr val="4A5568"/>
              </a:solidFill>
              <a:latin typeface="Palatino Linotype" panose="02040502050505030304" charset="0"/>
              <a:cs typeface="Palatino Linotype" panose="02040502050505030304" charset="0"/>
            </a:endParaRPr>
          </a:p>
        </p:txBody>
      </p:sp>
      <p:sp>
        <p:nvSpPr>
          <p:cNvPr id="19" name="Text"/>
          <p:cNvSpPr txBox="1"/>
          <p:nvPr/>
        </p:nvSpPr>
        <p:spPr>
          <a:xfrm>
            <a:off x="4480560" y="4526280"/>
            <a:ext cx="6949440" cy="1554480"/>
          </a:xfrm>
          <a:prstGeom prst="rect">
            <a:avLst/>
          </a:prstGeom>
          <a:noFill/>
        </p:spPr>
        <p:txBody>
          <a:bodyPr wrap="square" lIns="18288" tIns="18288" rIns="18288" bIns="18288" anchor="t">
            <a:spAutoFit/>
          </a:bodyPr>
          <a:lstStyle/>
          <a:p>
            <a:pPr>
              <a:spcAft>
                <a:spcPts val="400"/>
              </a:spcAft>
            </a:pPr>
            <a:r>
              <a:rPr sz="1500" b="0" i="0">
                <a:solidFill>
                  <a:srgbClr val="4A5568"/>
                </a:solidFill>
                <a:latin typeface="Palatino Linotype" panose="02040502050505030304" charset="0"/>
                <a:cs typeface="Palatino Linotype" panose="02040502050505030304" charset="0"/>
              </a:rPr>
              <a:t>AI suggested the risk route, a robo-advisor client, age-based profiles and a binding tech cap. We chose the allocation route, the public fund, profiles chosen by savers, and the tech cap as a preference.</a:t>
            </a:r>
            <a:endParaRPr sz="1500" b="0" i="0">
              <a:solidFill>
                <a:srgbClr val="4A5568"/>
              </a:solidFill>
              <a:latin typeface="Palatino Linotype" panose="02040502050505030304" charset="0"/>
              <a:cs typeface="Palatino Linotype" panose="02040502050505030304" charset="0"/>
            </a:endParaRPr>
          </a:p>
        </p:txBody>
      </p:sp>
      <p:sp>
        <p:nvSpPr>
          <p:cNvPr id="20" name="Source"/>
          <p:cNvSpPr txBox="1"/>
          <p:nvPr/>
        </p:nvSpPr>
        <p:spPr>
          <a:xfrm>
            <a:off x="548640" y="6355080"/>
            <a:ext cx="10424160" cy="274320"/>
          </a:xfrm>
          <a:prstGeom prst="rect">
            <a:avLst/>
          </a:prstGeom>
          <a:noFill/>
        </p:spPr>
        <p:txBody>
          <a:bodyPr wrap="square" lIns="18288" tIns="18288" rIns="18288" bIns="18288" anchor="t">
            <a:spAutoFit/>
          </a:bodyPr>
          <a:lstStyle/>
          <a:p>
            <a:pPr>
              <a:spcAft>
                <a:spcPts val="400"/>
              </a:spcAft>
            </a:pPr>
            <a:r>
              <a:rPr sz="1100" b="0" i="0">
                <a:solidFill>
                  <a:srgbClr val="8A94A6"/>
                </a:solidFill>
                <a:latin typeface="Palatino Linotype" panose="02040502050505030304" charset="0"/>
                <a:cs typeface="Palatino Linotype" panose="02040502050505030304" charset="0"/>
              </a:rPr>
              <a:t>Same content as docs/decision_card.md · printed as the A5 Decision Card</a:t>
            </a:r>
            <a:endParaRPr sz="1100" b="0" i="0">
              <a:solidFill>
                <a:srgbClr val="8A94A6"/>
              </a:solidFill>
              <a:latin typeface="Palatino Linotype" panose="02040502050505030304" charset="0"/>
              <a:cs typeface="Palatino Linotype" panose="02040502050505030304" charset="0"/>
            </a:endParaRPr>
          </a:p>
        </p:txBody>
      </p:sp>
      <p:sp>
        <p:nvSpPr>
          <p:cNvPr id="21" name="Page"/>
          <p:cNvSpPr txBox="1"/>
          <p:nvPr/>
        </p:nvSpPr>
        <p:spPr>
          <a:xfrm>
            <a:off x="11155680" y="6355080"/>
            <a:ext cx="457200" cy="274320"/>
          </a:xfrm>
          <a:prstGeom prst="rect">
            <a:avLst/>
          </a:prstGeom>
          <a:noFill/>
        </p:spPr>
        <p:txBody>
          <a:bodyPr wrap="square" lIns="18288" tIns="18288" rIns="18288" bIns="18288" anchor="t">
            <a:spAutoFit/>
          </a:bodyPr>
          <a:lstStyle/>
          <a:p>
            <a:pPr algn="r">
              <a:spcAft>
                <a:spcPts val="400"/>
              </a:spcAft>
            </a:pPr>
            <a:r>
              <a:rPr sz="1100" b="0" i="0">
                <a:solidFill>
                  <a:srgbClr val="8A94A6"/>
                </a:solidFill>
                <a:latin typeface="Palatino Linotype" panose="02040502050505030304" charset="0"/>
                <a:cs typeface="Palatino Linotype" panose="02040502050505030304" charset="0"/>
              </a:rPr>
              <a:t>16</a:t>
            </a:r>
            <a:endParaRPr sz="1100" b="0" i="0">
              <a:solidFill>
                <a:srgbClr val="8A94A6"/>
              </a:solidFill>
              <a:latin typeface="Palatino Linotype" panose="02040502050505030304" charset="0"/>
              <a:cs typeface="Palatino Linotype" panose="020405020505050303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2" name="Grafik 21"/>
          <p:cNvPicPr>
            <a:picLocks noChangeAspect="1"/>
          </p:cNvPicPr>
          <p:nvPr>
            <p:custDataLst>
              <p:tags r:id="rId1"/>
            </p:custDataLst>
          </p:nvPr>
        </p:nvPicPr>
        <p:blipFill>
          <a:blip r:embed="rId2"/>
          <a:stretch>
            <a:fillRect/>
          </a:stretch>
        </p:blipFill>
        <p:spPr>
          <a:xfrm>
            <a:off x="49619" y="1492250"/>
            <a:ext cx="12142381" cy="3873500"/>
          </a:xfrm>
          <a:prstGeom prst="rect">
            <a:avLst/>
          </a:prstGeom>
        </p:spPr>
      </p:pic>
      <p:sp>
        <p:nvSpPr>
          <p:cNvPr id="3" name="Text 1"/>
          <p:cNvSpPr>
            <a:spLocks noGrp="1"/>
          </p:cNvSpPr>
          <p:nvPr>
            <p:ph type="title"/>
          </p:nvPr>
        </p:nvSpPr>
        <p:spPr>
          <a:xfrm>
            <a:off x="812800" y="1026120"/>
            <a:ext cx="10883392" cy="528290"/>
          </a:xfrm>
          <a:prstGeom prst="rect">
            <a:avLst/>
          </a:prstGeom>
          <a:noFill/>
        </p:spPr>
        <p:txBody>
          <a:bodyPr wrap="square" lIns="0" tIns="0" rIns="0" bIns="0" rtlCol="0" anchor="t">
            <a:normAutofit fontScale="90000"/>
          </a:bodyPr>
          <a:lstStyle/>
          <a:p>
            <a:pPr marL="0" indent="0" algn="l">
              <a:lnSpc>
                <a:spcPts val="3960"/>
              </a:lnSpc>
              <a:buNone/>
            </a:pPr>
            <a:r>
              <a:rPr lang="en-US" altLang="zh-CN" sz="3000" b="1" i="0" dirty="0">
                <a:solidFill>
                  <a:schemeClr val="bg1"/>
                </a:solidFill>
                <a:latin typeface="Palatino Linotype" panose="02040502050505030304" charset="0"/>
                <a:ea typeface="Source Serif 4" pitchFamily="34" charset="-122"/>
                <a:cs typeface="Palatino Linotype" panose="02040502050505030304" charset="0"/>
              </a:rPr>
              <a:t>Policy Recommendations</a:t>
            </a:r>
            <a:br>
              <a:rPr lang="en-US" altLang="zh-CN" sz="3000" b="1" i="0" dirty="0">
                <a:solidFill>
                  <a:schemeClr val="bg1"/>
                </a:solidFill>
                <a:latin typeface="Palatino Linotype" panose="02040502050505030304" charset="0"/>
                <a:ea typeface="Source Serif 4" pitchFamily="34" charset="-122"/>
                <a:cs typeface="Palatino Linotype" panose="02040502050505030304" charset="0"/>
              </a:rPr>
            </a:br>
            <a:endParaRPr lang="en-US" altLang="zh-CN" sz="3000" b="1" i="0" dirty="0">
              <a:solidFill>
                <a:schemeClr val="bg1"/>
              </a:solidFill>
              <a:latin typeface="Palatino Linotype" panose="02040502050505030304" charset="0"/>
              <a:ea typeface="Source Serif 4" pitchFamily="34" charset="-122"/>
              <a:cs typeface="Palatino Linotype" panose="02040502050505030304" charset="0"/>
            </a:endParaRPr>
          </a:p>
        </p:txBody>
      </p:sp>
      <p:sp>
        <p:nvSpPr>
          <p:cNvPr id="4" name="Shape 2"/>
          <p:cNvSpPr/>
          <p:nvPr>
            <p:custDataLst>
              <p:tags r:id="rId3"/>
            </p:custDataLst>
          </p:nvPr>
        </p:nvSpPr>
        <p:spPr>
          <a:xfrm>
            <a:off x="812800" y="1884611"/>
            <a:ext cx="3352800" cy="3847802"/>
          </a:xfrm>
          <a:prstGeom prst="roundRect">
            <a:avLst>
              <a:gd name="adj" fmla="val 2273"/>
            </a:avLst>
          </a:prstGeom>
          <a:solidFill>
            <a:srgbClr val="FFFFFF"/>
          </a:solidFill>
        </p:spPr>
        <p:txBody>
          <a:bodyPr/>
          <a:lstStyle/>
          <a:p>
            <a:endParaRPr lang="en-US">
              <a:latin typeface="Palatino Linotype" panose="02040502050505030304" charset="0"/>
              <a:cs typeface="Palatino Linotype" panose="02040502050505030304" charset="0"/>
            </a:endParaRPr>
          </a:p>
        </p:txBody>
      </p:sp>
      <p:sp>
        <p:nvSpPr>
          <p:cNvPr id="5" name="Shape 3"/>
          <p:cNvSpPr/>
          <p:nvPr>
            <p:custDataLst>
              <p:tags r:id="rId4"/>
            </p:custDataLst>
          </p:nvPr>
        </p:nvSpPr>
        <p:spPr>
          <a:xfrm>
            <a:off x="812800" y="1884611"/>
            <a:ext cx="3352800" cy="3847802"/>
          </a:xfrm>
          <a:custGeom>
            <a:avLst/>
            <a:gdLst/>
            <a:ahLst/>
            <a:cxnLst/>
            <a:rect l="l" t="t" r="r" b="b"/>
            <a:pathLst>
              <a:path w="3352800" h="3847802">
                <a:moveTo>
                  <a:pt x="0" y="76200"/>
                </a:moveTo>
                <a:lnTo>
                  <a:pt x="0" y="76200"/>
                </a:lnTo>
                <a:arcTo wR="76200" hR="76200" stAng="10800000" swAng="5400000"/>
                <a:lnTo>
                  <a:pt x="3276600" y="0"/>
                </a:lnTo>
                <a:arcTo wR="76200" hR="76200" stAng="16200000" swAng="5400000"/>
                <a:lnTo>
                  <a:pt x="3352800" y="76200"/>
                </a:lnTo>
                <a:arcTo wR="76200" hR="38100" stAng="0" swAng="-5400000"/>
                <a:lnTo>
                  <a:pt x="76200" y="38100"/>
                </a:lnTo>
                <a:arcTo wR="76200" hR="38100" stAng="16200000" swAng="-5400000"/>
                <a:close/>
              </a:path>
            </a:pathLst>
          </a:custGeom>
          <a:solidFill>
            <a:srgbClr val="2F6690"/>
          </a:solidFill>
        </p:spPr>
        <p:txBody>
          <a:bodyPr/>
          <a:lstStyle/>
          <a:p>
            <a:endParaRPr lang="en-US">
              <a:latin typeface="Palatino Linotype" panose="02040502050505030304" charset="0"/>
              <a:cs typeface="Palatino Linotype" panose="02040502050505030304" charset="0"/>
            </a:endParaRPr>
          </a:p>
        </p:txBody>
      </p:sp>
      <p:sp>
        <p:nvSpPr>
          <p:cNvPr id="6" name="Text 4"/>
          <p:cNvSpPr/>
          <p:nvPr>
            <p:custDataLst>
              <p:tags r:id="rId5"/>
            </p:custDataLst>
          </p:nvPr>
        </p:nvSpPr>
        <p:spPr>
          <a:xfrm>
            <a:off x="1066800" y="2176711"/>
            <a:ext cx="2930144" cy="381000"/>
          </a:xfrm>
          <a:prstGeom prst="rect">
            <a:avLst/>
          </a:prstGeom>
          <a:noFill/>
        </p:spPr>
        <p:txBody>
          <a:bodyPr wrap="square" lIns="0" tIns="0" rIns="0" bIns="0" rtlCol="0" anchor="t">
            <a:normAutofit/>
          </a:bodyPr>
          <a:lstStyle/>
          <a:p>
            <a:pPr marL="0" indent="0" algn="l">
              <a:lnSpc>
                <a:spcPts val="2800"/>
              </a:lnSpc>
              <a:buNone/>
            </a:pPr>
            <a:r>
              <a:rPr lang="en-US" sz="2800" b="1" dirty="0">
                <a:solidFill>
                  <a:srgbClr val="2F6690"/>
                </a:solidFill>
                <a:latin typeface="Palatino Linotype" panose="02040502050505030304" charset="0"/>
                <a:ea typeface="Source Serif 4" pitchFamily="34" charset="-122"/>
                <a:cs typeface="Palatino Linotype" panose="02040502050505030304" charset="0"/>
              </a:rPr>
              <a:t>01</a:t>
            </a:r>
            <a:endParaRPr lang="en-US" sz="2800" b="1" dirty="0">
              <a:solidFill>
                <a:srgbClr val="2F6690"/>
              </a:solidFill>
              <a:latin typeface="Palatino Linotype" panose="02040502050505030304" charset="0"/>
              <a:ea typeface="Source Serif 4" pitchFamily="34" charset="-122"/>
              <a:cs typeface="Palatino Linotype" panose="02040502050505030304" charset="0"/>
            </a:endParaRPr>
          </a:p>
        </p:txBody>
      </p:sp>
      <p:sp>
        <p:nvSpPr>
          <p:cNvPr id="7" name="Text 5"/>
          <p:cNvSpPr/>
          <p:nvPr>
            <p:custDataLst>
              <p:tags r:id="rId6"/>
            </p:custDataLst>
          </p:nvPr>
        </p:nvSpPr>
        <p:spPr>
          <a:xfrm>
            <a:off x="1066800" y="2659311"/>
            <a:ext cx="2930144" cy="543520"/>
          </a:xfrm>
          <a:prstGeom prst="rect">
            <a:avLst/>
          </a:prstGeom>
          <a:noFill/>
        </p:spPr>
        <p:txBody>
          <a:bodyPr wrap="square" lIns="0" tIns="0" rIns="0" bIns="0" rtlCol="0" anchor="t">
            <a:normAutofit/>
          </a:bodyPr>
          <a:lstStyle/>
          <a:p>
            <a:pPr marL="0" indent="0" algn="l">
              <a:lnSpc>
                <a:spcPts val="2040"/>
              </a:lnSpc>
              <a:buNone/>
            </a:pPr>
            <a:r>
              <a:rPr lang="en-US" altLang="zh-CN" sz="1700" b="1" dirty="0">
                <a:solidFill>
                  <a:srgbClr val="14213D"/>
                </a:solidFill>
                <a:latin typeface="Palatino Linotype" panose="02040502050505030304" charset="0"/>
                <a:ea typeface="IBM Plex Sans" pitchFamily="34" charset="-122"/>
                <a:cs typeface="Palatino Linotype" panose="02040502050505030304" charset="0"/>
              </a:rPr>
              <a:t>Codify model governance in the guidelines</a:t>
            </a:r>
            <a:endParaRPr lang="en-US" altLang="zh-CN" sz="1700" b="1" dirty="0">
              <a:solidFill>
                <a:srgbClr val="14213D"/>
              </a:solidFill>
              <a:latin typeface="Palatino Linotype" panose="02040502050505030304" charset="0"/>
              <a:ea typeface="IBM Plex Sans" pitchFamily="34" charset="-122"/>
              <a:cs typeface="Palatino Linotype" panose="02040502050505030304" charset="0"/>
            </a:endParaRPr>
          </a:p>
          <a:p>
            <a:pPr marL="0" indent="0" algn="l">
              <a:lnSpc>
                <a:spcPts val="2040"/>
              </a:lnSpc>
              <a:buNone/>
            </a:pPr>
            <a:endParaRPr lang="en-US" altLang="zh-CN" sz="1700" b="1" dirty="0">
              <a:solidFill>
                <a:srgbClr val="14213D"/>
              </a:solidFill>
              <a:latin typeface="Palatino Linotype" panose="02040502050505030304" charset="0"/>
              <a:ea typeface="IBM Plex Sans" pitchFamily="34" charset="-122"/>
              <a:cs typeface="Palatino Linotype" panose="02040502050505030304" charset="0"/>
            </a:endParaRPr>
          </a:p>
        </p:txBody>
      </p:sp>
      <p:sp>
        <p:nvSpPr>
          <p:cNvPr id="8" name="Text 6"/>
          <p:cNvSpPr/>
          <p:nvPr>
            <p:custDataLst>
              <p:tags r:id="rId7"/>
            </p:custDataLst>
          </p:nvPr>
        </p:nvSpPr>
        <p:spPr>
          <a:xfrm>
            <a:off x="1066800" y="3304431"/>
            <a:ext cx="2930144" cy="1518741"/>
          </a:xfrm>
          <a:prstGeom prst="rect">
            <a:avLst/>
          </a:prstGeom>
          <a:noFill/>
        </p:spPr>
        <p:txBody>
          <a:bodyPr wrap="square" lIns="0" tIns="0" rIns="0" bIns="0" rtlCol="0" anchor="t">
            <a:normAutofit/>
          </a:bodyPr>
          <a:lstStyle/>
          <a:p>
            <a:pPr marL="0" indent="0" algn="l">
              <a:lnSpc>
                <a:spcPts val="1960"/>
              </a:lnSpc>
              <a:buNone/>
            </a:pPr>
            <a:r>
              <a:rPr lang="en-US" altLang="zh-CN" sz="1400" dirty="0">
                <a:solidFill>
                  <a:srgbClr val="3D4A5C"/>
                </a:solidFill>
                <a:latin typeface="Palatino Linotype" panose="02040502050505030304" charset="0"/>
                <a:ea typeface="IBM Plex Sans" pitchFamily="34" charset="-122"/>
                <a:cs typeface="Palatino Linotype" panose="02040502050505030304" charset="0"/>
              </a:rPr>
              <a:t>Optimiser output is treated as a proposal for the committee to approve. Binding limits are verified outside the model; results within estimation uncertainty are referred for review.</a:t>
            </a:r>
            <a:endParaRPr lang="en-US" altLang="zh-CN" sz="1400" dirty="0">
              <a:solidFill>
                <a:srgbClr val="3D4A5C"/>
              </a:solidFill>
              <a:latin typeface="Palatino Linotype" panose="02040502050505030304" charset="0"/>
              <a:ea typeface="IBM Plex Sans" pitchFamily="34" charset="-122"/>
              <a:cs typeface="Palatino Linotype" panose="02040502050505030304" charset="0"/>
            </a:endParaRPr>
          </a:p>
          <a:p>
            <a:pPr marL="0" indent="0" algn="l">
              <a:lnSpc>
                <a:spcPts val="1960"/>
              </a:lnSpc>
              <a:buNone/>
            </a:pPr>
            <a:endParaRPr lang="en-US" altLang="zh-CN" sz="1400" dirty="0">
              <a:solidFill>
                <a:srgbClr val="3D4A5C"/>
              </a:solidFill>
              <a:latin typeface="Palatino Linotype" panose="02040502050505030304" charset="0"/>
              <a:ea typeface="IBM Plex Sans" pitchFamily="34" charset="-122"/>
              <a:cs typeface="Palatino Linotype" panose="02040502050505030304" charset="0"/>
            </a:endParaRPr>
          </a:p>
        </p:txBody>
      </p:sp>
      <p:sp>
        <p:nvSpPr>
          <p:cNvPr id="9" name="Text 7"/>
          <p:cNvSpPr/>
          <p:nvPr>
            <p:custDataLst>
              <p:tags r:id="rId8"/>
            </p:custDataLst>
          </p:nvPr>
        </p:nvSpPr>
        <p:spPr>
          <a:xfrm>
            <a:off x="1066800" y="4846320"/>
            <a:ext cx="2930144" cy="685800"/>
          </a:xfrm>
          <a:prstGeom prst="rect">
            <a:avLst/>
          </a:prstGeom>
          <a:noFill/>
        </p:spPr>
        <p:txBody>
          <a:bodyPr wrap="square" lIns="0" tIns="0" rIns="0" bIns="0" rtlCol="0" anchor="t"/>
          <a:lstStyle/>
          <a:p>
            <a:pPr marL="0" indent="0" algn="l">
              <a:lnSpc>
                <a:spcPts val="1680"/>
              </a:lnSpc>
              <a:buNone/>
            </a:pPr>
            <a:r>
              <a:rPr lang="en-US" altLang="zh-CN" sz="1200" dirty="0">
                <a:latin typeface="Palatino Linotype" panose="02040502050505030304" charset="0"/>
                <a:cs typeface="Palatino Linotype" panose="02040502050505030304" charset="0"/>
              </a:rPr>
              <a:t>Who: Investment committee</a:t>
            </a:r>
            <a:endParaRPr lang="en-US" altLang="zh-CN" sz="1200" dirty="0">
              <a:latin typeface="Palatino Linotype" panose="02040502050505030304" charset="0"/>
              <a:cs typeface="Palatino Linotype" panose="02040502050505030304" charset="0"/>
            </a:endParaRPr>
          </a:p>
          <a:p>
            <a:pPr marL="0" indent="0" algn="l">
              <a:lnSpc>
                <a:spcPts val="1680"/>
              </a:lnSpc>
              <a:buNone/>
            </a:pPr>
            <a:r>
              <a:rPr lang="en-US" altLang="zh-CN" sz="1200" dirty="0">
                <a:latin typeface="Palatino Linotype" panose="02040502050505030304" charset="0"/>
                <a:cs typeface="Palatino Linotype" panose="02040502050505030304" charset="0"/>
              </a:rPr>
              <a:t>When: Before investment begins in 2028</a:t>
            </a:r>
            <a:endParaRPr lang="en-US" altLang="zh-CN" sz="1200" dirty="0">
              <a:latin typeface="Palatino Linotype" panose="02040502050505030304" charset="0"/>
              <a:cs typeface="Palatino Linotype" panose="02040502050505030304" charset="0"/>
            </a:endParaRPr>
          </a:p>
          <a:p>
            <a:pPr marL="0" indent="0" algn="l">
              <a:lnSpc>
                <a:spcPts val="1680"/>
              </a:lnSpc>
              <a:buNone/>
            </a:pPr>
            <a:endParaRPr lang="en-US" altLang="zh-CN" sz="1200" dirty="0">
              <a:latin typeface="Palatino Linotype" panose="02040502050505030304" charset="0"/>
              <a:cs typeface="Palatino Linotype" panose="02040502050505030304" charset="0"/>
            </a:endParaRPr>
          </a:p>
        </p:txBody>
      </p:sp>
      <p:sp>
        <p:nvSpPr>
          <p:cNvPr id="10" name="Shape 8"/>
          <p:cNvSpPr/>
          <p:nvPr>
            <p:custDataLst>
              <p:tags r:id="rId9"/>
            </p:custDataLst>
          </p:nvPr>
        </p:nvSpPr>
        <p:spPr>
          <a:xfrm>
            <a:off x="4419600" y="1884611"/>
            <a:ext cx="3352800" cy="3847802"/>
          </a:xfrm>
          <a:prstGeom prst="roundRect">
            <a:avLst>
              <a:gd name="adj" fmla="val 2273"/>
            </a:avLst>
          </a:prstGeom>
          <a:solidFill>
            <a:srgbClr val="FFFFFF"/>
          </a:solidFill>
        </p:spPr>
        <p:txBody>
          <a:bodyPr/>
          <a:lstStyle/>
          <a:p>
            <a:endParaRPr lang="en-US">
              <a:latin typeface="Palatino Linotype" panose="02040502050505030304" charset="0"/>
              <a:cs typeface="Palatino Linotype" panose="02040502050505030304" charset="0"/>
            </a:endParaRPr>
          </a:p>
        </p:txBody>
      </p:sp>
      <p:sp>
        <p:nvSpPr>
          <p:cNvPr id="11" name="Shape 9"/>
          <p:cNvSpPr/>
          <p:nvPr>
            <p:custDataLst>
              <p:tags r:id="rId10"/>
            </p:custDataLst>
          </p:nvPr>
        </p:nvSpPr>
        <p:spPr>
          <a:xfrm>
            <a:off x="4419600" y="1884611"/>
            <a:ext cx="3352800" cy="3847802"/>
          </a:xfrm>
          <a:custGeom>
            <a:avLst/>
            <a:gdLst/>
            <a:ahLst/>
            <a:cxnLst/>
            <a:rect l="l" t="t" r="r" b="b"/>
            <a:pathLst>
              <a:path w="3352800" h="3847802">
                <a:moveTo>
                  <a:pt x="0" y="76200"/>
                </a:moveTo>
                <a:lnTo>
                  <a:pt x="0" y="76200"/>
                </a:lnTo>
                <a:arcTo wR="76200" hR="76200" stAng="10800000" swAng="5400000"/>
                <a:lnTo>
                  <a:pt x="3276600" y="0"/>
                </a:lnTo>
                <a:arcTo wR="76200" hR="76200" stAng="16200000" swAng="5400000"/>
                <a:lnTo>
                  <a:pt x="3352800" y="76200"/>
                </a:lnTo>
                <a:arcTo wR="76200" hR="38100" stAng="0" swAng="-5400000"/>
                <a:lnTo>
                  <a:pt x="76200" y="38100"/>
                </a:lnTo>
                <a:arcTo wR="76200" hR="38100" stAng="16200000" swAng="-5400000"/>
                <a:close/>
              </a:path>
            </a:pathLst>
          </a:custGeom>
          <a:solidFill>
            <a:srgbClr val="2F6690"/>
          </a:solidFill>
        </p:spPr>
        <p:txBody>
          <a:bodyPr/>
          <a:lstStyle/>
          <a:p>
            <a:endParaRPr lang="en-US">
              <a:latin typeface="Palatino Linotype" panose="02040502050505030304" charset="0"/>
              <a:cs typeface="Palatino Linotype" panose="02040502050505030304" charset="0"/>
            </a:endParaRPr>
          </a:p>
        </p:txBody>
      </p:sp>
      <p:sp>
        <p:nvSpPr>
          <p:cNvPr id="12" name="Text 10"/>
          <p:cNvSpPr/>
          <p:nvPr>
            <p:custDataLst>
              <p:tags r:id="rId11"/>
            </p:custDataLst>
          </p:nvPr>
        </p:nvSpPr>
        <p:spPr>
          <a:xfrm>
            <a:off x="4673600" y="2176711"/>
            <a:ext cx="2930144" cy="381000"/>
          </a:xfrm>
          <a:prstGeom prst="rect">
            <a:avLst/>
          </a:prstGeom>
          <a:noFill/>
        </p:spPr>
        <p:txBody>
          <a:bodyPr wrap="square" lIns="0" tIns="0" rIns="0" bIns="0" rtlCol="0" anchor="t">
            <a:normAutofit/>
          </a:bodyPr>
          <a:lstStyle/>
          <a:p>
            <a:pPr marL="0" indent="0" algn="l">
              <a:lnSpc>
                <a:spcPts val="2800"/>
              </a:lnSpc>
              <a:buNone/>
            </a:pPr>
            <a:r>
              <a:rPr lang="en-US" sz="2800" b="1" dirty="0">
                <a:solidFill>
                  <a:srgbClr val="2F6690"/>
                </a:solidFill>
                <a:latin typeface="Palatino Linotype" panose="02040502050505030304" charset="0"/>
                <a:ea typeface="Source Serif 4" pitchFamily="34" charset="-122"/>
                <a:cs typeface="Palatino Linotype" panose="02040502050505030304" charset="0"/>
              </a:rPr>
              <a:t>02</a:t>
            </a:r>
            <a:endParaRPr lang="en-US" sz="2800" b="1" dirty="0">
              <a:solidFill>
                <a:srgbClr val="2F6690"/>
              </a:solidFill>
              <a:latin typeface="Palatino Linotype" panose="02040502050505030304" charset="0"/>
              <a:ea typeface="Source Serif 4" pitchFamily="34" charset="-122"/>
              <a:cs typeface="Palatino Linotype" panose="02040502050505030304" charset="0"/>
            </a:endParaRPr>
          </a:p>
        </p:txBody>
      </p:sp>
      <p:sp>
        <p:nvSpPr>
          <p:cNvPr id="13" name="Text 11"/>
          <p:cNvSpPr/>
          <p:nvPr>
            <p:custDataLst>
              <p:tags r:id="rId12"/>
            </p:custDataLst>
          </p:nvPr>
        </p:nvSpPr>
        <p:spPr>
          <a:xfrm>
            <a:off x="4673600" y="2659311"/>
            <a:ext cx="2930144" cy="543520"/>
          </a:xfrm>
          <a:prstGeom prst="rect">
            <a:avLst/>
          </a:prstGeom>
          <a:noFill/>
        </p:spPr>
        <p:txBody>
          <a:bodyPr wrap="square" lIns="0" tIns="0" rIns="0" bIns="0" rtlCol="0" anchor="t">
            <a:normAutofit/>
          </a:bodyPr>
          <a:lstStyle/>
          <a:p>
            <a:pPr marL="0" indent="0" algn="l">
              <a:lnSpc>
                <a:spcPts val="2040"/>
              </a:lnSpc>
              <a:buNone/>
            </a:pPr>
            <a:r>
              <a:rPr lang="en-US" altLang="zh-CN" sz="1700" b="1" dirty="0">
                <a:solidFill>
                  <a:srgbClr val="14213D"/>
                </a:solidFill>
                <a:latin typeface="Palatino Linotype" panose="02040502050505030304" charset="0"/>
                <a:ea typeface="IBM Plex Sans" pitchFamily="34" charset="-122"/>
                <a:cs typeface="Palatino Linotype" panose="02040502050505030304" charset="0"/>
              </a:rPr>
              <a:t>Define the default profile in law</a:t>
            </a:r>
            <a:endParaRPr lang="en-US" altLang="zh-CN" sz="1700" b="1" dirty="0">
              <a:solidFill>
                <a:srgbClr val="14213D"/>
              </a:solidFill>
              <a:latin typeface="Palatino Linotype" panose="02040502050505030304" charset="0"/>
              <a:ea typeface="IBM Plex Sans" pitchFamily="34" charset="-122"/>
              <a:cs typeface="Palatino Linotype" panose="02040502050505030304" charset="0"/>
            </a:endParaRPr>
          </a:p>
          <a:p>
            <a:pPr marL="0" indent="0" algn="l">
              <a:lnSpc>
                <a:spcPts val="2040"/>
              </a:lnSpc>
              <a:buNone/>
            </a:pPr>
            <a:endParaRPr lang="en-US" altLang="zh-CN" sz="1700" b="1" dirty="0">
              <a:solidFill>
                <a:srgbClr val="14213D"/>
              </a:solidFill>
              <a:latin typeface="Palatino Linotype" panose="02040502050505030304" charset="0"/>
              <a:ea typeface="IBM Plex Sans" pitchFamily="34" charset="-122"/>
              <a:cs typeface="Palatino Linotype" panose="02040502050505030304" charset="0"/>
            </a:endParaRPr>
          </a:p>
        </p:txBody>
      </p:sp>
      <p:sp>
        <p:nvSpPr>
          <p:cNvPr id="14" name="Text 12"/>
          <p:cNvSpPr/>
          <p:nvPr>
            <p:custDataLst>
              <p:tags r:id="rId13"/>
            </p:custDataLst>
          </p:nvPr>
        </p:nvSpPr>
        <p:spPr>
          <a:xfrm>
            <a:off x="4673600" y="3304431"/>
            <a:ext cx="2930144" cy="1269851"/>
          </a:xfrm>
          <a:prstGeom prst="rect">
            <a:avLst/>
          </a:prstGeom>
          <a:noFill/>
        </p:spPr>
        <p:txBody>
          <a:bodyPr wrap="square" lIns="0" tIns="0" rIns="0" bIns="0" rtlCol="0" anchor="t">
            <a:normAutofit/>
          </a:bodyPr>
          <a:lstStyle/>
          <a:p>
            <a:pPr marL="0" indent="0" algn="l">
              <a:lnSpc>
                <a:spcPts val="1960"/>
              </a:lnSpc>
              <a:buNone/>
            </a:pPr>
            <a:r>
              <a:rPr lang="en-US" altLang="zh-CN" sz="1400" dirty="0">
                <a:solidFill>
                  <a:srgbClr val="3D4A5C"/>
                </a:solidFill>
                <a:latin typeface="Palatino Linotype" panose="02040502050505030304" charset="0"/>
                <a:ea typeface="IBM Plex Sans" pitchFamily="34" charset="-122"/>
                <a:cs typeface="Palatino Linotype" panose="02040502050505030304" charset="0"/>
              </a:rPr>
              <a:t>The implementing law should specify and justify the profile for savers who make no active choice, with standardised disclosure of each profile’s loss limit and record.</a:t>
            </a:r>
            <a:endParaRPr lang="en-US" altLang="zh-CN" sz="1400" dirty="0">
              <a:solidFill>
                <a:srgbClr val="3D4A5C"/>
              </a:solidFill>
              <a:latin typeface="Palatino Linotype" panose="02040502050505030304" charset="0"/>
              <a:ea typeface="IBM Plex Sans" pitchFamily="34" charset="-122"/>
              <a:cs typeface="Palatino Linotype" panose="02040502050505030304" charset="0"/>
            </a:endParaRPr>
          </a:p>
          <a:p>
            <a:pPr marL="0" indent="0" algn="l">
              <a:lnSpc>
                <a:spcPts val="1960"/>
              </a:lnSpc>
              <a:buNone/>
            </a:pPr>
            <a:endParaRPr lang="en-US" altLang="zh-CN" sz="1400" dirty="0">
              <a:solidFill>
                <a:srgbClr val="3D4A5C"/>
              </a:solidFill>
              <a:latin typeface="Palatino Linotype" panose="02040502050505030304" charset="0"/>
              <a:ea typeface="IBM Plex Sans" pitchFamily="34" charset="-122"/>
              <a:cs typeface="Palatino Linotype" panose="02040502050505030304" charset="0"/>
            </a:endParaRPr>
          </a:p>
        </p:txBody>
      </p:sp>
      <p:sp>
        <p:nvSpPr>
          <p:cNvPr id="15" name="Text 13"/>
          <p:cNvSpPr/>
          <p:nvPr>
            <p:custDataLst>
              <p:tags r:id="rId14"/>
            </p:custDataLst>
          </p:nvPr>
        </p:nvSpPr>
        <p:spPr>
          <a:xfrm>
            <a:off x="4673600" y="4846320"/>
            <a:ext cx="2930144" cy="685800"/>
          </a:xfrm>
          <a:prstGeom prst="rect">
            <a:avLst/>
          </a:prstGeom>
          <a:noFill/>
        </p:spPr>
        <p:txBody>
          <a:bodyPr wrap="square" lIns="0" tIns="0" rIns="0" bIns="0" rtlCol="0" anchor="t"/>
          <a:lstStyle/>
          <a:p>
            <a:pPr marL="0" indent="0" algn="l">
              <a:lnSpc>
                <a:spcPts val="1680"/>
              </a:lnSpc>
              <a:buNone/>
            </a:pPr>
            <a:r>
              <a:rPr lang="en-US" altLang="zh-CN" sz="1200" dirty="0">
                <a:latin typeface="Palatino Linotype" panose="02040502050505030304" charset="0"/>
                <a:cs typeface="Palatino Linotype" panose="02040502050505030304" charset="0"/>
              </a:rPr>
              <a:t>Who: BMAS and the fund</a:t>
            </a:r>
            <a:endParaRPr lang="en-US" altLang="zh-CN" sz="1200" dirty="0">
              <a:latin typeface="Palatino Linotype" panose="02040502050505030304" charset="0"/>
              <a:cs typeface="Palatino Linotype" panose="02040502050505030304" charset="0"/>
            </a:endParaRPr>
          </a:p>
          <a:p>
            <a:pPr marL="0" indent="0" algn="l">
              <a:lnSpc>
                <a:spcPts val="1680"/>
              </a:lnSpc>
              <a:buNone/>
            </a:pPr>
            <a:r>
              <a:rPr lang="en-US" altLang="zh-CN" sz="1200" dirty="0">
                <a:latin typeface="Palatino Linotype" panose="02040502050505030304" charset="0"/>
                <a:cs typeface="Palatino Linotype" panose="02040502050505030304" charset="0"/>
              </a:rPr>
              <a:t>When: Implementing law, early 2027</a:t>
            </a:r>
            <a:endParaRPr lang="en-US" altLang="zh-CN" sz="1200" dirty="0">
              <a:latin typeface="Palatino Linotype" panose="02040502050505030304" charset="0"/>
              <a:cs typeface="Palatino Linotype" panose="02040502050505030304" charset="0"/>
            </a:endParaRPr>
          </a:p>
          <a:p>
            <a:pPr marL="0" indent="0" algn="l">
              <a:lnSpc>
                <a:spcPts val="1680"/>
              </a:lnSpc>
              <a:buNone/>
            </a:pPr>
            <a:endParaRPr lang="en-US" altLang="zh-CN" sz="1200" dirty="0">
              <a:latin typeface="Palatino Linotype" panose="02040502050505030304" charset="0"/>
              <a:cs typeface="Palatino Linotype" panose="02040502050505030304" charset="0"/>
            </a:endParaRPr>
          </a:p>
        </p:txBody>
      </p:sp>
      <p:sp>
        <p:nvSpPr>
          <p:cNvPr id="16" name="Shape 14"/>
          <p:cNvSpPr/>
          <p:nvPr>
            <p:custDataLst>
              <p:tags r:id="rId15"/>
            </p:custDataLst>
          </p:nvPr>
        </p:nvSpPr>
        <p:spPr>
          <a:xfrm>
            <a:off x="8026400" y="1884611"/>
            <a:ext cx="3352800" cy="3847802"/>
          </a:xfrm>
          <a:prstGeom prst="roundRect">
            <a:avLst>
              <a:gd name="adj" fmla="val 2273"/>
            </a:avLst>
          </a:prstGeom>
          <a:solidFill>
            <a:srgbClr val="FFFFFF"/>
          </a:solidFill>
        </p:spPr>
        <p:txBody>
          <a:bodyPr/>
          <a:lstStyle/>
          <a:p>
            <a:endParaRPr lang="en-US">
              <a:latin typeface="Palatino Linotype" panose="02040502050505030304" charset="0"/>
              <a:cs typeface="Palatino Linotype" panose="02040502050505030304" charset="0"/>
            </a:endParaRPr>
          </a:p>
        </p:txBody>
      </p:sp>
      <p:sp>
        <p:nvSpPr>
          <p:cNvPr id="17" name="Shape 15"/>
          <p:cNvSpPr/>
          <p:nvPr>
            <p:custDataLst>
              <p:tags r:id="rId16"/>
            </p:custDataLst>
          </p:nvPr>
        </p:nvSpPr>
        <p:spPr>
          <a:xfrm>
            <a:off x="8026400" y="1884611"/>
            <a:ext cx="3352800" cy="3847802"/>
          </a:xfrm>
          <a:custGeom>
            <a:avLst/>
            <a:gdLst/>
            <a:ahLst/>
            <a:cxnLst/>
            <a:rect l="l" t="t" r="r" b="b"/>
            <a:pathLst>
              <a:path w="3352800" h="3847802">
                <a:moveTo>
                  <a:pt x="0" y="76200"/>
                </a:moveTo>
                <a:lnTo>
                  <a:pt x="0" y="76200"/>
                </a:lnTo>
                <a:arcTo wR="76200" hR="76200" stAng="10800000" swAng="5400000"/>
                <a:lnTo>
                  <a:pt x="3276600" y="0"/>
                </a:lnTo>
                <a:arcTo wR="76200" hR="76200" stAng="16200000" swAng="5400000"/>
                <a:lnTo>
                  <a:pt x="3352800" y="76200"/>
                </a:lnTo>
                <a:arcTo wR="76200" hR="38100" stAng="0" swAng="-5400000"/>
                <a:lnTo>
                  <a:pt x="76200" y="38100"/>
                </a:lnTo>
                <a:arcTo wR="76200" hR="38100" stAng="16200000" swAng="-5400000"/>
                <a:close/>
              </a:path>
            </a:pathLst>
          </a:custGeom>
          <a:solidFill>
            <a:srgbClr val="2F6690"/>
          </a:solidFill>
        </p:spPr>
        <p:txBody>
          <a:bodyPr/>
          <a:lstStyle/>
          <a:p>
            <a:endParaRPr lang="en-US">
              <a:latin typeface="Palatino Linotype" panose="02040502050505030304" charset="0"/>
              <a:cs typeface="Palatino Linotype" panose="02040502050505030304" charset="0"/>
            </a:endParaRPr>
          </a:p>
        </p:txBody>
      </p:sp>
      <p:sp>
        <p:nvSpPr>
          <p:cNvPr id="18" name="Text 16"/>
          <p:cNvSpPr/>
          <p:nvPr>
            <p:custDataLst>
              <p:tags r:id="rId17"/>
            </p:custDataLst>
          </p:nvPr>
        </p:nvSpPr>
        <p:spPr>
          <a:xfrm>
            <a:off x="8280400" y="2176711"/>
            <a:ext cx="2930144" cy="381000"/>
          </a:xfrm>
          <a:prstGeom prst="rect">
            <a:avLst/>
          </a:prstGeom>
          <a:noFill/>
        </p:spPr>
        <p:txBody>
          <a:bodyPr wrap="square" lIns="0" tIns="0" rIns="0" bIns="0" rtlCol="0" anchor="t">
            <a:normAutofit/>
          </a:bodyPr>
          <a:lstStyle/>
          <a:p>
            <a:pPr marL="0" indent="0" algn="l">
              <a:lnSpc>
                <a:spcPts val="2800"/>
              </a:lnSpc>
              <a:buNone/>
            </a:pPr>
            <a:r>
              <a:rPr lang="en-US" sz="2800" b="1" dirty="0">
                <a:solidFill>
                  <a:srgbClr val="2F6690"/>
                </a:solidFill>
                <a:latin typeface="Palatino Linotype" panose="02040502050505030304" charset="0"/>
                <a:ea typeface="Source Serif 4" pitchFamily="34" charset="-122"/>
                <a:cs typeface="Palatino Linotype" panose="02040502050505030304" charset="0"/>
              </a:rPr>
              <a:t>03</a:t>
            </a:r>
            <a:endParaRPr lang="en-US" sz="2800" b="1" dirty="0">
              <a:solidFill>
                <a:srgbClr val="2F6690"/>
              </a:solidFill>
              <a:latin typeface="Palatino Linotype" panose="02040502050505030304" charset="0"/>
              <a:ea typeface="Source Serif 4" pitchFamily="34" charset="-122"/>
              <a:cs typeface="Palatino Linotype" panose="02040502050505030304" charset="0"/>
            </a:endParaRPr>
          </a:p>
        </p:txBody>
      </p:sp>
      <p:sp>
        <p:nvSpPr>
          <p:cNvPr id="19" name="Text 17"/>
          <p:cNvSpPr/>
          <p:nvPr>
            <p:custDataLst>
              <p:tags r:id="rId18"/>
            </p:custDataLst>
          </p:nvPr>
        </p:nvSpPr>
        <p:spPr>
          <a:xfrm>
            <a:off x="8280400" y="2659311"/>
            <a:ext cx="2930144" cy="543520"/>
          </a:xfrm>
          <a:prstGeom prst="rect">
            <a:avLst/>
          </a:prstGeom>
          <a:noFill/>
        </p:spPr>
        <p:txBody>
          <a:bodyPr wrap="square" lIns="0" tIns="0" rIns="0" bIns="0" rtlCol="0" anchor="t">
            <a:normAutofit/>
          </a:bodyPr>
          <a:lstStyle/>
          <a:p>
            <a:pPr marL="0" indent="0" algn="l">
              <a:lnSpc>
                <a:spcPts val="2040"/>
              </a:lnSpc>
              <a:buNone/>
            </a:pPr>
            <a:r>
              <a:rPr lang="en-US" altLang="zh-CN" sz="1700" b="1" dirty="0">
                <a:solidFill>
                  <a:srgbClr val="14213D"/>
                </a:solidFill>
                <a:latin typeface="Palatino Linotype" panose="02040502050505030304" charset="0"/>
                <a:ea typeface="IBM Plex Sans" pitchFamily="34" charset="-122"/>
                <a:cs typeface="Palatino Linotype" panose="02040502050505030304" charset="0"/>
              </a:rPr>
              <a:t>Require a supervised pilot phase</a:t>
            </a:r>
            <a:endParaRPr lang="en-US" altLang="zh-CN" sz="1700" b="1" dirty="0">
              <a:solidFill>
                <a:srgbClr val="14213D"/>
              </a:solidFill>
              <a:latin typeface="Palatino Linotype" panose="02040502050505030304" charset="0"/>
              <a:ea typeface="IBM Plex Sans" pitchFamily="34" charset="-122"/>
              <a:cs typeface="Palatino Linotype" panose="02040502050505030304" charset="0"/>
            </a:endParaRPr>
          </a:p>
          <a:p>
            <a:pPr marL="0" indent="0" algn="l">
              <a:lnSpc>
                <a:spcPts val="2040"/>
              </a:lnSpc>
              <a:buNone/>
            </a:pPr>
            <a:endParaRPr lang="en-US" altLang="zh-CN" sz="1700" b="1" dirty="0">
              <a:solidFill>
                <a:srgbClr val="14213D"/>
              </a:solidFill>
              <a:latin typeface="Palatino Linotype" panose="02040502050505030304" charset="0"/>
              <a:ea typeface="IBM Plex Sans" pitchFamily="34" charset="-122"/>
              <a:cs typeface="Palatino Linotype" panose="02040502050505030304" charset="0"/>
            </a:endParaRPr>
          </a:p>
        </p:txBody>
      </p:sp>
      <p:sp>
        <p:nvSpPr>
          <p:cNvPr id="20" name="Text 18"/>
          <p:cNvSpPr/>
          <p:nvPr>
            <p:custDataLst>
              <p:tags r:id="rId19"/>
            </p:custDataLst>
          </p:nvPr>
        </p:nvSpPr>
        <p:spPr>
          <a:xfrm>
            <a:off x="8280400" y="3304431"/>
            <a:ext cx="2930144" cy="1518741"/>
          </a:xfrm>
          <a:prstGeom prst="rect">
            <a:avLst/>
          </a:prstGeom>
          <a:noFill/>
        </p:spPr>
        <p:txBody>
          <a:bodyPr wrap="square" lIns="0" tIns="0" rIns="0" bIns="0" rtlCol="0" anchor="t">
            <a:normAutofit/>
          </a:bodyPr>
          <a:lstStyle/>
          <a:p>
            <a:pPr marL="0" indent="0" algn="l">
              <a:lnSpc>
                <a:spcPts val="1960"/>
              </a:lnSpc>
              <a:buNone/>
            </a:pPr>
            <a:r>
              <a:rPr lang="en-US" altLang="zh-CN" sz="1400" dirty="0">
                <a:solidFill>
                  <a:srgbClr val="3D4A5C"/>
                </a:solidFill>
                <a:latin typeface="Palatino Linotype" panose="02040502050505030304" charset="0"/>
                <a:ea typeface="IBM Plex Sans" pitchFamily="34" charset="-122"/>
                <a:cs typeface="Palatino Linotype" panose="02040502050505030304" charset="0"/>
              </a:rPr>
              <a:t>Any optimiser runs in shadow mode for the first twelve months under independent validation. Use of external quantum providers requires a prior classical benchmark.</a:t>
            </a:r>
            <a:endParaRPr lang="en-US" altLang="zh-CN" sz="1400" dirty="0">
              <a:solidFill>
                <a:srgbClr val="3D4A5C"/>
              </a:solidFill>
              <a:latin typeface="Palatino Linotype" panose="02040502050505030304" charset="0"/>
              <a:ea typeface="IBM Plex Sans" pitchFamily="34" charset="-122"/>
              <a:cs typeface="Palatino Linotype" panose="02040502050505030304" charset="0"/>
            </a:endParaRPr>
          </a:p>
          <a:p>
            <a:pPr marL="0" indent="0" algn="l">
              <a:lnSpc>
                <a:spcPts val="1960"/>
              </a:lnSpc>
              <a:buNone/>
            </a:pPr>
            <a:endParaRPr lang="en-US" altLang="zh-CN" sz="1400" dirty="0">
              <a:solidFill>
                <a:srgbClr val="3D4A5C"/>
              </a:solidFill>
              <a:latin typeface="Palatino Linotype" panose="02040502050505030304" charset="0"/>
              <a:ea typeface="IBM Plex Sans" pitchFamily="34" charset="-122"/>
              <a:cs typeface="Palatino Linotype" panose="02040502050505030304" charset="0"/>
            </a:endParaRPr>
          </a:p>
        </p:txBody>
      </p:sp>
      <p:sp>
        <p:nvSpPr>
          <p:cNvPr id="21" name="Text 19"/>
          <p:cNvSpPr/>
          <p:nvPr>
            <p:custDataLst>
              <p:tags r:id="rId20"/>
            </p:custDataLst>
          </p:nvPr>
        </p:nvSpPr>
        <p:spPr>
          <a:xfrm>
            <a:off x="8280400" y="4846320"/>
            <a:ext cx="2930144" cy="685800"/>
          </a:xfrm>
          <a:prstGeom prst="rect">
            <a:avLst/>
          </a:prstGeom>
          <a:noFill/>
        </p:spPr>
        <p:txBody>
          <a:bodyPr wrap="square" lIns="0" tIns="0" rIns="0" bIns="0" rtlCol="0" anchor="t"/>
          <a:lstStyle/>
          <a:p>
            <a:pPr marL="0" indent="0" algn="l">
              <a:lnSpc>
                <a:spcPts val="1680"/>
              </a:lnSpc>
              <a:buNone/>
            </a:pPr>
            <a:r>
              <a:rPr lang="en-US" altLang="zh-CN" sz="1200" dirty="0">
                <a:latin typeface="Palatino Linotype" panose="02040502050505030304" charset="0"/>
                <a:cs typeface="Palatino Linotype" panose="02040502050505030304" charset="0"/>
              </a:rPr>
              <a:t>Who: Committee; BMAS for the statute</a:t>
            </a:r>
            <a:endParaRPr lang="en-US" altLang="zh-CN" sz="1200" dirty="0">
              <a:latin typeface="Palatino Linotype" panose="02040502050505030304" charset="0"/>
              <a:cs typeface="Palatino Linotype" panose="02040502050505030304" charset="0"/>
            </a:endParaRPr>
          </a:p>
          <a:p>
            <a:pPr marL="0" indent="0" algn="l">
              <a:lnSpc>
                <a:spcPts val="1680"/>
              </a:lnSpc>
              <a:buNone/>
            </a:pPr>
            <a:r>
              <a:rPr lang="en-US" altLang="zh-CN" sz="1200" dirty="0">
                <a:latin typeface="Palatino Linotype" panose="02040502050505030304" charset="0"/>
                <a:cs typeface="Palatino Linotype" panose="02040502050505030304" charset="0"/>
              </a:rPr>
              <a:t>When: First year of operation</a:t>
            </a:r>
            <a:endParaRPr lang="en-US" altLang="zh-CN" sz="1200" dirty="0">
              <a:latin typeface="Palatino Linotype" panose="02040502050505030304" charset="0"/>
              <a:cs typeface="Palatino Linotype" panose="02040502050505030304" charset="0"/>
            </a:endParaRPr>
          </a:p>
          <a:p>
            <a:pPr marL="0" indent="0" algn="l">
              <a:lnSpc>
                <a:spcPts val="1680"/>
              </a:lnSpc>
              <a:buNone/>
            </a:pPr>
            <a:endParaRPr lang="en-US" altLang="zh-CN" sz="1200" dirty="0">
              <a:latin typeface="Palatino Linotype" panose="02040502050505030304" charset="0"/>
              <a:cs typeface="Palatino Linotype" panose="02040502050505030304" charset="0"/>
            </a:endParaRPr>
          </a:p>
        </p:txBody>
      </p:sp>
      <p:sp>
        <p:nvSpPr>
          <p:cNvPr id="24" name="Page"/>
          <p:cNvSpPr txBox="1"/>
          <p:nvPr/>
        </p:nvSpPr>
        <p:spPr>
          <a:xfrm>
            <a:off x="11155680" y="6355080"/>
            <a:ext cx="457200" cy="274320"/>
          </a:xfrm>
          <a:prstGeom prst="rect">
            <a:avLst/>
          </a:prstGeom>
          <a:noFill/>
        </p:spPr>
        <p:txBody>
          <a:bodyPr wrap="square" lIns="18288" tIns="18288" rIns="18288" bIns="18288" anchor="t">
            <a:spAutoFit/>
          </a:bodyPr>
          <a:lstStyle/>
          <a:p>
            <a:pPr algn="r">
              <a:spcAft>
                <a:spcPts val="400"/>
              </a:spcAft>
            </a:pPr>
            <a:r>
              <a:rPr sz="1100" b="0" i="0">
                <a:solidFill>
                  <a:srgbClr val="8A94A6"/>
                </a:solidFill>
                <a:latin typeface="Palatino Linotype" panose="02040502050505030304" charset="0"/>
                <a:cs typeface="Palatino Linotype" panose="02040502050505030304" charset="0"/>
              </a:rPr>
              <a:t>17</a:t>
            </a:r>
            <a:endParaRPr sz="1100" b="0" i="0">
              <a:solidFill>
                <a:srgbClr val="8A94A6"/>
              </a:solidFill>
              <a:latin typeface="Palatino Linotype" panose="02040502050505030304" charset="0"/>
              <a:cs typeface="Palatino Linotype" panose="020405020505050303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txBox="1"/>
          <p:nvPr/>
        </p:nvSpPr>
        <p:spPr>
          <a:xfrm>
            <a:off x="548640" y="502920"/>
            <a:ext cx="11064240" cy="527685"/>
          </a:xfrm>
          <a:prstGeom prst="rect">
            <a:avLst/>
          </a:prstGeom>
          <a:noFill/>
        </p:spPr>
        <p:txBody>
          <a:bodyPr wrap="square" lIns="18288" tIns="18288" rIns="18288" bIns="18288" anchor="t">
            <a:spAutoFit/>
          </a:bodyPr>
          <a:lstStyle/>
          <a:p>
            <a:pPr>
              <a:spcAft>
                <a:spcPts val="400"/>
              </a:spcAft>
            </a:pPr>
            <a:r>
              <a:rPr sz="3200" b="1" i="0">
                <a:solidFill>
                  <a:srgbClr val="F6F3EC"/>
                </a:solidFill>
                <a:latin typeface="Palatino Linotype" panose="02040502050505030304" charset="0"/>
                <a:cs typeface="Palatino Linotype" panose="02040502050505030304" charset="0"/>
              </a:rPr>
              <a:t>References</a:t>
            </a:r>
            <a:endParaRPr sz="3200" b="1" i="0">
              <a:solidFill>
                <a:srgbClr val="F6F3EC"/>
              </a:solidFill>
              <a:latin typeface="Palatino Linotype" panose="02040502050505030304" charset="0"/>
              <a:cs typeface="Palatino Linotype" panose="02040502050505030304" charset="0"/>
            </a:endParaRPr>
          </a:p>
        </p:txBody>
      </p:sp>
      <p:sp>
        <p:nvSpPr>
          <p:cNvPr id="3" name="Text"/>
          <p:cNvSpPr txBox="1"/>
          <p:nvPr/>
        </p:nvSpPr>
        <p:spPr>
          <a:xfrm>
            <a:off x="548640" y="1325880"/>
            <a:ext cx="5440680" cy="365760"/>
          </a:xfrm>
          <a:prstGeom prst="rect">
            <a:avLst/>
          </a:prstGeom>
          <a:noFill/>
        </p:spPr>
        <p:txBody>
          <a:bodyPr wrap="square" lIns="18288" tIns="18288" rIns="18288" bIns="18288" anchor="t">
            <a:spAutoFit/>
          </a:bodyPr>
          <a:lstStyle/>
          <a:p>
            <a:pPr>
              <a:spcAft>
                <a:spcPts val="400"/>
              </a:spcAft>
            </a:pPr>
            <a:r>
              <a:rPr sz="1300" b="1" i="0">
                <a:solidFill>
                  <a:srgbClr val="F2B77B"/>
                </a:solidFill>
                <a:latin typeface="Calibri" panose="020F0502020204030204"/>
              </a:rPr>
              <a:t>FINANCE AND METHODS</a:t>
            </a:r>
            <a:endParaRPr sz="1300" b="1" i="0">
              <a:solidFill>
                <a:srgbClr val="F2B77B"/>
              </a:solidFill>
              <a:latin typeface="Calibri" panose="020F0502020204030204"/>
            </a:endParaRPr>
          </a:p>
        </p:txBody>
      </p:sp>
      <p:sp>
        <p:nvSpPr>
          <p:cNvPr id="4" name="Text"/>
          <p:cNvSpPr txBox="1"/>
          <p:nvPr/>
        </p:nvSpPr>
        <p:spPr>
          <a:xfrm>
            <a:off x="548640" y="1737360"/>
            <a:ext cx="5440680" cy="4480560"/>
          </a:xfrm>
          <a:prstGeom prst="rect">
            <a:avLst/>
          </a:prstGeom>
          <a:noFill/>
        </p:spPr>
        <p:txBody>
          <a:bodyPr wrap="square" lIns="18288" tIns="18288" rIns="18288" bIns="18288" anchor="t">
            <a:spAutoFit/>
          </a:bodyPr>
          <a:lstStyle/>
          <a:p>
            <a:pPr>
              <a:spcAft>
                <a:spcPts val="900"/>
              </a:spcAft>
            </a:pPr>
            <a:r>
              <a:rPr sz="1300" b="0" i="0">
                <a:solidFill>
                  <a:srgbClr val="D9DEE8"/>
                </a:solidFill>
                <a:latin typeface="Calibri" panose="020F0502020204030204"/>
              </a:rPr>
              <a:t>French, K. R. (2026). 10 Industry Portfolios [Data set]. Kenneth R. French Data Library.</a:t>
            </a:r>
            <a:endParaRPr sz="1300" b="0" i="0">
              <a:solidFill>
                <a:srgbClr val="D9DEE8"/>
              </a:solidFill>
              <a:latin typeface="Calibri" panose="020F0502020204030204"/>
            </a:endParaRPr>
          </a:p>
          <a:p>
            <a:pPr>
              <a:spcAft>
                <a:spcPts val="900"/>
              </a:spcAft>
            </a:pPr>
            <a:r>
              <a:rPr sz="1300" b="0" i="0">
                <a:solidFill>
                  <a:srgbClr val="D9DEE8"/>
                </a:solidFill>
                <a:latin typeface="Calibri" panose="020F0502020204030204"/>
              </a:rPr>
              <a:t>Markowitz, H. (1952). Portfolio selection. The Journal of Finance, 7(1), 77–91.</a:t>
            </a:r>
            <a:endParaRPr sz="1300" b="0" i="0">
              <a:solidFill>
                <a:srgbClr val="D9DEE8"/>
              </a:solidFill>
              <a:latin typeface="Calibri" panose="020F0502020204030204"/>
            </a:endParaRPr>
          </a:p>
          <a:p>
            <a:pPr>
              <a:spcAft>
                <a:spcPts val="900"/>
              </a:spcAft>
            </a:pPr>
            <a:r>
              <a:rPr sz="1300" b="0" i="0">
                <a:solidFill>
                  <a:srgbClr val="D9DEE8"/>
                </a:solidFill>
                <a:latin typeface="Calibri" panose="020F0502020204030204"/>
              </a:rPr>
              <a:t>Michaud, R. O. (1989). The Markowitz optimization enigma: Is “optimized” optimal? Financial Analysts Journal, 45(1), 31–42.</a:t>
            </a:r>
            <a:endParaRPr sz="1300" b="0" i="0">
              <a:solidFill>
                <a:srgbClr val="D9DEE8"/>
              </a:solidFill>
              <a:latin typeface="Calibri" panose="020F0502020204030204"/>
            </a:endParaRPr>
          </a:p>
          <a:p>
            <a:pPr>
              <a:spcAft>
                <a:spcPts val="900"/>
              </a:spcAft>
            </a:pPr>
            <a:r>
              <a:rPr sz="1300" b="0" i="0">
                <a:solidFill>
                  <a:srgbClr val="D9DEE8"/>
                </a:solidFill>
                <a:latin typeface="Calibri" panose="020F0502020204030204"/>
              </a:rPr>
              <a:t>Ledoit, O., &amp; Wolf, M. (2004). Honey, I shrunk the sample covariance matrix. The Journal of Portfolio Management, 30(4), 110–119.</a:t>
            </a:r>
            <a:endParaRPr sz="1300" b="0" i="0">
              <a:solidFill>
                <a:srgbClr val="D9DEE8"/>
              </a:solidFill>
              <a:latin typeface="Calibri" panose="020F0502020204030204"/>
            </a:endParaRPr>
          </a:p>
          <a:p>
            <a:pPr>
              <a:spcAft>
                <a:spcPts val="900"/>
              </a:spcAft>
            </a:pPr>
            <a:r>
              <a:rPr sz="1300" b="0" i="0">
                <a:solidFill>
                  <a:srgbClr val="D9DEE8"/>
                </a:solidFill>
                <a:latin typeface="Calibri" panose="020F0502020204030204"/>
              </a:rPr>
              <a:t>Lucas, A. (2014). Ising formulations of many NP problems. Frontiers in Physics, 2, 5.</a:t>
            </a:r>
            <a:endParaRPr sz="1300" b="0" i="0">
              <a:solidFill>
                <a:srgbClr val="D9DEE8"/>
              </a:solidFill>
              <a:latin typeface="Calibri" panose="020F0502020204030204"/>
            </a:endParaRPr>
          </a:p>
          <a:p>
            <a:pPr>
              <a:spcAft>
                <a:spcPts val="900"/>
              </a:spcAft>
            </a:pPr>
            <a:r>
              <a:rPr sz="1300" b="0" i="0">
                <a:solidFill>
                  <a:srgbClr val="D9DEE8"/>
                </a:solidFill>
                <a:latin typeface="Calibri" panose="020F0502020204030204"/>
              </a:rPr>
              <a:t>Hadfield, S., et al. (2019). From the quantum approximate optimization algorithm to a quantum alternating operator ansatz. Algorithms, 12(2), 34.</a:t>
            </a:r>
            <a:endParaRPr sz="1300" b="0" i="0">
              <a:solidFill>
                <a:srgbClr val="D9DEE8"/>
              </a:solidFill>
              <a:latin typeface="Calibri" panose="020F0502020204030204"/>
            </a:endParaRPr>
          </a:p>
        </p:txBody>
      </p:sp>
      <p:sp>
        <p:nvSpPr>
          <p:cNvPr id="5" name="Text"/>
          <p:cNvSpPr txBox="1"/>
          <p:nvPr/>
        </p:nvSpPr>
        <p:spPr>
          <a:xfrm>
            <a:off x="6199632" y="1325880"/>
            <a:ext cx="5440680" cy="365760"/>
          </a:xfrm>
          <a:prstGeom prst="rect">
            <a:avLst/>
          </a:prstGeom>
          <a:noFill/>
        </p:spPr>
        <p:txBody>
          <a:bodyPr wrap="square" lIns="18288" tIns="18288" rIns="18288" bIns="18288" anchor="t">
            <a:spAutoFit/>
          </a:bodyPr>
          <a:lstStyle/>
          <a:p>
            <a:pPr>
              <a:spcAft>
                <a:spcPts val="400"/>
              </a:spcAft>
            </a:pPr>
            <a:r>
              <a:rPr sz="1300" b="1" i="0">
                <a:solidFill>
                  <a:srgbClr val="F2B77B"/>
                </a:solidFill>
                <a:latin typeface="Calibri" panose="020F0502020204030204"/>
              </a:rPr>
              <a:t>POLICY AND RESPONSIBILITY</a:t>
            </a:r>
            <a:endParaRPr sz="1300" b="1" i="0">
              <a:solidFill>
                <a:srgbClr val="F2B77B"/>
              </a:solidFill>
              <a:latin typeface="Calibri" panose="020F0502020204030204"/>
            </a:endParaRPr>
          </a:p>
        </p:txBody>
      </p:sp>
      <p:sp>
        <p:nvSpPr>
          <p:cNvPr id="6" name="Text"/>
          <p:cNvSpPr txBox="1"/>
          <p:nvPr/>
        </p:nvSpPr>
        <p:spPr>
          <a:xfrm>
            <a:off x="6199632" y="1737360"/>
            <a:ext cx="5440680" cy="4480560"/>
          </a:xfrm>
          <a:prstGeom prst="rect">
            <a:avLst/>
          </a:prstGeom>
          <a:noFill/>
        </p:spPr>
        <p:txBody>
          <a:bodyPr wrap="square" lIns="18288" tIns="18288" rIns="18288" bIns="18288" anchor="t">
            <a:spAutoFit/>
          </a:bodyPr>
          <a:lstStyle/>
          <a:p>
            <a:pPr>
              <a:spcAft>
                <a:spcPts val="900"/>
              </a:spcAft>
            </a:pPr>
            <a:r>
              <a:rPr sz="1300" b="0" i="0">
                <a:solidFill>
                  <a:srgbClr val="D9DEE8"/>
                </a:solidFill>
                <a:latin typeface="Calibri" panose="020F0502020204030204"/>
              </a:rPr>
              <a:t>Alterssicherungskommission. (2026). Empfehlungen der Alterssicherungskommission. Die Bundesregierung.</a:t>
            </a:r>
            <a:endParaRPr sz="1300" b="0" i="0">
              <a:solidFill>
                <a:srgbClr val="D9DEE8"/>
              </a:solidFill>
              <a:latin typeface="Calibri" panose="020F0502020204030204"/>
            </a:endParaRPr>
          </a:p>
          <a:p>
            <a:pPr>
              <a:spcAft>
                <a:spcPts val="900"/>
              </a:spcAft>
            </a:pPr>
            <a:r>
              <a:rPr sz="1300" b="0" i="0">
                <a:solidFill>
                  <a:srgbClr val="D9DEE8"/>
                </a:solidFill>
                <a:latin typeface="Calibri" panose="020F0502020204030204"/>
              </a:rPr>
              <a:t>BaFin. (2021). Big data and artificial intelligence: Principles for the use of algorithms in decision-making processes.</a:t>
            </a:r>
            <a:endParaRPr sz="1300" b="0" i="0">
              <a:solidFill>
                <a:srgbClr val="D9DEE8"/>
              </a:solidFill>
              <a:latin typeface="Calibri" panose="020F0502020204030204"/>
            </a:endParaRPr>
          </a:p>
          <a:p>
            <a:pPr>
              <a:spcAft>
                <a:spcPts val="900"/>
              </a:spcAft>
            </a:pPr>
            <a:r>
              <a:rPr sz="1300" b="0" i="0">
                <a:solidFill>
                  <a:srgbClr val="D9DEE8"/>
                </a:solidFill>
                <a:latin typeface="Calibri" panose="020F0502020204030204"/>
              </a:rPr>
              <a:t>Directive (EU) 2016/2341 (IORP II). (2016). Official Journal of the EU, L 354.</a:t>
            </a:r>
            <a:endParaRPr sz="1300" b="0" i="0">
              <a:solidFill>
                <a:srgbClr val="D9DEE8"/>
              </a:solidFill>
              <a:latin typeface="Calibri" panose="020F0502020204030204"/>
            </a:endParaRPr>
          </a:p>
          <a:p>
            <a:pPr>
              <a:spcAft>
                <a:spcPts val="900"/>
              </a:spcAft>
            </a:pPr>
            <a:r>
              <a:rPr sz="1300" b="0" i="0">
                <a:solidFill>
                  <a:srgbClr val="D9DEE8"/>
                </a:solidFill>
                <a:latin typeface="Calibri" panose="020F0502020204030204"/>
              </a:rPr>
              <a:t>Regulation (EU) 2022/2554 (DORA). (2022). Official Journal of the EU, L 333.</a:t>
            </a:r>
            <a:endParaRPr sz="1300" b="0" i="0">
              <a:solidFill>
                <a:srgbClr val="D9DEE8"/>
              </a:solidFill>
              <a:latin typeface="Calibri" panose="020F0502020204030204"/>
            </a:endParaRPr>
          </a:p>
          <a:p>
            <a:pPr>
              <a:spcAft>
                <a:spcPts val="900"/>
              </a:spcAft>
            </a:pPr>
            <a:r>
              <a:rPr sz="1300" b="0" i="0">
                <a:solidFill>
                  <a:srgbClr val="D9DEE8"/>
                </a:solidFill>
                <a:latin typeface="Calibri" panose="020F0502020204030204"/>
              </a:rPr>
              <a:t>Kop, M., et al. (2024). Ten principles for responsible quantum innovation. Quantum Science and Technology, 9(3), 035013.</a:t>
            </a:r>
            <a:endParaRPr sz="1300" b="0" i="0">
              <a:solidFill>
                <a:srgbClr val="D9DEE8"/>
              </a:solidFill>
              <a:latin typeface="Calibri" panose="020F0502020204030204"/>
            </a:endParaRPr>
          </a:p>
          <a:p>
            <a:pPr>
              <a:spcAft>
                <a:spcPts val="900"/>
              </a:spcAft>
            </a:pPr>
            <a:r>
              <a:rPr sz="1300" b="0" i="0">
                <a:solidFill>
                  <a:srgbClr val="D9DEE8"/>
                </a:solidFill>
                <a:latin typeface="Calibri" panose="020F0502020204030204"/>
              </a:rPr>
              <a:t>TUM Quantum Hackathon Finance Team. (2026). Model governance for Germany’s planned Kapitalrente fund [Policy brief].</a:t>
            </a:r>
            <a:endParaRPr sz="1300" b="0" i="0">
              <a:solidFill>
                <a:srgbClr val="D9DEE8"/>
              </a:solidFill>
              <a:latin typeface="Calibri" panose="020F0502020204030204"/>
            </a:endParaRPr>
          </a:p>
        </p:txBody>
      </p:sp>
      <p:sp>
        <p:nvSpPr>
          <p:cNvPr id="7" name="Source"/>
          <p:cNvSpPr txBox="1"/>
          <p:nvPr/>
        </p:nvSpPr>
        <p:spPr>
          <a:xfrm>
            <a:off x="548640" y="6355080"/>
            <a:ext cx="10424160" cy="274320"/>
          </a:xfrm>
          <a:prstGeom prst="rect">
            <a:avLst/>
          </a:prstGeom>
          <a:noFill/>
        </p:spPr>
        <p:txBody>
          <a:bodyPr wrap="square" lIns="18288" tIns="18288" rIns="18288" bIns="18288" anchor="t">
            <a:spAutoFit/>
          </a:bodyPr>
          <a:lstStyle/>
          <a:p>
            <a:pPr>
              <a:spcAft>
                <a:spcPts val="400"/>
              </a:spcAft>
            </a:pPr>
            <a:r>
              <a:rPr sz="1100" b="0" i="0">
                <a:solidFill>
                  <a:srgbClr val="8A94A6"/>
                </a:solidFill>
                <a:latin typeface="Calibri" panose="020F0502020204030204"/>
              </a:rPr>
              <a:t>Code, decision log and full results: github.com/jonas221101/quantum-hackathon-finance</a:t>
            </a:r>
            <a:endParaRPr sz="1100" b="0" i="0">
              <a:solidFill>
                <a:srgbClr val="8A94A6"/>
              </a:solidFill>
              <a:latin typeface="Calibri" panose="020F0502020204030204"/>
            </a:endParaRPr>
          </a:p>
        </p:txBody>
      </p:sp>
      <p:sp>
        <p:nvSpPr>
          <p:cNvPr id="8" name="Page"/>
          <p:cNvSpPr txBox="1"/>
          <p:nvPr/>
        </p:nvSpPr>
        <p:spPr>
          <a:xfrm>
            <a:off x="11155680" y="6355080"/>
            <a:ext cx="457200" cy="274320"/>
          </a:xfrm>
          <a:prstGeom prst="rect">
            <a:avLst/>
          </a:prstGeom>
          <a:noFill/>
        </p:spPr>
        <p:txBody>
          <a:bodyPr wrap="square" lIns="18288" tIns="18288" rIns="18288" bIns="18288" anchor="t">
            <a:spAutoFit/>
          </a:bodyPr>
          <a:lstStyle/>
          <a:p>
            <a:pPr algn="r">
              <a:spcAft>
                <a:spcPts val="400"/>
              </a:spcAft>
            </a:pPr>
            <a:r>
              <a:rPr sz="1100" b="0" i="0">
                <a:solidFill>
                  <a:srgbClr val="8A94A6"/>
                </a:solidFill>
                <a:latin typeface="Calibri" panose="020F0502020204030204"/>
              </a:rPr>
              <a:t>18</a:t>
            </a:r>
            <a:endParaRPr sz="1100" b="0" i="0">
              <a:solidFill>
                <a:srgbClr val="8A94A6"/>
              </a:solidFill>
              <a:latin typeface="Calibri" panose="020F050202020403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txBox="1"/>
          <p:nvPr/>
        </p:nvSpPr>
        <p:spPr>
          <a:xfrm>
            <a:off x="548640" y="502920"/>
            <a:ext cx="11064240" cy="530352"/>
          </a:xfrm>
          <a:prstGeom prst="rect">
            <a:avLst/>
          </a:prstGeom>
          <a:noFill/>
        </p:spPr>
        <p:txBody>
          <a:bodyPr wrap="square" lIns="18288" tIns="18288" rIns="18288" bIns="18288" anchor="t">
            <a:spAutoFit/>
          </a:bodyPr>
          <a:lstStyle/>
          <a:p>
            <a:pPr>
              <a:spcAft>
                <a:spcPts val="400"/>
              </a:spcAft>
            </a:pPr>
            <a:r>
              <a:rPr lang="en-US" sz="3200" b="1" i="0" dirty="0">
                <a:solidFill>
                  <a:srgbClr val="F6F3EC"/>
                </a:solidFill>
                <a:latin typeface="Palatino Linotype" panose="02040502050505030304" charset="0"/>
                <a:cs typeface="Palatino Linotype" panose="02040502050505030304" charset="0"/>
              </a:rPr>
              <a:t>Thomas’s flip point is inside the noise</a:t>
            </a:r>
            <a:endParaRPr lang="en-US" sz="3200" b="0" i="0" dirty="0">
              <a:solidFill>
                <a:srgbClr val="F6F3EC"/>
              </a:solidFill>
              <a:latin typeface="Palatino Linotype" panose="02040502050505030304" charset="0"/>
              <a:cs typeface="Palatino Linotype" panose="02040502050505030304" charset="0"/>
            </a:endParaRPr>
          </a:p>
        </p:txBody>
      </p:sp>
      <p:sp>
        <p:nvSpPr>
          <p:cNvPr id="3" name="Subtitle"/>
          <p:cNvSpPr txBox="1"/>
          <p:nvPr/>
        </p:nvSpPr>
        <p:spPr>
          <a:xfrm>
            <a:off x="548640" y="1143000"/>
            <a:ext cx="11064240" cy="283464"/>
          </a:xfrm>
          <a:prstGeom prst="rect">
            <a:avLst/>
          </a:prstGeom>
          <a:noFill/>
        </p:spPr>
        <p:txBody>
          <a:bodyPr wrap="square" lIns="18288" tIns="18288" rIns="18288" bIns="18288" anchor="t">
            <a:spAutoFit/>
          </a:bodyPr>
          <a:lstStyle/>
          <a:p>
            <a:pPr>
              <a:spcAft>
                <a:spcPts val="400"/>
              </a:spcAft>
            </a:pPr>
            <a:r>
              <a:rPr lang="en-US" sz="1600" b="0" i="0" dirty="0">
                <a:solidFill>
                  <a:srgbClr val="D9DEE8"/>
                </a:solidFill>
                <a:latin typeface="Palatino Linotype" panose="02040502050505030304" charset="0"/>
                <a:cs typeface="Palatino Linotype" panose="02040502050505030304" charset="0"/>
              </a:rPr>
              <a:t>Result 3 · tech’s 1.51% a month is only an estimate (± 0.58 points); Thomas flips at −0.37</a:t>
            </a:r>
            <a:endParaRPr lang="en-US" sz="1600" b="0" i="0" dirty="0">
              <a:solidFill>
                <a:srgbClr val="D9DEE8"/>
              </a:solidFill>
              <a:latin typeface="Palatino Linotype" panose="02040502050505030304" charset="0"/>
              <a:cs typeface="Palatino Linotype" panose="02040502050505030304" charset="0"/>
            </a:endParaRPr>
          </a:p>
        </p:txBody>
      </p:sp>
      <p:sp>
        <p:nvSpPr>
          <p:cNvPr id="4" name="Frame"/>
          <p:cNvSpPr/>
          <p:nvPr/>
        </p:nvSpPr>
        <p:spPr>
          <a:xfrm>
            <a:off x="548640" y="1600200"/>
            <a:ext cx="11064240" cy="4297680"/>
          </a:xfrm>
          <a:prstGeom prst="rect">
            <a:avLst/>
          </a:prstGeom>
          <a:solidFill>
            <a:srgbClr val="FFFFFF"/>
          </a:solidFill>
          <a:ln>
            <a:noFill/>
          </a:ln>
        </p:spPr>
        <p:txBody>
          <a:bodyPr rtlCol="0" anchor="ctr"/>
          <a:lstStyle/>
          <a:p>
            <a:endParaRPr lang="en-US" dirty="0"/>
          </a:p>
        </p:txBody>
      </p:sp>
      <p:pic>
        <p:nvPicPr>
          <p:cNvPr id="5" name="Figure" descr="Left: how much better the switch scores for the balanced profile as tech's expected return shifts; it crosses zero at minus 0.37 points, inside the band of one standard error (0.58). Right: 500 replays of history; the switch is better in 74 percent."/>
          <p:cNvPicPr>
            <a:picLocks noChangeAspect="1"/>
          </p:cNvPicPr>
          <p:nvPr/>
        </p:nvPicPr>
        <p:blipFill>
          <a:blip r:embed="rId1"/>
          <a:stretch>
            <a:fillRect/>
          </a:stretch>
        </p:blipFill>
        <p:spPr>
          <a:xfrm>
            <a:off x="594360" y="1645920"/>
            <a:ext cx="10972800" cy="4206240"/>
          </a:xfrm>
          <a:prstGeom prst="rect">
            <a:avLst/>
          </a:prstGeom>
        </p:spPr>
      </p:pic>
      <p:sp>
        <p:nvSpPr>
          <p:cNvPr id="7" name="Source"/>
          <p:cNvSpPr txBox="1"/>
          <p:nvPr/>
        </p:nvSpPr>
        <p:spPr>
          <a:xfrm>
            <a:off x="548640" y="6355080"/>
            <a:ext cx="10424160" cy="274320"/>
          </a:xfrm>
          <a:prstGeom prst="rect">
            <a:avLst/>
          </a:prstGeom>
          <a:noFill/>
        </p:spPr>
        <p:txBody>
          <a:bodyPr wrap="square" lIns="18288" tIns="18288" rIns="18288" bIns="18288" anchor="t">
            <a:spAutoFit/>
          </a:bodyPr>
          <a:lstStyle/>
          <a:p>
            <a:pPr>
              <a:spcAft>
                <a:spcPts val="400"/>
              </a:spcAft>
            </a:pPr>
            <a:r>
              <a:rPr lang="en-US" sz="1100" b="0" i="0" dirty="0">
                <a:solidFill>
                  <a:srgbClr val="8A94A6"/>
                </a:solidFill>
                <a:latin typeface="Palatino Linotype" panose="02040502050505030304" charset="0"/>
                <a:cs typeface="Palatino Linotype" panose="02040502050505030304" charset="0"/>
              </a:rPr>
              <a:t>Source: results/canonical/estimation_error.csv, bootstrap_advantage.csv (sensitivity.py) · grey bands: ±1 and ±2 standard errors · 500 replays</a:t>
            </a:r>
            <a:endParaRPr lang="en-US" sz="1100" b="0" i="0" dirty="0">
              <a:solidFill>
                <a:srgbClr val="8A94A6"/>
              </a:solidFill>
              <a:latin typeface="Palatino Linotype" panose="02040502050505030304" charset="0"/>
              <a:cs typeface="Palatino Linotype" panose="02040502050505030304" charset="0"/>
            </a:endParaRPr>
          </a:p>
        </p:txBody>
      </p:sp>
      <p:sp>
        <p:nvSpPr>
          <p:cNvPr id="8" name="Page"/>
          <p:cNvSpPr txBox="1"/>
          <p:nvPr/>
        </p:nvSpPr>
        <p:spPr>
          <a:xfrm>
            <a:off x="11155680" y="6355080"/>
            <a:ext cx="457200" cy="274320"/>
          </a:xfrm>
          <a:prstGeom prst="rect">
            <a:avLst/>
          </a:prstGeom>
          <a:noFill/>
        </p:spPr>
        <p:txBody>
          <a:bodyPr wrap="square" lIns="18288" tIns="18288" rIns="18288" bIns="18288" anchor="t">
            <a:spAutoFit/>
          </a:bodyPr>
          <a:lstStyle/>
          <a:p>
            <a:pPr algn="r">
              <a:spcAft>
                <a:spcPts val="400"/>
              </a:spcAft>
            </a:pPr>
            <a:r>
              <a:rPr lang="en-US" sz="1100" b="0" i="0" dirty="0">
                <a:solidFill>
                  <a:srgbClr val="8A94A6"/>
                </a:solidFill>
                <a:latin typeface="Palatino Linotype" panose="02040502050505030304" charset="0"/>
                <a:cs typeface="Palatino Linotype" panose="02040502050505030304" charset="0"/>
              </a:rPr>
              <a:t>10</a:t>
            </a:r>
            <a:endParaRPr lang="en-US" sz="1100" b="0" i="0" dirty="0">
              <a:solidFill>
                <a:srgbClr val="8A94A6"/>
              </a:solidFill>
              <a:latin typeface="Palatino Linotype" panose="02040502050505030304" charset="0"/>
              <a:cs typeface="Palatino Linotype" panose="020405020505050303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txBox="1"/>
          <p:nvPr/>
        </p:nvSpPr>
        <p:spPr>
          <a:xfrm>
            <a:off x="548640" y="502920"/>
            <a:ext cx="11064240" cy="530352"/>
          </a:xfrm>
          <a:prstGeom prst="rect">
            <a:avLst/>
          </a:prstGeom>
          <a:noFill/>
        </p:spPr>
        <p:txBody>
          <a:bodyPr wrap="square" lIns="18288" tIns="18288" rIns="18288" bIns="18288" anchor="t">
            <a:spAutoFit/>
          </a:bodyPr>
          <a:lstStyle/>
          <a:p>
            <a:pPr>
              <a:spcAft>
                <a:spcPts val="400"/>
              </a:spcAft>
            </a:pPr>
            <a:r>
              <a:rPr lang="en-US" sz="3200" b="1" i="0" dirty="0">
                <a:solidFill>
                  <a:srgbClr val="F6F3EC"/>
                </a:solidFill>
                <a:latin typeface="Palatino Linotype" panose="02040502050505030304" charset="0"/>
                <a:cs typeface="Palatino Linotype" panose="02040502050505030304" charset="0"/>
              </a:rPr>
              <a:t>Always a legal basket; far better only for Anna</a:t>
            </a:r>
            <a:endParaRPr lang="en-US" sz="3200" b="0" i="0" dirty="0">
              <a:solidFill>
                <a:srgbClr val="F6F3EC"/>
              </a:solidFill>
              <a:latin typeface="Palatino Linotype" panose="02040502050505030304" charset="0"/>
              <a:cs typeface="Palatino Linotype" panose="02040502050505030304" charset="0"/>
            </a:endParaRPr>
          </a:p>
        </p:txBody>
      </p:sp>
      <p:sp>
        <p:nvSpPr>
          <p:cNvPr id="3" name="Subtitle"/>
          <p:cNvSpPr txBox="1"/>
          <p:nvPr/>
        </p:nvSpPr>
        <p:spPr>
          <a:xfrm>
            <a:off x="548640" y="1143000"/>
            <a:ext cx="11064240" cy="283464"/>
          </a:xfrm>
          <a:prstGeom prst="rect">
            <a:avLst/>
          </a:prstGeom>
          <a:noFill/>
        </p:spPr>
        <p:txBody>
          <a:bodyPr wrap="square" lIns="18288" tIns="18288" rIns="18288" bIns="18288" anchor="t">
            <a:spAutoFit/>
          </a:bodyPr>
          <a:lstStyle/>
          <a:p>
            <a:pPr>
              <a:spcAft>
                <a:spcPts val="400"/>
              </a:spcAft>
            </a:pPr>
            <a:r>
              <a:rPr lang="en-US" sz="1600" b="0" i="0" dirty="0">
                <a:solidFill>
                  <a:srgbClr val="D9DEE8"/>
                </a:solidFill>
                <a:latin typeface="Palatino Linotype" panose="02040502050505030304" charset="0"/>
                <a:cs typeface="Palatino Linotype" panose="02040502050505030304" charset="0"/>
              </a:rPr>
              <a:t>Result 4 · our circuit vs the organisers’ · ideal simulation, 3 layers, 10 runs, 4,096 looks each</a:t>
            </a:r>
            <a:endParaRPr lang="en-US" sz="1600" b="0" i="0" dirty="0">
              <a:solidFill>
                <a:srgbClr val="D9DEE8"/>
              </a:solidFill>
              <a:latin typeface="Palatino Linotype" panose="02040502050505030304" charset="0"/>
              <a:cs typeface="Palatino Linotype" panose="02040502050505030304" charset="0"/>
            </a:endParaRPr>
          </a:p>
        </p:txBody>
      </p:sp>
      <p:sp>
        <p:nvSpPr>
          <p:cNvPr id="4" name="Frame"/>
          <p:cNvSpPr/>
          <p:nvPr/>
        </p:nvSpPr>
        <p:spPr>
          <a:xfrm>
            <a:off x="548640" y="1600200"/>
            <a:ext cx="7917628" cy="4526280"/>
          </a:xfrm>
          <a:prstGeom prst="rect">
            <a:avLst/>
          </a:prstGeom>
          <a:solidFill>
            <a:srgbClr val="FFFFFF"/>
          </a:solidFill>
          <a:ln>
            <a:noFill/>
          </a:ln>
        </p:spPr>
        <p:txBody>
          <a:bodyPr rtlCol="0" anchor="ctr"/>
          <a:lstStyle/>
          <a:p>
            <a:endParaRPr lang="en-US" dirty="0"/>
          </a:p>
        </p:txBody>
      </p:sp>
      <p:pic>
        <p:nvPicPr>
          <p:cNvPr id="5" name="Figure" descr="Top row: share of measured looks that are legal baskets; ours 100 percent, organisers' 97 to 98, tuned penalty 32 to 55. Bottom row: chance of the best basket; Anna 0.78 for ours versus 0.05."/>
          <p:cNvPicPr>
            <a:picLocks noChangeAspect="1"/>
          </p:cNvPicPr>
          <p:nvPr/>
        </p:nvPicPr>
        <p:blipFill>
          <a:blip r:embed="rId1"/>
          <a:stretch>
            <a:fillRect/>
          </a:stretch>
        </p:blipFill>
        <p:spPr>
          <a:xfrm>
            <a:off x="594360" y="1645920"/>
            <a:ext cx="7826188" cy="4434840"/>
          </a:xfrm>
          <a:prstGeom prst="rect">
            <a:avLst/>
          </a:prstGeom>
        </p:spPr>
      </p:pic>
      <p:sp>
        <p:nvSpPr>
          <p:cNvPr id="6" name="Text"/>
          <p:cNvSpPr txBox="1"/>
          <p:nvPr/>
        </p:nvSpPr>
        <p:spPr>
          <a:xfrm>
            <a:off x="8740588" y="1645920"/>
            <a:ext cx="2872292" cy="4434840"/>
          </a:xfrm>
          <a:prstGeom prst="rect">
            <a:avLst/>
          </a:prstGeom>
          <a:noFill/>
        </p:spPr>
        <p:txBody>
          <a:bodyPr wrap="square" lIns="18288" tIns="18288" rIns="18288" bIns="18288" anchor="t">
            <a:spAutoFit/>
          </a:bodyPr>
          <a:lstStyle/>
          <a:p>
            <a:pPr>
              <a:spcAft>
                <a:spcPts val="900"/>
              </a:spcAft>
            </a:pPr>
            <a:r>
              <a:rPr lang="en-US" sz="1400" b="1" i="0" dirty="0">
                <a:solidFill>
                  <a:srgbClr val="F6F3EC"/>
                </a:solidFill>
                <a:latin typeface="Palatino Linotype" panose="02040502050505030304" charset="0"/>
                <a:cs typeface="Palatino Linotype" panose="02040502050505030304" charset="0"/>
              </a:rPr>
              <a:t>Top row: legal baskets. </a:t>
            </a:r>
            <a:r>
              <a:rPr lang="en-US" sz="1400" b="0" i="0" dirty="0">
                <a:solidFill>
                  <a:srgbClr val="D9DEE8"/>
                </a:solidFill>
                <a:latin typeface="Palatino Linotype" panose="02040502050505030304" charset="0"/>
                <a:cs typeface="Palatino Linotype" panose="02040502050505030304" charset="0"/>
              </a:rPr>
              <a:t>Ours: 100% of looks, in every run. Organisers’: 97 to 98%. With a tuned penalty: only 32 to 55%.</a:t>
            </a:r>
            <a:endParaRPr lang="en-US" sz="1400" b="0" i="0" dirty="0">
              <a:solidFill>
                <a:srgbClr val="D9DEE8"/>
              </a:solidFill>
              <a:latin typeface="Palatino Linotype" panose="02040502050505030304" charset="0"/>
              <a:cs typeface="Palatino Linotype" panose="02040502050505030304" charset="0"/>
            </a:endParaRPr>
          </a:p>
          <a:p>
            <a:pPr>
              <a:spcAft>
                <a:spcPts val="900"/>
              </a:spcAft>
            </a:pPr>
            <a:r>
              <a:rPr lang="en-US" sz="1400" b="1" i="0" dirty="0">
                <a:solidFill>
                  <a:srgbClr val="F6F3EC"/>
                </a:solidFill>
                <a:latin typeface="Palatino Linotype" panose="02040502050505030304" charset="0"/>
                <a:cs typeface="Palatino Linotype" panose="02040502050505030304" charset="0"/>
              </a:rPr>
              <a:t>Bottom row: best basket found. </a:t>
            </a:r>
            <a:r>
              <a:rPr lang="en-US" sz="1400" b="0" i="0" dirty="0">
                <a:solidFill>
                  <a:srgbClr val="D9DEE8"/>
                </a:solidFill>
                <a:latin typeface="Palatino Linotype" panose="02040502050505030304" charset="0"/>
                <a:cs typeface="Palatino Linotype" panose="02040502050505030304" charset="0"/>
              </a:rPr>
              <a:t>Anna: 0.78 vs 0.05. Lena: 0.23. Thomas: 0.04, a near-tie where ours is no better than a guess (0.05).</a:t>
            </a:r>
            <a:endParaRPr lang="en-US" sz="1400" b="0" i="0" dirty="0">
              <a:solidFill>
                <a:srgbClr val="D9DEE8"/>
              </a:solidFill>
              <a:latin typeface="Palatino Linotype" panose="02040502050505030304" charset="0"/>
              <a:cs typeface="Palatino Linotype" panose="02040502050505030304" charset="0"/>
            </a:endParaRPr>
          </a:p>
          <a:p>
            <a:pPr>
              <a:spcAft>
                <a:spcPts val="900"/>
              </a:spcAft>
            </a:pPr>
            <a:r>
              <a:rPr lang="en-US" sz="1400" b="1" i="0" dirty="0">
                <a:solidFill>
                  <a:srgbClr val="F6F3EC"/>
                </a:solidFill>
                <a:latin typeface="Palatino Linotype" panose="02040502050505030304" charset="0"/>
                <a:cs typeface="Palatino Linotype" panose="02040502050505030304" charset="0"/>
              </a:rPr>
              <a:t>No quantum advantage: </a:t>
            </a:r>
            <a:r>
              <a:rPr lang="en-US" sz="1400" b="0" i="0" dirty="0">
                <a:solidFill>
                  <a:srgbClr val="D9DEE8"/>
                </a:solidFill>
                <a:latin typeface="Palatino Linotype" panose="02040502050505030304" charset="0"/>
                <a:cs typeface="Palatino Linotype" panose="02040502050505030304" charset="0"/>
              </a:rPr>
              <a:t>a laptop checks all 20 baskets in milliseconds.</a:t>
            </a:r>
            <a:endParaRPr lang="en-US" sz="1400" b="0" i="0" dirty="0">
              <a:solidFill>
                <a:srgbClr val="D9DEE8"/>
              </a:solidFill>
              <a:latin typeface="Palatino Linotype" panose="02040502050505030304" charset="0"/>
              <a:cs typeface="Palatino Linotype" panose="02040502050505030304" charset="0"/>
            </a:endParaRPr>
          </a:p>
        </p:txBody>
      </p:sp>
      <p:sp>
        <p:nvSpPr>
          <p:cNvPr id="7" name="Source"/>
          <p:cNvSpPr txBox="1"/>
          <p:nvPr/>
        </p:nvSpPr>
        <p:spPr>
          <a:xfrm>
            <a:off x="548640" y="6355080"/>
            <a:ext cx="10424160" cy="274320"/>
          </a:xfrm>
          <a:prstGeom prst="rect">
            <a:avLst/>
          </a:prstGeom>
          <a:noFill/>
        </p:spPr>
        <p:txBody>
          <a:bodyPr wrap="square" lIns="18288" tIns="18288" rIns="18288" bIns="18288" anchor="t">
            <a:spAutoFit/>
          </a:bodyPr>
          <a:lstStyle/>
          <a:p>
            <a:pPr>
              <a:spcAft>
                <a:spcPts val="400"/>
              </a:spcAft>
            </a:pPr>
            <a:r>
              <a:rPr lang="en-US" sz="1100" b="0" i="0" dirty="0">
                <a:solidFill>
                  <a:srgbClr val="8A94A6"/>
                </a:solidFill>
                <a:latin typeface="Palatino Linotype" panose="02040502050505030304" charset="0"/>
                <a:cs typeface="Palatino Linotype" panose="02040502050505030304" charset="0"/>
              </a:rPr>
              <a:t>Source: results/canonical/quantum_summary.csv (qaoa.py) · median of 10 runs · blue = ours, grey = organisers’ circuits</a:t>
            </a:r>
            <a:endParaRPr lang="en-US" sz="1100" b="0" i="0" dirty="0">
              <a:solidFill>
                <a:srgbClr val="8A94A6"/>
              </a:solidFill>
              <a:latin typeface="Palatino Linotype" panose="02040502050505030304" charset="0"/>
              <a:cs typeface="Palatino Linotype" panose="02040502050505030304" charset="0"/>
            </a:endParaRPr>
          </a:p>
        </p:txBody>
      </p:sp>
      <p:sp>
        <p:nvSpPr>
          <p:cNvPr id="8" name="Page"/>
          <p:cNvSpPr txBox="1"/>
          <p:nvPr/>
        </p:nvSpPr>
        <p:spPr>
          <a:xfrm>
            <a:off x="11155680" y="6355080"/>
            <a:ext cx="457200" cy="274320"/>
          </a:xfrm>
          <a:prstGeom prst="rect">
            <a:avLst/>
          </a:prstGeom>
          <a:noFill/>
        </p:spPr>
        <p:txBody>
          <a:bodyPr wrap="square" lIns="18288" tIns="18288" rIns="18288" bIns="18288" anchor="t">
            <a:spAutoFit/>
          </a:bodyPr>
          <a:lstStyle/>
          <a:p>
            <a:pPr algn="r">
              <a:spcAft>
                <a:spcPts val="400"/>
              </a:spcAft>
            </a:pPr>
            <a:r>
              <a:rPr lang="en-US" sz="1100" b="0" i="0" dirty="0">
                <a:solidFill>
                  <a:srgbClr val="8A94A6"/>
                </a:solidFill>
                <a:latin typeface="Palatino Linotype" panose="02040502050505030304" charset="0"/>
                <a:cs typeface="Palatino Linotype" panose="02040502050505030304" charset="0"/>
              </a:rPr>
              <a:t>12</a:t>
            </a:r>
            <a:endParaRPr lang="en-US" sz="1100" b="0" i="0" dirty="0">
              <a:solidFill>
                <a:srgbClr val="8A94A6"/>
              </a:solidFill>
              <a:latin typeface="Palatino Linotype" panose="02040502050505030304" charset="0"/>
              <a:cs typeface="Palatino Linotype" panose="0204050205050503030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p:cNvSpPr txBox="1"/>
          <p:nvPr/>
        </p:nvSpPr>
        <p:spPr>
          <a:xfrm>
            <a:off x="548640" y="502920"/>
            <a:ext cx="11064240" cy="530352"/>
          </a:xfrm>
          <a:prstGeom prst="rect">
            <a:avLst/>
          </a:prstGeom>
          <a:noFill/>
        </p:spPr>
        <p:txBody>
          <a:bodyPr wrap="square" lIns="18288" tIns="18288" rIns="18288" bIns="18288" anchor="t">
            <a:spAutoFit/>
          </a:bodyPr>
          <a:lstStyle/>
          <a:p>
            <a:pPr>
              <a:spcAft>
                <a:spcPts val="400"/>
              </a:spcAft>
            </a:pPr>
            <a:r>
              <a:rPr lang="en-US" sz="3200" b="1" i="0" dirty="0">
                <a:solidFill>
                  <a:srgbClr val="F6F3EC"/>
                </a:solidFill>
                <a:latin typeface="Palatino Linotype" panose="02040502050505030304" charset="0"/>
                <a:cs typeface="Palatino Linotype" panose="02040502050505030304" charset="0"/>
              </a:rPr>
              <a:t>The loss limit held for Lena, not for Anna</a:t>
            </a:r>
            <a:endParaRPr lang="en-US" sz="3200" b="0" i="0" dirty="0">
              <a:solidFill>
                <a:srgbClr val="F6F3EC"/>
              </a:solidFill>
              <a:latin typeface="Palatino Linotype" panose="02040502050505030304" charset="0"/>
              <a:cs typeface="Palatino Linotype" panose="02040502050505030304" charset="0"/>
            </a:endParaRPr>
          </a:p>
        </p:txBody>
      </p:sp>
      <p:sp>
        <p:nvSpPr>
          <p:cNvPr id="3" name="Subtitle"/>
          <p:cNvSpPr txBox="1"/>
          <p:nvPr/>
        </p:nvSpPr>
        <p:spPr>
          <a:xfrm>
            <a:off x="548640" y="1143000"/>
            <a:ext cx="11064240" cy="283464"/>
          </a:xfrm>
          <a:prstGeom prst="rect">
            <a:avLst/>
          </a:prstGeom>
          <a:noFill/>
        </p:spPr>
        <p:txBody>
          <a:bodyPr wrap="square" lIns="18288" tIns="18288" rIns="18288" bIns="18288" anchor="t">
            <a:spAutoFit/>
          </a:bodyPr>
          <a:lstStyle/>
          <a:p>
            <a:pPr>
              <a:spcAft>
                <a:spcPts val="400"/>
              </a:spcAft>
            </a:pPr>
            <a:r>
              <a:rPr lang="en-US" sz="1600" b="0" i="0" dirty="0">
                <a:solidFill>
                  <a:srgbClr val="D9DEE8"/>
                </a:solidFill>
                <a:latin typeface="Palatino Linotype" panose="02040502050505030304" charset="0"/>
                <a:cs typeface="Palatino Linotype" panose="02040502050505030304" charset="0"/>
              </a:rPr>
              <a:t>Result 6 · loss months that 2015–19 promised vs what 2020–24 delivered (at most 6 of 60 allowed)</a:t>
            </a:r>
            <a:endParaRPr lang="en-US" sz="1600" b="0" i="0" dirty="0">
              <a:solidFill>
                <a:srgbClr val="D9DEE8"/>
              </a:solidFill>
              <a:latin typeface="Palatino Linotype" panose="02040502050505030304" charset="0"/>
              <a:cs typeface="Palatino Linotype" panose="02040502050505030304" charset="0"/>
            </a:endParaRPr>
          </a:p>
        </p:txBody>
      </p:sp>
      <p:sp>
        <p:nvSpPr>
          <p:cNvPr id="4" name="Frame"/>
          <p:cNvSpPr/>
          <p:nvPr/>
        </p:nvSpPr>
        <p:spPr>
          <a:xfrm>
            <a:off x="548640" y="1600200"/>
            <a:ext cx="11064240" cy="4142935"/>
          </a:xfrm>
          <a:prstGeom prst="rect">
            <a:avLst/>
          </a:prstGeom>
          <a:solidFill>
            <a:srgbClr val="FFFFFF"/>
          </a:solidFill>
          <a:ln>
            <a:noFill/>
          </a:ln>
        </p:spPr>
        <p:txBody>
          <a:bodyPr rtlCol="0" anchor="ctr"/>
          <a:lstStyle/>
          <a:p>
            <a:endParaRPr lang="en-US" dirty="0"/>
          </a:p>
        </p:txBody>
      </p:sp>
      <p:pic>
        <p:nvPicPr>
          <p:cNvPr id="5" name="Figure" descr="Loss months out of 60 per profile, current versus proposal: three 2015 to 2019 test settings and the realised 2020 to 2024 months. Anna's limit was broken in 2020 to 2024 by both baskets (12 of 60)."/>
          <p:cNvPicPr>
            <a:picLocks noChangeAspect="1"/>
          </p:cNvPicPr>
          <p:nvPr/>
        </p:nvPicPr>
        <p:blipFill>
          <a:blip r:embed="rId1"/>
          <a:stretch>
            <a:fillRect/>
          </a:stretch>
        </p:blipFill>
        <p:spPr>
          <a:xfrm>
            <a:off x="594360" y="1645920"/>
            <a:ext cx="10972800" cy="4051495"/>
          </a:xfrm>
          <a:prstGeom prst="rect">
            <a:avLst/>
          </a:prstGeom>
        </p:spPr>
      </p:pic>
      <p:sp>
        <p:nvSpPr>
          <p:cNvPr id="7" name="Source"/>
          <p:cNvSpPr txBox="1"/>
          <p:nvPr/>
        </p:nvSpPr>
        <p:spPr>
          <a:xfrm>
            <a:off x="548640" y="6355080"/>
            <a:ext cx="10424160" cy="274320"/>
          </a:xfrm>
          <a:prstGeom prst="rect">
            <a:avLst/>
          </a:prstGeom>
          <a:noFill/>
        </p:spPr>
        <p:txBody>
          <a:bodyPr wrap="square" lIns="18288" tIns="18288" rIns="18288" bIns="18288" anchor="t">
            <a:spAutoFit/>
          </a:bodyPr>
          <a:lstStyle/>
          <a:p>
            <a:pPr>
              <a:spcAft>
                <a:spcPts val="400"/>
              </a:spcAft>
            </a:pPr>
            <a:r>
              <a:rPr lang="en-US" sz="1100" b="0" i="0" dirty="0">
                <a:solidFill>
                  <a:srgbClr val="8A94A6"/>
                </a:solidFill>
                <a:latin typeface="Palatino Linotype" panose="02040502050505030304" charset="0"/>
                <a:cs typeface="Palatino Linotype" panose="02040502050505030304" charset="0"/>
              </a:rPr>
              <a:t>Source: results/canonical/loss_limits.csv (evaluation.py) · fixed one-third weights · shaded = 2020–24, never a decision input</a:t>
            </a:r>
            <a:endParaRPr lang="en-US" sz="1100" b="0" i="0" dirty="0">
              <a:solidFill>
                <a:srgbClr val="8A94A6"/>
              </a:solidFill>
              <a:latin typeface="Palatino Linotype" panose="02040502050505030304" charset="0"/>
              <a:cs typeface="Palatino Linotype" panose="02040502050505030304" charset="0"/>
            </a:endParaRPr>
          </a:p>
        </p:txBody>
      </p:sp>
      <p:sp>
        <p:nvSpPr>
          <p:cNvPr id="8" name="Page"/>
          <p:cNvSpPr txBox="1"/>
          <p:nvPr/>
        </p:nvSpPr>
        <p:spPr>
          <a:xfrm>
            <a:off x="11155680" y="6355080"/>
            <a:ext cx="457200" cy="274320"/>
          </a:xfrm>
          <a:prstGeom prst="rect">
            <a:avLst/>
          </a:prstGeom>
          <a:noFill/>
        </p:spPr>
        <p:txBody>
          <a:bodyPr wrap="square" lIns="18288" tIns="18288" rIns="18288" bIns="18288" anchor="t">
            <a:spAutoFit/>
          </a:bodyPr>
          <a:lstStyle/>
          <a:p>
            <a:pPr algn="r">
              <a:spcAft>
                <a:spcPts val="400"/>
              </a:spcAft>
            </a:pPr>
            <a:r>
              <a:rPr lang="en-US" sz="1100" b="0" i="0" dirty="0">
                <a:solidFill>
                  <a:srgbClr val="8A94A6"/>
                </a:solidFill>
                <a:latin typeface="Palatino Linotype" panose="02040502050505030304" charset="0"/>
                <a:cs typeface="Palatino Linotype" panose="02040502050505030304" charset="0"/>
              </a:rPr>
              <a:t>14</a:t>
            </a:r>
            <a:endParaRPr lang="en-US" sz="1100" b="0" i="0" dirty="0">
              <a:solidFill>
                <a:srgbClr val="8A94A6"/>
              </a:solidFill>
              <a:latin typeface="Palatino Linotype" panose="02040502050505030304" charset="0"/>
              <a:cs typeface="Palatino Linotype" panose="02040502050505030304" charset="0"/>
            </a:endParaRPr>
          </a:p>
        </p:txBody>
      </p:sp>
    </p:spTree>
  </p:cSld>
  <p:clrMapOvr>
    <a:masterClrMapping/>
  </p:clrMapOvr>
</p:sld>
</file>

<file path=ppt/tags/tag1.xml><?xml version="1.0" encoding="utf-8"?>
<p:tagLst xmlns:p="http://schemas.openxmlformats.org/presentationml/2006/main">
  <p:tag name="KSO_WM_DIAGRAM_VIRTUALLY_FRAME" val="{&quot;height&quot;:389.15,&quot;left&quot;:43.2,&quot;top&quot;:104.4,&quot;width&quot;:871.2}"/>
</p:tagLst>
</file>

<file path=ppt/tags/tag2.xml><?xml version="1.0" encoding="utf-8"?>
<p:tagLst xmlns:p="http://schemas.openxmlformats.org/presentationml/2006/main">
  <p:tag name="KSO_WM_DIAGRAM_VIRTUALLY_FRAME" val="{&quot;height&quot;:389.15,&quot;left&quot;:43.2,&quot;top&quot;:104.4,&quot;width&quot;:871.2}"/>
</p:tagLst>
</file>

<file path=ppt/tags/tag3.xml><?xml version="1.0" encoding="utf-8"?>
<p:tagLst xmlns:p="http://schemas.openxmlformats.org/presentationml/2006/main">
  <p:tag name="KSO_WM_DIAGRAM_VIRTUALLY_FRAME" val="{&quot;height&quot;:389.15,&quot;left&quot;:43.2,&quot;top&quot;:104.4,&quot;width&quot;:871.2}"/>
</p:tagLst>
</file>

<file path=ppt/tags/tag4.xml><?xml version="1.0" encoding="utf-8"?>
<p:tagLst xmlns:p="http://schemas.openxmlformats.org/presentationml/2006/main">
  <p:tag name="KSO_WM_DIAGRAM_VIRTUALLY_FRAME" val="{&quot;height&quot;:389.15,&quot;left&quot;:43.2,&quot;top&quot;:104.4,&quot;width&quot;:871.2}"/>
</p:tagLst>
</file>

<file path=ppt/tags/tag5.xml><?xml version="1.0" encoding="utf-8"?>
<p:tagLst xmlns:p="http://schemas.openxmlformats.org/presentationml/2006/main">
  <p:tag name="KSO_WM_DIAGRAM_VIRTUALLY_FRAME" val="{&quot;height&quot;:389.15,&quot;left&quot;:43.2,&quot;top&quot;:104.4,&quot;width&quot;:871.2}"/>
</p:tagLst>
</file>

<file path=ppt/tags/tag6.xml><?xml version="1.0" encoding="utf-8"?>
<p:tagLst xmlns:p="http://schemas.openxmlformats.org/presentationml/2006/main">
  <p:tag name="KSO_WM_DIAGRAM_VIRTUALLY_FRAME" val="{&quot;height&quot;:389.15,&quot;left&quot;:43.2,&quot;top&quot;:104.4,&quot;width&quot;:871.2}"/>
</p:tagLst>
</file>

<file path=ppt/tags/tag7.xml><?xml version="1.0" encoding="utf-8"?>
<p:tagLst xmlns:p="http://schemas.openxmlformats.org/presentationml/2006/main">
  <p:tag name="KSO_WM_DIAGRAM_VIRTUALLY_FRAME" val="{&quot;height&quot;:389.15,&quot;left&quot;:43.2,&quot;top&quot;:104.4,&quot;width&quot;:871.2}"/>
</p:tagLst>
</file>

<file path=ppt/tags/tag8.xml><?xml version="1.0" encoding="utf-8"?>
<p:tagLst xmlns:p="http://schemas.openxmlformats.org/presentationml/2006/main">
  <p:tag name="KSO_WM_DIAGRAM_VIRTUALLY_FRAME" val="{&quot;height&quot;:389.15,&quot;left&quot;:43.2,&quot;top&quot;:104.4,&quot;width&quot;:871.2}"/>
</p:tagLst>
</file>

<file path=ppt/tags/tag9.xml><?xml version="1.0" encoding="utf-8"?>
<p:tagLst xmlns:p="http://schemas.openxmlformats.org/presentationml/2006/main">
  <p:tag name="KSO_WM_DIAGRAM_VIRTUALLY_FRAME" val="{&quot;height&quot;:389.15,&quot;left&quot;:43.2,&quot;top&quot;:104.4,&quot;width&quot;:871.2}"/>
</p:tagLst>
</file>

<file path=ppt/tags/tag10.xml><?xml version="1.0" encoding="utf-8"?>
<p:tagLst xmlns:p="http://schemas.openxmlformats.org/presentationml/2006/main">
  <p:tag name="KSO_WM_DIAGRAM_VIRTUALLY_FRAME" val="{&quot;height&quot;:389.15,&quot;left&quot;:43.2,&quot;top&quot;:104.4,&quot;width&quot;:871.2}"/>
</p:tagLst>
</file>

<file path=ppt/tags/tag11.xml><?xml version="1.0" encoding="utf-8"?>
<p:tagLst xmlns:p="http://schemas.openxmlformats.org/presentationml/2006/main">
  <p:tag name="KSO_WM_DIAGRAM_VIRTUALLY_FRAME" val="{&quot;height&quot;:389.15,&quot;left&quot;:43.2,&quot;top&quot;:104.4,&quot;width&quot;:871.2}"/>
</p:tagLst>
</file>

<file path=ppt/tags/tag12.xml><?xml version="1.0" encoding="utf-8"?>
<p:tagLst xmlns:p="http://schemas.openxmlformats.org/presentationml/2006/main">
  <p:tag name="KSO_WM_DIAGRAM_VIRTUALLY_FRAME" val="{&quot;height&quot;:389.15,&quot;left&quot;:43.2,&quot;top&quot;:104.4,&quot;width&quot;:871.2}"/>
</p:tagLst>
</file>

<file path=ppt/tags/tag13.xml><?xml version="1.0" encoding="utf-8"?>
<p:tagLst xmlns:p="http://schemas.openxmlformats.org/presentationml/2006/main">
  <p:tag name="KSO_WM_DIAGRAM_VIRTUALLY_FRAME" val="{&quot;height&quot;:104.4,&quot;left&quot;:43.2,&quot;top&quot;:342,&quot;width&quot;:873.36}"/>
</p:tagLst>
</file>

<file path=ppt/tags/tag14.xml><?xml version="1.0" encoding="utf-8"?>
<p:tagLst xmlns:p="http://schemas.openxmlformats.org/presentationml/2006/main">
  <p:tag name="KSO_WM_DIAGRAM_VIRTUALLY_FRAME" val="{&quot;height&quot;:104.4,&quot;left&quot;:43.2,&quot;top&quot;:342,&quot;width&quot;:873.36}"/>
</p:tagLst>
</file>

<file path=ppt/tags/tag15.xml><?xml version="1.0" encoding="utf-8"?>
<p:tagLst xmlns:p="http://schemas.openxmlformats.org/presentationml/2006/main">
  <p:tag name="KSO_WM_DIAGRAM_VIRTUALLY_FRAME" val="{&quot;height&quot;:104.4,&quot;left&quot;:43.2,&quot;top&quot;:342,&quot;width&quot;:873.36}"/>
</p:tagLst>
</file>

<file path=ppt/tags/tag16.xml><?xml version="1.0" encoding="utf-8"?>
<p:tagLst xmlns:p="http://schemas.openxmlformats.org/presentationml/2006/main">
  <p:tag name="KSO_WM_DIAGRAM_VIRTUALLY_FRAME" val="{&quot;height&quot;:104.4,&quot;left&quot;:43.2,&quot;top&quot;:342,&quot;width&quot;:873.36}"/>
</p:tagLst>
</file>

<file path=ppt/tags/tag17.xml><?xml version="1.0" encoding="utf-8"?>
<p:tagLst xmlns:p="http://schemas.openxmlformats.org/presentationml/2006/main">
  <p:tag name="KSO_WM_DIAGRAM_VIRTUALLY_FRAME" val="{&quot;height&quot;:104.4,&quot;left&quot;:43.2,&quot;top&quot;:342,&quot;width&quot;:873.36}"/>
</p:tagLst>
</file>

<file path=ppt/tags/tag18.xml><?xml version="1.0" encoding="utf-8"?>
<p:tagLst xmlns:p="http://schemas.openxmlformats.org/presentationml/2006/main">
  <p:tag name="KSO_WM_DIAGRAM_VIRTUALLY_FRAME" val="{&quot;height&quot;:104.4,&quot;left&quot;:43.2,&quot;top&quot;:342,&quot;width&quot;:873.36}"/>
</p:tagLst>
</file>

<file path=ppt/tags/tag19.xml><?xml version="1.0" encoding="utf-8"?>
<p:tagLst xmlns:p="http://schemas.openxmlformats.org/presentationml/2006/main">
  <p:tag name="KSO_WM_DIAGRAM_VIRTUALLY_FRAME" val="{&quot;height&quot;:305.28,&quot;left&quot;:3.6,&quot;top&quot;:117.35999999999999,&quot;width&quot;:956.1600000000001}"/>
</p:tagLst>
</file>

<file path=ppt/tags/tag20.xml><?xml version="1.0" encoding="utf-8"?>
<p:tagLst xmlns:p="http://schemas.openxmlformats.org/presentationml/2006/main">
  <p:tag name="KSO_WM_DIAGRAM_VIRTUALLY_FRAME" val="{&quot;height&quot;:305.28,&quot;left&quot;:3.6,&quot;top&quot;:117.35999999999999,&quot;width&quot;:956.1600000000001}"/>
</p:tagLst>
</file>

<file path=ppt/tags/tag21.xml><?xml version="1.0" encoding="utf-8"?>
<p:tagLst xmlns:p="http://schemas.openxmlformats.org/presentationml/2006/main">
  <p:tag name="KSO_WM_DIAGRAM_VIRTUALLY_FRAME" val="{&quot;height&quot;:305.28,&quot;left&quot;:3.6,&quot;top&quot;:117.35999999999999,&quot;width&quot;:956.1600000000001}"/>
</p:tagLst>
</file>

<file path=ppt/tags/tag22.xml><?xml version="1.0" encoding="utf-8"?>
<p:tagLst xmlns:p="http://schemas.openxmlformats.org/presentationml/2006/main">
  <p:tag name="KSO_WM_DIAGRAM_VIRTUALLY_FRAME" val="{&quot;height&quot;:305.28,&quot;left&quot;:3.6,&quot;top&quot;:117.35999999999999,&quot;width&quot;:956.1600000000001}"/>
</p:tagLst>
</file>

<file path=ppt/tags/tag23.xml><?xml version="1.0" encoding="utf-8"?>
<p:tagLst xmlns:p="http://schemas.openxmlformats.org/presentationml/2006/main">
  <p:tag name="KSO_WM_DIAGRAM_VIRTUALLY_FRAME" val="{&quot;height&quot;:305.28,&quot;left&quot;:3.6,&quot;top&quot;:117.35999999999999,&quot;width&quot;:956.1600000000001}"/>
</p:tagLst>
</file>

<file path=ppt/tags/tag24.xml><?xml version="1.0" encoding="utf-8"?>
<p:tagLst xmlns:p="http://schemas.openxmlformats.org/presentationml/2006/main">
  <p:tag name="KSO_WM_DIAGRAM_VIRTUALLY_FRAME" val="{&quot;height&quot;:305.28,&quot;left&quot;:3.6,&quot;top&quot;:117.35999999999999,&quot;width&quot;:956.1600000000001}"/>
</p:tagLst>
</file>

<file path=ppt/tags/tag25.xml><?xml version="1.0" encoding="utf-8"?>
<p:tagLst xmlns:p="http://schemas.openxmlformats.org/presentationml/2006/main">
  <p:tag name="KSO_WM_DIAGRAM_VIRTUALLY_FRAME" val="{&quot;height&quot;:305.28,&quot;left&quot;:3.6,&quot;top&quot;:117.35999999999999,&quot;width&quot;:956.1600000000001}"/>
</p:tagLst>
</file>

<file path=ppt/tags/tag26.xml><?xml version="1.0" encoding="utf-8"?>
<p:tagLst xmlns:p="http://schemas.openxmlformats.org/presentationml/2006/main">
  <p:tag name="KSO_WM_DIAGRAM_VIRTUALLY_FRAME" val="{&quot;height&quot;:305.28,&quot;left&quot;:3.6,&quot;top&quot;:117.35999999999999,&quot;width&quot;:956.1600000000001}"/>
</p:tagLst>
</file>

<file path=ppt/tags/tag27.xml><?xml version="1.0" encoding="utf-8"?>
<p:tagLst xmlns:p="http://schemas.openxmlformats.org/presentationml/2006/main">
  <p:tag name="KSO_WM_DIAGRAM_VIRTUALLY_FRAME" val="{&quot;height&quot;:305.28,&quot;left&quot;:3.6,&quot;top&quot;:117.35999999999999,&quot;width&quot;:956.1600000000001}"/>
</p:tagLst>
</file>

<file path=ppt/tags/tag28.xml><?xml version="1.0" encoding="utf-8"?>
<p:tagLst xmlns:p="http://schemas.openxmlformats.org/presentationml/2006/main">
  <p:tag name="KSO_WM_DIAGRAM_VIRTUALLY_FRAME" val="{&quot;height&quot;:305.28,&quot;left&quot;:3.6,&quot;top&quot;:117.35999999999999,&quot;width&quot;:956.1600000000001}"/>
</p:tagLst>
</file>

<file path=ppt/tags/tag29.xml><?xml version="1.0" encoding="utf-8"?>
<p:tagLst xmlns:p="http://schemas.openxmlformats.org/presentationml/2006/main">
  <p:tag name="KSO_WM_DIAGRAM_VIRTUALLY_FRAME" val="{&quot;height&quot;:305.28,&quot;left&quot;:3.6,&quot;top&quot;:117.35999999999999,&quot;width&quot;:956.1600000000001}"/>
</p:tagLst>
</file>

<file path=ppt/tags/tag30.xml><?xml version="1.0" encoding="utf-8"?>
<p:tagLst xmlns:p="http://schemas.openxmlformats.org/presentationml/2006/main">
  <p:tag name="KSO_WM_DIAGRAM_VIRTUALLY_FRAME" val="{&quot;height&quot;:305.28,&quot;left&quot;:3.6,&quot;top&quot;:117.35999999999999,&quot;width&quot;:956.1600000000001}"/>
</p:tagLst>
</file>

<file path=ppt/tags/tag31.xml><?xml version="1.0" encoding="utf-8"?>
<p:tagLst xmlns:p="http://schemas.openxmlformats.org/presentationml/2006/main">
  <p:tag name="KSO_WM_DIAGRAM_VIRTUALLY_FRAME" val="{&quot;height&quot;:305.28,&quot;left&quot;:3.6,&quot;top&quot;:117.35999999999999,&quot;width&quot;:956.1600000000001}"/>
</p:tagLst>
</file>

<file path=ppt/tags/tag32.xml><?xml version="1.0" encoding="utf-8"?>
<p:tagLst xmlns:p="http://schemas.openxmlformats.org/presentationml/2006/main">
  <p:tag name="KSO_WM_DIAGRAM_VIRTUALLY_FRAME" val="{&quot;height&quot;:86.4,&quot;left&quot;:43.2,&quot;top&quot;:122.4,&quot;width&quot;:871.2}"/>
</p:tagLst>
</file>

<file path=ppt/tags/tag33.xml><?xml version="1.0" encoding="utf-8"?>
<p:tagLst xmlns:p="http://schemas.openxmlformats.org/presentationml/2006/main">
  <p:tag name="KSO_WM_DIAGRAM_VIRTUALLY_FRAME" val="{&quot;height&quot;:86.4,&quot;left&quot;:43.2,&quot;top&quot;:122.4,&quot;width&quot;:871.2}"/>
</p:tagLst>
</file>

<file path=ppt/tags/tag34.xml><?xml version="1.0" encoding="utf-8"?>
<p:tagLst xmlns:p="http://schemas.openxmlformats.org/presentationml/2006/main">
  <p:tag name="KSO_WM_DIAGRAM_VIRTUALLY_FRAME" val="{&quot;height&quot;:86.4,&quot;left&quot;:43.2,&quot;top&quot;:122.4,&quot;width&quot;:871.2}"/>
</p:tagLst>
</file>

<file path=ppt/tags/tag35.xml><?xml version="1.0" encoding="utf-8"?>
<p:tagLst xmlns:p="http://schemas.openxmlformats.org/presentationml/2006/main">
  <p:tag name="KSO_WM_DIAGRAM_VIRTUALLY_FRAME" val="{&quot;height&quot;:86.4,&quot;left&quot;:43.2,&quot;top&quot;:122.4,&quot;width&quot;:871.2}"/>
</p:tagLst>
</file>

<file path=ppt/tags/tag36.xml><?xml version="1.0" encoding="utf-8"?>
<p:tagLst xmlns:p="http://schemas.openxmlformats.org/presentationml/2006/main">
  <p:tag name="KSO_WM_DIAGRAM_VIRTUALLY_FRAME" val="{&quot;height&quot;:86.4,&quot;left&quot;:43.2,&quot;top&quot;:122.4,&quot;width&quot;:871.2}"/>
</p:tagLst>
</file>

<file path=ppt/tags/tag37.xml><?xml version="1.0" encoding="utf-8"?>
<p:tagLst xmlns:p="http://schemas.openxmlformats.org/presentationml/2006/main">
  <p:tag name="KSO_WM_DIAGRAM_VIRTUALLY_FRAME" val="{&quot;height&quot;:86.4,&quot;left&quot;:43.2,&quot;top&quot;:122.4,&quot;width&quot;:871.2}"/>
</p:tagLst>
</file>

<file path=ppt/tags/tag38.xml><?xml version="1.0" encoding="utf-8"?>
<p:tagLst xmlns:p="http://schemas.openxmlformats.org/presentationml/2006/main">
  <p:tag name="KSO_WM_DIAGRAM_VIRTUALLY_FRAME" val="{&quot;height&quot;:86.4,&quot;left&quot;:43.2,&quot;top&quot;:122.4,&quot;width&quot;:871.2}"/>
</p:tagLst>
</file>

<file path=ppt/tags/tag39.xml><?xml version="1.0" encoding="utf-8"?>
<p:tagLst xmlns:p="http://schemas.openxmlformats.org/presentationml/2006/main">
  <p:tag name="KSO_WM_DIAGRAM_VIRTUALLY_FRAME" val="{&quot;height&quot;:86.4,&quot;left&quot;:43.2,&quot;top&quot;:122.4,&quot;width&quot;:871.2}"/>
</p:tagLst>
</file>

<file path=ppt/tags/tag40.xml><?xml version="1.0" encoding="utf-8"?>
<p:tagLst xmlns:p="http://schemas.openxmlformats.org/presentationml/2006/main">
  <p:tag name="KSO_WM_DIAGRAM_VIRTUALLY_FRAME" val="{&quot;height&quot;:86.4,&quot;left&quot;:43.2,&quot;top&quot;:122.4,&quot;width&quot;:871.2}"/>
</p:tagLst>
</file>

<file path=ppt/tags/tag41.xml><?xml version="1.0" encoding="utf-8"?>
<p:tagLst xmlns:p="http://schemas.openxmlformats.org/presentationml/2006/main">
  <p:tag name="KSO_WM_DIAGRAM_VIRTUALLY_FRAME" val="{&quot;height&quot;:140.4,&quot;left&quot;:43.2,&quot;top&quot;:349.2,&quot;width&quot;:874.0799999999999}"/>
</p:tagLst>
</file>

<file path=ppt/tags/tag42.xml><?xml version="1.0" encoding="utf-8"?>
<p:tagLst xmlns:p="http://schemas.openxmlformats.org/presentationml/2006/main">
  <p:tag name="KSO_WM_DIAGRAM_VIRTUALLY_FRAME" val="{&quot;height&quot;:140.4,&quot;left&quot;:43.2,&quot;top&quot;:349.2,&quot;width&quot;:874.0799999999999}"/>
</p:tagLst>
</file>

<file path=ppt/tags/tag43.xml><?xml version="1.0" encoding="utf-8"?>
<p:tagLst xmlns:p="http://schemas.openxmlformats.org/presentationml/2006/main">
  <p:tag name="KSO_WM_DIAGRAM_VIRTUALLY_FRAME" val="{&quot;height&quot;:140.4,&quot;left&quot;:43.2,&quot;top&quot;:349.2,&quot;width&quot;:874.0799999999999}"/>
</p:tagLst>
</file>

<file path=ppt/tags/tag44.xml><?xml version="1.0" encoding="utf-8"?>
<p:tagLst xmlns:p="http://schemas.openxmlformats.org/presentationml/2006/main">
  <p:tag name="KSO_WM_DIAGRAM_VIRTUALLY_FRAME" val="{&quot;height&quot;:140.4,&quot;left&quot;:43.2,&quot;top&quot;:349.2,&quot;width&quot;:874.0799999999999}"/>
</p:tagLst>
</file>

<file path=ppt/tags/tag45.xml><?xml version="1.0" encoding="utf-8"?>
<p:tagLst xmlns:p="http://schemas.openxmlformats.org/presentationml/2006/main">
  <p:tag name="KSO_WM_DIAGRAM_VIRTUALLY_FRAME" val="{&quot;height&quot;:140.4,&quot;left&quot;:43.2,&quot;top&quot;:349.2,&quot;width&quot;:874.0799999999999}"/>
</p:tagLst>
</file>

<file path=ppt/tags/tag46.xml><?xml version="1.0" encoding="utf-8"?>
<p:tagLst xmlns:p="http://schemas.openxmlformats.org/presentationml/2006/main">
  <p:tag name="KSO_WM_DIAGRAM_VIRTUALLY_FRAME" val="{&quot;height&quot;:140.4,&quot;left&quot;:43.2,&quot;top&quot;:349.2,&quot;width&quot;:874.0799999999999}"/>
</p:tagLst>
</file>

<file path=ppt/tags/tag47.xml><?xml version="1.0" encoding="utf-8"?>
<p:tagLst xmlns:p="http://schemas.openxmlformats.org/presentationml/2006/main">
  <p:tag name="KSO_WM_DIAGRAM_VIRTUALLY_FRAME" val="{&quot;height&quot;:140.4,&quot;left&quot;:43.2,&quot;top&quot;:349.2,&quot;width&quot;:874.0799999999999}"/>
</p:tagLst>
</file>

<file path=ppt/tags/tag48.xml><?xml version="1.0" encoding="utf-8"?>
<p:tagLst xmlns:p="http://schemas.openxmlformats.org/presentationml/2006/main">
  <p:tag name="KSO_WM_DIAGRAM_VIRTUALLY_FRAME" val="{&quot;height&quot;:140.4,&quot;left&quot;:43.2,&quot;top&quot;:349.2,&quot;width&quot;:874.0799999999999}"/>
</p:tagLst>
</file>

<file path=ppt/tags/tag49.xml><?xml version="1.0" encoding="utf-8"?>
<p:tagLst xmlns:p="http://schemas.openxmlformats.org/presentationml/2006/main">
  <p:tag name="KSO_WM_DIAGRAM_VIRTUALLY_FRAME" val="{&quot;height&quot;:140.4,&quot;left&quot;:43.2,&quot;top&quot;:349.2,&quot;width&quot;:874.0799999999999}"/>
</p:tagLst>
</file>

<file path=ppt/tags/tag50.xml><?xml version="1.0" encoding="utf-8"?>
<p:tagLst xmlns:p="http://schemas.openxmlformats.org/presentationml/2006/main">
  <p:tag name="KSO_WM_DIAGRAM_VIRTUALLY_FRAME" val="{&quot;height&quot;:140.4,&quot;left&quot;:43.2,&quot;top&quot;:349.2,&quot;width&quot;:874.0799999999999}"/>
</p:tagLst>
</file>

<file path=ppt/tags/tag51.xml><?xml version="1.0" encoding="utf-8"?>
<p:tagLst xmlns:p="http://schemas.openxmlformats.org/presentationml/2006/main">
  <p:tag name="KSO_WM_DIAGRAM_VIRTUALLY_FRAME" val="{&quot;height&quot;:140.4,&quot;left&quot;:43.2,&quot;top&quot;:349.2,&quot;width&quot;:874.0799999999999}"/>
</p:tagLst>
</file>

<file path=ppt/tags/tag52.xml><?xml version="1.0" encoding="utf-8"?>
<p:tagLst xmlns:p="http://schemas.openxmlformats.org/presentationml/2006/main">
  <p:tag name="KSO_WM_DIAGRAM_VIRTUALLY_FRAME" val="{&quot;height&quot;:140.4,&quot;left&quot;:43.2,&quot;top&quot;:349.2,&quot;width&quot;:874.0799999999999}"/>
</p:tagLst>
</file>

<file path=ppt/tags/tag53.xml><?xml version="1.0" encoding="utf-8"?>
<p:tagLst xmlns:p="http://schemas.openxmlformats.org/presentationml/2006/main">
  <p:tag name="KSO_WM_DIAGRAM_VIRTUALLY_FRAME" val="{&quot;height&quot;:307.43999999999994,&quot;left&quot;:3.6,&quot;top&quot;:115.2,&quot;width&quot;:956.1600000000001}"/>
</p:tagLst>
</file>

<file path=ppt/tags/tag54.xml><?xml version="1.0" encoding="utf-8"?>
<p:tagLst xmlns:p="http://schemas.openxmlformats.org/presentationml/2006/main">
  <p:tag name="KSO_WM_DIAGRAM_VIRTUALLY_FRAME" val="{&quot;height&quot;:307.43999999999994,&quot;left&quot;:3.6,&quot;top&quot;:115.2,&quot;width&quot;:956.1600000000001}"/>
</p:tagLst>
</file>

<file path=ppt/tags/tag55.xml><?xml version="1.0" encoding="utf-8"?>
<p:tagLst xmlns:p="http://schemas.openxmlformats.org/presentationml/2006/main">
  <p:tag name="KSO_WM_DIAGRAM_VIRTUALLY_FRAME" val="{&quot;height&quot;:307.43999999999994,&quot;left&quot;:3.6,&quot;top&quot;:115.2,&quot;width&quot;:956.1600000000001}"/>
</p:tagLst>
</file>

<file path=ppt/tags/tag56.xml><?xml version="1.0" encoding="utf-8"?>
<p:tagLst xmlns:p="http://schemas.openxmlformats.org/presentationml/2006/main">
  <p:tag name="KSO_WM_DIAGRAM_VIRTUALLY_FRAME" val="{&quot;height&quot;:307.43999999999994,&quot;left&quot;:3.6,&quot;top&quot;:115.2,&quot;width&quot;:956.1600000000001}"/>
</p:tagLst>
</file>

<file path=ppt/tags/tag57.xml><?xml version="1.0" encoding="utf-8"?>
<p:tagLst xmlns:p="http://schemas.openxmlformats.org/presentationml/2006/main">
  <p:tag name="KSO_WM_DIAGRAM_VIRTUALLY_FRAME" val="{&quot;height&quot;:307.43999999999994,&quot;left&quot;:3.6,&quot;top&quot;:115.2,&quot;width&quot;:956.1600000000001}"/>
</p:tagLst>
</file>

<file path=ppt/tags/tag58.xml><?xml version="1.0" encoding="utf-8"?>
<p:tagLst xmlns:p="http://schemas.openxmlformats.org/presentationml/2006/main">
  <p:tag name="KSO_WM_DIAGRAM_VIRTUALLY_FRAME" val="{&quot;height&quot;:307.43999999999994,&quot;left&quot;:3.6,&quot;top&quot;:115.2,&quot;width&quot;:956.1600000000001}"/>
</p:tagLst>
</file>

<file path=ppt/tags/tag59.xml><?xml version="1.0" encoding="utf-8"?>
<p:tagLst xmlns:p="http://schemas.openxmlformats.org/presentationml/2006/main">
  <p:tag name="KSO_WM_DIAGRAM_VIRTUALLY_FRAME" val="{&quot;height&quot;:307.43999999999994,&quot;left&quot;:3.6,&quot;top&quot;:115.2,&quot;width&quot;:956.1600000000001}"/>
</p:tagLst>
</file>

<file path=ppt/tags/tag60.xml><?xml version="1.0" encoding="utf-8"?>
<p:tagLst xmlns:p="http://schemas.openxmlformats.org/presentationml/2006/main">
  <p:tag name="KSO_WM_DIAGRAM_VIRTUALLY_FRAME" val="{&quot;height&quot;:307.43999999999994,&quot;left&quot;:3.6,&quot;top&quot;:115.2,&quot;width&quot;:956.1600000000001}"/>
</p:tagLst>
</file>

<file path=ppt/tags/tag61.xml><?xml version="1.0" encoding="utf-8"?>
<p:tagLst xmlns:p="http://schemas.openxmlformats.org/presentationml/2006/main">
  <p:tag name="KSO_WM_DIAGRAM_VIRTUALLY_FRAME" val="{&quot;height&quot;:307.43999999999994,&quot;left&quot;:3.6,&quot;top&quot;:115.2,&quot;width&quot;:956.1600000000001}"/>
</p:tagLst>
</file>

<file path=ppt/tags/tag62.xml><?xml version="1.0" encoding="utf-8"?>
<p:tagLst xmlns:p="http://schemas.openxmlformats.org/presentationml/2006/main">
  <p:tag name="KSO_WM_DIAGRAM_VIRTUALLY_FRAME" val="{&quot;height&quot;:333.8711023622047,&quot;left&quot;:3.907007874015748,&quot;top&quot;:117.5,&quot;width&quot;:956.0929921259842}"/>
</p:tagLst>
</file>

<file path=ppt/tags/tag63.xml><?xml version="1.0" encoding="utf-8"?>
<p:tagLst xmlns:p="http://schemas.openxmlformats.org/presentationml/2006/main">
  <p:tag name="KSO_WM_DIAGRAM_VIRTUALLY_FRAME" val="{&quot;height&quot;:333.8711023622047,&quot;left&quot;:3.907007874015748,&quot;top&quot;:117.5,&quot;width&quot;:956.0929921259842}"/>
</p:tagLst>
</file>

<file path=ppt/tags/tag64.xml><?xml version="1.0" encoding="utf-8"?>
<p:tagLst xmlns:p="http://schemas.openxmlformats.org/presentationml/2006/main">
  <p:tag name="KSO_WM_DIAGRAM_VIRTUALLY_FRAME" val="{&quot;height&quot;:333.8711023622047,&quot;left&quot;:3.907007874015748,&quot;top&quot;:117.5,&quot;width&quot;:956.0929921259842}"/>
</p:tagLst>
</file>

<file path=ppt/tags/tag65.xml><?xml version="1.0" encoding="utf-8"?>
<p:tagLst xmlns:p="http://schemas.openxmlformats.org/presentationml/2006/main">
  <p:tag name="KSO_WM_DIAGRAM_VIRTUALLY_FRAME" val="{&quot;height&quot;:333.8711023622047,&quot;left&quot;:3.907007874015748,&quot;top&quot;:117.5,&quot;width&quot;:956.0929921259842}"/>
</p:tagLst>
</file>

<file path=ppt/tags/tag66.xml><?xml version="1.0" encoding="utf-8"?>
<p:tagLst xmlns:p="http://schemas.openxmlformats.org/presentationml/2006/main">
  <p:tag name="KSO_WM_DIAGRAM_VIRTUALLY_FRAME" val="{&quot;height&quot;:333.8711023622047,&quot;left&quot;:3.907007874015748,&quot;top&quot;:117.5,&quot;width&quot;:956.0929921259842}"/>
</p:tagLst>
</file>

<file path=ppt/tags/tag67.xml><?xml version="1.0" encoding="utf-8"?>
<p:tagLst xmlns:p="http://schemas.openxmlformats.org/presentationml/2006/main">
  <p:tag name="KSO_WM_DIAGRAM_VIRTUALLY_FRAME" val="{&quot;height&quot;:333.8711023622047,&quot;left&quot;:3.907007874015748,&quot;top&quot;:117.5,&quot;width&quot;:956.0929921259842}"/>
</p:tagLst>
</file>

<file path=ppt/tags/tag68.xml><?xml version="1.0" encoding="utf-8"?>
<p:tagLst xmlns:p="http://schemas.openxmlformats.org/presentationml/2006/main">
  <p:tag name="KSO_WM_DIAGRAM_VIRTUALLY_FRAME" val="{&quot;height&quot;:333.8711023622047,&quot;left&quot;:3.907007874015748,&quot;top&quot;:117.5,&quot;width&quot;:956.0929921259842}"/>
</p:tagLst>
</file>

<file path=ppt/tags/tag69.xml><?xml version="1.0" encoding="utf-8"?>
<p:tagLst xmlns:p="http://schemas.openxmlformats.org/presentationml/2006/main">
  <p:tag name="KSO_WM_DIAGRAM_VIRTUALLY_FRAME" val="{&quot;height&quot;:333.8711023622047,&quot;left&quot;:3.907007874015748,&quot;top&quot;:117.5,&quot;width&quot;:956.0929921259842}"/>
</p:tagLst>
</file>

<file path=ppt/tags/tag70.xml><?xml version="1.0" encoding="utf-8"?>
<p:tagLst xmlns:p="http://schemas.openxmlformats.org/presentationml/2006/main">
  <p:tag name="KSO_WM_DIAGRAM_VIRTUALLY_FRAME" val="{&quot;height&quot;:333.8711023622047,&quot;left&quot;:3.907007874015748,&quot;top&quot;:117.5,&quot;width&quot;:956.0929921259842}"/>
</p:tagLst>
</file>

<file path=ppt/tags/tag71.xml><?xml version="1.0" encoding="utf-8"?>
<p:tagLst xmlns:p="http://schemas.openxmlformats.org/presentationml/2006/main">
  <p:tag name="KSO_WM_DIAGRAM_VIRTUALLY_FRAME" val="{&quot;height&quot;:333.8711023622047,&quot;left&quot;:3.907007874015748,&quot;top&quot;:117.5,&quot;width&quot;:956.0929921259842}"/>
</p:tagLst>
</file>

<file path=ppt/tags/tag72.xml><?xml version="1.0" encoding="utf-8"?>
<p:tagLst xmlns:p="http://schemas.openxmlformats.org/presentationml/2006/main">
  <p:tag name="KSO_WM_DIAGRAM_VIRTUALLY_FRAME" val="{&quot;height&quot;:333.8711023622047,&quot;left&quot;:3.907007874015748,&quot;top&quot;:117.5,&quot;width&quot;:956.0929921259842}"/>
</p:tagLst>
</file>

<file path=ppt/tags/tag73.xml><?xml version="1.0" encoding="utf-8"?>
<p:tagLst xmlns:p="http://schemas.openxmlformats.org/presentationml/2006/main">
  <p:tag name="KSO_WM_DIAGRAM_VIRTUALLY_FRAME" val="{&quot;height&quot;:333.8711023622047,&quot;left&quot;:3.907007874015748,&quot;top&quot;:117.5,&quot;width&quot;:956.0929921259842}"/>
</p:tagLst>
</file>

<file path=ppt/tags/tag74.xml><?xml version="1.0" encoding="utf-8"?>
<p:tagLst xmlns:p="http://schemas.openxmlformats.org/presentationml/2006/main">
  <p:tag name="KSO_WM_DIAGRAM_VIRTUALLY_FRAME" val="{&quot;height&quot;:333.8711023622047,&quot;left&quot;:3.907007874015748,&quot;top&quot;:117.5,&quot;width&quot;:956.0929921259842}"/>
</p:tagLst>
</file>

<file path=ppt/tags/tag75.xml><?xml version="1.0" encoding="utf-8"?>
<p:tagLst xmlns:p="http://schemas.openxmlformats.org/presentationml/2006/main">
  <p:tag name="KSO_WM_DIAGRAM_VIRTUALLY_FRAME" val="{&quot;height&quot;:333.8711023622047,&quot;left&quot;:3.907007874015748,&quot;top&quot;:117.5,&quot;width&quot;:956.0929921259842}"/>
</p:tagLst>
</file>

<file path=ppt/tags/tag76.xml><?xml version="1.0" encoding="utf-8"?>
<p:tagLst xmlns:p="http://schemas.openxmlformats.org/presentationml/2006/main">
  <p:tag name="KSO_WM_DIAGRAM_VIRTUALLY_FRAME" val="{&quot;height&quot;:333.8711023622047,&quot;left&quot;:3.907007874015748,&quot;top&quot;:117.5,&quot;width&quot;:956.0929921259842}"/>
</p:tagLst>
</file>

<file path=ppt/tags/tag77.xml><?xml version="1.0" encoding="utf-8"?>
<p:tagLst xmlns:p="http://schemas.openxmlformats.org/presentationml/2006/main">
  <p:tag name="KSO_WM_DIAGRAM_VIRTUALLY_FRAME" val="{&quot;height&quot;:333.8711023622047,&quot;left&quot;:3.907007874015748,&quot;top&quot;:117.5,&quot;width&quot;:956.0929921259842}"/>
</p:tagLst>
</file>

<file path=ppt/tags/tag78.xml><?xml version="1.0" encoding="utf-8"?>
<p:tagLst xmlns:p="http://schemas.openxmlformats.org/presentationml/2006/main">
  <p:tag name="KSO_WM_DIAGRAM_VIRTUALLY_FRAME" val="{&quot;height&quot;:333.8711023622047,&quot;left&quot;:3.907007874015748,&quot;top&quot;:117.5,&quot;width&quot;:956.0929921259842}"/>
</p:tagLst>
</file>

<file path=ppt/tags/tag79.xml><?xml version="1.0" encoding="utf-8"?>
<p:tagLst xmlns:p="http://schemas.openxmlformats.org/presentationml/2006/main">
  <p:tag name="KSO_WM_DIAGRAM_VIRTUALLY_FRAME" val="{&quot;height&quot;:333.8711023622047,&quot;left&quot;:3.907007874015748,&quot;top&quot;:117.5,&quot;width&quot;:956.0929921259842}"/>
</p:tagLst>
</file>

<file path=ppt/tags/tag80.xml><?xml version="1.0" encoding="utf-8"?>
<p:tagLst xmlns:p="http://schemas.openxmlformats.org/presentationml/2006/main">
  <p:tag name="KSO_WM_DIAGRAM_VIRTUALLY_FRAME" val="{&quot;height&quot;:333.8711023622047,&quot;left&quot;:3.907007874015748,&quot;top&quot;:117.5,&quot;width&quot;:956.092992125984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9954</Words>
  <Application>WPS 演示</Application>
  <PresentationFormat>Breitbild</PresentationFormat>
  <Paragraphs>440</Paragraphs>
  <Slides>15</Slides>
  <Notes>21</Notes>
  <HiddenSlides>0</HiddenSlides>
  <MMClips>0</MMClips>
  <ScaleCrop>false</ScaleCrop>
  <HeadingPairs>
    <vt:vector size="6" baseType="variant">
      <vt:variant>
        <vt:lpstr>已用的字体</vt:lpstr>
      </vt:variant>
      <vt:variant>
        <vt:i4>23</vt:i4>
      </vt:variant>
      <vt:variant>
        <vt:lpstr>主题</vt:lpstr>
      </vt:variant>
      <vt:variant>
        <vt:i4>1</vt:i4>
      </vt:variant>
      <vt:variant>
        <vt:lpstr>幻灯片标题</vt:lpstr>
      </vt:variant>
      <vt:variant>
        <vt:i4>15</vt:i4>
      </vt:variant>
    </vt:vector>
  </HeadingPairs>
  <TitlesOfParts>
    <vt:vector size="39" baseType="lpstr">
      <vt:lpstr>Arial</vt:lpstr>
      <vt:lpstr>宋体</vt:lpstr>
      <vt:lpstr>Wingdings</vt:lpstr>
      <vt:lpstr>Source Serif 4</vt:lpstr>
      <vt:lpstr>Segoe Print</vt:lpstr>
      <vt:lpstr>Source Serif 4</vt:lpstr>
      <vt:lpstr>Source Serif 4</vt:lpstr>
      <vt:lpstr>MingLiU-ExtB</vt:lpstr>
      <vt:lpstr>IBM Plex Sans</vt:lpstr>
      <vt:lpstr>IBM Plex Sans</vt:lpstr>
      <vt:lpstr>IBM Plex Sans</vt:lpstr>
      <vt:lpstr>Palatino Linotype</vt:lpstr>
      <vt:lpstr>Cambria</vt:lpstr>
      <vt:lpstr>Calibri</vt:lpstr>
      <vt:lpstr>微软雅黑</vt:lpstr>
      <vt:lpstr>Calibri</vt:lpstr>
      <vt:lpstr>Calibri</vt:lpstr>
      <vt:lpstr>Arial</vt:lpstr>
      <vt:lpstr>Calibri</vt:lpstr>
      <vt:lpstr>Arial Unicode MS</vt:lpstr>
      <vt:lpstr>Cambria</vt:lpstr>
      <vt:lpstr>等线</vt:lpstr>
      <vt:lpstr>Cambria</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Policy Recommendations </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Quantum Hackathon Finance – Project Plan</dc:title>
  <dc:creator>TUM Quantum Hackathon, Finance team</dc:creator>
  <dc:subject>PptxGenJS Presentation</dc:subject>
  <cp:lastModifiedBy>YMY</cp:lastModifiedBy>
  <cp:revision>17</cp:revision>
  <dcterms:created xsi:type="dcterms:W3CDTF">2026-10-16T12:30:00Z</dcterms:created>
  <dcterms:modified xsi:type="dcterms:W3CDTF">2026-10-28T10:45:56Z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2052-12.1.0.29161</vt:lpwstr>
  </property>
  <property fmtid="{D5CDD505-2E9C-101B-9397-08002B2CF9AE}" pid="3" name="ICV">
    <vt:lpwstr>703318A337A7451FA00A80138B5F4EBE_12</vt:lpwstr>
  </property>
</Properties>
</file>