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72" r:id="rId5"/>
    <p:sldId id="273" r:id="rId6"/>
    <p:sldId id="289" r:id="rId7"/>
    <p:sldId id="275" r:id="rId8"/>
    <p:sldId id="274" r:id="rId9"/>
    <p:sldId id="290" r:id="rId10"/>
    <p:sldId id="291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92F"/>
    <a:srgbClr val="565B61"/>
    <a:srgbClr val="E3D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74695-FBB0-F41F-E19D-A8BF81F59A0E}" v="3354" dt="2026-10-30T03:36:31.587"/>
    <p1510:client id="{AFDC03ED-B506-4213-89C5-733D268BD075}" v="3" dt="2026-10-30T02:06:39.319"/>
    <p1510:client id="{C22A7A2D-018F-A335-2EB3-290BDBE02E6F}" v="20" dt="2026-10-30T00:21:24.483"/>
    <p1510:client id="{DB28378E-5B17-4B9C-BFEB-69A96008EB3D}" v="231" dt="2026-10-30T03:27:55.903"/>
    <p1510:client id="{EB4867F3-603B-43F1-A657-A97FF15CF3D2}" v="4" dt="2026-10-30T00:23:10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jpeg"/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gif"/><Relationship Id="rId11" Type="http://schemas.openxmlformats.org/officeDocument/2006/relationships/image" Target="../media/image10.jpeg"/><Relationship Id="rId5" Type="http://schemas.openxmlformats.org/officeDocument/2006/relationships/image" Target="../media/image4.gif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ortrait_lena.jpeg"/><Relationship Id="rId3" Type="http://schemas.openxmlformats.org/officeDocument/2006/relationships/image" Target="../media/portrait_thomas.jpeg"/><Relationship Id="rId4" Type="http://schemas.openxmlformats.org/officeDocument/2006/relationships/image" Target="../media/portrait_anna.jpe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slidefig_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slidefig_15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slidefig_16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ortrait_lena.jpeg"/><Relationship Id="rId3" Type="http://schemas.openxmlformats.org/officeDocument/2006/relationships/image" Target="../media/portrait_thomas.jpeg"/><Relationship Id="rId4" Type="http://schemas.openxmlformats.org/officeDocument/2006/relationships/image" Target="../media/portrait_anna.jpe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slidefig_18.png"/><Relationship Id="rId4" Type="http://schemas.openxmlformats.org/officeDocument/2006/relationships/image" Target="../media/portrait_lena.jpe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slidefig_19.png"/><Relationship Id="rId4" Type="http://schemas.openxmlformats.org/officeDocument/2006/relationships/image" Target="../media/portrait_thomas.jpe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slidefig_20.png"/><Relationship Id="rId4" Type="http://schemas.openxmlformats.org/officeDocument/2006/relationships/image" Target="../media/portrait_anna.jpe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slidefig_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54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93C5FD"/>
                </a:solidFill>
              </a:defRPr>
            </a:pPr>
            <a:r>
              <a:rPr lang="en-US" sz="1200" b="1">
                <a:solidFill>
                  <a:srgbClr val="93C5FD"/>
                </a:solidFill>
                <a:ea typeface="Calibri"/>
                <a:cs typeface="Calibri"/>
              </a:rPr>
              <a:t>GERMAN PENSION REFORM | SATELLITE SECTOR ALLOCATION</a:t>
            </a:r>
            <a:endParaRPr lang="en-US"/>
          </a:p>
          <a:p>
            <a:pPr>
              <a:spcAft>
                <a:spcPts val="1200"/>
              </a:spcAft>
              <a:defRPr sz="1200" b="1">
                <a:solidFill>
                  <a:srgbClr val="93C5FD"/>
                </a:solidFill>
              </a:defRPr>
            </a:pPr>
            <a:r>
              <a:rPr lang="en-US" sz="4000" b="1">
                <a:solidFill>
                  <a:srgbClr val="FFFFFF"/>
                </a:solidFill>
                <a:ea typeface="Calibri"/>
                <a:cs typeface="Calibri"/>
              </a:rPr>
              <a:t>Keep, Review, or Switch?</a:t>
            </a:r>
            <a:endParaRPr lang="en-US"/>
          </a:p>
          <a:p>
            <a:pPr>
              <a:spcAft>
                <a:spcPts val="3200"/>
              </a:spcAft>
              <a:defRPr sz="1200" b="1">
                <a:solidFill>
                  <a:srgbClr val="93C5FD"/>
                </a:solidFill>
              </a:defRPr>
            </a:pPr>
            <a:r>
              <a:rPr lang="en-US">
                <a:solidFill>
                  <a:srgbClr val="E2E8F0"/>
                </a:solidFill>
                <a:ea typeface="Calibri"/>
                <a:cs typeface="Calibri"/>
              </a:rPr>
              <a:t>How Quantum Computing Supports Safe Pension Investment Decisions</a:t>
            </a:r>
            <a:endParaRPr lang="en-US"/>
          </a:p>
          <a:p>
            <a:pPr>
              <a:spcAft>
                <a:spcPts val="3200"/>
              </a:spcAft>
              <a:defRPr sz="1200" b="1">
                <a:solidFill>
                  <a:srgbClr val="93C5FD"/>
                </a:solidFill>
              </a:defRPr>
            </a:pPr>
            <a:endParaRPr lang="en-US">
              <a:solidFill>
                <a:srgbClr val="E2E8F0"/>
              </a:solidFill>
              <a:ea typeface="Calibri"/>
              <a:cs typeface="Calibri"/>
            </a:endParaRPr>
          </a:p>
          <a:p>
            <a:pPr>
              <a:defRPr sz="1200" b="1">
                <a:solidFill>
                  <a:srgbClr val="93C5FD"/>
                </a:solidFill>
              </a:defRPr>
            </a:pPr>
            <a:r>
              <a:rPr lang="en-US" sz="1100">
                <a:solidFill>
                  <a:srgbClr val="94A3B8"/>
                </a:solidFill>
                <a:ea typeface="Calibri"/>
                <a:cs typeface="Calibri"/>
              </a:rPr>
              <a:t>Decision Date: 31 Dec 2019 | Fiduciary Mandate: </a:t>
            </a:r>
            <a:r>
              <a:rPr lang="en-US" sz="1100" err="1">
                <a:solidFill>
                  <a:srgbClr val="94A3B8"/>
                </a:solidFill>
                <a:ea typeface="Calibri"/>
                <a:cs typeface="Calibri"/>
              </a:rPr>
              <a:t>Alterssicherungskommission</a:t>
            </a:r>
            <a:r>
              <a:rPr lang="en-US" sz="1100">
                <a:solidFill>
                  <a:srgbClr val="94A3B8"/>
                </a:solidFill>
                <a:ea typeface="Calibri"/>
                <a:cs typeface="Calibri"/>
              </a:rPr>
              <a:t> &amp; KENFO Fund Governance</a:t>
            </a:r>
            <a:br>
              <a:rPr lang="en-US" sz="1100"/>
            </a:br>
            <a:r>
              <a:rPr lang="en-US" sz="1100">
                <a:solidFill>
                  <a:srgbClr val="94A3B8"/>
                </a:solidFill>
                <a:ea typeface="Calibri"/>
                <a:cs typeface="Calibri"/>
              </a:rPr>
              <a:t>TUM Quantum Hackathon 2026 (</a:t>
            </a:r>
            <a:r>
              <a:rPr lang="en-US" sz="1100" err="1">
                <a:solidFill>
                  <a:srgbClr val="94A3B8"/>
                </a:solidFill>
                <a:ea typeface="Calibri"/>
                <a:cs typeface="Calibri"/>
              </a:rPr>
              <a:t>QuantWorld</a:t>
            </a:r>
            <a:r>
              <a:rPr lang="en-US" sz="1100">
                <a:solidFill>
                  <a:srgbClr val="94A3B8"/>
                </a:solidFill>
                <a:ea typeface="Calibri"/>
                <a:cs typeface="Calibri"/>
              </a:rPr>
              <a:t>) | 10-Minute Executive Pitch</a:t>
            </a:r>
            <a:endParaRPr lang="en-GB" sz="110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78F48-64FB-26D6-3C4E-72439EB0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B0A460-1D69-E70C-5969-FF278FD029D8}"/>
              </a:ext>
            </a:extLst>
          </p:cNvPr>
          <p:cNvSpPr/>
          <p:nvPr/>
        </p:nvSpPr>
        <p:spPr>
          <a:xfrm>
            <a:off x="2875" y="-4313"/>
            <a:ext cx="8448135" cy="181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6986C7-1411-2B91-2C88-542202BDDDA3}"/>
              </a:ext>
            </a:extLst>
          </p:cNvPr>
          <p:cNvSpPr/>
          <p:nvPr/>
        </p:nvSpPr>
        <p:spPr>
          <a:xfrm>
            <a:off x="2874" y="168215"/>
            <a:ext cx="9598325" cy="181155"/>
          </a:xfrm>
          <a:prstGeom prst="rect">
            <a:avLst/>
          </a:prstGeom>
          <a:solidFill>
            <a:srgbClr val="E3D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AC0395-F09F-7254-F580-BD7107807844}"/>
              </a:ext>
            </a:extLst>
          </p:cNvPr>
          <p:cNvSpPr/>
          <p:nvPr/>
        </p:nvSpPr>
        <p:spPr>
          <a:xfrm>
            <a:off x="2873" y="340742"/>
            <a:ext cx="6464062" cy="1955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D0939-B901-9D2A-EFD7-B52983C7BE16}"/>
              </a:ext>
            </a:extLst>
          </p:cNvPr>
          <p:cNvSpPr txBox="1"/>
          <p:nvPr/>
        </p:nvSpPr>
        <p:spPr>
          <a:xfrm>
            <a:off x="914400" y="1645920"/>
            <a:ext cx="10332720" cy="26417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93C5FD"/>
                </a:solidFill>
              </a:defRPr>
            </a:pPr>
            <a:r>
              <a:rPr lang="en-US" sz="1400"/>
              <a:t>TEAM FINANCE BROSITOS AND BROSITAS</a:t>
            </a:r>
            <a:endParaRPr lang="en-US" sz="140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endParaRPr lang="en-US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KEEP, REVIEW, or SWITCH?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bg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AN APPROACH TO OPTIMISE PORTFOLIOS USING QUANTUM METHODS</a:t>
            </a:r>
            <a:endParaRPr lang="en-US" sz="2000">
              <a:solidFill>
                <a:schemeClr val="bg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DCCCE-9DBE-6CC5-868C-DB1EF104C0E3}"/>
              </a:ext>
            </a:extLst>
          </p:cNvPr>
          <p:cNvSpPr txBox="1"/>
          <p:nvPr/>
        </p:nvSpPr>
        <p:spPr>
          <a:xfrm>
            <a:off x="905774" y="6016925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b="0" i="0" u="none" strike="noStrike" baseline="0">
                <a:solidFill>
                  <a:srgbClr val="94A3B8"/>
                </a:solidFill>
                <a:latin typeface="Calibri"/>
              </a:rPr>
              <a:t>TUM Quantum Hackathon 2026 (</a:t>
            </a:r>
            <a:r>
              <a:rPr lang="en-US" sz="1100" b="0" i="0" u="none" strike="noStrike" baseline="0">
                <a:solidFill>
                  <a:srgbClr val="94A3B8"/>
                </a:solidFill>
                <a:latin typeface="Calibri"/>
              </a:rPr>
              <a:t>QuantWorld</a:t>
            </a:r>
            <a:r>
              <a:rPr lang="en-GB" sz="1100" b="0" i="0" u="none" strike="noStrike" baseline="0">
                <a:solidFill>
                  <a:srgbClr val="94A3B8"/>
                </a:solidFill>
                <a:latin typeface="Calibri"/>
              </a:rPr>
              <a:t>) | Final pitch, 30 October 2026</a:t>
            </a:r>
            <a:r>
              <a:rPr lang="en-GB" sz="1100">
                <a:solidFill>
                  <a:srgbClr val="94A3B8"/>
                </a:solidFill>
                <a:latin typeface="Calibri"/>
              </a:rPr>
              <a:t> |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GB" sz="1100">
                <a:solidFill>
                  <a:srgbClr val="94A3B8"/>
                </a:solidFill>
                <a:latin typeface="Calibri"/>
              </a:rPr>
              <a:t>Ahmed Mahmoud | Ivan . | Jonas Sandelmann | Manyu . | Mingzhi . | Samarth Seth</a:t>
            </a:r>
            <a:endParaRPr lang="en-US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2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21792"/>
            <a:ext cx="10728655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900" b="1">
                <a:solidFill>
                  <a:srgbClr val="0A192F"/>
                </a:solidFill>
                <a:latin typeface="Calibri"/>
              </a:defRPr>
            </a:pPr>
            <a:r>
              <a:rPr lang="en-US" sz="1900">
                <a:latin typeface="Calibri"/>
                <a:ea typeface="Calibri"/>
                <a:cs typeface="Calibri"/>
              </a:rPr>
              <a:t>MEME SLIDE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ummer Heat: Not Built for the Hottest Days | TikTok">
            <a:extLst>
              <a:ext uri="{FF2B5EF4-FFF2-40B4-BE49-F238E27FC236}">
                <a16:creationId xmlns:a16="http://schemas.microsoft.com/office/drawing/2014/main" id="{25DA76EA-482A-177F-4688-F8D66EB11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549" y="1948948"/>
            <a:ext cx="3332938" cy="5029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906332-B095-7F41-7474-59157E14A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6014" y="2828803"/>
            <a:ext cx="6096000" cy="2781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72F271-9A20-D007-749F-BCF3B3D84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228" y="5122840"/>
            <a:ext cx="4905375" cy="3695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C9F7D2-3EE2-C909-113A-1F808A0B6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7026" y="2816725"/>
            <a:ext cx="2095500" cy="1571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2979EE-BA64-2E85-82D5-456069ABC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6139" y="2050861"/>
            <a:ext cx="4743450" cy="2162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094C98-6AB8-61EE-E900-8FF6F1E35C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102" y="-1523359"/>
            <a:ext cx="4762500" cy="35718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A13F4F-F457-0ED9-4F5C-9E095AD48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0549" y="5124246"/>
            <a:ext cx="3810000" cy="2133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B2AD15-E25F-16B5-1A4E-65BFD097EE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30326" y="5236811"/>
            <a:ext cx="3474613" cy="25642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E16B16-AA23-10C5-F7BF-BE1038552A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7781" y="-3075856"/>
            <a:ext cx="5276850" cy="52768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4D28FEB-1CD6-1827-AA08-837D295590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13227" y="173663"/>
            <a:ext cx="2072560" cy="26362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36B8DC-6467-4292-4A6D-E7CB8567B1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4018208" y="-436008"/>
            <a:ext cx="6731431" cy="3613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AC5B26-4FC7-BBB2-811A-3160B697CC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5804" y="-2970213"/>
            <a:ext cx="1693151" cy="29712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5AAC3-5501-EBA0-67D8-987EBED5E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A8B26E-0165-6AFC-392E-83750BFB9C99}"/>
              </a:ext>
            </a:extLst>
          </p:cNvPr>
          <p:cNvSpPr txBox="1"/>
          <p:nvPr/>
        </p:nvSpPr>
        <p:spPr>
          <a:xfrm>
            <a:off x="914400" y="2120373"/>
            <a:ext cx="10332720" cy="21544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93C5FD"/>
                </a:solidFill>
              </a:defRPr>
            </a:pPr>
            <a:endParaRPr lang="en-US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endParaRPr lang="en-US" sz="1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CHALLENGE</a:t>
            </a:r>
            <a:endParaRPr lang="en-US"/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bg1">
                    <a:lumMod val="65000"/>
                  </a:schemeClr>
                </a:solidFill>
                <a:ea typeface="Calibri"/>
                <a:cs typeface="Calibri"/>
              </a:rPr>
              <a:t>THE BURNING PENSION GAP (QUITE LITERALLY) DUE TO INFLATION</a:t>
            </a:r>
            <a:endParaRPr lang="en-US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0C07EA-F994-C04B-56C4-82B45C1CE9CE}"/>
              </a:ext>
            </a:extLst>
          </p:cNvPr>
          <p:cNvSpPr/>
          <p:nvPr/>
        </p:nvSpPr>
        <p:spPr>
          <a:xfrm>
            <a:off x="2875" y="-4313"/>
            <a:ext cx="5213230" cy="181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CB934F-2B5F-4303-5920-4AE0EB67EA81}"/>
              </a:ext>
            </a:extLst>
          </p:cNvPr>
          <p:cNvSpPr/>
          <p:nvPr/>
        </p:nvSpPr>
        <p:spPr>
          <a:xfrm>
            <a:off x="2874" y="168215"/>
            <a:ext cx="2754703" cy="181155"/>
          </a:xfrm>
          <a:prstGeom prst="rect">
            <a:avLst/>
          </a:prstGeom>
          <a:solidFill>
            <a:srgbClr val="E3D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6053C2-8BD7-76DB-EDE7-10502C8E6529}"/>
              </a:ext>
            </a:extLst>
          </p:cNvPr>
          <p:cNvSpPr/>
          <p:nvPr/>
        </p:nvSpPr>
        <p:spPr>
          <a:xfrm>
            <a:off x="2873" y="340742"/>
            <a:ext cx="3976780" cy="1955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5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B03F5-40DB-F637-D9B8-9AF09A06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0CA5B84-F4B6-66F0-9A3A-703959FB2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2" y="306917"/>
            <a:ext cx="11194281" cy="62518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F8949C-1412-6632-C1E5-C1E5BA35FDDF}"/>
              </a:ext>
            </a:extLst>
          </p:cNvPr>
          <p:cNvSpPr txBox="1"/>
          <p:nvPr/>
        </p:nvSpPr>
        <p:spPr>
          <a:xfrm rot="240000">
            <a:off x="7638756" y="2722772"/>
            <a:ext cx="1604048" cy="461665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Calibri"/>
                <a:cs typeface="Calibri"/>
              </a:rPr>
              <a:t>INFLATION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87BD92-8B13-2F5F-E333-71198EC7C835}"/>
              </a:ext>
            </a:extLst>
          </p:cNvPr>
          <p:cNvSpPr txBox="1"/>
          <p:nvPr/>
        </p:nvSpPr>
        <p:spPr>
          <a:xfrm rot="-960000">
            <a:off x="1008303" y="4652817"/>
            <a:ext cx="2019684" cy="584775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INFLATION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80A13F-DA18-7E9A-91BF-28A03B9E34DC}"/>
              </a:ext>
            </a:extLst>
          </p:cNvPr>
          <p:cNvSpPr txBox="1"/>
          <p:nvPr/>
        </p:nvSpPr>
        <p:spPr>
          <a:xfrm rot="900000">
            <a:off x="9305636" y="5622634"/>
            <a:ext cx="2019684" cy="584775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Calibri"/>
                <a:cs typeface="Calibri"/>
              </a:rPr>
              <a:t>INFLATION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B2213-16BD-E234-5131-07601EB46A89}"/>
              </a:ext>
            </a:extLst>
          </p:cNvPr>
          <p:cNvSpPr txBox="1"/>
          <p:nvPr/>
        </p:nvSpPr>
        <p:spPr>
          <a:xfrm>
            <a:off x="5104279" y="4115841"/>
            <a:ext cx="1111442" cy="646331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Calibri"/>
                <a:cs typeface="Calibri"/>
              </a:rPr>
              <a:t>MY SAVINGS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8915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CAA1B-4386-9C41-EF2D-09E74416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5166474-BBF9-E53F-3DCF-8A06D78C7D1E}"/>
              </a:ext>
            </a:extLst>
          </p:cNvPr>
          <p:cNvSpPr/>
          <p:nvPr/>
        </p:nvSpPr>
        <p:spPr>
          <a:xfrm>
            <a:off x="2875" y="-4313"/>
            <a:ext cx="5213230" cy="181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CA374B-4DD9-F080-DC74-F946B8A60E00}"/>
              </a:ext>
            </a:extLst>
          </p:cNvPr>
          <p:cNvSpPr/>
          <p:nvPr/>
        </p:nvSpPr>
        <p:spPr>
          <a:xfrm>
            <a:off x="2874" y="168215"/>
            <a:ext cx="2754703" cy="181155"/>
          </a:xfrm>
          <a:prstGeom prst="rect">
            <a:avLst/>
          </a:prstGeom>
          <a:solidFill>
            <a:srgbClr val="E3D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5DD255-5817-EE37-FF21-930F9F6FF49A}"/>
              </a:ext>
            </a:extLst>
          </p:cNvPr>
          <p:cNvSpPr/>
          <p:nvPr/>
        </p:nvSpPr>
        <p:spPr>
          <a:xfrm>
            <a:off x="2873" y="340742"/>
            <a:ext cx="3976780" cy="1955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he godfather 1972 | God father, Godfather trilogy, The godfather part 1">
            <a:extLst>
              <a:ext uri="{FF2B5EF4-FFF2-40B4-BE49-F238E27FC236}">
                <a16:creationId xmlns:a16="http://schemas.microsoft.com/office/drawing/2014/main" id="{DD1B39C6-2DAE-CB44-89B3-123B29C20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" r="125" b="1222"/>
          <a:stretch>
            <a:fillRect/>
          </a:stretch>
        </p:blipFill>
        <p:spPr>
          <a:xfrm>
            <a:off x="6095264" y="-607"/>
            <a:ext cx="6089864" cy="6859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EE3F08-00B6-5D5B-158A-F991F3E31DC4}"/>
              </a:ext>
            </a:extLst>
          </p:cNvPr>
          <p:cNvSpPr txBox="1"/>
          <p:nvPr/>
        </p:nvSpPr>
        <p:spPr>
          <a:xfrm>
            <a:off x="914400" y="2120373"/>
            <a:ext cx="10226395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endParaRPr lang="en-US" sz="120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endParaRPr lang="en-US" sz="2400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6000">
                <a:ea typeface="Calibri"/>
                <a:cs typeface="Calibri"/>
              </a:rPr>
              <a:t>THE DÖNER INDEX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bg1">
                    <a:lumMod val="65000"/>
                  </a:schemeClr>
                </a:solidFill>
                <a:ea typeface="Calibri"/>
                <a:cs typeface="Calibri"/>
              </a:rPr>
              <a:t>Inflation reality: 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1200">
                <a:solidFill>
                  <a:schemeClr val="bg1">
                    <a:lumMod val="65000"/>
                  </a:schemeClr>
                </a:solidFill>
                <a:ea typeface="Calibri"/>
                <a:cs typeface="Calibri"/>
              </a:rPr>
              <a:t>€100 kept at 0% interest from 2026 buys only about €76 of goods in 2035 </a:t>
            </a:r>
            <a:endParaRPr lang="en-US" sz="4000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1200">
                <a:solidFill>
                  <a:schemeClr val="bg1">
                    <a:lumMod val="65000"/>
                  </a:schemeClr>
                </a:solidFill>
                <a:ea typeface="Calibri"/>
                <a:cs typeface="Calibri"/>
              </a:rPr>
              <a:t>and about €48 in 2050, if prices rise 3% a year. Savings alone cannot </a:t>
            </a:r>
            <a:endParaRPr lang="en-US" sz="4000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1200">
                <a:solidFill>
                  <a:schemeClr val="bg1">
                    <a:lumMod val="65000"/>
                  </a:schemeClr>
                </a:solidFill>
                <a:ea typeface="Calibri"/>
                <a:cs typeface="Calibri"/>
              </a:rPr>
              <a:t>fund a pension.</a:t>
            </a:r>
            <a:endParaRPr lang="en-US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endParaRPr lang="en-US" sz="2000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EE93A-1CD9-6530-D4ED-5F7DF9D5808E}"/>
              </a:ext>
            </a:extLst>
          </p:cNvPr>
          <p:cNvSpPr txBox="1"/>
          <p:nvPr/>
        </p:nvSpPr>
        <p:spPr>
          <a:xfrm>
            <a:off x="9662023" y="2827562"/>
            <a:ext cx="2326846" cy="461665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With 20€ in 2016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80075-294C-F82D-97FC-5836A753D184}"/>
              </a:ext>
            </a:extLst>
          </p:cNvPr>
          <p:cNvSpPr txBox="1"/>
          <p:nvPr/>
        </p:nvSpPr>
        <p:spPr>
          <a:xfrm>
            <a:off x="9662023" y="6200445"/>
            <a:ext cx="2326846" cy="461665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With 20€ in 2026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423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C3002-628F-B32A-5F93-F3685335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ACA490-354D-F033-A599-A61F4E56F591}"/>
              </a:ext>
            </a:extLst>
          </p:cNvPr>
          <p:cNvSpPr txBox="1"/>
          <p:nvPr/>
        </p:nvSpPr>
        <p:spPr>
          <a:xfrm>
            <a:off x="914400" y="2120373"/>
            <a:ext cx="10332720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93C5FD"/>
                </a:solidFill>
              </a:defRPr>
            </a:pPr>
            <a:endParaRPr lang="en-US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endParaRPr lang="en-US" sz="1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SAW AN OPPORTUNITY</a:t>
            </a:r>
            <a:endParaRPr lang="en-US"/>
          </a:p>
        </p:txBody>
      </p:sp>
      <p:pic>
        <p:nvPicPr>
          <p:cNvPr id="4" name="Picture 3" descr="A child looking at the camera&#10;&#10;AI-generated content may be incorrect.">
            <a:extLst>
              <a:ext uri="{FF2B5EF4-FFF2-40B4-BE49-F238E27FC236}">
                <a16:creationId xmlns:a16="http://schemas.microsoft.com/office/drawing/2014/main" id="{5FEE066D-2AE7-4690-BFB7-10BD2D7D5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7"/>
          <a:stretch>
            <a:fillRect/>
          </a:stretch>
        </p:blipFill>
        <p:spPr>
          <a:xfrm>
            <a:off x="447675" y="304800"/>
            <a:ext cx="11282260" cy="6248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6B0D7A-2841-B45B-A979-9EF79BE92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51" y="4940772"/>
            <a:ext cx="3440070" cy="11777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E7F7E0A-9159-CFC1-2591-EF8A8A072CAD}"/>
              </a:ext>
            </a:extLst>
          </p:cNvPr>
          <p:cNvSpPr txBox="1"/>
          <p:nvPr/>
        </p:nvSpPr>
        <p:spPr>
          <a:xfrm>
            <a:off x="914400" y="2120373"/>
            <a:ext cx="10332720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93C5FD"/>
                </a:solidFill>
              </a:defRPr>
            </a:pPr>
            <a:endParaRPr lang="en-US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endParaRPr lang="en-US" sz="1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SAW AN OPPORTUNITY</a:t>
            </a:r>
            <a:endParaRPr lang="en-US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382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EAFD8-56E6-FE99-3FB8-396A90E7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08EEF4-ABD3-FA97-D19F-1CE011CED34B}"/>
              </a:ext>
            </a:extLst>
          </p:cNvPr>
          <p:cNvSpPr txBox="1"/>
          <p:nvPr/>
        </p:nvSpPr>
        <p:spPr>
          <a:xfrm>
            <a:off x="914400" y="2120373"/>
            <a:ext cx="10226395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93C5FD"/>
                </a:solidFill>
              </a:defRPr>
            </a:pPr>
            <a:endParaRPr lang="en-US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endParaRPr lang="en-US" sz="1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DISCLAIMER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40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⚠️⚠️</a:t>
            </a:r>
            <a:r>
              <a:rPr lang="en-US" sz="320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200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We are students, not your financial advisers: </a:t>
            </a:r>
            <a:endParaRPr lang="en-US" sz="2400">
              <a:solidFill>
                <a:schemeClr val="bg1">
                  <a:lumMod val="65000"/>
                </a:schemeClr>
              </a:solidFill>
              <a:ea typeface="+mn-lt"/>
              <a:cs typeface="+mn-lt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this is a teaching model, not financial advice. If it were, our own portfolios wouldn't be this red</a:t>
            </a:r>
            <a:r>
              <a:rPr lang="en-US" sz="240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⚠️⚠️</a:t>
            </a:r>
            <a:endParaRPr lang="en-US" sz="2400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634CB6-7349-323D-36F8-05849D331550}"/>
              </a:ext>
            </a:extLst>
          </p:cNvPr>
          <p:cNvSpPr/>
          <p:nvPr/>
        </p:nvSpPr>
        <p:spPr>
          <a:xfrm>
            <a:off x="2875" y="-4313"/>
            <a:ext cx="5213230" cy="181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704D40-0F02-23F4-3CCF-5566106F7024}"/>
              </a:ext>
            </a:extLst>
          </p:cNvPr>
          <p:cNvSpPr/>
          <p:nvPr/>
        </p:nvSpPr>
        <p:spPr>
          <a:xfrm>
            <a:off x="2874" y="168215"/>
            <a:ext cx="2754703" cy="181155"/>
          </a:xfrm>
          <a:prstGeom prst="rect">
            <a:avLst/>
          </a:prstGeom>
          <a:solidFill>
            <a:srgbClr val="E3D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557706-74A4-65E9-0893-AEA550508281}"/>
              </a:ext>
            </a:extLst>
          </p:cNvPr>
          <p:cNvSpPr/>
          <p:nvPr/>
        </p:nvSpPr>
        <p:spPr>
          <a:xfrm>
            <a:off x="2873" y="340742"/>
            <a:ext cx="3976780" cy="1955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1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D9D69-1631-F916-13B4-40D2BCAD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D0533F-372B-2941-7739-D9AA2AE35362}"/>
              </a:ext>
            </a:extLst>
          </p:cNvPr>
          <p:cNvSpPr txBox="1"/>
          <p:nvPr/>
        </p:nvSpPr>
        <p:spPr>
          <a:xfrm>
            <a:off x="778540" y="2120373"/>
            <a:ext cx="10633976" cy="37548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ADVISEE:</a:t>
            </a: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COMMITTEE OF GERMANY'S NEW PENSION FUND</a:t>
            </a:r>
            <a:endParaRPr lang="en-US" sz="540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From 2028, 2% of gross wages go into a public pension fund (the Kapitalrente, no guarantees). 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Its independent committee decides how the money is invested.</a:t>
            </a:r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0D1DEB-E25A-83C7-4C27-7FD2C0CEE5C3}"/>
              </a:ext>
            </a:extLst>
          </p:cNvPr>
          <p:cNvSpPr/>
          <p:nvPr/>
        </p:nvSpPr>
        <p:spPr>
          <a:xfrm>
            <a:off x="2875" y="-4313"/>
            <a:ext cx="5213230" cy="181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C3A782-A69C-6B8D-C70F-6B8F14AC53F6}"/>
              </a:ext>
            </a:extLst>
          </p:cNvPr>
          <p:cNvSpPr/>
          <p:nvPr/>
        </p:nvSpPr>
        <p:spPr>
          <a:xfrm>
            <a:off x="2874" y="168215"/>
            <a:ext cx="2754703" cy="181155"/>
          </a:xfrm>
          <a:prstGeom prst="rect">
            <a:avLst/>
          </a:prstGeom>
          <a:solidFill>
            <a:srgbClr val="E3D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296487-DBA0-5E16-D84B-8E438B1E859E}"/>
              </a:ext>
            </a:extLst>
          </p:cNvPr>
          <p:cNvSpPr/>
          <p:nvPr/>
        </p:nvSpPr>
        <p:spPr>
          <a:xfrm>
            <a:off x="2873" y="340742"/>
            <a:ext cx="3976780" cy="1955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98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8749C-54F8-7ED9-5BD3-9BA83826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3309A2-5E21-657E-B50C-FD68F721E053}"/>
              </a:ext>
            </a:extLst>
          </p:cNvPr>
          <p:cNvSpPr/>
          <p:nvPr/>
        </p:nvSpPr>
        <p:spPr>
          <a:xfrm>
            <a:off x="0" y="3186547"/>
            <a:ext cx="12191999" cy="3671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The Pink Panther Season 1 Episode 1 on Make a GIF">
            <a:extLst>
              <a:ext uri="{FF2B5EF4-FFF2-40B4-BE49-F238E27FC236}">
                <a16:creationId xmlns:a16="http://schemas.microsoft.com/office/drawing/2014/main" id="{EDAF3CCA-6B10-7779-E9E2-8068A38A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5136"/>
            <a:ext cx="8534399" cy="640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61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lang="en-US">
                <a:solidFill>
                  <a:srgbClr val="2563EB"/>
                </a:solidFill>
              </a:rPr>
              <a:t>1.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rPr lang="en-US" sz="2600">
                <a:latin typeface="Calibri"/>
                <a:ea typeface="Calibri"/>
                <a:cs typeface="Calibri"/>
              </a:rPr>
              <a:t>Savers need growth, but cannot afford big losses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0A192F"/>
                </a:solidFill>
              </a:rPr>
              <a:t>The problem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Inflation eats savings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From 2028, 2% of wages go into a public pension fund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No guarantees: losses hit savers directly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2563EB"/>
                </a:solidFill>
              </a:rPr>
              <a:t>Our questions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Is tech worth the extra risk?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Do losses stay within each saver's limit?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Who protects people who never choose?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lang="en-US" sz="1500">
                <a:solidFill>
                  <a:srgbClr val="1E293B"/>
                </a:solidFill>
              </a:rPr>
              <a:t>Change a pension portfolio only when the evidence is strong.</a:t>
            </a:r>
            <a:endParaRPr sz="1500">
              <a:solidFill>
                <a:srgbClr val="1E293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Alterssicherungskommission (June 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2. 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rPr lang="en-US"/>
              <a:t>We decide one small slice: 3 of 6 sectors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400"/>
              </a:spcAft>
              <a:buNone/>
            </a:pPr>
            <a:r>
              <a:rPr lang="en-US" sz="4100" b="1" i="0" dirty="0">
                <a:solidFill>
                  <a:srgbClr val="0A192F"/>
                </a:solidFill>
              </a:rPr>
              <a:t>90%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A192F"/>
                </a:solidFill>
              </a:rPr>
              <a:t>Core: a broad global index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We don't touch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400"/>
              </a:spcAft>
              <a:buNone/>
            </a:pPr>
            <a:r>
              <a:rPr lang="en-US" sz="4100" b="1" i="0" dirty="0">
                <a:solidFill>
                  <a:srgbClr val="2563EB"/>
                </a:solidFill>
              </a:rPr>
              <a:t>10%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A192F"/>
                </a:solidFill>
              </a:rPr>
              <a:t>Satellite: 3 of 6 US sectors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Equal thirds: 20 possible baskets.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400"/>
              </a:spcAft>
              <a:buNone/>
            </a:pPr>
            <a:r>
              <a:rPr lang="en-US" sz="4100" b="1" i="0" dirty="0">
                <a:solidFill>
                  <a:srgbClr val="0A192F"/>
                </a:solidFill>
              </a:rPr>
              <a:t>20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A192F"/>
                </a:solidFill>
              </a:rPr>
              <a:t>baskets a laptop checks in milliseconds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This exact answer grades our quantum circuit.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lang="en-US" sz="1500" b="1">
                <a:solidFill>
                  <a:srgbClr val="2563EB"/>
                </a:solidFill>
              </a:rPr>
              <a:t/>
            </a:r>
            <a:r>
              <a:rPr lang="en-US" sz="1500">
                <a:solidFill>
                  <a:srgbClr val="1E293B"/>
                </a:solidFill>
              </a:rPr>
              <a:t>A small, checkable decision. We claim no quantum advantage.</a:t>
            </a:r>
            <a:endParaRPr sz="1500">
              <a:solidFill>
                <a:srgbClr val="1E293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our canonical run (results/canonical/summary.json) · data: Kenneth French, 6 US industries, 2015–2019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3. THE SAVERS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Three savers, three different loss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2062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tIns="1874520" anchor="t"/>
          <a:lstStyle/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059669"/>
                </a:solidFill>
              </a:rPr>
              <a:t>LENA | Growth</a:t>
            </a:r>
          </a:p>
          <a:p>
            <a:pPr algn="ctr">
              <a:spcAft>
                <a:spcPts val="900"/>
              </a:spcAft>
              <a:buNone/>
            </a:pPr>
            <a:r>
              <a:rPr lang="en-US" sz="1800" b="0" i="1" dirty="0">
                <a:solidFill>
                  <a:srgbClr val="64748B"/>
                </a:solidFill>
              </a:rPr>
              <a:t>“I can handle big swings.”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A192F"/>
                </a:solidFill>
              </a:rPr>
              <a:t>Loss limit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Losses above 8% in at most 6 of 60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2062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tIns="1874520" anchor="t"/>
          <a:lstStyle/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D97706"/>
                </a:solidFill>
              </a:rPr>
              <a:t>THOMAS | Balanced</a:t>
            </a:r>
          </a:p>
          <a:p>
            <a:pPr algn="ctr">
              <a:spcAft>
                <a:spcPts val="900"/>
              </a:spcAft>
              <a:buNone/>
            </a:pPr>
            <a:r>
              <a:rPr lang="en-US" sz="1800" b="0" i="1" dirty="0">
                <a:solidFill>
                  <a:srgbClr val="64748B"/>
                </a:solidFill>
              </a:rPr>
              <a:t>“I never chose a profile.”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A192F"/>
                </a:solidFill>
              </a:rPr>
              <a:t>Loss limit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Losses above 5% in at most 6 of 60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2062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tIns="1874520" anchor="t"/>
          <a:lstStyle/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DC2626"/>
                </a:solidFill>
              </a:rPr>
              <a:t>ANNA | Risk-sensitive</a:t>
            </a:r>
          </a:p>
          <a:p>
            <a:pPr algn="ctr">
              <a:spcAft>
                <a:spcPts val="900"/>
              </a:spcAft>
              <a:buNone/>
            </a:pPr>
            <a:r>
              <a:rPr lang="en-US" sz="1800" b="0" i="1" dirty="0">
                <a:solidFill>
                  <a:srgbClr val="64748B"/>
                </a:solidFill>
              </a:rPr>
              <a:t>“I can't afford big losses.”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A192F"/>
                </a:solidFill>
              </a:rPr>
              <a:t>Loss limit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Losses above 3% in at most 6 of 60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lang="en-US" sz="1500">
                <a:solidFill>
                  <a:srgbClr val="1E293B"/>
                </a:solidFill>
              </a:rPr>
              <a:t>Thomas never chose a profile, so he deserves extra care.</a:t>
            </a:r>
            <a:endParaRPr sz="1500">
              <a:solidFill>
                <a:srgbClr val="1E293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our canonical run (results/canonical/summary.json) · data: Kenneth French, 6 US industries, 2015–2019</a:t>
            </a:r>
          </a:p>
        </p:txBody>
      </p:sp>
      <p:pic>
        <p:nvPicPr>
          <p:cNvPr id="10" name="Portrait Lena" descr="Illustrated portrait of Lena, one of our three example sa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1645920"/>
            <a:ext cx="1463040" cy="1463040"/>
          </a:xfrm>
          <a:prstGeom prst="ellipse">
            <a:avLst/>
          </a:prstGeom>
          <a:ln w="28575">
            <a:solidFill>
              <a:srgbClr val="059669"/>
            </a:solidFill>
          </a:ln>
        </p:spPr>
      </p:pic>
      <p:pic>
        <p:nvPicPr>
          <p:cNvPr id="11" name="Portrait Thomas" descr="Illustrated portrait of Thomas, one of our three example sav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645920"/>
            <a:ext cx="1463040" cy="1463040"/>
          </a:xfrm>
          <a:prstGeom prst="ellipse">
            <a:avLst/>
          </a:prstGeom>
          <a:ln w="28575">
            <a:solidFill>
              <a:srgbClr val="D97706"/>
            </a:solidFill>
          </a:ln>
        </p:spPr>
      </p:pic>
      <p:pic>
        <p:nvPicPr>
          <p:cNvPr id="12" name="Portrait Anna" descr="Illustrated portrait of Anna, one of our three example sav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645920"/>
            <a:ext cx="1463040" cy="1463040"/>
          </a:xfrm>
          <a:prstGeom prst="ellipse">
            <a:avLst/>
          </a:prstGeom>
          <a:ln w="28575">
            <a:solidFill>
              <a:srgbClr val="DC2626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lang="en-US"/>
              <a:t>4. THE PROPOSAL | GRANDMA'S BASKET OR NVIDIA'S?</a:t>
            </a:r>
            <a:r>
              <a:rPr lang="en-GB" sz="1000">
                <a:latin typeface="Calibri"/>
              </a:rPr>
              <a:t/>
            </a:r>
          </a:p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Swap staples for tech: more return, but more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atter of all 20 baskets: today's basket has the lowest risk (2.71%, 0.73% return); the tech proposal returns 1.02% at 3.05% risk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50" y="1463040"/>
            <a:ext cx="591238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463040"/>
            <a:ext cx="4419295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0A192F"/>
                </a:solidFill>
              </a:rPr>
              <a:t>The proposal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Sell consumer staples, buy tech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Return: 0.73% → 1.02% a month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Risk: 2.71% → 3.05% a month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No return can buy a breach of the loss limit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Is the extra return worth the extra risk? It depends on the saver.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our canonical run (results/canonical/summary.json) · data: Kenneth French, 6 US industries, 2015–2019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5. THE QUANTUM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Our quantum circuit can only suggest legal baskets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wo circuits side by side: the penalty circuit starts on all 64 patterns and can return illegal answers; ours starts on the 20 legal baskets and only returns legal answer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84" y="1463040"/>
            <a:ext cx="5917311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463040"/>
            <a:ext cx="4419295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2563EB"/>
                </a:solidFill>
              </a:rPr>
              <a:t>Our idea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Start with the 20 legal baskets only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Mix by swapping sectors: always exactly 3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Illegal baskets never appear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The rule is built into the circuit, not punished afterwards.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Method: Hadfield et al. (2019), QAOA with Dicke start and XY mixer · code: src/qhf/circuits.py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6. QUANTUM RESULTS</a:t>
            </a:r>
            <a:r>
              <a:rPr lang="en-US"/>
              <a:t/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rPr lang="en-US"/>
              <a:t>Always legal, and far more accurate for Anna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egal answers and chance of the best basket for Lena, Thomas and Anna: ours 100% legal; best basket 0.23, 0.04 and 0.78 versus about 0.05 for the organisers' circui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18" y="1463040"/>
            <a:ext cx="5159045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463040"/>
            <a:ext cx="4419295" cy="12984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400"/>
              </a:spcAft>
              <a:buNone/>
            </a:pPr>
            <a:r>
              <a:rPr lang="en-US" sz="3400" b="1" i="0" dirty="0">
                <a:solidFill>
                  <a:srgbClr val="2563EB"/>
                </a:solidFill>
              </a:rPr>
              <a:t>100%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0A192F"/>
                </a:solidFill>
              </a:rPr>
              <a:t>legal answers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334155"/>
                </a:solidFill>
              </a:rPr>
              <a:t>Ours, in every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880360"/>
            <a:ext cx="4419295" cy="12984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400"/>
              </a:spcAft>
              <a:buNone/>
            </a:pPr>
            <a:r>
              <a:rPr lang="en-US" sz="3400" b="1" i="0" dirty="0">
                <a:solidFill>
                  <a:srgbClr val="2563EB"/>
                </a:solidFill>
              </a:rPr>
              <a:t>78%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0A192F"/>
                </a:solidFill>
              </a:rPr>
              <a:t>Anna's best basket found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334155"/>
                </a:solidFill>
              </a:rPr>
              <a:t>Organisers' circuit: 5%, the same as guessing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297680"/>
            <a:ext cx="4419295" cy="12984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400"/>
              </a:spcAft>
              <a:buNone/>
            </a:pPr>
            <a:r>
              <a:rPr lang="en-US" sz="3400" b="1" i="0" dirty="0">
                <a:solidFill>
                  <a:srgbClr val="64748B"/>
                </a:solidFill>
              </a:rPr>
              <a:t>4%</a:t>
            </a:r>
          </a:p>
          <a:p>
            <a:pPr algn="ctr"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0A192F"/>
                </a:solidFill>
              </a:rPr>
              <a:t>for Thomas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334155"/>
                </a:solidFill>
              </a:rPr>
              <a:t>A near-tie: no better than guessing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lang="en-US" sz="1500">
                <a:solidFill>
                  <a:srgbClr val="1E293B"/>
                </a:solidFill>
              </a:rPr>
              <a:t>A clear win where the answer is clear. No magic on a near-tie.</a:t>
            </a:r>
            <a:endParaRPr sz="1500">
              <a:solidFill>
                <a:srgbClr val="1E293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results/canonical/quantum_summary.csv · ideal simulation, 3 layers, 10 runs, 4,096 looks each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7.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One proposal, three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2062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tIns="1554480" anchor="t"/>
          <a:lstStyle/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059669"/>
                </a:solidFill>
              </a:rPr>
              <a:t>LENA | Growth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4100" b="1" i="0" dirty="0">
                <a:solidFill>
                  <a:srgbClr val="059669"/>
                </a:solidFill>
              </a:rPr>
              <a:t>SWITCH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Better in 89% of 500 replays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Wins every stress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2062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tIns="1554480" anchor="t"/>
          <a:lstStyle/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D97706"/>
                </a:solidFill>
              </a:rPr>
              <a:t>THOMAS | Balanced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4100" b="1" i="0" dirty="0">
                <a:solidFill>
                  <a:srgbClr val="D97706"/>
                </a:solidFill>
              </a:rPr>
              <a:t>REVIEW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Near-tie: flips under stress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Hold until the committee decides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2062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tIns="1554480" anchor="t"/>
          <a:lstStyle/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DC2626"/>
                </a:solidFill>
              </a:rPr>
              <a:t>ANNA | Risk-sensitive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4100" b="1" i="0" dirty="0">
                <a:solidFill>
                  <a:srgbClr val="DC2626"/>
                </a:solidFill>
              </a:rPr>
              <a:t>KEEP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Lowest risk of all 20 baskets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Tech sits right on her loss 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“Review” is a valid answer, not a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our canonical run (results/canonical/summary.json) · data: Kenneth French, 6 US industries, 2015–2019</a:t>
            </a:r>
          </a:p>
        </p:txBody>
      </p:sp>
      <p:pic>
        <p:nvPicPr>
          <p:cNvPr id="10" name="Portrait Lena" descr="Illustrated portrait of Lena, one of our three example sa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28" y="1645920"/>
            <a:ext cx="1143000" cy="1143000"/>
          </a:xfrm>
          <a:prstGeom prst="ellipse">
            <a:avLst/>
          </a:prstGeom>
          <a:ln w="28575">
            <a:solidFill>
              <a:srgbClr val="059669"/>
            </a:solidFill>
          </a:ln>
        </p:spPr>
      </p:pic>
      <p:pic>
        <p:nvPicPr>
          <p:cNvPr id="11" name="Portrait Thomas" descr="Illustrated portrait of Thomas, one of our three example sav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404" y="1645920"/>
            <a:ext cx="1143000" cy="1143000"/>
          </a:xfrm>
          <a:prstGeom prst="ellipse">
            <a:avLst/>
          </a:prstGeom>
          <a:ln w="28575">
            <a:solidFill>
              <a:srgbClr val="D97706"/>
            </a:solidFill>
          </a:ln>
        </p:spPr>
      </p:pic>
      <p:pic>
        <p:nvPicPr>
          <p:cNvPr id="12" name="Portrait Anna" descr="Illustrated portrait of Anna, one of our three example sav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0" y="1645920"/>
            <a:ext cx="1143000" cy="1143000"/>
          </a:xfrm>
          <a:prstGeom prst="ellipse">
            <a:avLst/>
          </a:prstGeom>
          <a:ln w="28575">
            <a:solidFill>
              <a:srgbClr val="DC2626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8. LENA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Lena: switching to tech wins every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500 replays for Lena: the tech basket scores better in 89 percent of them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6035040" cy="42235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463040"/>
            <a:ext cx="4419295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tIns="1463040" anchor="t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059669"/>
                </a:solidFill>
              </a:rPr>
              <a:t>LENA: SWITCH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+0.29 points return a month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Better in 89% of 500 replays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Wins every stress test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Switching cost earned back in month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Strong evidence → switch.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our canonical run (results/canonical/summary.json) · data: Kenneth French, 6 US industries, 2015–2019</a:t>
            </a:r>
          </a:p>
        </p:txBody>
      </p:sp>
      <p:pic>
        <p:nvPicPr>
          <p:cNvPr id="9" name="Portrait Lena" descr="Illustrated portrait of Lena, one of our three example sav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747" y="1645920"/>
            <a:ext cx="1051560" cy="1051560"/>
          </a:xfrm>
          <a:prstGeom prst="ellipse">
            <a:avLst/>
          </a:prstGeom>
          <a:ln w="28575">
            <a:solidFill>
              <a:srgbClr val="059669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9. THOMAS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Thomas: the data cannot tell the two baskets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homas: the tech basket's lead falls to zero at minus 0.37 points, inside one standard error (0.58) of the tech estima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6035040" cy="41616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463040"/>
            <a:ext cx="4419295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tIns="1463040" anchor="t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D97706"/>
                </a:solidFill>
              </a:rPr>
              <a:t>THOMAS: REVIEW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Tech's lead is tiny: 12 bp a month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It flips if tech earns 0.37 points less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The data's noise is bigger: ±0.58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So: hold, the committee decides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Too close to call → 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our canonical run (results/canonical/summary.json) · data: Kenneth French, 6 US industries, 2015–2019</a:t>
            </a:r>
          </a:p>
        </p:txBody>
      </p:sp>
      <p:pic>
        <p:nvPicPr>
          <p:cNvPr id="9" name="Portrait Thomas" descr="Illustrated portrait of Thomas, one of our three example sav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747" y="1645920"/>
            <a:ext cx="1051560" cy="1051560"/>
          </a:xfrm>
          <a:prstGeom prst="ellipse">
            <a:avLst/>
          </a:prstGeom>
          <a:ln w="28575">
            <a:solidFill>
              <a:srgbClr val="D97706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10. ANNA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Anna: today's basket is the safer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nna's loss months by test setting: today's basket 5, 5, 5; tech basket 6, 7, 9; both 12 in the real 2020-24 months; at most 6 allowe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25" y="1463040"/>
            <a:ext cx="5899431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463040"/>
            <a:ext cx="4419295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tIns="1463040" anchor="t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DC2626"/>
                </a:solidFill>
              </a:rPr>
              <a:t>ANNA: KEEP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Lowest risk of all 20 baskets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Tech basket sits exactly on her limit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Tech fails both stress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Safety first → keep.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our canonical run (results/canonical/summary.json) · data: Kenneth French, 6 US industries, 2015–2019</a:t>
            </a:r>
          </a:p>
        </p:txBody>
      </p:sp>
      <p:pic>
        <p:nvPicPr>
          <p:cNvPr id="9" name="Portrait Anna" descr="Illustrated portrait of Anna, one of our three example sav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747" y="1645920"/>
            <a:ext cx="1051560" cy="1051560"/>
          </a:xfrm>
          <a:prstGeom prst="ellipse">
            <a:avLst/>
          </a:prstGeom>
          <a:ln w="28575">
            <a:solidFill>
              <a:srgbClr val="DC2626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11. REALITY CHECK 2020–2024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Tech grew more, but losses came more often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eft: growth of 1 unit 2020-24, tech basket 1.86, today 1.38. Right: real loss months 2020-24 per saver; Thomas tech basket 8, Anna 12 for both; at most 6 allowed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10725912" cy="37528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Hindsight only: Anna's limit broke for both baskets. Our loss model was too optimistic.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results/canonical/loss_limits.csv, holdout.csv · Jan 2020–Dec 2024, never used to decide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12.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Three rules for using this responsibly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300"/>
              </a:spcAft>
              <a:buNone/>
            </a:pPr>
            <a:r>
              <a:rPr lang="en-US" sz="1100" b="1" i="0" dirty="0">
                <a:solidFill>
                  <a:srgbClr val="64748B"/>
                </a:solidFill>
              </a:rPr>
              <a:t>RECOMMENDATION 1 | REVISED</a:t>
            </a:r>
          </a:p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2563EB"/>
                </a:solidFill>
              </a:rPr>
              <a:t>Protect the default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Savers choose a profile. Those who don't get balanced and need protection from fragile bets.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300"/>
              </a:spcAft>
              <a:buNone/>
            </a:pPr>
            <a:r>
              <a:rPr lang="en-US" sz="1100" b="1" i="0" dirty="0">
                <a:solidFill>
                  <a:srgbClr val="64748B"/>
                </a:solidFill>
              </a:rPr>
              <a:t>RECOMMENDATION 2 | ADOPTED</a:t>
            </a:r>
          </a:p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0A192F"/>
                </a:solidFill>
              </a:rPr>
              <a:t>Law sets limits, committee sets the mix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Limits are checked exactly and never traded for return.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300"/>
              </a:spcAft>
              <a:buNone/>
            </a:pPr>
            <a:r>
              <a:rPr lang="en-US" sz="1100" b="1" i="0" dirty="0">
                <a:solidFill>
                  <a:srgbClr val="64748B"/>
                </a:solidFill>
              </a:rPr>
              <a:t>RECOMMENDATION 3 | ADOPTED</a:t>
            </a:r>
          </a:p>
          <a:p>
            <a:pPr algn="ctr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2563EB"/>
                </a:solidFill>
              </a:rPr>
              <a:t>Burden of proof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Switch only with the same winner in every test and at least 70%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Policy sets the limits; people make the final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Sources: Alterssicherungskommission (June 2026); team policy brief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192F"/>
                </a:solidFill>
                <a:latin typeface="Calibri"/>
              </a:defRPr>
            </a:pPr>
            <a:r>
              <a:t>Clear answers, from a circuit that keeps the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0A192F"/>
                </a:solidFill>
              </a:rPr>
              <a:t>Our answers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2600" b="1" i="0" dirty="0">
                <a:solidFill>
                  <a:srgbClr val="059669"/>
                </a:solidFill>
              </a:rPr>
              <a:t>Lena: SWITCH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2600" b="1" i="0" dirty="0">
                <a:solidFill>
                  <a:srgbClr val="D97706"/>
                </a:solidFill>
              </a:rPr>
              <a:t>Thomas: REVIEW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2600" b="1" i="0" dirty="0">
                <a:solidFill>
                  <a:srgbClr val="DC2626"/>
                </a:solidFill>
              </a:rPr>
              <a:t>Anna: KEEP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700" b="0" i="0" dirty="0">
                <a:solidFill>
                  <a:srgbClr val="334155"/>
                </a:solidFill>
              </a:rPr>
              <a:t>From one reproducible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206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2563EB"/>
                </a:solidFill>
              </a:rPr>
              <a:t>What quantum added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A circuit that can't break the 3-sector rule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Anna: 0.78 vs 0.05 (organisers')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No quantum advantage claimed</a:t>
            </a:r>
          </a:p>
          <a:p>
            <a:pPr algn="l" marL="285750" indent="-285750">
              <a:spcAft>
                <a:spcPts val="7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1800" b="0" i="0" dirty="0">
                <a:solidFill>
                  <a:srgbClr val="334155"/>
                </a:solidFill>
              </a:rPr>
              <a:t>Next: bigger problems, real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2563EB"/>
                </a:solidFill>
              </a:rPr>
              <a:t>KEY TAKEAWAY: </a:t>
            </a:r>
            <a:r>
              <a:rPr sz="1500">
                <a:solidFill>
                  <a:srgbClr val="1E293B"/>
                </a:solidFill>
              </a:rPr>
              <a:t>Small, honest, reproducible: one command reruns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Source: our canonical run (results/canonical/summary.json) · data: Kenneth French, 6 US industries, 2015–2019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Ahmed Othman</dc:creator>
  <cp:keywords/>
  <dc:description>generated using python-pptx</dc:description>
  <cp:revision>4</cp:revision>
  <dcterms:created xsi:type="dcterms:W3CDTF">2013-01-27T09:14:16Z</dcterms:created>
  <dcterms:modified xsi:type="dcterms:W3CDTF">2026-10-30T05:00:36Z</dcterms:modified>
  <cp:category/>
</cp:coreProperties>
</file>