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0" r:id="rId3"/>
    <p:sldId id="257" r:id="rId4"/>
    <p:sldId id="272" r:id="rId5"/>
    <p:sldId id="273" r:id="rId6"/>
    <p:sldId id="289" r:id="rId7"/>
    <p:sldId id="275" r:id="rId8"/>
    <p:sldId id="274" r:id="rId9"/>
    <p:sldId id="290" r:id="rId10"/>
    <p:sldId id="291" r:id="rId11"/>
    <p:sldId id="276" r:id="rId12"/>
    <p:sldId id="277" r:id="rId13"/>
    <p:sldId id="278" r:id="rId14"/>
    <p:sldId id="279" r:id="rId15"/>
    <p:sldId id="280" r:id="rId16"/>
    <p:sldId id="281" r:id="rId17"/>
    <p:sldId id="282" r:id="rId18"/>
    <p:sldId id="283" r:id="rId19"/>
    <p:sldId id="284" r:id="rId20"/>
    <p:sldId id="285" r:id="rId21"/>
    <p:sldId id="286" r:id="rId22"/>
    <p:sldId id="287" r:id="rId23"/>
    <p:sldId id="288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192F"/>
    <a:srgbClr val="565B61"/>
    <a:srgbClr val="E3D7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1474695-FBB0-F41F-E19D-A8BF81F59A0E}" v="3354" dt="2026-10-30T03:36:31.587"/>
    <p1510:client id="{AFDC03ED-B506-4213-89C5-733D268BD075}" v="3" dt="2026-10-30T02:06:39.319"/>
    <p1510:client id="{C22A7A2D-018F-A335-2EB3-290BDBE02E6F}" v="20" dt="2026-10-30T00:21:24.483"/>
    <p1510:client id="{DB28378E-5B17-4B9C-BFEB-69A96008EB3D}" v="231" dt="2026-10-30T03:27:55.903"/>
    <p1510:client id="{EB4867F3-603B-43F1-A657-A97FF15CF3D2}" v="4" dt="2026-10-30T00:23:10.5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gif"/><Relationship Id="rId13" Type="http://schemas.openxmlformats.org/officeDocument/2006/relationships/image" Target="../media/image12.jpeg"/><Relationship Id="rId3" Type="http://schemas.openxmlformats.org/officeDocument/2006/relationships/image" Target="../media/image2.gif"/><Relationship Id="rId7" Type="http://schemas.openxmlformats.org/officeDocument/2006/relationships/image" Target="../media/image6.gif"/><Relationship Id="rId12" Type="http://schemas.openxmlformats.org/officeDocument/2006/relationships/image" Target="../media/image11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gif"/><Relationship Id="rId11" Type="http://schemas.openxmlformats.org/officeDocument/2006/relationships/image" Target="../media/image10.jpeg"/><Relationship Id="rId5" Type="http://schemas.openxmlformats.org/officeDocument/2006/relationships/image" Target="../media/image4.gif"/><Relationship Id="rId10" Type="http://schemas.openxmlformats.org/officeDocument/2006/relationships/image" Target="../media/image9.jpeg"/><Relationship Id="rId4" Type="http://schemas.openxmlformats.org/officeDocument/2006/relationships/image" Target="../media/image3.jpeg"/><Relationship Id="rId9" Type="http://schemas.openxmlformats.org/officeDocument/2006/relationships/image" Target="../media/image8.gif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gi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gi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portrait_lena.jpeg"/><Relationship Id="rId3" Type="http://schemas.openxmlformats.org/officeDocument/2006/relationships/image" Target="../media/portrait_thomas.jpeg"/><Relationship Id="rId4" Type="http://schemas.openxmlformats.org/officeDocument/2006/relationships/image" Target="../media/portrait_anna.jpe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slidefig_14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slidefig_15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slidefig_16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slidefig_18.png"/><Relationship Id="rId4" Type="http://schemas.openxmlformats.org/officeDocument/2006/relationships/image" Target="../media/portrait_lena.jpe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slidefig_19.png"/><Relationship Id="rId4" Type="http://schemas.openxmlformats.org/officeDocument/2006/relationships/image" Target="../media/portrait_thomas.jpe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slidefig_20.png"/><Relationship Id="rId4" Type="http://schemas.openxmlformats.org/officeDocument/2006/relationships/image" Target="../media/portrait_anna.jpe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4" Type="http://schemas.openxmlformats.org/officeDocument/2006/relationships/image" Target="../media/slidefig_21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27546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93C5FD"/>
                </a:solidFill>
              </a:defRPr>
            </a:pPr>
            <a:r>
              <a:rPr lang="en-US" sz="1200" b="1">
                <a:solidFill>
                  <a:srgbClr val="93C5FD"/>
                </a:solidFill>
                <a:ea typeface="Calibri"/>
                <a:cs typeface="Calibri"/>
              </a:rPr>
              <a:t>GERMAN PENSION REFORM | SATELLITE SECTOR ALLOCATION</a:t>
            </a:r>
            <a:endParaRPr lang="en-US"/>
          </a:p>
          <a:p>
            <a:pPr>
              <a:spcAft>
                <a:spcPts val="1200"/>
              </a:spcAft>
              <a:defRPr sz="1200" b="1">
                <a:solidFill>
                  <a:srgbClr val="93C5FD"/>
                </a:solidFill>
              </a:defRPr>
            </a:pPr>
            <a:r>
              <a:rPr lang="en-US" sz="4000" b="1">
                <a:solidFill>
                  <a:srgbClr val="FFFFFF"/>
                </a:solidFill>
                <a:ea typeface="Calibri"/>
                <a:cs typeface="Calibri"/>
              </a:rPr>
              <a:t>Keep, Review, or Switch?</a:t>
            </a:r>
            <a:endParaRPr lang="en-US"/>
          </a:p>
          <a:p>
            <a:pPr>
              <a:spcAft>
                <a:spcPts val="3200"/>
              </a:spcAft>
              <a:defRPr sz="1200" b="1">
                <a:solidFill>
                  <a:srgbClr val="93C5FD"/>
                </a:solidFill>
              </a:defRPr>
            </a:pPr>
            <a:r>
              <a:rPr lang="en-US">
                <a:solidFill>
                  <a:srgbClr val="E2E8F0"/>
                </a:solidFill>
                <a:ea typeface="Calibri"/>
                <a:cs typeface="Calibri"/>
              </a:rPr>
              <a:t>How Quantum Computing Supports Safe Pension Investment Decisions</a:t>
            </a:r>
            <a:endParaRPr lang="en-US"/>
          </a:p>
          <a:p>
            <a:pPr>
              <a:spcAft>
                <a:spcPts val="3200"/>
              </a:spcAft>
              <a:defRPr sz="1200" b="1">
                <a:solidFill>
                  <a:srgbClr val="93C5FD"/>
                </a:solidFill>
              </a:defRPr>
            </a:pPr>
            <a:endParaRPr lang="en-US">
              <a:solidFill>
                <a:srgbClr val="E2E8F0"/>
              </a:solidFill>
              <a:ea typeface="Calibri"/>
              <a:cs typeface="Calibri"/>
            </a:endParaRPr>
          </a:p>
          <a:p>
            <a:pPr>
              <a:defRPr sz="1200" b="1">
                <a:solidFill>
                  <a:srgbClr val="93C5FD"/>
                </a:solidFill>
              </a:defRPr>
            </a:pPr>
            <a:r>
              <a:rPr lang="en-US" sz="1100">
                <a:solidFill>
                  <a:srgbClr val="94A3B8"/>
                </a:solidFill>
                <a:ea typeface="Calibri"/>
                <a:cs typeface="Calibri"/>
              </a:rPr>
              <a:t>Decision Date: 31 Dec 2019 | Fiduciary Mandate: </a:t>
            </a:r>
            <a:r>
              <a:rPr lang="en-US" sz="1100" err="1">
                <a:solidFill>
                  <a:srgbClr val="94A3B8"/>
                </a:solidFill>
                <a:ea typeface="Calibri"/>
                <a:cs typeface="Calibri"/>
              </a:rPr>
              <a:t>Alterssicherungskommission</a:t>
            </a:r>
            <a:r>
              <a:rPr lang="en-US" sz="1100">
                <a:solidFill>
                  <a:srgbClr val="94A3B8"/>
                </a:solidFill>
                <a:ea typeface="Calibri"/>
                <a:cs typeface="Calibri"/>
              </a:rPr>
              <a:t> &amp; KENFO Fund Governance</a:t>
            </a:r>
            <a:br>
              <a:rPr lang="en-US" sz="1100"/>
            </a:br>
            <a:r>
              <a:rPr lang="en-US" sz="1100">
                <a:solidFill>
                  <a:srgbClr val="94A3B8"/>
                </a:solidFill>
                <a:ea typeface="Calibri"/>
                <a:cs typeface="Calibri"/>
              </a:rPr>
              <a:t>TUM Quantum Hackathon 2026 (</a:t>
            </a:r>
            <a:r>
              <a:rPr lang="en-US" sz="1100" err="1">
                <a:solidFill>
                  <a:srgbClr val="94A3B8"/>
                </a:solidFill>
                <a:ea typeface="Calibri"/>
                <a:cs typeface="Calibri"/>
              </a:rPr>
              <a:t>QuantWorld</a:t>
            </a:r>
            <a:r>
              <a:rPr lang="en-US" sz="1100">
                <a:solidFill>
                  <a:srgbClr val="94A3B8"/>
                </a:solidFill>
                <a:ea typeface="Calibri"/>
                <a:cs typeface="Calibri"/>
              </a:rPr>
              <a:t>) | 10-Minute Executive Pitch</a:t>
            </a:r>
            <a:endParaRPr lang="en-GB" sz="1100">
              <a:solidFill>
                <a:srgbClr val="94A3B8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D78F48-64FB-26D6-3C4E-72439EB0B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CB0A460-1D69-E70C-5969-FF278FD029D8}"/>
              </a:ext>
            </a:extLst>
          </p:cNvPr>
          <p:cNvSpPr/>
          <p:nvPr/>
        </p:nvSpPr>
        <p:spPr>
          <a:xfrm>
            <a:off x="2875" y="-4313"/>
            <a:ext cx="8448135" cy="1811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6986C7-1411-2B91-2C88-542202BDDDA3}"/>
              </a:ext>
            </a:extLst>
          </p:cNvPr>
          <p:cNvSpPr/>
          <p:nvPr/>
        </p:nvSpPr>
        <p:spPr>
          <a:xfrm>
            <a:off x="2874" y="168215"/>
            <a:ext cx="9598325" cy="181155"/>
          </a:xfrm>
          <a:prstGeom prst="rect">
            <a:avLst/>
          </a:prstGeom>
          <a:solidFill>
            <a:srgbClr val="E3D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2AC0395-F09F-7254-F580-BD7107807844}"/>
              </a:ext>
            </a:extLst>
          </p:cNvPr>
          <p:cNvSpPr/>
          <p:nvPr/>
        </p:nvSpPr>
        <p:spPr>
          <a:xfrm>
            <a:off x="2873" y="340742"/>
            <a:ext cx="6464062" cy="195533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BD0939-B901-9D2A-EFD7-B52983C7BE16}"/>
              </a:ext>
            </a:extLst>
          </p:cNvPr>
          <p:cNvSpPr txBox="1"/>
          <p:nvPr/>
        </p:nvSpPr>
        <p:spPr>
          <a:xfrm>
            <a:off x="914400" y="1645920"/>
            <a:ext cx="10332720" cy="264174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93C5FD"/>
                </a:solidFill>
              </a:defRPr>
            </a:pPr>
            <a:r>
              <a:rPr lang="en-US" sz="1400"/>
              <a:t>TEAM FINANCE BROSITOS AND BROSITAS</a:t>
            </a:r>
            <a:endParaRPr lang="en-US" sz="140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</a:defRPr>
            </a:pPr>
            <a:endParaRPr lang="en-US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</a:defRPr>
            </a:pPr>
            <a:r>
              <a:rPr lang="en-US" sz="60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KEEP, REVIEW, or SWITCH?</a:t>
            </a:r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</a:defRPr>
            </a:pPr>
            <a:r>
              <a:rPr lang="en-US" sz="2000">
                <a:solidFill>
                  <a:schemeClr val="bg1">
                    <a:lumMod val="76000"/>
                  </a:schemeClr>
                </a:solidFill>
                <a:latin typeface="Calibri"/>
                <a:ea typeface="Calibri"/>
                <a:cs typeface="Calibri"/>
              </a:rPr>
              <a:t>AN APPROACH TO OPTIMISE PORTFOLIOS USING QUANTUM METHODS</a:t>
            </a:r>
            <a:endParaRPr lang="en-US" sz="2000">
              <a:solidFill>
                <a:schemeClr val="bg1">
                  <a:lumMod val="76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EDCCCE-9DBE-6CC5-868C-DB1EF104C0E3}"/>
              </a:ext>
            </a:extLst>
          </p:cNvPr>
          <p:cNvSpPr txBox="1"/>
          <p:nvPr/>
        </p:nvSpPr>
        <p:spPr>
          <a:xfrm>
            <a:off x="905774" y="6016925"/>
            <a:ext cx="6096000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100" b="0" i="0" u="none" strike="noStrike" baseline="0">
                <a:solidFill>
                  <a:srgbClr val="94A3B8"/>
                </a:solidFill>
                <a:latin typeface="Calibri"/>
              </a:rPr>
              <a:t>TUM Quantum Hackathon 2026 (</a:t>
            </a:r>
            <a:r>
              <a:rPr lang="en-US" sz="1100" b="0" i="0" u="none" strike="noStrike" baseline="0">
                <a:solidFill>
                  <a:srgbClr val="94A3B8"/>
                </a:solidFill>
                <a:latin typeface="Calibri"/>
              </a:rPr>
              <a:t>QuantWorld</a:t>
            </a:r>
            <a:r>
              <a:rPr lang="en-GB" sz="1100" b="0" i="0" u="none" strike="noStrike" baseline="0">
                <a:solidFill>
                  <a:srgbClr val="94A3B8"/>
                </a:solidFill>
                <a:latin typeface="Calibri"/>
              </a:rPr>
              <a:t>) | Final pitch, 30 October 2026</a:t>
            </a:r>
            <a:r>
              <a:rPr lang="en-GB" sz="1100">
                <a:solidFill>
                  <a:srgbClr val="94A3B8"/>
                </a:solidFill>
                <a:latin typeface="Calibri"/>
              </a:rPr>
              <a:t> | </a:t>
            </a:r>
            <a:endParaRPr lang="en-US">
              <a:solidFill>
                <a:srgbClr val="000000"/>
              </a:solidFill>
              <a:latin typeface="Calibri"/>
            </a:endParaRPr>
          </a:p>
          <a:p>
            <a:r>
              <a:rPr lang="en-GB" sz="1100">
                <a:solidFill>
                  <a:srgbClr val="94A3B8"/>
                </a:solidFill>
                <a:latin typeface="Calibri"/>
              </a:rPr>
              <a:t>Ahmed Mahmoud | Ivan . | Jonas Sandelmann | Manyu . | Mingzhi . | Samarth Seth</a:t>
            </a:r>
            <a:endParaRPr lang="en-US">
              <a:ea typeface="Calibri"/>
              <a:cs typeface="Calibri"/>
            </a:endParaRP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3296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621792"/>
            <a:ext cx="10728655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1900" b="1">
                <a:solidFill>
                  <a:srgbClr val="0A192F"/>
                </a:solidFill>
                <a:latin typeface="Calibri"/>
              </a:defRPr>
            </a:pPr>
            <a:r>
              <a:rPr lang="en-US" sz="1900">
                <a:latin typeface="Calibri"/>
                <a:ea typeface="Calibri"/>
                <a:cs typeface="Calibri"/>
              </a:rPr>
              <a:t>MEME SLIDE</a:t>
            </a:r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Summer Heat: Not Built for the Hottest Days | TikTok">
            <a:extLst>
              <a:ext uri="{FF2B5EF4-FFF2-40B4-BE49-F238E27FC236}">
                <a16:creationId xmlns:a16="http://schemas.microsoft.com/office/drawing/2014/main" id="{25DA76EA-482A-177F-4688-F8D66EB119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3549" y="1948948"/>
            <a:ext cx="3332938" cy="50297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0906332-B095-7F41-7474-59157E14A5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906014" y="2828803"/>
            <a:ext cx="6096000" cy="27813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272F271-9A20-D007-749F-BCF3B3D845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3228" y="5122840"/>
            <a:ext cx="4905375" cy="36957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CC9F7D2-3EE2-C909-113A-1F808A0B6D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7026" y="2816725"/>
            <a:ext cx="2095500" cy="157162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32979EE-BA64-2E85-82D5-456069ABC1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26139" y="2050861"/>
            <a:ext cx="4743450" cy="216217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B094C98-6AB8-61EE-E900-8FF6F1E35C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85102" y="-1523359"/>
            <a:ext cx="4762500" cy="357187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7A13F4F-F457-0ED9-4F5C-9E095AD4898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60549" y="5124246"/>
            <a:ext cx="3810000" cy="21336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0B2AD15-E25F-16B5-1A4E-65BFD097EE0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2730326" y="5236811"/>
            <a:ext cx="3474613" cy="256423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0E16B16-AA23-10C5-F7BF-BE1038552AC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97781" y="-3075856"/>
            <a:ext cx="5276850" cy="527685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4D28FEB-1CD6-1827-AA08-837D295590E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13227" y="173663"/>
            <a:ext cx="2072560" cy="263628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E36B8DC-6467-4292-4A6D-E7CB8567B16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-4018208" y="-436008"/>
            <a:ext cx="6731431" cy="361368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1AC5B26-4FC7-BBB2-811A-3160B697CC5A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5804" y="-2970213"/>
            <a:ext cx="1693151" cy="297125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05AAC3-5501-EBA0-67D8-987EBED5E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0A8B26E-0165-6AFC-392E-83750BFB9C99}"/>
              </a:ext>
            </a:extLst>
          </p:cNvPr>
          <p:cNvSpPr txBox="1"/>
          <p:nvPr/>
        </p:nvSpPr>
        <p:spPr>
          <a:xfrm>
            <a:off x="914400" y="2120373"/>
            <a:ext cx="10332720" cy="215443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93C5FD"/>
                </a:solidFill>
              </a:defRPr>
            </a:pPr>
            <a:endParaRPr lang="en-US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</a:defRPr>
            </a:pPr>
            <a:endParaRPr lang="en-US" sz="120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</a:defRPr>
            </a:pPr>
            <a:r>
              <a:rPr lang="en-US" sz="60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CHALLENGE</a:t>
            </a:r>
            <a:endParaRPr lang="en-US"/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</a:defRPr>
            </a:pPr>
            <a:r>
              <a:rPr lang="en-US" sz="2000">
                <a:solidFill>
                  <a:schemeClr val="bg1">
                    <a:lumMod val="65000"/>
                  </a:schemeClr>
                </a:solidFill>
                <a:ea typeface="Calibri"/>
                <a:cs typeface="Calibri"/>
              </a:rPr>
              <a:t>THE BURNING PENSION GAP (QUITE LITERALLY) DUE TO INFLATION</a:t>
            </a:r>
            <a:endParaRPr lang="en-US">
              <a:solidFill>
                <a:schemeClr val="bg1">
                  <a:lumMod val="6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90C07EA-F994-C04B-56C4-82B45C1CE9CE}"/>
              </a:ext>
            </a:extLst>
          </p:cNvPr>
          <p:cNvSpPr/>
          <p:nvPr/>
        </p:nvSpPr>
        <p:spPr>
          <a:xfrm>
            <a:off x="2875" y="-4313"/>
            <a:ext cx="5213230" cy="1811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6CB934F-2B5F-4303-5920-4AE0EB67EA81}"/>
              </a:ext>
            </a:extLst>
          </p:cNvPr>
          <p:cNvSpPr/>
          <p:nvPr/>
        </p:nvSpPr>
        <p:spPr>
          <a:xfrm>
            <a:off x="2874" y="168215"/>
            <a:ext cx="2754703" cy="181155"/>
          </a:xfrm>
          <a:prstGeom prst="rect">
            <a:avLst/>
          </a:prstGeom>
          <a:solidFill>
            <a:srgbClr val="E3D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C6053C2-8BD7-76DB-EDE7-10502C8E6529}"/>
              </a:ext>
            </a:extLst>
          </p:cNvPr>
          <p:cNvSpPr/>
          <p:nvPr/>
        </p:nvSpPr>
        <p:spPr>
          <a:xfrm>
            <a:off x="2873" y="340742"/>
            <a:ext cx="3976780" cy="195533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4546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BB03F5-40DB-F637-D9B8-9AF09A064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60CA5B84-F4B6-66F0-9A3A-703959FB2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012" y="306917"/>
            <a:ext cx="11194281" cy="625186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3F8949C-1412-6632-C1E5-C1E5BA35FDDF}"/>
              </a:ext>
            </a:extLst>
          </p:cNvPr>
          <p:cNvSpPr txBox="1"/>
          <p:nvPr/>
        </p:nvSpPr>
        <p:spPr>
          <a:xfrm rot="240000">
            <a:off x="7638756" y="2722772"/>
            <a:ext cx="1604048" cy="461665"/>
          </a:xfrm>
          <a:prstGeom prst="rect">
            <a:avLst/>
          </a:prstGeom>
          <a:solidFill>
            <a:schemeClr val="bg2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2400" b="1">
                <a:ea typeface="Calibri"/>
                <a:cs typeface="Calibri"/>
              </a:rPr>
              <a:t>INFLATION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87BD92-8B13-2F5F-E333-71198EC7C835}"/>
              </a:ext>
            </a:extLst>
          </p:cNvPr>
          <p:cNvSpPr txBox="1"/>
          <p:nvPr/>
        </p:nvSpPr>
        <p:spPr>
          <a:xfrm rot="-960000">
            <a:off x="1008303" y="4652817"/>
            <a:ext cx="2019684" cy="584775"/>
          </a:xfrm>
          <a:prstGeom prst="rect">
            <a:avLst/>
          </a:prstGeom>
          <a:solidFill>
            <a:schemeClr val="bg2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3200" b="1">
                <a:ea typeface="Calibri"/>
                <a:cs typeface="Calibri"/>
              </a:rPr>
              <a:t>INFLATION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80A13F-DA18-7E9A-91BF-28A03B9E34DC}"/>
              </a:ext>
            </a:extLst>
          </p:cNvPr>
          <p:cNvSpPr txBox="1"/>
          <p:nvPr/>
        </p:nvSpPr>
        <p:spPr>
          <a:xfrm rot="900000">
            <a:off x="9305636" y="5622634"/>
            <a:ext cx="2019684" cy="584775"/>
          </a:xfrm>
          <a:prstGeom prst="rect">
            <a:avLst/>
          </a:prstGeom>
          <a:solidFill>
            <a:schemeClr val="bg2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3200" b="1">
                <a:ea typeface="Calibri"/>
                <a:cs typeface="Calibri"/>
              </a:rPr>
              <a:t>INFLATION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FB2213-16BD-E234-5131-07601EB46A89}"/>
              </a:ext>
            </a:extLst>
          </p:cNvPr>
          <p:cNvSpPr txBox="1"/>
          <p:nvPr/>
        </p:nvSpPr>
        <p:spPr>
          <a:xfrm>
            <a:off x="5104279" y="4115841"/>
            <a:ext cx="1111442" cy="646331"/>
          </a:xfrm>
          <a:prstGeom prst="rect">
            <a:avLst/>
          </a:prstGeom>
          <a:solidFill>
            <a:schemeClr val="bg2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>
                <a:ea typeface="Calibri"/>
                <a:cs typeface="Calibri"/>
              </a:rPr>
              <a:t>MY SAVINGS</a:t>
            </a:r>
            <a:endParaRPr lang="en-US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189150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6CAA1B-4386-9C41-EF2D-09E744166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166474-BBF9-E53F-3DCF-8A06D78C7D1E}"/>
              </a:ext>
            </a:extLst>
          </p:cNvPr>
          <p:cNvSpPr/>
          <p:nvPr/>
        </p:nvSpPr>
        <p:spPr>
          <a:xfrm>
            <a:off x="2875" y="-4313"/>
            <a:ext cx="5213230" cy="1811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CA374B-4DD9-F080-DC74-F946B8A60E00}"/>
              </a:ext>
            </a:extLst>
          </p:cNvPr>
          <p:cNvSpPr/>
          <p:nvPr/>
        </p:nvSpPr>
        <p:spPr>
          <a:xfrm>
            <a:off x="2874" y="168215"/>
            <a:ext cx="2754703" cy="181155"/>
          </a:xfrm>
          <a:prstGeom prst="rect">
            <a:avLst/>
          </a:prstGeom>
          <a:solidFill>
            <a:srgbClr val="E3D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25DD255-5817-EE37-FF21-930F9F6FF49A}"/>
              </a:ext>
            </a:extLst>
          </p:cNvPr>
          <p:cNvSpPr/>
          <p:nvPr/>
        </p:nvSpPr>
        <p:spPr>
          <a:xfrm>
            <a:off x="2873" y="340742"/>
            <a:ext cx="3976780" cy="195533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The godfather 1972 | God father, Godfather trilogy, The godfather part 1">
            <a:extLst>
              <a:ext uri="{FF2B5EF4-FFF2-40B4-BE49-F238E27FC236}">
                <a16:creationId xmlns:a16="http://schemas.microsoft.com/office/drawing/2014/main" id="{DD1B39C6-2DAE-CB44-89B3-123B29C204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2" r="125" b="1222"/>
          <a:stretch>
            <a:fillRect/>
          </a:stretch>
        </p:blipFill>
        <p:spPr>
          <a:xfrm>
            <a:off x="6095264" y="-607"/>
            <a:ext cx="6089864" cy="685925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2EE3F08-00B6-5D5B-158A-F991F3E31DC4}"/>
              </a:ext>
            </a:extLst>
          </p:cNvPr>
          <p:cNvSpPr txBox="1"/>
          <p:nvPr/>
        </p:nvSpPr>
        <p:spPr>
          <a:xfrm>
            <a:off x="914400" y="2120373"/>
            <a:ext cx="10226395" cy="381642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</a:defRPr>
            </a:pPr>
            <a:endParaRPr lang="en-US" sz="120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</a:defRPr>
            </a:pPr>
            <a:endParaRPr lang="en-US" sz="2400">
              <a:solidFill>
                <a:schemeClr val="bg1">
                  <a:lumMod val="65000"/>
                </a:schemeClr>
              </a:solidFill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</a:defRPr>
            </a:pPr>
            <a:r>
              <a:rPr lang="en-US" sz="6000">
                <a:ea typeface="Calibri"/>
                <a:cs typeface="Calibri"/>
              </a:rPr>
              <a:t>THE DÖNER INDEX</a:t>
            </a:r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</a:defRPr>
            </a:pPr>
            <a:r>
              <a:rPr lang="en-US" sz="2000">
                <a:solidFill>
                  <a:schemeClr val="bg1">
                    <a:lumMod val="65000"/>
                  </a:schemeClr>
                </a:solidFill>
                <a:ea typeface="Calibri"/>
                <a:cs typeface="Calibri"/>
              </a:rPr>
              <a:t>Inflation reality: </a:t>
            </a:r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</a:defRPr>
            </a:pPr>
            <a:r>
              <a:rPr lang="en-US" sz="1200">
                <a:solidFill>
                  <a:schemeClr val="bg1">
                    <a:lumMod val="65000"/>
                  </a:schemeClr>
                </a:solidFill>
                <a:ea typeface="Calibri"/>
                <a:cs typeface="Calibri"/>
              </a:rPr>
              <a:t>€100 kept at 0% interest from 2026 buys only about €76 of goods in 2035 </a:t>
            </a:r>
            <a:endParaRPr lang="en-US" sz="4000">
              <a:solidFill>
                <a:schemeClr val="bg1">
                  <a:lumMod val="65000"/>
                </a:schemeClr>
              </a:solidFill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</a:defRPr>
            </a:pPr>
            <a:r>
              <a:rPr lang="en-US" sz="1200">
                <a:solidFill>
                  <a:schemeClr val="bg1">
                    <a:lumMod val="65000"/>
                  </a:schemeClr>
                </a:solidFill>
                <a:ea typeface="Calibri"/>
                <a:cs typeface="Calibri"/>
              </a:rPr>
              <a:t>and about €48 in 2050, if prices rise 3% a year. Savings alone cannot </a:t>
            </a:r>
            <a:endParaRPr lang="en-US" sz="4000">
              <a:solidFill>
                <a:schemeClr val="bg1">
                  <a:lumMod val="65000"/>
                </a:schemeClr>
              </a:solidFill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</a:defRPr>
            </a:pPr>
            <a:r>
              <a:rPr lang="en-US" sz="1200">
                <a:solidFill>
                  <a:schemeClr val="bg1">
                    <a:lumMod val="65000"/>
                  </a:schemeClr>
                </a:solidFill>
                <a:ea typeface="Calibri"/>
                <a:cs typeface="Calibri"/>
              </a:rPr>
              <a:t>fund a pension.</a:t>
            </a:r>
            <a:endParaRPr lang="en-US">
              <a:solidFill>
                <a:schemeClr val="bg1">
                  <a:lumMod val="65000"/>
                </a:schemeClr>
              </a:solidFill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</a:defRPr>
            </a:pPr>
            <a:endParaRPr lang="en-US" sz="2000">
              <a:solidFill>
                <a:schemeClr val="bg1">
                  <a:lumMod val="6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AEE93A-1CD9-6530-D4ED-5F7DF9D5808E}"/>
              </a:ext>
            </a:extLst>
          </p:cNvPr>
          <p:cNvSpPr txBox="1"/>
          <p:nvPr/>
        </p:nvSpPr>
        <p:spPr>
          <a:xfrm>
            <a:off x="9662023" y="2827562"/>
            <a:ext cx="2326846" cy="461665"/>
          </a:xfrm>
          <a:prstGeom prst="rect">
            <a:avLst/>
          </a:prstGeom>
          <a:solidFill>
            <a:schemeClr val="bg2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>
                <a:ea typeface="Calibri"/>
                <a:cs typeface="Calibri"/>
              </a:rPr>
              <a:t>With 20€ in 2016</a:t>
            </a:r>
            <a:endParaRPr lang="en-US" sz="2400">
              <a:ea typeface="Calibri"/>
              <a:cs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A80075-294C-F82D-97FC-5836A753D184}"/>
              </a:ext>
            </a:extLst>
          </p:cNvPr>
          <p:cNvSpPr txBox="1"/>
          <p:nvPr/>
        </p:nvSpPr>
        <p:spPr>
          <a:xfrm>
            <a:off x="9662023" y="6200445"/>
            <a:ext cx="2326846" cy="461665"/>
          </a:xfrm>
          <a:prstGeom prst="rect">
            <a:avLst/>
          </a:prstGeom>
          <a:solidFill>
            <a:schemeClr val="bg2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>
                <a:ea typeface="Calibri"/>
                <a:cs typeface="Calibri"/>
              </a:rPr>
              <a:t>With 20€ in 2026</a:t>
            </a:r>
            <a:endParaRPr lang="en-US" sz="240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942338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BC3002-628F-B32A-5F93-F36853351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8ACA490-354D-F033-A599-A61F4E56F591}"/>
              </a:ext>
            </a:extLst>
          </p:cNvPr>
          <p:cNvSpPr txBox="1"/>
          <p:nvPr/>
        </p:nvSpPr>
        <p:spPr>
          <a:xfrm>
            <a:off x="914400" y="2120373"/>
            <a:ext cx="10332720" cy="169277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93C5FD"/>
                </a:solidFill>
              </a:defRPr>
            </a:pPr>
            <a:endParaRPr lang="en-US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</a:defRPr>
            </a:pPr>
            <a:endParaRPr lang="en-US" sz="120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</a:defRPr>
            </a:pPr>
            <a:r>
              <a:rPr lang="en-US" sz="60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WE SAW AN OPPORTUNITY</a:t>
            </a:r>
            <a:endParaRPr lang="en-US"/>
          </a:p>
        </p:txBody>
      </p:sp>
      <p:pic>
        <p:nvPicPr>
          <p:cNvPr id="4" name="Picture 3" descr="A child looking at the camera&#10;&#10;AI-generated content may be incorrect.">
            <a:extLst>
              <a:ext uri="{FF2B5EF4-FFF2-40B4-BE49-F238E27FC236}">
                <a16:creationId xmlns:a16="http://schemas.microsoft.com/office/drawing/2014/main" id="{5FEE066D-2AE7-4690-BFB7-10BD2D7D54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27"/>
          <a:stretch>
            <a:fillRect/>
          </a:stretch>
        </p:blipFill>
        <p:spPr>
          <a:xfrm>
            <a:off x="447675" y="304800"/>
            <a:ext cx="11282260" cy="62484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06B0D7A-2841-B45B-A979-9EF79BE922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51" y="4940772"/>
            <a:ext cx="3440070" cy="117775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E7F7E0A-9159-CFC1-2591-EF8A8A072CAD}"/>
              </a:ext>
            </a:extLst>
          </p:cNvPr>
          <p:cNvSpPr txBox="1"/>
          <p:nvPr/>
        </p:nvSpPr>
        <p:spPr>
          <a:xfrm>
            <a:off x="914400" y="2120373"/>
            <a:ext cx="10332720" cy="169277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93C5FD"/>
                </a:solidFill>
              </a:defRPr>
            </a:pPr>
            <a:endParaRPr lang="en-US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</a:defRPr>
            </a:pPr>
            <a:endParaRPr lang="en-US" sz="120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</a:defRPr>
            </a:pPr>
            <a:r>
              <a:rPr lang="en-US" sz="60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WE SAW AN OPPORTUNITY</a:t>
            </a:r>
            <a:endParaRPr lang="en-US">
              <a:solidFill>
                <a:schemeClr val="bg1">
                  <a:lumMod val="65000"/>
                </a:schemeClr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73826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DEAFD8-56E6-FE99-3FB8-396A90E70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508EEF4-ABD3-FA97-D19F-1CE011CED34B}"/>
              </a:ext>
            </a:extLst>
          </p:cNvPr>
          <p:cNvSpPr txBox="1"/>
          <p:nvPr/>
        </p:nvSpPr>
        <p:spPr>
          <a:xfrm>
            <a:off x="914400" y="2120373"/>
            <a:ext cx="10226395" cy="286232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93C5FD"/>
                </a:solidFill>
              </a:defRPr>
            </a:pPr>
            <a:endParaRPr lang="en-US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</a:defRPr>
            </a:pPr>
            <a:endParaRPr lang="en-US" sz="120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</a:defRPr>
            </a:pPr>
            <a:r>
              <a:rPr lang="en-US" sz="60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DISCLAIMER</a:t>
            </a:r>
            <a:endParaRPr lang="en-US">
              <a:solidFill>
                <a:srgbClr val="FFFFFF"/>
              </a:solidFill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</a:defRPr>
            </a:pPr>
            <a:r>
              <a:rPr lang="en-US" sz="2400">
                <a:solidFill>
                  <a:schemeClr val="bg1">
                    <a:lumMod val="65000"/>
                  </a:schemeClr>
                </a:solidFill>
                <a:ea typeface="+mn-lt"/>
                <a:cs typeface="+mn-lt"/>
              </a:rPr>
              <a:t>⚠️⚠️</a:t>
            </a:r>
            <a:r>
              <a:rPr lang="en-US" sz="3200">
                <a:solidFill>
                  <a:schemeClr val="bg1">
                    <a:lumMod val="65000"/>
                  </a:schemeClr>
                </a:solidFill>
                <a:ea typeface="+mn-lt"/>
                <a:cs typeface="+mn-lt"/>
              </a:rPr>
              <a:t> </a:t>
            </a:r>
            <a:r>
              <a:rPr lang="en-US" sz="2000">
                <a:solidFill>
                  <a:schemeClr val="bg1">
                    <a:lumMod val="65000"/>
                  </a:schemeClr>
                </a:solidFill>
                <a:ea typeface="+mn-lt"/>
                <a:cs typeface="+mn-lt"/>
              </a:rPr>
              <a:t>We are students, not your financial advisers: </a:t>
            </a:r>
            <a:endParaRPr lang="en-US" sz="2400">
              <a:solidFill>
                <a:schemeClr val="bg1">
                  <a:lumMod val="65000"/>
                </a:schemeClr>
              </a:solidFill>
              <a:ea typeface="+mn-lt"/>
              <a:cs typeface="+mn-lt"/>
            </a:endParaRPr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</a:defRPr>
            </a:pPr>
            <a:r>
              <a:rPr lang="en-US" sz="2000">
                <a:solidFill>
                  <a:schemeClr val="bg1">
                    <a:lumMod val="65000"/>
                  </a:schemeClr>
                </a:solidFill>
                <a:ea typeface="+mn-lt"/>
                <a:cs typeface="+mn-lt"/>
              </a:rPr>
              <a:t>this is a teaching model, not financial advice. If it were, our own portfolios wouldn't be this red</a:t>
            </a:r>
            <a:r>
              <a:rPr lang="en-US" sz="2400">
                <a:solidFill>
                  <a:schemeClr val="bg1">
                    <a:lumMod val="65000"/>
                  </a:schemeClr>
                </a:solidFill>
                <a:ea typeface="+mn-lt"/>
                <a:cs typeface="+mn-lt"/>
              </a:rPr>
              <a:t>⚠️⚠️</a:t>
            </a:r>
            <a:endParaRPr lang="en-US" sz="2400">
              <a:solidFill>
                <a:schemeClr val="bg1">
                  <a:lumMod val="6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2634CB6-7349-323D-36F8-05849D331550}"/>
              </a:ext>
            </a:extLst>
          </p:cNvPr>
          <p:cNvSpPr/>
          <p:nvPr/>
        </p:nvSpPr>
        <p:spPr>
          <a:xfrm>
            <a:off x="2875" y="-4313"/>
            <a:ext cx="5213230" cy="1811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7704D40-0F02-23F4-3CCF-5566106F7024}"/>
              </a:ext>
            </a:extLst>
          </p:cNvPr>
          <p:cNvSpPr/>
          <p:nvPr/>
        </p:nvSpPr>
        <p:spPr>
          <a:xfrm>
            <a:off x="2874" y="168215"/>
            <a:ext cx="2754703" cy="181155"/>
          </a:xfrm>
          <a:prstGeom prst="rect">
            <a:avLst/>
          </a:prstGeom>
          <a:solidFill>
            <a:srgbClr val="E3D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4557706-74A4-65E9-0893-AEA550508281}"/>
              </a:ext>
            </a:extLst>
          </p:cNvPr>
          <p:cNvSpPr/>
          <p:nvPr/>
        </p:nvSpPr>
        <p:spPr>
          <a:xfrm>
            <a:off x="2873" y="340742"/>
            <a:ext cx="3976780" cy="195533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0120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FD9D69-1631-F916-13B4-40D2BCADE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5D0533F-372B-2941-7739-D9AA2AE35362}"/>
              </a:ext>
            </a:extLst>
          </p:cNvPr>
          <p:cNvSpPr txBox="1"/>
          <p:nvPr/>
        </p:nvSpPr>
        <p:spPr>
          <a:xfrm>
            <a:off x="778540" y="2120373"/>
            <a:ext cx="10633976" cy="375487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</a:defRPr>
            </a:pPr>
            <a:r>
              <a:rPr lang="en-US" sz="5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ADVISEE:</a:t>
            </a:r>
            <a:r>
              <a:rPr lang="en-US" sz="60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</a:defRPr>
            </a:pPr>
            <a:r>
              <a:rPr lang="en-US" sz="5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COMMITTEE OF GERMANY'S NEW PENSION FUND</a:t>
            </a:r>
            <a:endParaRPr lang="en-US" sz="540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</a:defRPr>
            </a:pPr>
            <a:r>
              <a:rPr lang="en-US" sz="2000">
                <a:solidFill>
                  <a:schemeClr val="bg1">
                    <a:lumMod val="65000"/>
                  </a:schemeClr>
                </a:solidFill>
                <a:ea typeface="+mn-lt"/>
                <a:cs typeface="+mn-lt"/>
              </a:rPr>
              <a:t>From 2028, 2% of gross wages go into a public, capital-funded pension fund (the Kapitalrente, no guarantees). </a:t>
            </a:r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</a:defRPr>
            </a:pPr>
            <a:r>
              <a:rPr lang="en-US" sz="2000">
                <a:solidFill>
                  <a:schemeClr val="bg1">
                    <a:lumMod val="65000"/>
                  </a:schemeClr>
                </a:solidFill>
                <a:ea typeface="+mn-lt"/>
                <a:cs typeface="+mn-lt"/>
              </a:rPr>
              <a:t>Its independent investment committee decides how the money is invested.</a:t>
            </a:r>
            <a:endParaRPr lang="en-US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00D1DEB-E25A-83C7-4C27-7FD2C0CEE5C3}"/>
              </a:ext>
            </a:extLst>
          </p:cNvPr>
          <p:cNvSpPr/>
          <p:nvPr/>
        </p:nvSpPr>
        <p:spPr>
          <a:xfrm>
            <a:off x="2875" y="-4313"/>
            <a:ext cx="5213230" cy="1811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5C3A782-A69C-6B8D-C70F-6B8F14AC53F6}"/>
              </a:ext>
            </a:extLst>
          </p:cNvPr>
          <p:cNvSpPr/>
          <p:nvPr/>
        </p:nvSpPr>
        <p:spPr>
          <a:xfrm>
            <a:off x="2874" y="168215"/>
            <a:ext cx="2754703" cy="181155"/>
          </a:xfrm>
          <a:prstGeom prst="rect">
            <a:avLst/>
          </a:prstGeom>
          <a:solidFill>
            <a:srgbClr val="E3D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1296487-DBA0-5E16-D84B-8E438B1E859E}"/>
              </a:ext>
            </a:extLst>
          </p:cNvPr>
          <p:cNvSpPr/>
          <p:nvPr/>
        </p:nvSpPr>
        <p:spPr>
          <a:xfrm>
            <a:off x="2873" y="340742"/>
            <a:ext cx="3976780" cy="195533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8980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98749C-54F8-7ED9-5BD3-9BA838264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E3309A2-5E21-657E-B50C-FD68F721E053}"/>
              </a:ext>
            </a:extLst>
          </p:cNvPr>
          <p:cNvSpPr/>
          <p:nvPr/>
        </p:nvSpPr>
        <p:spPr>
          <a:xfrm>
            <a:off x="0" y="3186547"/>
            <a:ext cx="12191999" cy="36714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 descr="The Pink Panther Season 1 Episode 1 on Make a GIF">
            <a:extLst>
              <a:ext uri="{FF2B5EF4-FFF2-40B4-BE49-F238E27FC236}">
                <a16:creationId xmlns:a16="http://schemas.microsoft.com/office/drawing/2014/main" id="{EDAF3CCA-6B10-7779-E9E2-8068A38A8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25136"/>
            <a:ext cx="8534399" cy="6407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761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rPr lang="en-US">
                <a:solidFill>
                  <a:srgbClr val="2563EB"/>
                </a:solidFill>
              </a:rPr>
              <a:t>1. THE CHALLENGE | THE BURNING PENSION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1900" b="1">
                <a:solidFill>
                  <a:srgbClr val="0A192F"/>
                </a:solidFill>
                <a:latin typeface="Calibri"/>
              </a:defRPr>
            </a:pPr>
            <a:r>
              <a:rPr lang="en-US" sz="1900">
                <a:latin typeface="Calibri"/>
                <a:ea typeface="Calibri"/>
                <a:cs typeface="Calibri"/>
              </a:rPr>
              <a:t>Every German saver faces the same dilemma: protect savings from crashes or protect them from inflation.</a:t>
            </a:r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206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45720" rtlCol="0" anchor="ctr"/>
          <a:lstStyle/>
          <a:p>
            <a:pPr algn="ctr">
              <a:spcAft>
                <a:spcPts val="1000"/>
              </a:spcAft>
              <a:defRPr sz="1200" b="1">
                <a:solidFill>
                  <a:srgbClr val="2563EB"/>
                </a:solidFill>
              </a:defRPr>
            </a:pPr>
            <a:r>
              <a:rPr>
                <a:solidFill>
                  <a:srgbClr val="0A192F"/>
                </a:solidFill>
              </a:rPr>
              <a:t>THE RETIREMENT BURNING PLATFORM</a:t>
            </a:r>
            <a:endParaRPr lang="en-US">
              <a:solidFill>
                <a:srgbClr val="0A192F"/>
              </a:solidFill>
              <a:ea typeface="Calibri"/>
              <a:cs typeface="Calibri"/>
            </a:endParaRPr>
          </a:p>
          <a:p>
            <a:pPr>
              <a:defRPr sz="1050" b="1">
                <a:solidFill>
                  <a:srgbClr val="0A192F"/>
                </a:solidFill>
              </a:defRPr>
            </a:pPr>
            <a:endParaRPr lang="en-US"/>
          </a:p>
          <a:p>
            <a:pPr>
              <a:defRPr sz="1050" b="1">
                <a:solidFill>
                  <a:srgbClr val="0A192F"/>
                </a:solidFill>
              </a:defRPr>
            </a:pPr>
            <a:endParaRPr lang="en-US"/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</a:t>
            </a:r>
            <a:r>
              <a:rPr lang="en-US" u="sng"/>
              <a:t>The Inflation Reality: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rPr lang="en-US"/>
              <a:t>Traditional savings alone cannot fund future retirement.</a:t>
            </a:r>
          </a:p>
          <a:p>
            <a:pPr>
              <a:defRPr sz="1050" b="1">
                <a:solidFill>
                  <a:srgbClr val="0A192F"/>
                </a:solidFill>
              </a:defRPr>
            </a:pPr>
            <a:endParaRPr lang="en-US"/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rPr lang="en-US"/>
              <a:t>• </a:t>
            </a:r>
            <a:r>
              <a:rPr lang="en-US" u="sng"/>
              <a:t>The State's Solution: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rPr lang="en-US"/>
              <a:t>The planned Kapitalrente invests 2% of wages in a public fund from 2028, to share in long-term growth.</a:t>
            </a:r>
          </a:p>
          <a:p>
            <a:pPr>
              <a:defRPr sz="1050" b="1">
                <a:solidFill>
                  <a:srgbClr val="0A192F"/>
                </a:solidFill>
              </a:defRPr>
            </a:pPr>
            <a:endParaRPr lang="en-US"/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rPr lang="en-US"/>
              <a:t>• </a:t>
            </a:r>
            <a:r>
              <a:rPr lang="en-US" u="sng"/>
              <a:t>What the Public Wants:</a:t>
            </a:r>
            <a:r>
              <a:rPr lang="en-US"/>
              <a:t> </a:t>
            </a:r>
            <a:endParaRPr lang="en-US">
              <a:ea typeface="Calibri"/>
              <a:cs typeface="Calibri"/>
            </a:endParaRP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 </a:t>
            </a:r>
            <a:r>
              <a:rPr lang="en-US"/>
              <a:t>Citizens want growth, but they also want safeguards. Pension funds cannot afford to gamble.</a:t>
            </a:r>
            <a:endParaRPr/>
          </a:p>
          <a:p>
            <a:pPr>
              <a:defRPr sz="1050" b="1">
                <a:solidFill>
                  <a:srgbClr val="0A192F"/>
                </a:solidFill>
              </a:defRPr>
            </a:pPr>
            <a:endParaRPr lang="en-US"/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</a:t>
            </a:r>
            <a:r>
              <a:rPr u="sng"/>
              <a:t>The Fiduciary Dilemma: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rPr lang="en-US"/>
              <a:t>How can a pension fund capture growth without exposing savers to unacceptable losses?</a:t>
            </a:r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42255" cy="4206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45720" rtlCol="0" anchor="ctr"/>
          <a:lstStyle/>
          <a:p>
            <a:pPr algn="ctr">
              <a:spcAft>
                <a:spcPts val="1000"/>
              </a:spcAft>
              <a:defRPr sz="1200" b="1">
                <a:solidFill>
                  <a:srgbClr val="2563EB"/>
                </a:solidFill>
              </a:defRPr>
            </a:pPr>
            <a:r>
              <a:rPr>
                <a:solidFill>
                  <a:srgbClr val="0A192F"/>
                </a:solidFill>
              </a:rPr>
              <a:t>THE MANDATE QUESTIONS WE MUST SOLVE</a:t>
            </a:r>
            <a:endParaRPr lang="en-US">
              <a:solidFill>
                <a:srgbClr val="0A192F"/>
              </a:solidFill>
              <a:ea typeface="Calibri"/>
              <a:cs typeface="Calibri"/>
            </a:endParaRPr>
          </a:p>
          <a:p>
            <a:pPr>
              <a:defRPr sz="1050" b="1">
                <a:solidFill>
                  <a:srgbClr val="0A192F"/>
                </a:solidFill>
              </a:defRPr>
            </a:pPr>
            <a:endParaRPr lang="en-US" sz="1200" b="1">
              <a:solidFill>
                <a:srgbClr val="2563EB"/>
              </a:solidFill>
            </a:endParaRPr>
          </a:p>
          <a:p>
            <a:pPr>
              <a:defRPr sz="1050" b="1">
                <a:solidFill>
                  <a:srgbClr val="0A192F"/>
                </a:solidFill>
              </a:defRPr>
            </a:pPr>
            <a:endParaRPr lang="en-US"/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</a:t>
            </a:r>
            <a:r>
              <a:rPr lang="en-US" u="sng"/>
              <a:t>Is Technology Worth the Risk?</a:t>
            </a:r>
            <a:endParaRPr u="sng"/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rPr lang="en-US"/>
              <a:t>A proposal is on the table to add tech stocks to boost returns. Do the potential gains justify the additional risk?</a:t>
            </a:r>
          </a:p>
          <a:p>
            <a:pPr>
              <a:defRPr sz="1050" b="1">
                <a:solidFill>
                  <a:srgbClr val="0A192F"/>
                </a:solidFill>
              </a:defRPr>
            </a:pPr>
            <a:endParaRPr lang="en-US"/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rPr lang="en-US"/>
              <a:t>• </a:t>
            </a:r>
            <a:r>
              <a:rPr lang="en-US" u="sng"/>
              <a:t>Can We Keep Losses Within Limits?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rPr lang="en-US"/>
              <a:t>Each profile gets a binding loss limit (our assumption, from the organisers' setup). The fund itself gives no guarantees.</a:t>
            </a:r>
          </a:p>
          <a:p>
            <a:pPr>
              <a:defRPr sz="1050" b="1">
                <a:solidFill>
                  <a:srgbClr val="0A192F"/>
                </a:solidFill>
              </a:defRPr>
            </a:pPr>
            <a:endParaRPr lang="en-US"/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</a:t>
            </a:r>
            <a:r>
              <a:rPr lang="en-US" u="sng"/>
              <a:t>Who Protects Passive Savers?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rPr lang="en-US"/>
              <a:t>Many savers never choose a profile and get the default. How do we protect them?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endParaRPr lang="en-US"/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rPr lang="en-US"/>
              <a:t>• </a:t>
            </a:r>
            <a:r>
              <a:rPr lang="en-US" u="sng"/>
              <a:t>Can We Trust the Recommendation?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rPr lang="en-US"/>
              <a:t>Every recommendation must pass the binding checks and be reproducible by anyone.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897880"/>
            <a:ext cx="10728655" cy="502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/>
            <a:r>
              <a:rPr sz="1050" b="1">
                <a:solidFill>
                  <a:srgbClr val="2563EB"/>
                </a:solidFill>
              </a:rPr>
              <a:t>KEY TAKEAWAY: </a:t>
            </a:r>
            <a:r>
              <a:rPr lang="en-US" sz="1050">
                <a:solidFill>
                  <a:srgbClr val="1E293B"/>
                </a:solidFill>
              </a:rPr>
              <a:t>A pension fund should only change course when the evidence is strong: a switch must pass every binding rule and every stress test first.</a:t>
            </a:r>
            <a:endParaRPr sz="1050">
              <a:solidFill>
                <a:srgbClr val="1E293B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6510528"/>
            <a:ext cx="1072865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Sources: Alterssicherungskommission (June 2026); team analysis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2. THE SETUP | THE FORTRESS HOUSE &amp; THE TACTICAL SATELLITE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A192F"/>
                </a:solidFill>
                <a:latin typeface="Calibri"/>
              </a:defRPr>
            </a:pPr>
            <a:r>
              <a:rPr lang="en-US"/>
              <a:t>We protect the pension with a Fortress House and improve returns with a Tactical Satellite</a:t>
            </a:r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28416" cy="4206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spcAft>
                <a:spcPts val="1000"/>
              </a:spcAft>
              <a:defRPr sz="1300" b="1">
                <a:solidFill>
                  <a:srgbClr val="0A192F"/>
                </a:solidFill>
              </a:defRPr>
            </a:pPr>
            <a:r>
              <a:t>The Fortress House (90% Core)</a:t>
            </a:r>
            <a:endParaRPr lang="en-US"/>
          </a:p>
          <a:p>
            <a:pPr algn="ctr">
              <a:spcAft>
                <a:spcPts val="1000"/>
              </a:spcAft>
              <a:defRPr sz="1300" b="1">
                <a:solidFill>
                  <a:srgbClr val="0A192F"/>
                </a:solidFill>
              </a:defRPr>
            </a:pPr>
            <a:endParaRPr lang="en-US"/>
          </a:p>
          <a:p>
            <a:pPr algn="ctr">
              <a:spcAft>
                <a:spcPts val="1000"/>
              </a:spcAft>
              <a:defRPr sz="1300" b="1">
                <a:solidFill>
                  <a:srgbClr val="0A192F"/>
                </a:solidFill>
              </a:defRPr>
            </a:pPr>
            <a:endParaRPr/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</a:t>
            </a:r>
            <a:r>
              <a:rPr u="sng"/>
              <a:t>Broad Global Equity: </a:t>
            </a:r>
          </a:p>
          <a:p>
            <a:pPr>
              <a:spcAft>
                <a:spcPts val="800"/>
              </a:spcAft>
              <a:defRPr sz="950">
                <a:solidFill>
                  <a:srgbClr val="334155"/>
                </a:solidFill>
              </a:defRPr>
            </a:pPr>
            <a:r>
              <a:t>A broad index of thousands of companies worldwide (not modelled; we take it as given).</a:t>
            </a:r>
            <a:endParaRPr lang="en-US"/>
          </a:p>
          <a:p>
            <a:pPr>
              <a:spcAft>
                <a:spcPts val="800"/>
              </a:spcAft>
              <a:defRPr sz="950">
                <a:solidFill>
                  <a:srgbClr val="334155"/>
                </a:solidFill>
              </a:defRPr>
            </a:pPr>
            <a:endParaRPr/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</a:t>
            </a:r>
            <a:r>
              <a:rPr u="sng"/>
              <a:t>Unshakable Bedrock: </a:t>
            </a:r>
          </a:p>
          <a:p>
            <a:pPr>
              <a:spcAft>
                <a:spcPts val="800"/>
              </a:spcAft>
              <a:defRPr sz="950">
                <a:solidFill>
                  <a:srgbClr val="334155"/>
                </a:solidFill>
              </a:defRPr>
            </a:pPr>
            <a:r>
              <a:t>Provides steady, broad diversification. It is the solid family house that protects the base pension.</a:t>
            </a:r>
            <a:endParaRPr lang="en-US"/>
          </a:p>
          <a:p>
            <a:pPr>
              <a:spcAft>
                <a:spcPts val="800"/>
              </a:spcAft>
              <a:defRPr sz="950">
                <a:solidFill>
                  <a:srgbClr val="334155"/>
                </a:solidFill>
              </a:defRPr>
            </a:pPr>
            <a:endParaRPr/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</a:t>
            </a:r>
            <a:r>
              <a:rPr u="sng"/>
              <a:t>Passive Foundation: </a:t>
            </a:r>
          </a:p>
          <a:p>
            <a:pPr>
              <a:spcAft>
                <a:spcPts val="800"/>
              </a:spcAft>
              <a:defRPr sz="950">
                <a:solidFill>
                  <a:srgbClr val="334155"/>
                </a:solidFill>
              </a:defRPr>
            </a:pPr>
            <a:r>
              <a:t>Zero sector speculation; strictly tracks broad market economic progress.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463040"/>
            <a:ext cx="3328416" cy="4206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spcAft>
                <a:spcPts val="1000"/>
              </a:spcAft>
              <a:defRPr sz="1300" b="1">
                <a:solidFill>
                  <a:srgbClr val="2563EB"/>
                </a:solidFill>
              </a:defRPr>
            </a:pPr>
            <a:r>
              <a:rPr lang="en-US"/>
              <a:t>The Tactical Satellite (10% Tilt)</a:t>
            </a:r>
          </a:p>
          <a:p>
            <a:pPr algn="ctr">
              <a:spcAft>
                <a:spcPts val="1000"/>
              </a:spcAft>
              <a:defRPr sz="1300" b="1">
                <a:solidFill>
                  <a:srgbClr val="2563EB"/>
                </a:solidFill>
              </a:defRPr>
            </a:pPr>
            <a:endParaRPr lang="en-US"/>
          </a:p>
          <a:p>
            <a:pPr algn="ctr">
              <a:spcAft>
                <a:spcPts val="1000"/>
              </a:spcAft>
              <a:defRPr sz="1300" b="1">
                <a:solidFill>
                  <a:srgbClr val="2563EB"/>
                </a:solidFill>
              </a:defRPr>
            </a:pPr>
            <a:endParaRPr lang="en-GB"/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rPr lang="en-GB"/>
              <a:t>• </a:t>
            </a:r>
            <a:r>
              <a:rPr lang="en-GB" u="sng"/>
              <a:t>Tactical Optimization: </a:t>
            </a:r>
            <a:endParaRPr lang="en-US" u="sng"/>
          </a:p>
          <a:p>
            <a:pPr>
              <a:spcAft>
                <a:spcPts val="800"/>
              </a:spcAft>
              <a:defRPr sz="950">
                <a:solidFill>
                  <a:srgbClr val="334155"/>
                </a:solidFill>
              </a:defRPr>
            </a:pPr>
            <a:r>
              <a:rPr lang="en-GB"/>
              <a:t> </a:t>
            </a:r>
            <a:r>
              <a:rPr lang="en-US"/>
              <a:t>A small, dedicated sleeve designed to improve returns without jeopardizing the core pension.</a:t>
            </a:r>
          </a:p>
          <a:p>
            <a:pPr>
              <a:spcAft>
                <a:spcPts val="800"/>
              </a:spcAft>
              <a:defRPr sz="950">
                <a:solidFill>
                  <a:srgbClr val="334155"/>
                </a:solidFill>
              </a:defRPr>
            </a:pPr>
            <a:endParaRPr/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</a:t>
            </a:r>
            <a:r>
              <a:rPr u="sng"/>
              <a:t>Discrete 3-of-6 Choice: </a:t>
            </a:r>
          </a:p>
          <a:p>
            <a:pPr>
              <a:spcAft>
                <a:spcPts val="800"/>
              </a:spcAft>
              <a:defRPr sz="950">
                <a:solidFill>
                  <a:srgbClr val="334155"/>
                </a:solidFill>
              </a:defRPr>
            </a:pPr>
            <a:r>
              <a:t>Choose exactly 3 US sectors out of 6 candidates: Tech, Healthcare, Utilities, Staples, Manufacturing, Energy.</a:t>
            </a:r>
            <a:endParaRPr lang="en-US"/>
          </a:p>
          <a:p>
            <a:pPr>
              <a:spcAft>
                <a:spcPts val="800"/>
              </a:spcAft>
              <a:defRPr sz="950">
                <a:solidFill>
                  <a:srgbClr val="334155"/>
                </a:solidFill>
              </a:defRPr>
            </a:pPr>
            <a:endParaRPr/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</a:t>
            </a:r>
            <a:r>
              <a:rPr u="sng"/>
              <a:t>Combinatorial Space: </a:t>
            </a:r>
          </a:p>
          <a:p>
            <a:pPr>
              <a:spcAft>
                <a:spcPts val="800"/>
              </a:spcAft>
              <a:defRPr sz="950">
                <a:solidFill>
                  <a:srgbClr val="334155"/>
                </a:solidFill>
              </a:defRPr>
            </a:pPr>
            <a:r>
              <a:t>Selecting 3 of 6 equal-weight slices yields exactly (6 choose 3) = 20 possible combinations.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463040"/>
            <a:ext cx="3328416" cy="4206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spcAft>
                <a:spcPts val="1000"/>
              </a:spcAft>
              <a:defRPr sz="1300" b="1">
                <a:solidFill>
                  <a:srgbClr val="1E293B"/>
                </a:solidFill>
              </a:defRPr>
            </a:pPr>
            <a:r>
              <a:rPr lang="en-GB"/>
              <a:t>The Audit Key</a:t>
            </a:r>
          </a:p>
          <a:p>
            <a:pPr algn="ctr">
              <a:spcAft>
                <a:spcPts val="1000"/>
              </a:spcAft>
              <a:defRPr sz="1300" b="1">
                <a:solidFill>
                  <a:srgbClr val="1E293B"/>
                </a:solidFill>
              </a:defRPr>
            </a:pPr>
            <a:endParaRPr lang="en-GB"/>
          </a:p>
          <a:p>
            <a:pPr algn="ctr">
              <a:spcAft>
                <a:spcPts val="1000"/>
              </a:spcAft>
              <a:defRPr sz="1300" b="1">
                <a:solidFill>
                  <a:srgbClr val="1E293B"/>
                </a:solidFill>
              </a:defRPr>
            </a:pPr>
            <a:endParaRPr/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</a:t>
            </a:r>
            <a:r>
              <a:rPr u="sng"/>
              <a:t>Exhaustive A</a:t>
            </a:r>
            <a:r>
              <a:rPr lang="en-US" u="sng"/>
              <a:t>udit</a:t>
            </a:r>
            <a:r>
              <a:rPr u="sng"/>
              <a:t> Key: </a:t>
            </a:r>
          </a:p>
          <a:p>
            <a:pPr>
              <a:spcAft>
                <a:spcPts val="800"/>
              </a:spcAft>
              <a:defRPr sz="950">
                <a:solidFill>
                  <a:srgbClr val="334155"/>
                </a:solidFill>
              </a:defRPr>
            </a:pPr>
            <a:r>
              <a:rPr lang="en-US"/>
              <a:t>Because there are only 20 portfolios, a classical computer can test every possibility instantly.</a:t>
            </a:r>
          </a:p>
          <a:p>
            <a:pPr>
              <a:spcAft>
                <a:spcPts val="800"/>
              </a:spcAft>
              <a:defRPr sz="950">
                <a:solidFill>
                  <a:srgbClr val="334155"/>
                </a:solidFill>
              </a:defRPr>
            </a:pPr>
            <a:endParaRPr/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</a:t>
            </a:r>
            <a:r>
              <a:rPr lang="en-GB" u="sng"/>
              <a:t>Zero Quantum Hype:</a:t>
            </a:r>
            <a:r>
              <a:rPr u="sng"/>
              <a:t> </a:t>
            </a:r>
          </a:p>
          <a:p>
            <a:pPr>
              <a:spcAft>
                <a:spcPts val="800"/>
              </a:spcAft>
              <a:defRPr sz="950">
                <a:solidFill>
                  <a:srgbClr val="334155"/>
                </a:solidFill>
              </a:defRPr>
            </a:pPr>
            <a:r>
              <a:rPr lang="en-US"/>
              <a:t>We're not claiming quantum advantage. The classical answer gives us a benchmark.</a:t>
            </a:r>
          </a:p>
          <a:p>
            <a:pPr>
              <a:spcAft>
                <a:spcPts val="800"/>
              </a:spcAft>
              <a:defRPr sz="950">
                <a:solidFill>
                  <a:srgbClr val="334155"/>
                </a:solidFill>
              </a:defRPr>
            </a:pPr>
            <a:endParaRPr/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</a:t>
            </a:r>
            <a:r>
              <a:rPr lang="en-US" u="sng"/>
              <a:t>The Real Challenge: </a:t>
            </a:r>
          </a:p>
          <a:p>
            <a:pPr>
              <a:spcAft>
                <a:spcPts val="800"/>
              </a:spcAft>
              <a:defRPr sz="950">
                <a:solidFill>
                  <a:srgbClr val="334155"/>
                </a:solidFill>
              </a:defRPr>
            </a:pPr>
            <a:r>
              <a:rPr lang="en-US"/>
              <a:t>Can we build a quantum circuit that cannot break the rules by design?</a:t>
            </a:r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31520" y="5897880"/>
            <a:ext cx="10728655" cy="502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/>
            <a:r>
              <a:rPr sz="1050" b="1">
                <a:solidFill>
                  <a:srgbClr val="2563EB"/>
                </a:solidFill>
              </a:rPr>
              <a:t>KEY TAKEAWAY</a:t>
            </a:r>
            <a:r>
              <a:rPr lang="en-US" sz="1050" b="1">
                <a:solidFill>
                  <a:srgbClr val="2563EB"/>
                </a:solidFill>
              </a:rPr>
              <a:t>: </a:t>
            </a:r>
            <a:r>
              <a:rPr lang="en-US" sz="1050">
                <a:solidFill>
                  <a:srgbClr val="1E293B"/>
                </a:solidFill>
              </a:rPr>
              <a:t>The Fortress House keeps the pension safe. The challenge is making the Tactical Satellite smarter without making it riskier.</a:t>
            </a:r>
            <a:endParaRPr sz="1050">
              <a:solidFill>
                <a:srgbClr val="1E293B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1072865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Source: our canonical run (results/canonical/summary.json) · data: Kenneth French, 6 US industry portfolios, Jan 2015–Dec 2019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3. THE INVESTORS | THREE EVERYDAY SAVERS, THREE DIFFERENT PERSONALITIES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A192F"/>
                </a:solidFill>
                <a:latin typeface="Calibri"/>
              </a:defRPr>
            </a:pPr>
            <a:r>
              <a:t>One size fits nobody: our pension fund must serve three fundamentally distinct people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28416" cy="42062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bIns="137160" anchor="b"/>
          <a:lstStyle/>
          <a:p>
            <a:pPr algn="ctr">
              <a:spcAft>
                <a:spcPts val="200"/>
              </a:spcAft>
              <a:defRPr sz="1300" b="1">
                <a:solidFill>
                  <a:srgbClr val="059669"/>
                </a:solidFill>
              </a:defRPr>
            </a:pPr>
            <a:r>
              <a:t>LENA | Growth Profile</a:t>
            </a:r>
          </a:p>
          <a:p>
            <a:pPr>
              <a:spcAft>
                <a:spcPts val="800"/>
              </a:spcAft>
              <a:defRPr sz="950" b="1">
                <a:solidFill>
                  <a:srgbClr val="64748B"/>
                </a:solidFill>
              </a:defRPr>
            </a:pPr>
            <a:r>
              <a:t>Chose growth · long horizon</a:t>
            </a:r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Her Voice: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  'I am young and just started my career. I want my pension to grow as much as possible over the next 30 years. I can handle market swings.'</a:t>
            </a:r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Her Safety Rule: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  A loss month (loss above 8%) may happen in at most 6 of 60 months.</a:t>
            </a:r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What She Needs: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  Tech is fine for her if the extra return clearly outweighs the extra swings.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463040"/>
            <a:ext cx="3328416" cy="42062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bIns="137160" anchor="b"/>
          <a:lstStyle/>
          <a:p>
            <a:pPr algn="ctr">
              <a:spcAft>
                <a:spcPts val="200"/>
              </a:spcAft>
              <a:defRPr sz="1300" b="1">
                <a:solidFill>
                  <a:srgbClr val="D97706"/>
                </a:solidFill>
              </a:defRPr>
            </a:pPr>
            <a:r>
              <a:t>THOMAS | Balanced Profile (DEFAULT)</a:t>
            </a:r>
          </a:p>
          <a:p>
            <a:pPr>
              <a:spcAft>
                <a:spcPts val="800"/>
              </a:spcAft>
              <a:defRPr sz="950" b="1">
                <a:solidFill>
                  <a:srgbClr val="64748B"/>
                </a:solidFill>
              </a:defRPr>
            </a:pPr>
            <a:r>
              <a:t>Made no choice · default: balanced</a:t>
            </a:r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His Voice: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  'I want steady growth, but big crashes keep me up at night. I never picked a profile, so I was placed in balanced.'</a:t>
            </a:r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His Safety Rule: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  A loss month (loss above 5%) may happen in at most 6 of 60 months.</a:t>
            </a:r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Why He Matters: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  He stands for everyone who did not choose, so a fragile bet with his money needs extra care.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463040"/>
            <a:ext cx="3328416" cy="42062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bIns="137160" anchor="b"/>
          <a:lstStyle/>
          <a:p>
            <a:pPr algn="ctr">
              <a:spcAft>
                <a:spcPts val="200"/>
              </a:spcAft>
              <a:defRPr sz="1300" b="1">
                <a:solidFill>
                  <a:srgbClr val="DC2626"/>
                </a:solidFill>
              </a:defRPr>
            </a:pPr>
            <a:r>
              <a:t>ANNA | Risk-Sensitive Profile</a:t>
            </a:r>
          </a:p>
          <a:p>
            <a:pPr>
              <a:spcAft>
                <a:spcPts val="800"/>
              </a:spcAft>
              <a:defRPr sz="950" b="1">
                <a:solidFill>
                  <a:srgbClr val="64748B"/>
                </a:solidFill>
              </a:defRPr>
            </a:pPr>
            <a:r>
              <a:t>Chose risk-sensitive · close to retirement</a:t>
            </a:r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Her Voice: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  'I am retiring in a few years. I cannot afford to lose my life savings. Do not take risks with my future annuity!'</a:t>
            </a:r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Her Safety Rule: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  A loss month (loss above 3%) may happen in at most 6 of 60 months.</a:t>
            </a:r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What She Needs: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  Low swings first: her loss limit rules out 13 of the 20 possible baskets.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897880"/>
            <a:ext cx="10728655" cy="502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/>
            <a:r>
              <a:rPr sz="1050" b="1">
                <a:solidFill>
                  <a:srgbClr val="2563EB"/>
                </a:solidFill>
              </a:rPr>
              <a:t>KEY TAKEAWAY: </a:t>
            </a:r>
            <a:r>
              <a:rPr lang="en-US" sz="1050">
                <a:solidFill>
                  <a:srgbClr val="1E293B"/>
                </a:solidFill>
              </a:rPr>
              <a:t>The most important investor is the one who never makes a choice.</a:t>
            </a:r>
            <a:endParaRPr sz="1050">
              <a:solidFill>
                <a:srgbClr val="1E293B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1072865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Source: our canonical run (results/canonical/summary.json) · data: Kenneth French, 6 US industry portfolios, Jan 2015–Dec 2019</a:t>
            </a:r>
          </a:p>
        </p:txBody>
      </p:sp>
      <p:pic>
        <p:nvPicPr>
          <p:cNvPr id="10" name="Portrait Lena" descr="Illustrated portrait of Lena, one of our three example saver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2788" y="1609344"/>
            <a:ext cx="1325880" cy="1325880"/>
          </a:xfrm>
          <a:prstGeom prst="ellipse">
            <a:avLst/>
          </a:prstGeom>
          <a:ln w="28575">
            <a:solidFill>
              <a:srgbClr val="059669"/>
            </a:solidFill>
          </a:ln>
        </p:spPr>
      </p:pic>
      <p:pic>
        <p:nvPicPr>
          <p:cNvPr id="11" name="Portrait Thomas" descr="Illustrated portrait of Thomas, one of our three example sav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6964" y="1609344"/>
            <a:ext cx="1325880" cy="1325880"/>
          </a:xfrm>
          <a:prstGeom prst="ellipse">
            <a:avLst/>
          </a:prstGeom>
          <a:ln w="28575">
            <a:solidFill>
              <a:srgbClr val="D97706"/>
            </a:solidFill>
          </a:ln>
        </p:spPr>
      </p:pic>
      <p:pic>
        <p:nvPicPr>
          <p:cNvPr id="12" name="Portrait Anna" descr="Illustrated portrait of Anna, one of our three example saver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1140" y="1609344"/>
            <a:ext cx="1325880" cy="1325880"/>
          </a:xfrm>
          <a:prstGeom prst="ellipse">
            <a:avLst/>
          </a:prstGeom>
          <a:ln w="28575">
            <a:solidFill>
              <a:srgbClr val="DC2626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rPr lang="en-US"/>
              <a:t>4. THE PROPOSAL | Should We Replace Grandma's Portfolio with Nvidia's Portfolio? </a:t>
            </a:r>
            <a:r>
              <a:rPr lang="en-GB" sz="1000">
                <a:latin typeface="Calibri"/>
              </a:rPr>
              <a:t>Okay, not literally. But that's essentially the decision we're testing!</a:t>
            </a:r>
          </a:p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A192F"/>
                </a:solidFill>
                <a:latin typeface="Calibri"/>
              </a:defRPr>
            </a:pPr>
            <a:r>
              <a:t>The proposal: swap consumer staples for technology, after tech's strong 2015–19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catter of all 20 baskets: today's basket has the lowest risk (2.71%, 0.73% return); the tech proposal returns 1.02% at 3.05% risk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850" y="1463040"/>
            <a:ext cx="5912380" cy="42519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040880" y="1463040"/>
            <a:ext cx="4419295" cy="4206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rtlCol="0" anchor="ctr"/>
          <a:lstStyle/>
          <a:p>
            <a:pPr algn="ctr">
              <a:spcAft>
                <a:spcPts val="800"/>
              </a:spcAft>
              <a:defRPr sz="1200" b="1">
                <a:solidFill>
                  <a:srgbClr val="2563EB"/>
                </a:solidFill>
              </a:defRPr>
            </a:pPr>
            <a:r>
              <a:t>THE PROPOSED ALLOCATION SHIFT</a:t>
            </a:r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Current Tilt (Defensive Anchor):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  Holds Consumer Staples + Healthcare + Utilities: 0.73% average monthly return at 2.71% monthly volatility, the lowest of all 20 baskets.</a:t>
            </a:r>
            <a:r>
              <a:rPr lang="en-US"/>
              <a:t/>
            </a:r>
            <a:r>
              <a:t/>
            </a:r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The Proposal (Technology Tilt):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  Swap Consumer Staples for Technology: 1.02% average monthly return (+0.29 points), but more swings (3.05% volatility). Tech alone averaged 1.51% a month in 2015–19.</a:t>
            </a:r>
            <a:r>
              <a:rPr err="1"/>
              <a:t/>
            </a:r>
            <a:r>
              <a:t/>
            </a:r>
            <a:r>
              <a:rPr lang="en-GB"/>
              <a:t/>
            </a:r>
            <a:r>
              <a:t/>
            </a:r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The Gating Rule: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  A higher return can never buy a breach of the loss limit. Baskets that fail it are ruled out before ranking.</a:t>
            </a:r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The Mandate Threshold: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  For Anna, 13 of the 20 baskets fail her loss limit before any return is counted.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897880"/>
            <a:ext cx="10728655" cy="502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/>
            <a:r>
              <a:rPr sz="1050" b="1">
                <a:solidFill>
                  <a:srgbClr val="2563EB"/>
                </a:solidFill>
              </a:rPr>
              <a:t>KEY TAKEAWAY: </a:t>
            </a:r>
            <a:r>
              <a:rPr sz="1050">
                <a:solidFill>
                  <a:srgbClr val="1E293B"/>
                </a:solidFill>
              </a:rPr>
              <a:t>Rules first, returns second: for Anna, the loss limit rules out 13 of 20 baskets before return is even considered.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510528"/>
            <a:ext cx="1072865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Source: our canonical run (results/canonical/summary.json) · data: Kenneth French, 6 US industry portfolios, Jan 2015–Dec 2019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5. QUANTUM ENGINE | A CIRCUIT THAT CAN ONLY SUGGEST LEGAL PORTFOLIOS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A192F"/>
                </a:solidFill>
                <a:latin typeface="Calibri"/>
              </a:defRPr>
            </a:pPr>
            <a:r>
              <a:t>The organisers' penalty circuit can propose illegal baskets; ours is built so it cannot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Two circuits side by side: the penalty circuit starts on all 64 patterns and can return illegal answers; ours starts on the 20 legal baskets and only returns legal answers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384" y="1463040"/>
            <a:ext cx="5917311" cy="42519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040880" y="1463040"/>
            <a:ext cx="4419295" cy="4206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rtlCol="0" anchor="ctr"/>
          <a:lstStyle/>
          <a:p>
            <a:pPr algn="ctr">
              <a:spcAft>
                <a:spcPts val="800"/>
              </a:spcAft>
              <a:defRPr sz="1200" b="1">
                <a:solidFill>
                  <a:srgbClr val="2563EB"/>
                </a:solidFill>
              </a:defRPr>
            </a:pPr>
            <a:r>
              <a:rPr lang="en-GB"/>
              <a:t>THE QUANTUM SAFETY SYSTEM</a:t>
            </a:r>
            <a:endParaRPr/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The Problem with Standard Quantum: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  </a:t>
            </a:r>
            <a:r>
              <a:rPr lang="en-US"/>
              <a:t>The usual approach (penalty QAOA) searches all 64 on/off patterns, although only 20 are valid 3-sector baskets, and only punishes the illegal ones.</a:t>
            </a:r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rPr lang="en-US"/>
              <a:t>• The Quantum Safety Fence (Dicke State):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rPr lang="en-US"/>
              <a:t>We prepare a Dicke state containing only the 20 legal 3-sector portfolios. Illegal portfolios are locked out before the search even begins.</a:t>
            </a:r>
            <a:endParaRPr/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</a:t>
            </a:r>
            <a:r>
              <a:rPr lang="en-GB"/>
              <a:t>The Quantum Referee</a:t>
            </a:r>
            <a:r>
              <a:t> (XY</a:t>
            </a:r>
            <a:r>
              <a:rPr lang="en-US"/>
              <a:t> </a:t>
            </a:r>
            <a:r>
              <a:t>Mixer):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  </a:t>
            </a:r>
            <a:r>
              <a:rPr lang="en-US"/>
              <a:t>It swaps one sector for another, so every basket always keeps exactly 3 sectors.</a:t>
            </a:r>
            <a:endParaRPr/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What Quantum Enabled: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  </a:t>
            </a:r>
            <a:r>
              <a:rPr lang="en-US"/>
              <a:t>Every answer is a valid basket (100% of 4,096 measured looks, ideal simulation). Instead of punishing bad baskets, we make them impossible.</a:t>
            </a:r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5897880"/>
            <a:ext cx="10728655" cy="502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/>
            <a:r>
              <a:rPr sz="1050" b="1">
                <a:solidFill>
                  <a:srgbClr val="2563EB"/>
                </a:solidFill>
              </a:rPr>
              <a:t>KEY TAKEAWAY: </a:t>
            </a:r>
            <a:r>
              <a:rPr sz="1050">
                <a:solidFill>
                  <a:srgbClr val="1E293B"/>
                </a:solidFill>
              </a:rPr>
              <a:t>The rule is built into the circuit instead of punished afterwards, so in simulation every answer is a legal basket. Real, noisy hardware would still need a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510528"/>
            <a:ext cx="1072865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Method: Hadfield et al. (2019), QAOA with Dicke start and XY mixer · code: src/qhf/circuits.py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6. </a:t>
            </a:r>
            <a:r>
              <a:rPr lang="en-US"/>
              <a:t>QUANTUM BENCHMARK | THE QUANTUM SAFETY SYSTEM WORKS</a:t>
            </a: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A192F"/>
                </a:solidFill>
                <a:latin typeface="Calibri"/>
              </a:defRPr>
            </a:pPr>
            <a:r>
              <a:rPr lang="en-US"/>
              <a:t>Our circuit names Anna's best basket 78% of the time and never proposes an illegal one</a:t>
            </a:r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egal answers and chance of the best basket for Lena, Thomas and Anna: ours 100% legal; best basket 0.23, 0.04 and 0.78 versus about 0.05 for the organisers' circui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9518" y="1463040"/>
            <a:ext cx="5159045" cy="42519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040880" y="1463040"/>
            <a:ext cx="4419295" cy="1298448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82880" rtlCol="0" anchor="ctr"/>
          <a:lstStyle/>
          <a:p>
            <a:pPr algn="ctr">
              <a:defRPr sz="2800" b="1">
                <a:solidFill>
                  <a:srgbClr val="2563EB"/>
                </a:solidFill>
              </a:defRPr>
            </a:pPr>
            <a:r>
              <a:rPr lang="en-US"/>
              <a:t>78%</a:t>
            </a:r>
            <a:endParaRPr/>
          </a:p>
          <a:p>
            <a:pPr>
              <a:defRPr sz="1100" b="1">
                <a:solidFill>
                  <a:srgbClr val="0A192F"/>
                </a:solidFill>
              </a:defRPr>
            </a:pPr>
            <a:r>
              <a:rPr lang="en-US"/>
              <a:t>Best basket found for Anna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rPr lang="en-US"/>
              <a:t>78% of measured looks name her best basket (median of 10 runs); the organisers' circuit 5%, the same as guessing. Lena: 23%. Thomas (near-tie): 4%, no better than guessing.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2880360"/>
            <a:ext cx="4419295" cy="1298448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82880" rtlCol="0" anchor="ctr"/>
          <a:lstStyle/>
          <a:p>
            <a:pPr algn="ctr">
              <a:defRPr sz="2800" b="1">
                <a:solidFill>
                  <a:srgbClr val="1E293B"/>
                </a:solidFill>
              </a:defRPr>
            </a:pPr>
            <a:r>
              <a:t>100%</a:t>
            </a:r>
          </a:p>
          <a:p>
            <a:pPr>
              <a:defRPr sz="1100" b="1">
                <a:solidFill>
                  <a:srgbClr val="0A192F"/>
                </a:solidFill>
              </a:defRPr>
            </a:pPr>
            <a:r>
              <a:rPr lang="en-GB"/>
              <a:t>100% Legal Answers</a:t>
            </a:r>
            <a:endParaRPr/>
          </a:p>
          <a:p>
            <a:pPr>
              <a:defRPr sz="950">
                <a:solidFill>
                  <a:srgbClr val="334155"/>
                </a:solidFill>
              </a:defRPr>
            </a:pPr>
            <a:r>
              <a:rPr lang="en-US"/>
              <a:t>Every answer keeps the 3-sector rule. The organisers' circuit: 97–98%, but at guessing level; with a tuned penalty only 32–55%.</a:t>
            </a:r>
            <a:r>
              <a:rPr lang="en-US" err="1"/>
              <a:t/>
            </a:r>
            <a:r>
              <a:rPr lang="en-US"/>
              <a:t/>
            </a:r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040880" y="4297680"/>
            <a:ext cx="4419295" cy="1298448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82880" rtlCol="0" anchor="ctr"/>
          <a:lstStyle/>
          <a:p>
            <a:pPr algn="ctr">
              <a:defRPr sz="2800" b="1">
                <a:solidFill>
                  <a:srgbClr val="64748B"/>
                </a:solidFill>
              </a:defRPr>
            </a:pPr>
            <a:r>
              <a:rPr lang="en-US"/>
              <a:t>5%</a:t>
            </a:r>
            <a:endParaRPr/>
          </a:p>
          <a:p>
            <a:pPr>
              <a:defRPr sz="1100" b="1">
                <a:solidFill>
                  <a:srgbClr val="0A192F"/>
                </a:solidFill>
              </a:defRPr>
            </a:pPr>
            <a:r>
              <a:rPr lang="en-US"/>
              <a:t>Random Chance = 5%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rPr lang="en-US"/>
              <a:t>With 20 possible portfolios, random guessing finds the winner only 5% of the 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897880"/>
            <a:ext cx="10728655" cy="502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/>
            <a:r>
              <a:rPr sz="1050" b="1">
                <a:solidFill>
                  <a:srgbClr val="2563EB"/>
                </a:solidFill>
              </a:rPr>
              <a:t>KEY TAKEAWAY: </a:t>
            </a:r>
            <a:r>
              <a:rPr lang="en-US" sz="1050">
                <a:solidFill>
                  <a:srgbClr val="1E293B"/>
                </a:solidFill>
              </a:rPr>
              <a:t>Most optimization algorithms ask, "What's the best portfolio?" The Quantum Safety System first asks, "Which portfolios are even allowed to exist?"</a:t>
            </a:r>
            <a:endParaRPr sz="1050">
              <a:solidFill>
                <a:srgbClr val="1E293B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1072865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Source: results/canonical/quantum_summary.csv · ideal simulation, 3 layers, 10 runs, 4,096 looks each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7. RESULTS OVERVIEW | ONE PROPOSAL, THREE COMPLETELY DIFFERENT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A192F"/>
                </a:solidFill>
                <a:latin typeface="Calibri"/>
              </a:defRPr>
            </a:pPr>
            <a:r>
              <a:t>One reproducible run, three answers: Lena switches, Thomas holds for review, Anna keeps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28416" cy="42062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100" b="1">
                <a:solidFill>
                  <a:srgbClr val="059669"/>
                </a:solidFill>
              </a:defRPr>
            </a:pPr>
            <a:r>
              <a:t>LENA | Growth</a:t>
            </a:r>
          </a:p>
          <a:p>
            <a:pPr>
              <a:defRPr sz="2600" b="1">
                <a:solidFill>
                  <a:srgbClr val="059669"/>
                </a:solidFill>
              </a:defRPr>
            </a:pPr>
            <a:r>
              <a:t>SWITCH</a:t>
            </a:r>
          </a:p>
          <a:p>
            <a:pPr>
              <a:spcAft>
                <a:spcPts val="1000"/>
              </a:spcAft>
              <a:defRPr sz="1300" b="1">
                <a:solidFill>
                  <a:srgbClr val="0A192F"/>
                </a:solidFill>
              </a:defRPr>
            </a:pPr>
            <a:r>
              <a:t>HiTec + Hlth + Utils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Expected Return: </a:t>
            </a:r>
          </a:p>
          <a:p>
            <a:pPr>
              <a:spcAft>
                <a:spcPts val="400"/>
              </a:spcAft>
              <a:defRPr sz="950">
                <a:solidFill>
                  <a:srgbClr val="334155"/>
                </a:solidFill>
              </a:defRPr>
            </a:pPr>
            <a:r>
              <a:t>  1.02% a month (+0.29 points vs today)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Volatility: </a:t>
            </a:r>
          </a:p>
          <a:p>
            <a:pPr>
              <a:spcAft>
                <a:spcPts val="400"/>
              </a:spcAft>
              <a:defRPr sz="950">
                <a:solidFill>
                  <a:srgbClr val="334155"/>
                </a:solidFill>
              </a:defRPr>
            </a:pPr>
            <a:r>
              <a:t>  3.05% a month (acceptable for her)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Resampling Conviction: </a:t>
            </a:r>
          </a:p>
          <a:p>
            <a:pPr>
              <a:spcAft>
                <a:spcPts val="400"/>
              </a:spcAft>
              <a:defRPr sz="950">
                <a:solidFill>
                  <a:srgbClr val="334155"/>
                </a:solidFill>
              </a:defRPr>
            </a:pPr>
            <a:r>
              <a:t>  Better in 89% of 500 replays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Stress Test Result: </a:t>
            </a:r>
          </a:p>
          <a:p>
            <a:pPr>
              <a:spcAft>
                <a:spcPts val="400"/>
              </a:spcAft>
              <a:defRPr sz="950">
                <a:solidFill>
                  <a:srgbClr val="334155"/>
                </a:solidFill>
              </a:defRPr>
            </a:pPr>
            <a:r>
              <a:t>  Wins in base case and both stress tests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Fiduciary Directive: </a:t>
            </a:r>
          </a:p>
          <a:p>
            <a:pPr>
              <a:spcAft>
                <a:spcPts val="400"/>
              </a:spcAft>
              <a:defRPr sz="950">
                <a:solidFill>
                  <a:srgbClr val="334155"/>
                </a:solidFill>
              </a:defRPr>
            </a:pPr>
            <a:r>
              <a:t>  Switch: the evidence passes every test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463040"/>
            <a:ext cx="3328416" cy="42062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THOMAS | Balanced (DEFAULT)</a:t>
            </a:r>
          </a:p>
          <a:p>
            <a:pPr>
              <a:defRPr sz="2600" b="1">
                <a:solidFill>
                  <a:srgbClr val="D97706"/>
                </a:solidFill>
              </a:defRPr>
            </a:pPr>
            <a:r>
              <a:t>REVIEW</a:t>
            </a:r>
          </a:p>
          <a:p>
            <a:pPr>
              <a:spcAft>
                <a:spcPts val="1000"/>
              </a:spcAft>
              <a:defRPr sz="1300" b="1">
                <a:solidFill>
                  <a:srgbClr val="0A192F"/>
                </a:solidFill>
              </a:defRPr>
            </a:pPr>
            <a:r>
              <a:t>Hold Current Tilt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Tech Basket's Lead: </a:t>
            </a:r>
          </a:p>
          <a:p>
            <a:pPr>
              <a:spcAft>
                <a:spcPts val="400"/>
              </a:spcAft>
              <a:defRPr sz="950">
                <a:solidFill>
                  <a:srgbClr val="334155"/>
                </a:solidFill>
              </a:defRPr>
            </a:pPr>
            <a:r>
              <a:t>  Only 12 bp a month on the score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Volatility: </a:t>
            </a:r>
          </a:p>
          <a:p>
            <a:pPr>
              <a:spcAft>
                <a:spcPts val="400"/>
              </a:spcAft>
              <a:defRPr sz="950">
                <a:solidFill>
                  <a:srgbClr val="334155"/>
                </a:solidFill>
              </a:defRPr>
            </a:pPr>
            <a:r>
              <a:t>  2.71% today vs 3.05% tech basket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Resampling Conviction: </a:t>
            </a:r>
          </a:p>
          <a:p>
            <a:pPr>
              <a:spcAft>
                <a:spcPts val="400"/>
              </a:spcAft>
              <a:defRPr sz="950">
                <a:solidFill>
                  <a:srgbClr val="334155"/>
                </a:solidFill>
              </a:defRPr>
            </a:pPr>
            <a:r>
              <a:t>  74% of replays (bar: 70%)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Stress Test Result: </a:t>
            </a:r>
          </a:p>
          <a:p>
            <a:pPr>
              <a:spcAft>
                <a:spcPts val="400"/>
              </a:spcAft>
              <a:defRPr sz="950">
                <a:solidFill>
                  <a:srgbClr val="334155"/>
                </a:solidFill>
              </a:defRPr>
            </a:pPr>
            <a:r>
              <a:t>  Flips to today's basket if tech earns 0.5 pt less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Fiduciary Directive: </a:t>
            </a:r>
          </a:p>
          <a:p>
            <a:pPr>
              <a:spcAft>
                <a:spcPts val="400"/>
              </a:spcAft>
              <a:defRPr sz="950">
                <a:solidFill>
                  <a:srgbClr val="334155"/>
                </a:solidFill>
              </a:defRPr>
            </a:pPr>
            <a:r>
              <a:t>  Hold for now; the committee decides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463040"/>
            <a:ext cx="3328416" cy="42062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100" b="1">
                <a:solidFill>
                  <a:srgbClr val="DC2626"/>
                </a:solidFill>
              </a:defRPr>
            </a:pPr>
            <a:r>
              <a:t>ANNA | Risk-Sensitive</a:t>
            </a:r>
          </a:p>
          <a:p>
            <a:pPr>
              <a:defRPr sz="2600" b="1">
                <a:solidFill>
                  <a:srgbClr val="DC2626"/>
                </a:solidFill>
              </a:defRPr>
            </a:pPr>
            <a:r>
              <a:t>KEEP</a:t>
            </a:r>
          </a:p>
          <a:p>
            <a:pPr>
              <a:spcAft>
                <a:spcPts val="1000"/>
              </a:spcAft>
              <a:defRPr sz="1300" b="1">
                <a:solidFill>
                  <a:srgbClr val="0A192F"/>
                </a:solidFill>
              </a:defRPr>
            </a:pPr>
            <a:r>
              <a:t>NoDur + Hlth + Utils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Expected Return: </a:t>
            </a:r>
          </a:p>
          <a:p>
            <a:pPr>
              <a:spcAft>
                <a:spcPts val="400"/>
              </a:spcAft>
              <a:defRPr sz="950">
                <a:solidFill>
                  <a:srgbClr val="334155"/>
                </a:solidFill>
              </a:defRPr>
            </a:pPr>
            <a:r>
              <a:t>  0.73% a month (defensive)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Volatility: </a:t>
            </a:r>
          </a:p>
          <a:p>
            <a:pPr>
              <a:spcAft>
                <a:spcPts val="400"/>
              </a:spcAft>
              <a:defRPr sz="950">
                <a:solidFill>
                  <a:srgbClr val="334155"/>
                </a:solidFill>
              </a:defRPr>
            </a:pPr>
            <a:r>
              <a:t>  2.71% a month (lowest of all 20)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Loss-Limit Check: </a:t>
            </a:r>
          </a:p>
          <a:p>
            <a:pPr>
              <a:spcAft>
                <a:spcPts val="400"/>
              </a:spcAft>
              <a:defRPr sz="950">
                <a:solidFill>
                  <a:srgbClr val="334155"/>
                </a:solidFill>
              </a:defRPr>
            </a:pPr>
            <a:r>
              <a:t>  Today's basket passes in 76% of replays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The Tech Basket: </a:t>
            </a:r>
          </a:p>
          <a:p>
            <a:pPr>
              <a:spcAft>
                <a:spcPts val="400"/>
              </a:spcAft>
              <a:defRPr sz="950">
                <a:solidFill>
                  <a:srgbClr val="334155"/>
                </a:solidFill>
              </a:defRPr>
            </a:pPr>
            <a:r>
              <a:t>  Exactly on her limit; fails both stress tests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Fiduciary Directive: </a:t>
            </a:r>
          </a:p>
          <a:p>
            <a:pPr>
              <a:spcAft>
                <a:spcPts val="400"/>
              </a:spcAft>
              <a:defRPr sz="950">
                <a:solidFill>
                  <a:srgbClr val="334155"/>
                </a:solidFill>
              </a:defRPr>
            </a:pPr>
            <a:r>
              <a:t>  Keep: safety first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897880"/>
            <a:ext cx="10728655" cy="502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/>
            <a:r>
              <a:rPr sz="1050" b="1">
                <a:solidFill>
                  <a:srgbClr val="2563EB"/>
                </a:solidFill>
              </a:rPr>
              <a:t>KEY TAKEAWAY: </a:t>
            </a:r>
            <a:r>
              <a:rPr sz="1050">
                <a:solidFill>
                  <a:srgbClr val="1E293B"/>
                </a:solidFill>
              </a:rPr>
              <a:t>Review is a legitimate fiduciary outcome, not a failure. It protects default participants from unproven, fragile bets.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1072865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Source: our canonical run (results/canonical/summary.json) · data: Kenneth French, 6 US industry portfolios, Jan 2015–Dec 2019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8. LENA'S STORY | TECHNOLOGY OUTPERFORMANCE JUSTIFIES SWITCHING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A192F"/>
                </a:solidFill>
                <a:latin typeface="Calibri"/>
              </a:defRPr>
            </a:pPr>
            <a:r>
              <a:t>Switching adds 0.29 points of expected return a month and wins in 89% of replays and in every stress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500 replays for Lena: the tech basket scores better in 89 percent of them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63040"/>
            <a:ext cx="6035040" cy="422358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040880" y="1463040"/>
            <a:ext cx="4419295" cy="4206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rtlCol="0" bIns="137160" anchor="b"/>
          <a:lstStyle/>
          <a:p>
            <a:pPr algn="ctr">
              <a:spcAft>
                <a:spcPts val="800"/>
              </a:spcAft>
              <a:defRPr sz="1300" b="1">
                <a:solidFill>
                  <a:srgbClr val="059669"/>
                </a:solidFill>
              </a:defRPr>
            </a:pPr>
            <a:r>
              <a:t>LENA (GROWTH): SWITCH TO TECH</a:t>
            </a:r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Clear Winner in All Scenarios: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  The tech basket wins in the base case, when sectors move more together (correlations 25% closer to 1) and when tech earns 0.5 points less.</a:t>
            </a:r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Wins 89% of 500 Replays: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  We replayed the 60 months 500 times; the tech basket beats today's basket in 89% of them, above our 70% bar.</a:t>
            </a:r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Easily Pays Its Switching Cost: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  Expected return rises from 0.73% to 1.02% a month. The one-off switching cost (about 0.07%) is earned back within the first month.</a:t>
            </a:r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Deep Safety Buffer: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  Tech would have to earn 0.60 points less a month (about one standard error) before switching stops paying for Lena.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897880"/>
            <a:ext cx="10728655" cy="502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/>
            <a:r>
              <a:rPr sz="1050" b="1">
                <a:solidFill>
                  <a:srgbClr val="2563EB"/>
                </a:solidFill>
              </a:rPr>
              <a:t>KEY TAKEAWAY: </a:t>
            </a:r>
            <a:r>
              <a:rPr sz="1050">
                <a:solidFill>
                  <a:srgbClr val="1E293B"/>
                </a:solidFill>
              </a:rPr>
              <a:t>Lena accepts bigger swings, and the switch passes every test we set: switch.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510528"/>
            <a:ext cx="1072865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Source: our canonical run (results/canonical/summary.json) · data: Kenneth French, 6 US industry portfolios, Jan 2015–Dec 2019</a:t>
            </a:r>
          </a:p>
        </p:txBody>
      </p:sp>
      <p:pic>
        <p:nvPicPr>
          <p:cNvPr id="9" name="Portrait Lena" descr="Illustrated portrait of Lena, one of our three example saver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3327" y="1609344"/>
            <a:ext cx="914400" cy="914400"/>
          </a:xfrm>
          <a:prstGeom prst="ellipse">
            <a:avLst/>
          </a:prstGeom>
          <a:ln w="28575">
            <a:solidFill>
              <a:srgbClr val="059669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9. THOMAS'S STORY | BALANCE SITS RIGHT ON THE 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A192F"/>
                </a:solidFill>
                <a:latin typeface="Calibri"/>
              </a:defRPr>
            </a:pPr>
            <a:r>
              <a:t>If tech earns just 0.37 points less a month, Thomas's answer flips: that is inside the noise of the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Thomas: the tech basket's lead falls to zero at minus 0.37 points, inside one standard error (0.58) of the tech estimate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63040"/>
            <a:ext cx="6035040" cy="416161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040880" y="1463040"/>
            <a:ext cx="4419295" cy="4206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rtlCol="0" bIns="137160" anchor="b"/>
          <a:lstStyle/>
          <a:p>
            <a:pPr algn="ctr">
              <a:spcAft>
                <a:spcPts val="800"/>
              </a:spcAft>
              <a:defRPr sz="1300" b="1">
                <a:solidFill>
                  <a:srgbClr val="D97706"/>
                </a:solidFill>
              </a:defRPr>
            </a:pPr>
            <a:r>
              <a:t>THOMAS (BALANCED): REVIEW / HOLD</a:t>
            </a:r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The Near-Tie Margin: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  The tech basket leads today's by only 12 bp a month on the score: a tiny edge.</a:t>
            </a:r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The Stress Flip: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  When tech earns 0.5 points less (the organisers' stress test), today's basket wins again.</a:t>
            </a:r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Tipping Point Inside the Noise: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  Tech's 1.51% a month is an estimate from 60 months, give or take 0.58 points. The flip at −0.37 is only 0.63 of that: inside the noise.</a:t>
            </a:r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The Fiduciary Duty: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  Thomas never chose a profile. A fragile bet with his money is not justified: review, and hold for now.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897880"/>
            <a:ext cx="10728655" cy="502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/>
            <a:r>
              <a:rPr sz="1050" b="1">
                <a:solidFill>
                  <a:srgbClr val="2563EB"/>
                </a:solidFill>
              </a:rPr>
              <a:t>KEY TAKEAWAY: </a:t>
            </a:r>
            <a:r>
              <a:rPr sz="1050">
                <a:solidFill>
                  <a:srgbClr val="1E293B"/>
                </a:solidFill>
              </a:rPr>
              <a:t>Data cannot tell the two options apart. Default participants must not be exposed to fragile bets: hold current tilt until affirmative proof is established.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510528"/>
            <a:ext cx="1072865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Source: our canonical run (results/canonical/summary.json) · data: Kenneth French, 6 US industry portfolios, Jan 2015–Dec 2019</a:t>
            </a:r>
          </a:p>
        </p:txBody>
      </p:sp>
      <p:pic>
        <p:nvPicPr>
          <p:cNvPr id="9" name="Portrait Thomas" descr="Illustrated portrait of Thomas, one of our three example saver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3327" y="1609344"/>
            <a:ext cx="914400" cy="914400"/>
          </a:xfrm>
          <a:prstGeom prst="ellipse">
            <a:avLst/>
          </a:prstGeom>
          <a:ln w="28575">
            <a:solidFill>
              <a:srgbClr val="D97706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10. ANNA'S STORY | THE DEFENSIVE BASKET STAYS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A192F"/>
                </a:solidFill>
                <a:latin typeface="Calibri"/>
              </a:defRPr>
            </a:pPr>
            <a:r>
              <a:t>Today's basket has the lowest swings of all 20 (2.71%); the tech basket sits exactly on Anna's loss limit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Anna's loss months by test setting: today's basket 5, 5, 5; tech basket 6, 7, 9; both 12 in the real 2020-24 months; at most 6 allowed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325" y="1463040"/>
            <a:ext cx="5899431" cy="42519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040880" y="1463040"/>
            <a:ext cx="4419295" cy="4206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rtlCol="0" bIns="137160" anchor="b"/>
          <a:lstStyle/>
          <a:p>
            <a:pPr algn="ctr">
              <a:spcAft>
                <a:spcPts val="800"/>
              </a:spcAft>
              <a:defRPr sz="1300" b="1">
                <a:solidFill>
                  <a:srgbClr val="DC2626"/>
                </a:solidFill>
              </a:defRPr>
            </a:pPr>
            <a:r>
              <a:t>ANNA (RISK-SENSITIVE): KEEP</a:t>
            </a:r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The Lowest Volatility Anchor: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  Staples + healthcare + utilities: 2.71% monthly volatility, the lowest of all 20 baskets.</a:t>
            </a:r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Right on the Limit: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  The tech basket loses more than 3% in exactly 6 of 60 months, the most allowed. Under a strict reading (fewer than 6) it fails, and it fails both stress tests (7 and 9 months).</a:t>
            </a:r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Unanimous Stress Winner: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  Today's basket is the best choice in the base case and in both stress tests.</a:t>
            </a:r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No Reason to Switch: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  For Anna, the tech basket scores 30 bp a month worse: her risk weight (20) outweighs the extra return.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897880"/>
            <a:ext cx="10728655" cy="502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/>
            <a:r>
              <a:rPr sz="1050" b="1">
                <a:solidFill>
                  <a:srgbClr val="2563EB"/>
                </a:solidFill>
              </a:rPr>
              <a:t>KEY TAKEAWAY: </a:t>
            </a:r>
            <a:r>
              <a:rPr sz="1050">
                <a:solidFill>
                  <a:srgbClr val="1E293B"/>
                </a:solidFill>
              </a:rPr>
              <a:t>For savers close to retirement, low swings come first: today's basket wins on the loss limit and on stability.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510528"/>
            <a:ext cx="1072865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Source: our canonical run (results/canonical/summary.json) · data: Kenneth French, 6 US industry portfolios, Jan 2015–Dec 2019</a:t>
            </a:r>
          </a:p>
        </p:txBody>
      </p:sp>
      <p:pic>
        <p:nvPicPr>
          <p:cNvPr id="9" name="Portrait Anna" descr="Illustrated portrait of Anna, one of our three example saver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3327" y="1609344"/>
            <a:ext cx="914400" cy="914400"/>
          </a:xfrm>
          <a:prstGeom prst="ellipse">
            <a:avLst/>
          </a:prstGeom>
          <a:ln w="28575">
            <a:solidFill>
              <a:srgbClr val="DC2626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11. REALITY CHECK | 2020-2024 HELD-OUT DATA SHOWS UNDERSTATED TAIL RISKS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A192F"/>
                </a:solidFill>
                <a:latin typeface="Calibri"/>
              </a:defRPr>
            </a:pPr>
            <a:r>
              <a:t>Tech grew to 1.86x vs 1.38x, but loss months came far more often than the model expected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eft: growth of 1 unit 2020-24, tech basket 1.86, today 1.38. Right: real loss months 2020-24 per saver; Thomas tech basket 8, Anna 12 for both; at most 6 allowed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554480"/>
            <a:ext cx="10725912" cy="375280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728655" cy="502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/>
            <a:r>
              <a:rPr sz="1050" b="1">
                <a:solidFill>
                  <a:srgbClr val="2563EB"/>
                </a:solidFill>
              </a:rPr>
              <a:t>KEY TAKEAWAY: </a:t>
            </a:r>
            <a:r>
              <a:rPr sz="1050">
                <a:solidFill>
                  <a:srgbClr val="1E293B"/>
                </a:solidFill>
              </a:rPr>
              <a:t>Hindsight, never used to decide: tech grew 1.86x vs 1.38x in 2020–24 but fell deeper (−21% vs −17%). Thomas's tech basket would have broken his limit (8 of 60 months); Anna's limit broke for both baskets (12 of 60). Our loss model, built on calm years, was too optimistic.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510528"/>
            <a:ext cx="1072865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Source: our canonical run (results/canonical/loss_limits.csv, holdout.csv) · data: Jan 2020–Dec 2024, held out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12. POLICY GOVERNANCE | THE LAW SETS THE FRAME, THE FUND SETS THE MIX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A192F"/>
                </a:solidFill>
                <a:latin typeface="Calibri"/>
              </a:defRPr>
            </a:pPr>
            <a:r>
              <a:t>Clear division of responsibilities: policy fixes risk ceilings; investment committees set active tilts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28416" cy="4206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RECOMMENDATION 1 | REVISED</a:t>
            </a:r>
          </a:p>
          <a:p>
            <a:pPr>
              <a:spcAft>
                <a:spcPts val="1000"/>
              </a:spcAft>
              <a:defRPr sz="1400" b="1">
                <a:solidFill>
                  <a:srgbClr val="0A192F"/>
                </a:solidFill>
              </a:defRPr>
            </a:pPr>
            <a:r>
              <a:t>Active Choice vs Default</a:t>
            </a:r>
          </a:p>
          <a:p>
            <a:pPr>
              <a:spcAft>
                <a:spcPts val="1200"/>
              </a:spcAft>
              <a:defRPr sz="1000">
                <a:solidFill>
                  <a:srgbClr val="334155"/>
                </a:solidFill>
              </a:defRPr>
            </a:pPr>
            <a:r>
              <a:t>The commission relies on lifecycle models. We let savers choose a profile instead, to avoid treating generations differently. Non-choosers go to balanced (our assumption) and should be shielded from fragile tilts.</a:t>
            </a:r>
          </a:p>
          <a:p>
            <a:pPr>
              <a:defRPr sz="1050" b="1">
                <a:solidFill>
                  <a:srgbClr val="1E293B"/>
                </a:solidFill>
              </a:defRPr>
            </a:pPr>
            <a:r>
              <a:t>Fiduciary Implication: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The default is a decision made for people: it needs its own justification and a review date.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463040"/>
            <a:ext cx="3328416" cy="4206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100" b="1">
                <a:solidFill>
                  <a:srgbClr val="1E293B"/>
                </a:solidFill>
              </a:defRPr>
            </a:pPr>
            <a:r>
              <a:t>RECOMMENDATION 2 | ADOPTED</a:t>
            </a:r>
          </a:p>
          <a:p>
            <a:pPr>
              <a:spcAft>
                <a:spcPts val="1000"/>
              </a:spcAft>
              <a:defRPr sz="1400" b="1">
                <a:solidFill>
                  <a:srgbClr val="0A192F"/>
                </a:solidFill>
              </a:defRPr>
            </a:pPr>
            <a:r>
              <a:t>Statutory Boundaries</a:t>
            </a:r>
          </a:p>
          <a:p>
            <a:pPr>
              <a:spcAft>
                <a:spcPts val="1200"/>
              </a:spcAft>
              <a:defRPr sz="1000">
                <a:solidFill>
                  <a:srgbClr val="334155"/>
                </a:solidFill>
              </a:defRPr>
            </a:pPr>
            <a:r>
              <a:t>Pension law fixes overall risk and liquidity boundaries; the independent committee decides the asset mix. Statutory mandates should not micromanage sector holdings.</a:t>
            </a:r>
          </a:p>
          <a:p>
            <a:pPr>
              <a:defRPr sz="1050" b="1">
                <a:solidFill>
                  <a:srgbClr val="1E293B"/>
                </a:solidFill>
              </a:defRPr>
            </a:pPr>
            <a:r>
              <a:t>Fiduciary Implication: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The model checks the legal limits exactly and never trades them against return.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463040"/>
            <a:ext cx="3328416" cy="4206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RECOMMENDATION 3 | ADOPTED</a:t>
            </a:r>
          </a:p>
          <a:p>
            <a:pPr>
              <a:spcAft>
                <a:spcPts val="1000"/>
              </a:spcAft>
              <a:defRPr sz="1400" b="1">
                <a:solidFill>
                  <a:srgbClr val="0A192F"/>
                </a:solidFill>
              </a:defRPr>
            </a:pPr>
            <a:r>
              <a:t>Burden of Proof Standard</a:t>
            </a:r>
          </a:p>
          <a:p>
            <a:pPr>
              <a:spcAft>
                <a:spcPts val="1200"/>
              </a:spcAft>
              <a:defRPr sz="1000">
                <a:solidFill>
                  <a:srgbClr val="334155"/>
                </a:solidFill>
              </a:defRPr>
            </a:pPr>
            <a:r>
              <a:t>Formalize the rule: active tilts require affirmative evidence (stability across stress scenarios + ≥ 70% bootstrap support). If unproven, hold current holdings.</a:t>
            </a:r>
          </a:p>
          <a:p>
            <a:pPr>
              <a:defRPr sz="1050" b="1">
                <a:solidFill>
                  <a:srgbClr val="1E293B"/>
                </a:solidFill>
              </a:defRPr>
            </a:pPr>
            <a:r>
              <a:t>Fiduciary Implication: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Committees cannot outsource beliefs about markets to an optimiser: a review result needs a human decision.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897880"/>
            <a:ext cx="10728655" cy="502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/>
            <a:r>
              <a:rPr sz="1050" b="1">
                <a:solidFill>
                  <a:srgbClr val="2563EB"/>
                </a:solidFill>
              </a:rPr>
              <a:t>KEY TAKEAWAY: </a:t>
            </a:r>
            <a:r>
              <a:rPr sz="1050">
                <a:solidFill>
                  <a:srgbClr val="1E293B"/>
                </a:solidFill>
              </a:rPr>
              <a:t>Policy sets legal risk ceilings; investment committees govern active tilts. Governance must protect citizens who did not actively choose.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1072865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Sources: Alterssicherungskommission (June 2026); team policy brief; our canonical run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13. CONCLUSION | FIDUCIARY DECISIONS &amp; THE QUANTUM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A192F"/>
                </a:solidFill>
                <a:latin typeface="Calibri"/>
              </a:defRPr>
            </a:pPr>
            <a:r>
              <a:t>Clear decisions for all three savers, and a quantum circuit that keeps the rules by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206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rtlCol="0" anchor="ctr"/>
          <a:lstStyle/>
          <a:p>
            <a:pPr algn="ctr">
              <a:spcAft>
                <a:spcPts val="1000"/>
              </a:spcAft>
              <a:defRPr sz="1300" b="1">
                <a:solidFill>
                  <a:srgbClr val="0A192F"/>
                </a:solidFill>
              </a:defRPr>
            </a:pPr>
            <a:r>
              <a:t>1. FINAL DECISION PER SAVER</a:t>
            </a:r>
          </a:p>
          <a:p>
            <a:pPr>
              <a:defRPr sz="1100" b="1">
                <a:solidFill>
                  <a:srgbClr val="059669"/>
                </a:solidFill>
              </a:defRPr>
            </a:pPr>
            <a:r>
              <a:t>Lena (Growth): SWITCH to HiTec + Hlth + Utils</a:t>
            </a:r>
          </a:p>
          <a:p>
            <a:pPr>
              <a:spcAft>
                <a:spcPts val="800"/>
              </a:spcAft>
              <a:defRPr sz="950">
                <a:solidFill>
                  <a:srgbClr val="334155"/>
                </a:solidFill>
              </a:defRPr>
            </a:pPr>
            <a:r>
              <a:t>  Beats today's basket in 89% of replays and in every stress test; +0.29 points of expected return a month.</a:t>
            </a:r>
          </a:p>
          <a:p>
            <a:pPr>
              <a:defRPr sz="1100" b="1">
                <a:solidFill>
                  <a:srgbClr val="D97706"/>
                </a:solidFill>
              </a:defRPr>
            </a:pPr>
            <a:r>
              <a:t>Thomas (Balanced - Default): REVIEW: Hold Current Tilt</a:t>
            </a:r>
          </a:p>
          <a:p>
            <a:pPr>
              <a:spcAft>
                <a:spcPts val="800"/>
              </a:spcAft>
              <a:defRPr sz="950">
                <a:solidFill>
                  <a:srgbClr val="334155"/>
                </a:solidFill>
              </a:defRPr>
            </a:pPr>
            <a:r>
              <a:t>  Near-tie (12 bp on the score); flips under the return stress; tipping point inside the noise.</a:t>
            </a:r>
          </a:p>
          <a:p>
            <a:pPr>
              <a:defRPr sz="1100" b="1">
                <a:solidFill>
                  <a:srgbClr val="DC2626"/>
                </a:solidFill>
              </a:defRPr>
            </a:pPr>
            <a:r>
              <a:t>Anna (Risk-Sensitive): KEEP NoDur + Hlth + Utils</a:t>
            </a:r>
          </a:p>
          <a:p>
            <a:pPr>
              <a:spcAft>
                <a:spcPts val="800"/>
              </a:spcAft>
              <a:defRPr sz="950">
                <a:solidFill>
                  <a:srgbClr val="334155"/>
                </a:solidFill>
              </a:defRPr>
            </a:pPr>
            <a:r>
              <a:t>  Lowest swings of all 20 baskets (2.71%); the tech basket sits on her loss limit and fails both stress tests.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42255" cy="4206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rtlCol="0" anchor="ctr"/>
          <a:lstStyle/>
          <a:p>
            <a:pPr algn="ctr">
              <a:spcAft>
                <a:spcPts val="1000"/>
              </a:spcAft>
              <a:defRPr sz="1300" b="1">
                <a:solidFill>
                  <a:srgbClr val="2563EB"/>
                </a:solidFill>
              </a:defRPr>
            </a:pPr>
            <a:r>
              <a:t>2. WHAT QUANTUM COMPUTING CONTRIBUTED</a:t>
            </a:r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Rules Built Into the Circuit: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  Dicke state |D(6,3)⟩ + XY mixer only ever propose valid baskets: 100% of measured looks had exactly 3 sectors (ideal simulation).</a:t>
            </a:r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Better Than the Penalty Approach Where It Matters: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  For Anna: 0.78 vs 0.05 (organisers' penalty QAOA). For Thomas's near-tie: no better than guessing.</a:t>
            </a:r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Honest About Advantage: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  No quantum advantage: with 20 baskets, a laptop finds the exact answer, and we use it to grade every quantum result.</a:t>
            </a:r>
          </a:p>
          <a:p>
            <a:pPr>
              <a:defRPr sz="1050" b="1">
                <a:solidFill>
                  <a:srgbClr val="0A192F"/>
                </a:solidFill>
              </a:defRPr>
            </a:pPr>
            <a:r>
              <a:t>• Next Step, Not a Claim: 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  Test larger universes (e.g. 50 sectors) against strong classical solvers, then on noisy hardware. We make no scaling claim yet.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897880"/>
            <a:ext cx="10728655" cy="502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/>
            <a:r>
              <a:rPr sz="1050" b="1">
                <a:solidFill>
                  <a:srgbClr val="2563EB"/>
                </a:solidFill>
              </a:rPr>
              <a:t>KEY TAKEAWAY: </a:t>
            </a:r>
            <a:r>
              <a:rPr sz="1050">
                <a:solidFill>
                  <a:srgbClr val="1E293B"/>
                </a:solidFill>
              </a:rPr>
              <a:t>Clear decisions for German pension savers, checked against the exact answer, from a circuit that cannot break the 3-sector rule by design.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510528"/>
            <a:ext cx="1072865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Source: our canonical run (results/canonical/summary.json) · data: Kenneth French, 6 US industry portfolios, Jan 2015–Dec 2019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23</Slides>
  <Notes>0</Notes>
  <HiddenSlides>2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subject/>
  <dc:creator>Ahmed Othman</dc:creator>
  <cp:keywords/>
  <dc:description>generated using python-pptx</dc:description>
  <cp:revision>4</cp:revision>
  <dcterms:created xsi:type="dcterms:W3CDTF">2013-01-27T09:14:16Z</dcterms:created>
  <dcterms:modified xsi:type="dcterms:W3CDTF">2026-10-30T05:00:36Z</dcterms:modified>
  <cp:category/>
</cp:coreProperties>
</file>