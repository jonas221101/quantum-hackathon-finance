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1" r:id="rId22"/>
    <p:sldId id="257" r:id="rId3"/>
    <p:sldId id="258" r:id="rId4"/>
    <p:sldId id="272" r:id="rId23"/>
    <p:sldId id="259" r:id="rId5"/>
    <p:sldId id="260" r:id="rId6"/>
    <p:sldId id="261" r:id="rId7"/>
    <p:sldId id="262" r:id="rId8"/>
    <p:sldId id="263" r:id="rId9"/>
    <p:sldId id="264" r:id="rId10"/>
    <p:sldId id="265" r:id="rId11"/>
    <p:sldId id="266" r:id="rId12"/>
    <p:sldId id="267" r:id="rId13"/>
    <p:sldId id="268" r:id="rId14"/>
    <p:sldId id="269" r:id="rId15"/>
    <p:sldId id="273" r:id="rId24"/>
    <p:sldId id="274" r:id="rId25"/>
    <p:sldId id="275" r:id="rId2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we did not build a bigger optimiser. We built a small, checkable decision tool and show what would change the answer. All numbers come from the canonical run (results/canonical/summary.json).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31 December 2019. Three calm sectors, one proposal to move into tech. The point of the task is a decision a committee can defend, not a single best portfolio.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 is the German government via the planned public fund. The 3-of-6 decision is a small satellite tilt; the core stays a broad index, as the commission demands. Profiles are chosen actively by each insured person, because age-based tilts would treat generations unequally. Default for people who do not choose: balanced (open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profiles, three possible answers. Review means: the evidence does not settle it and the committee must state a belief. Default action in that case is to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design choice. The cardinality rule is built into the quantum circuit; the loss tolerance is an exact check after the choice, because a probability over scenarios is not a simple formula in the variables. The HiTec limit was binding at first and was changed to a preference (penalty 0.01) by the team on 16 October; verdicts are identical without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switches, 64 settings, only 20 with exactly three holdings. That is why enumeration is trivial and why we never say quantum is needed here. The chart shows the tension: return versus swings, and the table shows risk measures that disagree. For the risk-sensitive profile only 7 of the 20 pass the loss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analogy: a cloud sitting on all legal portfolios at once. Step 2 tilts the cloud toward cheap portfolios, step 3 stirs it so it can reach neighbouring portfolios. A classical optimiser adjusts how hard to tilt and stir. At the end we measure many times; the most frequent answer is the suggestion. QAOA is a heuristic; it does not guarantee the best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organiser notebook adds penalties; we move the rule into the circuit. Reference: Hadfield et al. 2019. Our circuit is deeper (depth about 392 at three layers versus 81), a real cost. The loss rule stays an exact check after sampling because it is not cheaply encodable.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Quantum against quantum, ideal simulation, 10 seeds. Our design wins clearly for risk-sensitive and is better for growth. Balanced is a near-tie: the mean objective fails (0.04), the CVaR objective helps (0.25; the right answer is decoded in 90 percent of runs). Be honest: the tuned penalty also does well at the tie (0.15), but only about half of its samples are valid portfolios. Mean-cost optimisation does not maximise the probability of the best portfolio, and results vary between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Verdict rule tightened after code review: burden of proof on the change. Growth switches. Balanced is review because the optimum flips under the supplied return stress and the proposal beats current in only 74 percent of resamples; default action is to hold. Risk-sensitive keeps; it passes the loss rule in 76 percent of resamples and in 12.6 percent no portfolio passes. With the tech limit penalty at zero the verdicts are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Break-even: the value of an assumption at which the best choice flips. Balanced has three, all close. The pairwise proposal-versus-current break-even is not the whole picture: with risk weight the proposal first gives way to NoDur+HiTec+Utils at 7.5, then to current at 14.9. The risk-sensitive profile uses a risk weight of 20, so it keeps. The tech limit is a preference with penalty 0.01; verdicts are identical without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Hold-out check using the canonical holdout values, including the one-off switching cost. The proposal grew more with a deeper drawdown. Loss frequencies are higher than the 2015-19 scenario model implied, so the loss rule understates tail risk. We use the period to test decision rules and our risk model, not to pick winners after the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responsibility issue built into the model: keep estimation uncertainty and computational variation apart, so a committee knows what it is looking at. Before a real institution relies on it: written committee beliefs, independent validation, longer and global data, tail-risk model, fairness check for defaults, local compute only (DORA/sovereignty). KENFO is the template; supervision of the new fund is not fixed by law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before the jury does. The value is correct, rule-preserving encoding and verification, and a path to larger problems where enumeration is no longer possible. Even there, advantage is not established.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Hero’s journey as the organisers asked. Everything else in the deck hangs off these four boxes.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the organiser file, checksum-verified; estimate 2015–2019, 2020–2024 only as hindsight. Fair comparison: same seeds, start points and optimiser settings for every QAOA, plus a tuned-penalty baseline so the organiser method is not a strawman. Not followed from AI suggestions: the risk route, a robo-advisor client, age-based profiles, a binding tech cap. All logged in docs/decisions.md.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pipeline runs in about 21 minutes on a laptop; anyone can reproduce it with one command. Each step logs where we deviate from the organiser notebook, the AI baseline.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is small enough that the exact answer always exists – whatever fails, we can still show a correct decision. Commands: run --set changes one assumption, diff compares two runs.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default for people who don’t choose: balanced – but that is the most fragile answer, so the default needs a justification. Close with the one condition from the Decision Card: do not follow the switch if tech’s edge came from a rally you do not expect to continue.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731520" y="731520"/>
            <a:ext cx="10058400" cy="365760"/>
          </a:xfrm>
          <a:prstGeom prst="rect">
            <a:avLst/>
          </a:prstGeom>
          <a:noFill/>
          <a:ln/>
        </p:spPr>
        <p:txBody>
          <a:bodyPr wrap="square" lIns="0" tIns="0" rIns="0" bIns="0" rtlCol="0" anchor="t"/>
          <a:lstStyle/>
          <a:p>
            <a:pPr indent="0" marL="0">
              <a:buNone/>
            </a:pPr>
            <a:r>
              <a:rPr lang="en-US" sz="1400" b="1" spc="400" kern="0" dirty="0">
                <a:solidFill>
                  <a:srgbClr val="7FD1C7"/>
                </a:solidFill>
                <a:latin typeface="Calibri" pitchFamily="34" charset="0"/>
                <a:ea typeface="Calibri" pitchFamily="34" charset="-122"/>
                <a:cs typeface="Calibri" pitchFamily="34" charset="-120"/>
              </a:rPr>
              <a:t>QUANTUM HACKATHON · FINANCE TRACK</a:t>
            </a:r>
            <a:endParaRPr lang="en-US" sz="1400" dirty="0"/>
          </a:p>
        </p:txBody>
      </p:sp>
      <p:sp>
        <p:nvSpPr>
          <p:cNvPr id="3" name="Text 1"/>
          <p:cNvSpPr txBox="1"/>
          <p:nvPr/>
        </p:nvSpPr>
        <p:spPr>
          <a:xfrm>
            <a:off x="731520" y="1828800"/>
            <a:ext cx="10515600" cy="1188720"/>
          </a:xfrm>
          <a:prstGeom prst="rect">
            <a:avLst/>
          </a:prstGeom>
          <a:noFill/>
          <a:ln/>
        </p:spPr>
        <p:txBody>
          <a:bodyPr wrap="square" lIns="0" tIns="0" rIns="0" bIns="0" rtlCol="0" anchor="t"/>
          <a:lstStyle/>
          <a:p>
            <a:pPr indent="0" marL="0">
              <a:buNone/>
            </a:pPr>
            <a:r>
              <a:rPr lang="en-US" sz="5400" b="1" dirty="0">
                <a:solidFill>
                  <a:srgbClr val="F6F3EC"/>
                </a:solidFill>
                <a:latin typeface="Cambria" pitchFamily="34" charset="0"/>
                <a:ea typeface="Cambria" pitchFamily="34" charset="-122"/>
                <a:cs typeface="Cambria" pitchFamily="34" charset="-120"/>
              </a:rPr>
              <a:t>Rules that never break</a:t>
            </a:r>
            <a:endParaRPr lang="en-US" sz="5400" dirty="0"/>
          </a:p>
        </p:txBody>
      </p:sp>
      <p:sp>
        <p:nvSpPr>
          <p:cNvPr id="4" name="Text 2"/>
          <p:cNvSpPr txBox="1"/>
          <p:nvPr/>
        </p:nvSpPr>
        <p:spPr>
          <a:xfrm>
            <a:off x="731520" y="3154680"/>
            <a:ext cx="9601200" cy="1097280"/>
          </a:xfrm>
          <a:prstGeom prst="rect">
            <a:avLst/>
          </a:prstGeom>
          <a:noFill/>
          <a:ln/>
        </p:spPr>
        <p:txBody>
          <a:bodyPr wrap="square" lIns="0" tIns="0" rIns="0" bIns="0" rtlCol="0" anchor="t"/>
          <a:lstStyle/>
          <a:p>
            <a:pPr indent="0" marL="0">
              <a:buNone/>
            </a:pPr>
            <a:r>
              <a:rPr lang="en-US" sz="2400" dirty="0">
                <a:solidFill>
                  <a:srgbClr val="D9DEE8"/>
                </a:solidFill>
                <a:latin typeface="Calibri" pitchFamily="34" charset="0"/>
                <a:ea typeface="Calibri" pitchFamily="34" charset="-122"/>
                <a:cs typeface="Calibri" pitchFamily="34" charset="-120"/>
              </a:rPr>
              <a:t>Rule-preserving QAOA for portfolio decisions in Germany’s new public pension fund</a:t>
            </a:r>
            <a:endParaRPr lang="en-US" sz="2400" dirty="0"/>
          </a:p>
        </p:txBody>
      </p:sp>
      <p:sp>
        <p:nvSpPr>
          <p:cNvPr id="5" name="Text 3"/>
          <p:cNvSpPr txBox="1"/>
          <p:nvPr/>
        </p:nvSpPr>
        <p:spPr>
          <a:xfrm>
            <a:off x="731520" y="5029200"/>
            <a:ext cx="10515600" cy="365760"/>
          </a:xfrm>
          <a:prstGeom prst="rect">
            <a:avLst/>
          </a:prstGeom>
          <a:noFill/>
          <a:ln/>
        </p:spPr>
        <p:txBody>
          <a:bodyPr wrap="square" lIns="0" tIns="0" rIns="0" bIns="0" rtlCol="0" anchor="t"/>
          <a:lstStyle/>
          <a:p>
            <a:pPr indent="0" marL="0">
              <a:buNone/>
            </a:pPr>
            <a:r>
              <a:rPr lang="en-US" sz="1600" dirty="0">
                <a:solidFill>
                  <a:srgbClr val="BFC7D6"/>
                </a:solidFill>
                <a:latin typeface="Calibri" pitchFamily="34" charset="0"/>
                <a:ea typeface="Calibri" pitchFamily="34" charset="-122"/>
                <a:cs typeface="Calibri" pitchFamily="34" charset="-120"/>
              </a:rPr>
              <a:t>Sprint presentation · Project Plan · 16 October 2026 · Decision date 31 Dec 2019</a:t>
            </a:r>
            <a:endParaRPr lang="en-US" sz="1600" dirty="0"/>
          </a:p>
        </p:txBody>
      </p:sp>
      <p:sp>
        <p:nvSpPr>
          <p:cNvPr id="6" name="Text 4"/>
          <p:cNvSpPr txBox="1"/>
          <p:nvPr/>
        </p:nvSpPr>
        <p:spPr>
          <a:xfrm>
            <a:off x="731520" y="5486400"/>
            <a:ext cx="10515600" cy="365760"/>
          </a:xfrm>
          <a:prstGeom prst="rect">
            <a:avLst/>
          </a:prstGeom>
          <a:noFill/>
          <a:ln/>
        </p:spPr>
        <p:txBody>
          <a:bodyPr wrap="square" lIns="0" tIns="0" rIns="0" bIns="0" rtlCol="0" anchor="t"/>
          <a:lstStyle/>
          <a:p>
            <a:pPr indent="0" marL="0">
              <a:buNone/>
            </a:pPr>
            <a:r>
              <a:rPr lang="en-US" sz="1600" b="1" dirty="0">
                <a:solidFill>
                  <a:srgbClr val="F2B77B"/>
                </a:solidFill>
                <a:latin typeface="Calibri" pitchFamily="34" charset="0"/>
                <a:ea typeface="Calibri" pitchFamily="34" charset="-122"/>
                <a:cs typeface="Calibri" pitchFamily="34" charset="-120"/>
              </a:rPr>
              <a:t>No quantum advantage is claimed. 20 options can be solved exactly in an instant.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200" b="1" spc="300" kern="0" dirty="0">
                <a:solidFill>
                  <a:srgbClr val="17756F"/>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200" b="1" dirty="0">
                <a:solidFill>
                  <a:srgbClr val="14213D"/>
                </a:solidFill>
                <a:latin typeface="Cambria" pitchFamily="34" charset="0"/>
                <a:ea typeface="Cambria" pitchFamily="34" charset="-122"/>
                <a:cs typeface="Cambria" pitchFamily="34" charset="-120"/>
              </a:rPr>
              <a:t>Swap calm sectors for technology?</a:t>
            </a:r>
            <a:endParaRPr lang="en-US" sz="3200" dirty="0"/>
          </a:p>
        </p:txBody>
      </p:sp>
      <p:sp>
        <p:nvSpPr>
          <p:cNvPr id="4" name="Shape 2"/>
          <p:cNvSpPr/>
          <p:nvPr/>
        </p:nvSpPr>
        <p:spPr>
          <a:xfrm>
            <a:off x="548640" y="1645920"/>
            <a:ext cx="5440680" cy="2286000"/>
          </a:xfrm>
          <a:prstGeom prst="roundRect">
            <a:avLst>
              <a:gd name="adj" fmla="val 3200"/>
            </a:avLst>
          </a:prstGeom>
          <a:solidFill>
            <a:srgbClr val="F4F6F8"/>
          </a:solidFill>
          <a:ln w="9525">
            <a:solidFill>
              <a:srgbClr val="F4F6F8"/>
            </a:solidFill>
            <a:prstDash val="solid"/>
          </a:ln>
        </p:spPr>
        <p:txBody>
          <a:bodyPr/>
          <a:p/>
        </p:txBody>
      </p:sp>
      <p:sp>
        <p:nvSpPr>
          <p:cNvPr id="5" name="Text 3"/>
          <p:cNvSpPr txBox="1"/>
          <p:nvPr/>
        </p:nvSpPr>
        <p:spPr>
          <a:xfrm>
            <a:off x="777240" y="1828800"/>
            <a:ext cx="4937760" cy="365760"/>
          </a:xfrm>
          <a:prstGeom prst="rect">
            <a:avLst/>
          </a:prstGeom>
          <a:noFill/>
          <a:ln/>
        </p:spPr>
        <p:txBody>
          <a:bodyPr wrap="square" lIns="0" tIns="0" rIns="0" bIns="0" rtlCol="0" anchor="t"/>
          <a:lstStyle/>
          <a:p>
            <a:pPr indent="0" marL="0">
              <a:buNone/>
            </a:pPr>
            <a:r>
              <a:rPr lang="en-US" sz="2000" b="1" dirty="0">
                <a:solidFill>
                  <a:srgbClr val="17756F"/>
                </a:solidFill>
                <a:latin typeface="Calibri" pitchFamily="34" charset="0"/>
                <a:ea typeface="Calibri" pitchFamily="34" charset="-122"/>
                <a:cs typeface="Calibri" pitchFamily="34" charset="-120"/>
              </a:rPr>
              <a:t>Holding today</a:t>
            </a:r>
            <a:endParaRPr lang="en-US" sz="2000" dirty="0"/>
          </a:p>
        </p:txBody>
      </p:sp>
      <p:sp>
        <p:nvSpPr>
          <p:cNvPr id="6" name="Text 4"/>
          <p:cNvSpPr txBox="1"/>
          <p:nvPr/>
        </p:nvSpPr>
        <p:spPr>
          <a:xfrm>
            <a:off x="777240" y="2286000"/>
            <a:ext cx="4937760" cy="822960"/>
          </a:xfrm>
          <a:prstGeom prst="rect">
            <a:avLst/>
          </a:prstGeom>
          <a:noFill/>
          <a:ln/>
        </p:spPr>
        <p:txBody>
          <a:bodyPr wrap="square" lIns="0" tIns="0" rIns="0" bIns="0" rtlCol="0" anchor="t"/>
          <a:lstStyle/>
          <a:p>
            <a:pPr indent="0" marL="0">
              <a:buNone/>
            </a:pPr>
            <a:r>
              <a:rPr lang="en-US" sz="1800" dirty="0">
                <a:solidFill>
                  <a:srgbClr val="14213D"/>
                </a:solidFill>
                <a:latin typeface="Calibri" pitchFamily="34" charset="0"/>
                <a:ea typeface="Calibri" pitchFamily="34" charset="-122"/>
                <a:cs typeface="Calibri" pitchFamily="34" charset="-120"/>
              </a:rPr>
              <a:t>Consumer staples (NoDur), healthcare (Hlth), utilities (Utils). One third each.</a:t>
            </a:r>
            <a:endParaRPr lang="en-US" sz="1800" dirty="0"/>
          </a:p>
        </p:txBody>
      </p:sp>
      <p:sp>
        <p:nvSpPr>
          <p:cNvPr id="7" name="Text 5"/>
          <p:cNvSpPr txBox="1"/>
          <p:nvPr/>
        </p:nvSpPr>
        <p:spPr>
          <a:xfrm>
            <a:off x="777240" y="3200400"/>
            <a:ext cx="4937760" cy="548640"/>
          </a:xfrm>
          <a:prstGeom prst="rect">
            <a:avLst/>
          </a:prstGeom>
          <a:noFill/>
          <a:ln/>
        </p:spPr>
        <p:txBody>
          <a:bodyPr wrap="square" lIns="0" tIns="0" rIns="0" bIns="0" rtlCol="0" anchor="t"/>
          <a:lstStyle/>
          <a:p>
            <a:pPr indent="0" marL="0">
              <a:buNone/>
            </a:pPr>
            <a:r>
              <a:rPr lang="en-US" sz="1500" dirty="0">
                <a:solidFill>
                  <a:srgbClr val="4A5568"/>
                </a:solidFill>
                <a:latin typeface="Calibri" pitchFamily="34" charset="0"/>
                <a:ea typeface="Calibri" pitchFamily="34" charset="-122"/>
                <a:cs typeface="Calibri" pitchFamily="34" charset="-120"/>
              </a:rPr>
              <a:t>Lowest swings of all 20 possible portfolios.</a:t>
            </a:r>
            <a:endParaRPr lang="en-US" sz="1500" dirty="0"/>
          </a:p>
        </p:txBody>
      </p:sp>
      <p:sp>
        <p:nvSpPr>
          <p:cNvPr id="8" name="Shape 6"/>
          <p:cNvSpPr/>
          <p:nvPr/>
        </p:nvSpPr>
        <p:spPr>
          <a:xfrm>
            <a:off x="6199632" y="1645920"/>
            <a:ext cx="5440680" cy="2286000"/>
          </a:xfrm>
          <a:prstGeom prst="roundRect">
            <a:avLst>
              <a:gd name="adj" fmla="val 3200"/>
            </a:avLst>
          </a:prstGeom>
          <a:solidFill>
            <a:srgbClr val="F4F6F8"/>
          </a:solidFill>
          <a:ln w="9525">
            <a:solidFill>
              <a:srgbClr val="F4F6F8"/>
            </a:solidFill>
            <a:prstDash val="solid"/>
          </a:ln>
        </p:spPr>
        <p:txBody>
          <a:bodyPr/>
          <a:p/>
        </p:txBody>
      </p:sp>
      <p:sp>
        <p:nvSpPr>
          <p:cNvPr id="9" name="Text 7"/>
          <p:cNvSpPr txBox="1"/>
          <p:nvPr/>
        </p:nvSpPr>
        <p:spPr>
          <a:xfrm>
            <a:off x="6428232" y="1828800"/>
            <a:ext cx="4937760" cy="365760"/>
          </a:xfrm>
          <a:prstGeom prst="rect">
            <a:avLst/>
          </a:prstGeom>
          <a:noFill/>
          <a:ln/>
        </p:spPr>
        <p:txBody>
          <a:bodyPr wrap="square" lIns="0" tIns="0" rIns="0" bIns="0" rtlCol="0" anchor="t"/>
          <a:lstStyle/>
          <a:p>
            <a:pPr indent="0" marL="0">
              <a:buNone/>
            </a:pPr>
            <a:r>
              <a:rPr lang="en-US" sz="2000" b="1" dirty="0">
                <a:solidFill>
                  <a:srgbClr val="B4561A"/>
                </a:solidFill>
                <a:latin typeface="Calibri" pitchFamily="34" charset="0"/>
                <a:ea typeface="Calibri" pitchFamily="34" charset="-122"/>
                <a:cs typeface="Calibri" pitchFamily="34" charset="-120"/>
              </a:rPr>
              <a:t>Proposal</a:t>
            </a:r>
            <a:endParaRPr lang="en-US" sz="2000" dirty="0"/>
          </a:p>
        </p:txBody>
      </p:sp>
      <p:sp>
        <p:nvSpPr>
          <p:cNvPr id="10" name="Text 8"/>
          <p:cNvSpPr txBox="1"/>
          <p:nvPr/>
        </p:nvSpPr>
        <p:spPr>
          <a:xfrm>
            <a:off x="6428232" y="2286000"/>
            <a:ext cx="4937760" cy="822960"/>
          </a:xfrm>
          <a:prstGeom prst="rect">
            <a:avLst/>
          </a:prstGeom>
          <a:noFill/>
          <a:ln/>
        </p:spPr>
        <p:txBody>
          <a:bodyPr wrap="square" lIns="0" tIns="0" rIns="0" bIns="0" rtlCol="0" anchor="t"/>
          <a:lstStyle/>
          <a:p>
            <a:pPr indent="0" marL="0">
              <a:buNone/>
            </a:pPr>
            <a:r>
              <a:rPr lang="en-US" sz="1800" dirty="0">
                <a:solidFill>
                  <a:srgbClr val="14213D"/>
                </a:solidFill>
                <a:latin typeface="Calibri" pitchFamily="34" charset="0"/>
                <a:ea typeface="Calibri" pitchFamily="34" charset="-122"/>
                <a:cs typeface="Calibri" pitchFamily="34" charset="-120"/>
              </a:rPr>
              <a:t>Sell NoDur, buy technology (HiTec). Tech had a great 2015–19.</a:t>
            </a:r>
            <a:endParaRPr lang="en-US" sz="1800" dirty="0"/>
          </a:p>
        </p:txBody>
      </p:sp>
      <p:sp>
        <p:nvSpPr>
          <p:cNvPr id="11" name="Text 9"/>
          <p:cNvSpPr txBox="1"/>
          <p:nvPr/>
        </p:nvSpPr>
        <p:spPr>
          <a:xfrm>
            <a:off x="6428232" y="3200400"/>
            <a:ext cx="4937760" cy="548640"/>
          </a:xfrm>
          <a:prstGeom prst="rect">
            <a:avLst/>
          </a:prstGeom>
          <a:noFill/>
          <a:ln/>
        </p:spPr>
        <p:txBody>
          <a:bodyPr wrap="square" lIns="0" tIns="0" rIns="0" bIns="0" rtlCol="0" anchor="t"/>
          <a:lstStyle/>
          <a:p>
            <a:pPr indent="0" marL="0">
              <a:buNone/>
            </a:pPr>
            <a:r>
              <a:rPr lang="en-US" sz="1500" dirty="0">
                <a:solidFill>
                  <a:srgbClr val="4A5568"/>
                </a:solidFill>
                <a:latin typeface="Calibri" pitchFamily="34" charset="0"/>
                <a:ea typeface="Calibri" pitchFamily="34" charset="-122"/>
                <a:cs typeface="Calibri" pitchFamily="34" charset="-120"/>
              </a:rPr>
              <a:t>About +0.29 points more return per month, but more swings.</a:t>
            </a:r>
            <a:endParaRPr lang="en-US" sz="1500" dirty="0"/>
          </a:p>
        </p:txBody>
      </p:sp>
      <p:sp>
        <p:nvSpPr>
          <p:cNvPr id="12" name="Text 10"/>
          <p:cNvSpPr txBox="1"/>
          <p:nvPr/>
        </p:nvSpPr>
        <p:spPr>
          <a:xfrm>
            <a:off x="548640" y="4297680"/>
            <a:ext cx="5440680" cy="365760"/>
          </a:xfrm>
          <a:prstGeom prst="rect">
            <a:avLst/>
          </a:prstGeom>
          <a:noFill/>
          <a:ln/>
        </p:spPr>
        <p:txBody>
          <a:bodyPr wrap="square" lIns="0" tIns="0" rIns="0" bIns="0" rtlCol="0" anchor="t"/>
          <a:lstStyle/>
          <a:p>
            <a:pPr indent="0" marL="0">
              <a:buNone/>
            </a:pPr>
            <a:r>
              <a:rPr lang="en-US" sz="2000" b="1" dirty="0">
                <a:solidFill>
                  <a:srgbClr val="14213D"/>
                </a:solidFill>
                <a:latin typeface="Calibri" pitchFamily="34" charset="0"/>
                <a:ea typeface="Calibri" pitchFamily="34" charset="-122"/>
                <a:cs typeface="Calibri" pitchFamily="34" charset="-120"/>
              </a:rPr>
              <a:t>Not “find the best portfolio”</a:t>
            </a:r>
            <a:endParaRPr lang="en-US" sz="2000" dirty="0"/>
          </a:p>
        </p:txBody>
      </p:sp>
      <p:sp>
        <p:nvSpPr>
          <p:cNvPr id="13" name="Text 11"/>
          <p:cNvSpPr txBox="1"/>
          <p:nvPr/>
        </p:nvSpPr>
        <p:spPr>
          <a:xfrm>
            <a:off x="548640" y="4709160"/>
            <a:ext cx="5440680" cy="1097280"/>
          </a:xfrm>
          <a:prstGeom prst="rect">
            <a:avLst/>
          </a:prstGeom>
          <a:noFill/>
          <a:ln/>
        </p:spPr>
        <p:txBody>
          <a:bodyPr wrap="square" lIns="0" tIns="0" rIns="0" bIns="0" rtlCol="0" anchor="t"/>
          <a:lstStyle/>
          <a:p>
            <a:pPr indent="0" marL="0">
              <a:buNone/>
            </a:pPr>
            <a:r>
              <a:rPr lang="en-US" sz="1600" dirty="0">
                <a:solidFill>
                  <a:srgbClr val="4A5568"/>
                </a:solidFill>
                <a:latin typeface="Calibri" pitchFamily="34" charset="0"/>
                <a:ea typeface="Calibri" pitchFamily="34" charset="-122"/>
                <a:cs typeface="Calibri" pitchFamily="34" charset="-120"/>
              </a:rPr>
              <a:t>Build a case that lets people decide, with clear rules, honest uncertainty and a way to see what flips it.</a:t>
            </a:r>
            <a:endParaRPr lang="en-US" sz="1600" dirty="0"/>
          </a:p>
        </p:txBody>
      </p:sp>
      <p:sp>
        <p:nvSpPr>
          <p:cNvPr id="14" name="Text 12"/>
          <p:cNvSpPr txBox="1"/>
          <p:nvPr/>
        </p:nvSpPr>
        <p:spPr>
          <a:xfrm>
            <a:off x="6199632" y="4297680"/>
            <a:ext cx="5440680" cy="365760"/>
          </a:xfrm>
          <a:prstGeom prst="rect">
            <a:avLst/>
          </a:prstGeom>
          <a:noFill/>
          <a:ln/>
        </p:spPr>
        <p:txBody>
          <a:bodyPr wrap="square" lIns="0" tIns="0" rIns="0" bIns="0" rtlCol="0" anchor="t"/>
          <a:lstStyle/>
          <a:p>
            <a:pPr indent="0" marL="0">
              <a:buNone/>
            </a:pPr>
            <a:r>
              <a:rPr lang="en-US" sz="2000" b="1" dirty="0">
                <a:solidFill>
                  <a:srgbClr val="14213D"/>
                </a:solidFill>
                <a:latin typeface="Calibri" pitchFamily="34" charset="0"/>
                <a:ea typeface="Calibri" pitchFamily="34" charset="-122"/>
                <a:cs typeface="Calibri" pitchFamily="34" charset="-120"/>
              </a:rPr>
              <a:t>Why it is hard</a:t>
            </a:r>
            <a:endParaRPr lang="en-US" sz="2000" dirty="0"/>
          </a:p>
        </p:txBody>
      </p:sp>
      <p:sp>
        <p:nvSpPr>
          <p:cNvPr id="15" name="Text 13"/>
          <p:cNvSpPr txBox="1"/>
          <p:nvPr/>
        </p:nvSpPr>
        <p:spPr>
          <a:xfrm>
            <a:off x="6199632" y="4709160"/>
            <a:ext cx="5440680" cy="1097280"/>
          </a:xfrm>
          <a:prstGeom prst="rect">
            <a:avLst/>
          </a:prstGeom>
          <a:noFill/>
          <a:ln/>
        </p:spPr>
        <p:txBody>
          <a:bodyPr wrap="square" lIns="0" tIns="0" rIns="0" bIns="0" rtlCol="0" anchor="t"/>
          <a:lstStyle/>
          <a:p>
            <a:pPr indent="0" marL="0">
              <a:buNone/>
            </a:pPr>
            <a:r>
              <a:rPr lang="en-US" sz="1600" dirty="0">
                <a:solidFill>
                  <a:srgbClr val="4A5568"/>
                </a:solidFill>
                <a:latin typeface="Calibri" pitchFamily="34" charset="0"/>
                <a:ea typeface="Calibri" pitchFamily="34" charset="-122"/>
                <a:cs typeface="Calibri" pitchFamily="34" charset="-120"/>
              </a:rPr>
              <a:t>Only 60 months of data, a tech rally inside it, and a cost for every switch.</a:t>
            </a:r>
            <a:endParaRPr lang="en-US" sz="1600" dirty="0"/>
          </a:p>
        </p:txBody>
      </p:sp>
      <p:sp>
        <p:nvSpPr>
          <p:cNvPr id="16" name="Text 14"/>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100" dirty="0">
                <a:solidFill>
                  <a:srgbClr val="5A626B"/>
                </a:solidFill>
                <a:latin typeface="Calibri" pitchFamily="34" charset="0"/>
                <a:ea typeface="Calibri" pitchFamily="34" charset="-122"/>
                <a:cs typeface="Calibri" pitchFamily="34" charset="-120"/>
              </a:rPr>
              <a:t>Source: supplied data, 2015–19; figures from the canonical run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200" b="1" spc="300" kern="0" dirty="0">
                <a:solidFill>
                  <a:srgbClr val="17756F"/>
                </a:solidFill>
                <a:latin typeface="Calibri" pitchFamily="34" charset="0"/>
                <a:ea typeface="Calibri" pitchFamily="34" charset="-122"/>
                <a:cs typeface="Calibri" pitchFamily="34" charset="-120"/>
              </a:rPr>
              <a:t>CLIENT</a:t>
            </a:r>
            <a:endParaRPr lang="en-US" sz="12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200" b="1" dirty="0">
                <a:solidFill>
                  <a:srgbClr val="14213D"/>
                </a:solidFill>
                <a:latin typeface="Cambria" pitchFamily="34" charset="0"/>
                <a:ea typeface="Cambria" pitchFamily="34" charset="-122"/>
                <a:cs typeface="Cambria" pitchFamily="34" charset="-120"/>
              </a:rPr>
              <a:t>Germany’s planned public Kapitalrente fund</a:t>
            </a:r>
            <a:endParaRPr lang="en-US" sz="3200" dirty="0"/>
          </a:p>
        </p:txBody>
      </p:sp>
      <p:sp>
        <p:nvSpPr>
          <p:cNvPr id="4" name="Text 2"/>
          <p:cNvSpPr txBox="1"/>
          <p:nvPr/>
        </p:nvSpPr>
        <p:spPr>
          <a:xfrm>
            <a:off x="548640" y="1508760"/>
            <a:ext cx="11064240" cy="822960"/>
          </a:xfrm>
          <a:prstGeom prst="rect">
            <a:avLst/>
          </a:prstGeom>
          <a:noFill/>
          <a:ln/>
        </p:spPr>
        <p:txBody>
          <a:bodyPr wrap="square" lIns="0" tIns="0" rIns="0" bIns="0" rtlCol="0" anchor="t"/>
          <a:lstStyle/>
          <a:p>
            <a:pPr indent="0" marL="0">
              <a:buNone/>
            </a:pPr>
            <a:r>
              <a:rPr lang="en-US" sz="1600" dirty="0">
                <a:solidFill>
                  <a:srgbClr val="4A5568"/>
                </a:solidFill>
                <a:latin typeface="Calibri" pitchFamily="34" charset="0"/>
                <a:ea typeface="Calibri" pitchFamily="34" charset="-122"/>
                <a:cs typeface="Calibri" pitchFamily="34" charset="-120"/>
              </a:rPr>
              <a:t>Planned “gesetzliche Kapitalrente”: 2 % of wages invested by a public fund modelled on KENFO. The commission asks for broad diversification, costs up to 0.1 % a year and no guarantees.</a:t>
            </a:r>
            <a:endParaRPr lang="en-US" sz="1600" dirty="0"/>
          </a:p>
        </p:txBody>
      </p:sp>
      <p:sp>
        <p:nvSpPr>
          <p:cNvPr id="5" name="Shape 3"/>
          <p:cNvSpPr/>
          <p:nvPr/>
        </p:nvSpPr>
        <p:spPr>
          <a:xfrm>
            <a:off x="548640" y="2468880"/>
            <a:ext cx="5440680" cy="1234440"/>
          </a:xfrm>
          <a:prstGeom prst="roundRect">
            <a:avLst>
              <a:gd name="adj" fmla="val 5926"/>
            </a:avLst>
          </a:prstGeom>
          <a:solidFill>
            <a:srgbClr val="14213D"/>
          </a:solidFill>
          <a:ln w="9525">
            <a:solidFill>
              <a:srgbClr val="14213D"/>
            </a:solidFill>
            <a:prstDash val="solid"/>
          </a:ln>
        </p:spPr>
        <p:txBody>
          <a:bodyPr/>
          <a:p/>
        </p:txBody>
      </p:sp>
      <p:sp>
        <p:nvSpPr>
          <p:cNvPr id="6" name="Text 4"/>
          <p:cNvSpPr txBox="1"/>
          <p:nvPr/>
        </p:nvSpPr>
        <p:spPr>
          <a:xfrm>
            <a:off x="777240" y="2578608"/>
            <a:ext cx="4937760" cy="320040"/>
          </a:xfrm>
          <a:prstGeom prst="rect">
            <a:avLst/>
          </a:prstGeom>
          <a:noFill/>
          <a:ln/>
        </p:spPr>
        <p:txBody>
          <a:bodyPr wrap="square" lIns="0" tIns="0" rIns="0" bIns="0" rtlCol="0" anchor="t"/>
          <a:lstStyle/>
          <a:p>
            <a:pPr indent="0" marL="0">
              <a:buNone/>
            </a:pPr>
            <a:r>
              <a:rPr lang="en-US" sz="1800" b="1" dirty="0">
                <a:solidFill>
                  <a:srgbClr val="7FD1C7"/>
                </a:solidFill>
                <a:latin typeface="Calibri" pitchFamily="34" charset="0"/>
                <a:ea typeface="Calibri" pitchFamily="34" charset="-122"/>
                <a:cs typeface="Calibri" pitchFamily="34" charset="-120"/>
              </a:rPr>
              <a:t>Core</a:t>
            </a:r>
            <a:endParaRPr lang="en-US" sz="1800" dirty="0"/>
          </a:p>
        </p:txBody>
      </p:sp>
      <p:sp>
        <p:nvSpPr>
          <p:cNvPr id="7" name="Text 5"/>
          <p:cNvSpPr txBox="1"/>
          <p:nvPr/>
        </p:nvSpPr>
        <p:spPr>
          <a:xfrm>
            <a:off x="777240" y="2971800"/>
            <a:ext cx="4937760" cy="640080"/>
          </a:xfrm>
          <a:prstGeom prst="rect">
            <a:avLst/>
          </a:prstGeom>
          <a:noFill/>
          <a:ln/>
        </p:spPr>
        <p:txBody>
          <a:bodyPr wrap="square" lIns="0" tIns="0" rIns="0" bIns="0" rtlCol="0" anchor="t"/>
          <a:lstStyle/>
          <a:p>
            <a:pPr indent="0" marL="0">
              <a:buNone/>
            </a:pPr>
            <a:r>
              <a:rPr lang="en-US" sz="1600" dirty="0">
                <a:solidFill>
                  <a:srgbClr val="F6F3EC"/>
                </a:solidFill>
                <a:latin typeface="Calibri" pitchFamily="34" charset="0"/>
                <a:ea typeface="Calibri" pitchFamily="34" charset="-122"/>
                <a:cs typeface="Calibri" pitchFamily="34" charset="-120"/>
              </a:rPr>
              <a:t>Broad index. Most of the money. Not our decision.</a:t>
            </a:r>
            <a:endParaRPr lang="en-US" sz="1600" dirty="0"/>
          </a:p>
        </p:txBody>
      </p:sp>
      <p:sp>
        <p:nvSpPr>
          <p:cNvPr id="8" name="Shape 6"/>
          <p:cNvSpPr/>
          <p:nvPr/>
        </p:nvSpPr>
        <p:spPr>
          <a:xfrm>
            <a:off x="6199632" y="2468880"/>
            <a:ext cx="5440680" cy="1234440"/>
          </a:xfrm>
          <a:prstGeom prst="roundRect">
            <a:avLst>
              <a:gd name="adj" fmla="val 5926"/>
            </a:avLst>
          </a:prstGeom>
          <a:solidFill>
            <a:srgbClr val="17756F"/>
          </a:solidFill>
          <a:ln w="9525">
            <a:solidFill>
              <a:srgbClr val="17756F"/>
            </a:solidFill>
            <a:prstDash val="solid"/>
          </a:ln>
        </p:spPr>
        <p:txBody>
          <a:bodyPr/>
          <a:p/>
        </p:txBody>
      </p:sp>
      <p:sp>
        <p:nvSpPr>
          <p:cNvPr id="9" name="Text 7"/>
          <p:cNvSpPr txBox="1"/>
          <p:nvPr/>
        </p:nvSpPr>
        <p:spPr>
          <a:xfrm>
            <a:off x="6428232" y="2578608"/>
            <a:ext cx="4937760" cy="32004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Satellite tilt</a:t>
            </a:r>
            <a:endParaRPr lang="en-US" sz="1800" dirty="0"/>
          </a:p>
        </p:txBody>
      </p:sp>
      <p:sp>
        <p:nvSpPr>
          <p:cNvPr id="10" name="Text 8"/>
          <p:cNvSpPr txBox="1"/>
          <p:nvPr/>
        </p:nvSpPr>
        <p:spPr>
          <a:xfrm>
            <a:off x="6428232" y="2971800"/>
            <a:ext cx="4937760" cy="6400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Three of six sectors, equal weight. This is what we decide.</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4023360"/>
          <a:ext cx="11064240" cy="914400"/>
        </p:xfrm>
        <a:graphic>
          <a:graphicData uri="http://schemas.openxmlformats.org/drawingml/2006/table">
            <a:tbl>
              <a:tblPr/>
              <a:tblGrid>
                <a:gridCol w="3108960"/>
                <a:gridCol w="7955280"/>
              </a:tblGrid>
              <a:tr h="45720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Who</a:t>
                      </a:r>
                      <a:endParaRPr lang="en-US" sz="15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Role</a:t>
                      </a:r>
                      <a:endParaRPr lang="en-US" sz="15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4213D"/>
                    </a:solidFill>
                  </a:tcPr>
                </a:tc>
              </a:tr>
              <a:tr h="457200">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Investment committee</a:t>
                      </a:r>
                      <a:endParaRPr lang="en-US" sz="15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Decides</a:t>
                      </a:r>
                      <a:endParaRPr lang="en-US" sz="15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457200">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Portfolio managers</a:t>
                      </a:r>
                      <a:endParaRPr lang="en-US" sz="15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Use the result</a:t>
                      </a:r>
                      <a:endParaRPr lang="en-US" sz="15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457200">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The insured</a:t>
                      </a:r>
                      <a:endParaRPr lang="en-US" sz="15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Bear the losses. Each chooses a profile actively, not by age</a:t>
                      </a:r>
                      <a:endParaRPr lang="en-US" sz="15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bl>
          </a:graphicData>
        </a:graphic>
      </p:graphicFrame>
      <p:sp>
        <p:nvSpPr>
          <p:cNvPr id="12" name="Text 9"/>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100" dirty="0">
                <a:solidFill>
                  <a:srgbClr val="5A626B"/>
                </a:solidFill>
                <a:latin typeface="Calibri" pitchFamily="34" charset="0"/>
                <a:ea typeface="Calibri" pitchFamily="34" charset="-122"/>
                <a:cs typeface="Calibri" pitchFamily="34" charset="-120"/>
              </a:rPr>
              <a:t>Source: Alterssicherungskommission, June 2026 (not yet law). Mandate numbers are our assumptions.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200" b="1" spc="300" kern="0" dirty="0">
                <a:solidFill>
                  <a:srgbClr val="17756F"/>
                </a:solidFill>
                <a:latin typeface="Calibri" pitchFamily="34" charset="0"/>
                <a:ea typeface="Calibri" pitchFamily="34" charset="-122"/>
                <a:cs typeface="Calibri" pitchFamily="34" charset="-120"/>
              </a:rPr>
              <a:t>THE DECISION</a:t>
            </a:r>
            <a:endParaRPr lang="en-US" sz="12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200" b="1" dirty="0">
                <a:solidFill>
                  <a:srgbClr val="14213D"/>
                </a:solidFill>
                <a:latin typeface="Cambria" pitchFamily="34" charset="0"/>
                <a:ea typeface="Cambria" pitchFamily="34" charset="-122"/>
                <a:cs typeface="Cambria" pitchFamily="34" charset="-120"/>
              </a:rPr>
              <a:t>Which three sectors, for which profile?</a:t>
            </a:r>
            <a:endParaRPr lang="en-US" sz="3200" dirty="0"/>
          </a:p>
        </p:txBody>
      </p:sp>
      <p:sp>
        <p:nvSpPr>
          <p:cNvPr id="4" name="Text 2"/>
          <p:cNvSpPr txBox="1"/>
          <p:nvPr/>
        </p:nvSpPr>
        <p:spPr>
          <a:xfrm>
            <a:off x="548640" y="1508760"/>
            <a:ext cx="11064240" cy="457200"/>
          </a:xfrm>
          <a:prstGeom prst="rect">
            <a:avLst/>
          </a:prstGeom>
          <a:noFill/>
          <a:ln/>
        </p:spPr>
        <p:txBody>
          <a:bodyPr wrap="square" lIns="0" tIns="0" rIns="0" bIns="0" rtlCol="0" anchor="t"/>
          <a:lstStyle/>
          <a:p>
            <a:pPr indent="0" marL="0">
              <a:buNone/>
            </a:pPr>
            <a:r>
              <a:rPr lang="en-US" sz="1600" dirty="0">
                <a:solidFill>
                  <a:srgbClr val="4A5568"/>
                </a:solidFill>
                <a:latin typeface="Calibri" pitchFamily="34" charset="0"/>
                <a:ea typeface="Calibri" pitchFamily="34" charset="-122"/>
                <a:cs typeface="Calibri" pitchFamily="34" charset="-120"/>
              </a:rPr>
              <a:t>The insured each pick one profile. We give the committee one of three answers for each.</a:t>
            </a:r>
            <a:endParaRPr lang="en-US" sz="1600" dirty="0"/>
          </a:p>
        </p:txBody>
      </p:sp>
      <p:sp>
        <p:nvSpPr>
          <p:cNvPr id="5" name="Shape 3"/>
          <p:cNvSpPr/>
          <p:nvPr/>
        </p:nvSpPr>
        <p:spPr>
          <a:xfrm>
            <a:off x="548640" y="2194560"/>
            <a:ext cx="3566160" cy="2194560"/>
          </a:xfrm>
          <a:prstGeom prst="roundRect">
            <a:avLst>
              <a:gd name="adj" fmla="val 3333"/>
            </a:avLst>
          </a:prstGeom>
          <a:solidFill>
            <a:srgbClr val="F4F6F8"/>
          </a:solidFill>
          <a:ln w="9525">
            <a:solidFill>
              <a:srgbClr val="F4F6F8"/>
            </a:solidFill>
            <a:prstDash val="solid"/>
          </a:ln>
        </p:spPr>
        <p:txBody>
          <a:bodyPr/>
          <a:p/>
        </p:txBody>
      </p:sp>
      <p:sp>
        <p:nvSpPr>
          <p:cNvPr id="6" name="Shape 4"/>
          <p:cNvSpPr/>
          <p:nvPr/>
        </p:nvSpPr>
        <p:spPr>
          <a:xfrm>
            <a:off x="777240" y="2423160"/>
            <a:ext cx="320040" cy="320040"/>
          </a:xfrm>
          <a:prstGeom prst="ellipse">
            <a:avLst/>
          </a:prstGeom>
          <a:solidFill>
            <a:srgbClr val="17756F"/>
          </a:solidFill>
          <a:ln w="12700">
            <a:solidFill>
              <a:srgbClr val="17756F"/>
            </a:solidFill>
            <a:prstDash val="solid"/>
          </a:ln>
        </p:spPr>
        <p:txBody>
          <a:bodyPr/>
          <a:p/>
        </p:txBody>
      </p:sp>
      <p:sp>
        <p:nvSpPr>
          <p:cNvPr id="7" name="Text 5"/>
          <p:cNvSpPr txBox="1"/>
          <p:nvPr/>
        </p:nvSpPr>
        <p:spPr>
          <a:xfrm>
            <a:off x="1234440" y="2395728"/>
            <a:ext cx="2743200" cy="411480"/>
          </a:xfrm>
          <a:prstGeom prst="rect">
            <a:avLst/>
          </a:prstGeom>
          <a:noFill/>
          <a:ln/>
        </p:spPr>
        <p:txBody>
          <a:bodyPr wrap="square" lIns="0" tIns="0" rIns="0" bIns="0" rtlCol="0" anchor="t"/>
          <a:lstStyle/>
          <a:p>
            <a:pPr indent="0" marL="0">
              <a:buNone/>
            </a:pPr>
            <a:r>
              <a:rPr lang="en-US" sz="2200" b="1" dirty="0">
                <a:solidFill>
                  <a:srgbClr val="14213D"/>
                </a:solidFill>
                <a:latin typeface="Calibri" pitchFamily="34" charset="0"/>
                <a:ea typeface="Calibri" pitchFamily="34" charset="-122"/>
                <a:cs typeface="Calibri" pitchFamily="34" charset="-120"/>
              </a:rPr>
              <a:t>Growth</a:t>
            </a:r>
            <a:endParaRPr lang="en-US" sz="2200" dirty="0"/>
          </a:p>
        </p:txBody>
      </p:sp>
      <p:sp>
        <p:nvSpPr>
          <p:cNvPr id="8" name="Text 6"/>
          <p:cNvSpPr txBox="1"/>
          <p:nvPr/>
        </p:nvSpPr>
        <p:spPr>
          <a:xfrm>
            <a:off x="777240" y="3017520"/>
            <a:ext cx="3108960" cy="1188720"/>
          </a:xfrm>
          <a:prstGeom prst="rect">
            <a:avLst/>
          </a:prstGeom>
          <a:noFill/>
          <a:ln/>
        </p:spPr>
        <p:txBody>
          <a:bodyPr wrap="square" lIns="0" tIns="0" rIns="0" bIns="0" rtlCol="0" anchor="t"/>
          <a:lstStyle/>
          <a:p>
            <a:pPr indent="0" marL="0">
              <a:buNone/>
            </a:pPr>
            <a:r>
              <a:rPr lang="en-US" sz="1600" dirty="0">
                <a:solidFill>
                  <a:srgbClr val="4A5568"/>
                </a:solidFill>
                <a:latin typeface="Calibri" pitchFamily="34" charset="0"/>
                <a:ea typeface="Calibri" pitchFamily="34" charset="-122"/>
                <a:cs typeface="Calibri" pitchFamily="34" charset="-120"/>
              </a:rPr>
              <a:t>Accepts big swings. A monthly loss above 8 % must be rare.</a:t>
            </a:r>
            <a:endParaRPr lang="en-US" sz="1600" dirty="0"/>
          </a:p>
        </p:txBody>
      </p:sp>
      <p:sp>
        <p:nvSpPr>
          <p:cNvPr id="9" name="Shape 7"/>
          <p:cNvSpPr/>
          <p:nvPr/>
        </p:nvSpPr>
        <p:spPr>
          <a:xfrm>
            <a:off x="4297680" y="2194560"/>
            <a:ext cx="3566160" cy="2194560"/>
          </a:xfrm>
          <a:prstGeom prst="roundRect">
            <a:avLst>
              <a:gd name="adj" fmla="val 3333"/>
            </a:avLst>
          </a:prstGeom>
          <a:solidFill>
            <a:srgbClr val="F4F6F8"/>
          </a:solidFill>
          <a:ln w="9525">
            <a:solidFill>
              <a:srgbClr val="F4F6F8"/>
            </a:solidFill>
            <a:prstDash val="solid"/>
          </a:ln>
        </p:spPr>
        <p:txBody>
          <a:bodyPr/>
          <a:p/>
        </p:txBody>
      </p:sp>
      <p:sp>
        <p:nvSpPr>
          <p:cNvPr id="10" name="Shape 8"/>
          <p:cNvSpPr/>
          <p:nvPr/>
        </p:nvSpPr>
        <p:spPr>
          <a:xfrm>
            <a:off x="4526280" y="2423160"/>
            <a:ext cx="320040" cy="320040"/>
          </a:xfrm>
          <a:prstGeom prst="ellipse">
            <a:avLst/>
          </a:prstGeom>
          <a:solidFill>
            <a:srgbClr val="9A7B1B"/>
          </a:solidFill>
          <a:ln w="12700">
            <a:solidFill>
              <a:srgbClr val="9A7B1B"/>
            </a:solidFill>
            <a:prstDash val="solid"/>
          </a:ln>
        </p:spPr>
        <p:txBody>
          <a:bodyPr/>
          <a:p/>
        </p:txBody>
      </p:sp>
      <p:sp>
        <p:nvSpPr>
          <p:cNvPr id="11" name="Text 9"/>
          <p:cNvSpPr txBox="1"/>
          <p:nvPr/>
        </p:nvSpPr>
        <p:spPr>
          <a:xfrm>
            <a:off x="4983480" y="2395728"/>
            <a:ext cx="2743200" cy="411480"/>
          </a:xfrm>
          <a:prstGeom prst="rect">
            <a:avLst/>
          </a:prstGeom>
          <a:noFill/>
          <a:ln/>
        </p:spPr>
        <p:txBody>
          <a:bodyPr wrap="square" lIns="0" tIns="0" rIns="0" bIns="0" rtlCol="0" anchor="t"/>
          <a:lstStyle/>
          <a:p>
            <a:pPr indent="0" marL="0">
              <a:buNone/>
            </a:pPr>
            <a:r>
              <a:rPr lang="en-US" sz="2200" b="1" dirty="0">
                <a:solidFill>
                  <a:srgbClr val="14213D"/>
                </a:solidFill>
                <a:latin typeface="Calibri" pitchFamily="34" charset="0"/>
                <a:ea typeface="Calibri" pitchFamily="34" charset="-122"/>
                <a:cs typeface="Calibri" pitchFamily="34" charset="-120"/>
              </a:rPr>
              <a:t>Balanced</a:t>
            </a:r>
            <a:endParaRPr lang="en-US" sz="2200" dirty="0"/>
          </a:p>
        </p:txBody>
      </p:sp>
      <p:sp>
        <p:nvSpPr>
          <p:cNvPr id="12" name="Text 10"/>
          <p:cNvSpPr txBox="1"/>
          <p:nvPr/>
        </p:nvSpPr>
        <p:spPr>
          <a:xfrm>
            <a:off x="4526280" y="3017520"/>
            <a:ext cx="3108960" cy="1188720"/>
          </a:xfrm>
          <a:prstGeom prst="rect">
            <a:avLst/>
          </a:prstGeom>
          <a:noFill/>
          <a:ln/>
        </p:spPr>
        <p:txBody>
          <a:bodyPr wrap="square" lIns="0" tIns="0" rIns="0" bIns="0" rtlCol="0" anchor="t"/>
          <a:lstStyle/>
          <a:p>
            <a:pPr indent="0" marL="0">
              <a:buNone/>
            </a:pPr>
            <a:r>
              <a:rPr lang="en-US" sz="1600" dirty="0">
                <a:solidFill>
                  <a:srgbClr val="4A5568"/>
                </a:solidFill>
                <a:latin typeface="Calibri" pitchFamily="34" charset="0"/>
                <a:ea typeface="Calibri" pitchFamily="34" charset="-122"/>
                <a:cs typeface="Calibri" pitchFamily="34" charset="-120"/>
              </a:rPr>
              <a:t>Middle way. Loss above 5 %. Also the assumed default.</a:t>
            </a:r>
            <a:endParaRPr lang="en-US" sz="1600" dirty="0"/>
          </a:p>
        </p:txBody>
      </p:sp>
      <p:sp>
        <p:nvSpPr>
          <p:cNvPr id="13" name="Shape 11"/>
          <p:cNvSpPr/>
          <p:nvPr/>
        </p:nvSpPr>
        <p:spPr>
          <a:xfrm>
            <a:off x="8046720" y="2194560"/>
            <a:ext cx="3566160" cy="2194560"/>
          </a:xfrm>
          <a:prstGeom prst="roundRect">
            <a:avLst>
              <a:gd name="adj" fmla="val 3333"/>
            </a:avLst>
          </a:prstGeom>
          <a:solidFill>
            <a:srgbClr val="F4F6F8"/>
          </a:solidFill>
          <a:ln w="9525">
            <a:solidFill>
              <a:srgbClr val="F4F6F8"/>
            </a:solidFill>
            <a:prstDash val="solid"/>
          </a:ln>
        </p:spPr>
        <p:txBody>
          <a:bodyPr/>
          <a:p/>
        </p:txBody>
      </p:sp>
      <p:sp>
        <p:nvSpPr>
          <p:cNvPr id="14" name="Shape 12"/>
          <p:cNvSpPr/>
          <p:nvPr/>
        </p:nvSpPr>
        <p:spPr>
          <a:xfrm>
            <a:off x="8275320" y="2423160"/>
            <a:ext cx="320040" cy="320040"/>
          </a:xfrm>
          <a:prstGeom prst="ellipse">
            <a:avLst/>
          </a:prstGeom>
          <a:solidFill>
            <a:srgbClr val="B4561A"/>
          </a:solidFill>
          <a:ln w="12700">
            <a:solidFill>
              <a:srgbClr val="B4561A"/>
            </a:solidFill>
            <a:prstDash val="solid"/>
          </a:ln>
        </p:spPr>
        <p:txBody>
          <a:bodyPr/>
          <a:p/>
        </p:txBody>
      </p:sp>
      <p:sp>
        <p:nvSpPr>
          <p:cNvPr id="15" name="Text 13"/>
          <p:cNvSpPr txBox="1"/>
          <p:nvPr/>
        </p:nvSpPr>
        <p:spPr>
          <a:xfrm>
            <a:off x="8732520" y="2395728"/>
            <a:ext cx="2743200" cy="411480"/>
          </a:xfrm>
          <a:prstGeom prst="rect">
            <a:avLst/>
          </a:prstGeom>
          <a:noFill/>
          <a:ln/>
        </p:spPr>
        <p:txBody>
          <a:bodyPr wrap="square" lIns="0" tIns="0" rIns="0" bIns="0" rtlCol="0" anchor="t"/>
          <a:lstStyle/>
          <a:p>
            <a:pPr indent="0" marL="0">
              <a:buNone/>
            </a:pPr>
            <a:r>
              <a:rPr lang="en-US" sz="2200" b="1" dirty="0">
                <a:solidFill>
                  <a:srgbClr val="14213D"/>
                </a:solidFill>
                <a:latin typeface="Calibri" pitchFamily="34" charset="0"/>
                <a:ea typeface="Calibri" pitchFamily="34" charset="-122"/>
                <a:cs typeface="Calibri" pitchFamily="34" charset="-120"/>
              </a:rPr>
              <a:t>Risk-sensitive</a:t>
            </a:r>
            <a:endParaRPr lang="en-US" sz="2200" dirty="0"/>
          </a:p>
        </p:txBody>
      </p:sp>
      <p:sp>
        <p:nvSpPr>
          <p:cNvPr id="16" name="Text 14"/>
          <p:cNvSpPr txBox="1"/>
          <p:nvPr/>
        </p:nvSpPr>
        <p:spPr>
          <a:xfrm>
            <a:off x="8275320" y="3017520"/>
            <a:ext cx="3108960" cy="1188720"/>
          </a:xfrm>
          <a:prstGeom prst="rect">
            <a:avLst/>
          </a:prstGeom>
          <a:noFill/>
          <a:ln/>
        </p:spPr>
        <p:txBody>
          <a:bodyPr wrap="square" lIns="0" tIns="0" rIns="0" bIns="0" rtlCol="0" anchor="t"/>
          <a:lstStyle/>
          <a:p>
            <a:pPr indent="0" marL="0">
              <a:buNone/>
            </a:pPr>
            <a:r>
              <a:rPr lang="en-US" sz="1600" dirty="0">
                <a:solidFill>
                  <a:srgbClr val="4A5568"/>
                </a:solidFill>
                <a:latin typeface="Calibri" pitchFamily="34" charset="0"/>
                <a:ea typeface="Calibri" pitchFamily="34" charset="-122"/>
                <a:cs typeface="Calibri" pitchFamily="34" charset="-120"/>
              </a:rPr>
              <a:t>Dislikes swings. Loss above 3 % must be rare.</a:t>
            </a:r>
            <a:endParaRPr lang="en-US" sz="1600" dirty="0"/>
          </a:p>
        </p:txBody>
      </p:sp>
      <p:sp>
        <p:nvSpPr>
          <p:cNvPr id="17" name="Shape 15"/>
          <p:cNvSpPr/>
          <p:nvPr/>
        </p:nvSpPr>
        <p:spPr>
          <a:xfrm>
            <a:off x="548640" y="4754880"/>
            <a:ext cx="3566160" cy="731520"/>
          </a:xfrm>
          <a:prstGeom prst="roundRect">
            <a:avLst>
              <a:gd name="adj" fmla="val 10000"/>
            </a:avLst>
          </a:prstGeom>
          <a:solidFill>
            <a:srgbClr val="D6EBE8"/>
          </a:solidFill>
          <a:ln w="12700">
            <a:solidFill>
              <a:srgbClr val="D6EBE8"/>
            </a:solidFill>
            <a:prstDash val="solid"/>
          </a:ln>
        </p:spPr>
        <p:txBody>
          <a:bodyPr/>
          <a:p/>
        </p:txBody>
      </p:sp>
      <p:sp>
        <p:nvSpPr>
          <p:cNvPr id="18" name="Text 16"/>
          <p:cNvSpPr txBox="1"/>
          <p:nvPr/>
        </p:nvSpPr>
        <p:spPr>
          <a:xfrm>
            <a:off x="548640" y="4754880"/>
            <a:ext cx="3566160" cy="731520"/>
          </a:xfrm>
          <a:prstGeom prst="rect">
            <a:avLst/>
          </a:prstGeom>
          <a:noFill/>
          <a:ln/>
        </p:spPr>
        <p:txBody>
          <a:bodyPr wrap="square" lIns="0" tIns="0" rIns="0" bIns="0" rtlCol="0" anchor="ctr"/>
          <a:lstStyle/>
          <a:p>
            <a:pPr algn="ctr" indent="0" marL="0">
              <a:buNone/>
            </a:pPr>
            <a:r>
              <a:rPr lang="en-US" sz="1800" b="1" dirty="0">
                <a:solidFill>
                  <a:srgbClr val="14213D"/>
                </a:solidFill>
                <a:latin typeface="Calibri" pitchFamily="34" charset="0"/>
                <a:ea typeface="Calibri" pitchFamily="34" charset="-122"/>
                <a:cs typeface="Calibri" pitchFamily="34" charset="-120"/>
              </a:rPr>
              <a:t>Keep</a:t>
            </a:r>
            <a:endParaRPr lang="en-US" sz="1800" dirty="0"/>
          </a:p>
        </p:txBody>
      </p:sp>
      <p:sp>
        <p:nvSpPr>
          <p:cNvPr id="19" name="Shape 17"/>
          <p:cNvSpPr/>
          <p:nvPr/>
        </p:nvSpPr>
        <p:spPr>
          <a:xfrm>
            <a:off x="4297680" y="4754880"/>
            <a:ext cx="3566160" cy="731520"/>
          </a:xfrm>
          <a:prstGeom prst="roundRect">
            <a:avLst>
              <a:gd name="adj" fmla="val 10000"/>
            </a:avLst>
          </a:prstGeom>
          <a:solidFill>
            <a:srgbClr val="D6EBE8"/>
          </a:solidFill>
          <a:ln w="12700">
            <a:solidFill>
              <a:srgbClr val="D6EBE8"/>
            </a:solidFill>
            <a:prstDash val="solid"/>
          </a:ln>
        </p:spPr>
        <p:txBody>
          <a:bodyPr/>
          <a:p/>
        </p:txBody>
      </p:sp>
      <p:sp>
        <p:nvSpPr>
          <p:cNvPr id="20" name="Text 18"/>
          <p:cNvSpPr txBox="1"/>
          <p:nvPr/>
        </p:nvSpPr>
        <p:spPr>
          <a:xfrm>
            <a:off x="4297680" y="4754880"/>
            <a:ext cx="3566160" cy="731520"/>
          </a:xfrm>
          <a:prstGeom prst="rect">
            <a:avLst/>
          </a:prstGeom>
          <a:noFill/>
          <a:ln/>
        </p:spPr>
        <p:txBody>
          <a:bodyPr wrap="square" lIns="0" tIns="0" rIns="0" bIns="0" rtlCol="0" anchor="ctr"/>
          <a:lstStyle/>
          <a:p>
            <a:pPr algn="ctr" indent="0" marL="0">
              <a:buNone/>
            </a:pPr>
            <a:r>
              <a:rPr lang="en-US" sz="1800" b="1" dirty="0">
                <a:solidFill>
                  <a:srgbClr val="14213D"/>
                </a:solidFill>
                <a:latin typeface="Calibri" pitchFamily="34" charset="0"/>
                <a:ea typeface="Calibri" pitchFamily="34" charset="-122"/>
                <a:cs typeface="Calibri" pitchFamily="34" charset="-120"/>
              </a:rPr>
              <a:t>Switch</a:t>
            </a:r>
            <a:endParaRPr lang="en-US" sz="1800" dirty="0"/>
          </a:p>
        </p:txBody>
      </p:sp>
      <p:sp>
        <p:nvSpPr>
          <p:cNvPr id="21" name="Shape 19"/>
          <p:cNvSpPr/>
          <p:nvPr/>
        </p:nvSpPr>
        <p:spPr>
          <a:xfrm>
            <a:off x="8046720" y="4754880"/>
            <a:ext cx="3566160" cy="731520"/>
          </a:xfrm>
          <a:prstGeom prst="roundRect">
            <a:avLst>
              <a:gd name="adj" fmla="val 10000"/>
            </a:avLst>
          </a:prstGeom>
          <a:solidFill>
            <a:srgbClr val="F6E3D0"/>
          </a:solidFill>
          <a:ln w="12700">
            <a:solidFill>
              <a:srgbClr val="F6E3D0"/>
            </a:solidFill>
            <a:prstDash val="solid"/>
          </a:ln>
        </p:spPr>
        <p:txBody>
          <a:bodyPr/>
          <a:p/>
        </p:txBody>
      </p:sp>
      <p:sp>
        <p:nvSpPr>
          <p:cNvPr id="22" name="Text 20"/>
          <p:cNvSpPr txBox="1"/>
          <p:nvPr/>
        </p:nvSpPr>
        <p:spPr>
          <a:xfrm>
            <a:off x="8046720" y="4754880"/>
            <a:ext cx="3566160" cy="731520"/>
          </a:xfrm>
          <a:prstGeom prst="rect">
            <a:avLst/>
          </a:prstGeom>
          <a:noFill/>
          <a:ln/>
        </p:spPr>
        <p:txBody>
          <a:bodyPr wrap="square" lIns="0" tIns="0" rIns="0" bIns="0" rtlCol="0" anchor="ctr"/>
          <a:lstStyle/>
          <a:p>
            <a:pPr algn="ctr" indent="0" marL="0">
              <a:buNone/>
            </a:pPr>
            <a:r>
              <a:rPr lang="en-US" sz="1800" b="1" dirty="0">
                <a:solidFill>
                  <a:srgbClr val="14213D"/>
                </a:solidFill>
                <a:latin typeface="Calibri" pitchFamily="34" charset="0"/>
                <a:ea typeface="Calibri" pitchFamily="34" charset="-122"/>
                <a:cs typeface="Calibri" pitchFamily="34" charset="-120"/>
              </a:rPr>
              <a:t>Review: not enough evidence</a:t>
            </a:r>
            <a:endParaRPr lang="en-US" sz="1800" dirty="0"/>
          </a:p>
        </p:txBody>
      </p:sp>
      <p:sp>
        <p:nvSpPr>
          <p:cNvPr id="23" name="Text 21"/>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100" dirty="0">
                <a:solidFill>
                  <a:srgbClr val="5A626B"/>
                </a:solidFill>
                <a:latin typeface="Calibri" pitchFamily="34" charset="0"/>
                <a:ea typeface="Calibri" pitchFamily="34" charset="-122"/>
                <a:cs typeface="Calibri" pitchFamily="34" charset="-120"/>
              </a:rPr>
              <a:t>“Review” is a real result, not a failure. All profile numbers are assumptions from the organiser config.</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200" b="1" spc="300" kern="0" dirty="0">
                <a:solidFill>
                  <a:srgbClr val="17756F"/>
                </a:solidFill>
                <a:latin typeface="Calibri" pitchFamily="34" charset="0"/>
                <a:ea typeface="Calibri" pitchFamily="34" charset="-122"/>
                <a:cs typeface="Calibri" pitchFamily="34" charset="-120"/>
              </a:rPr>
              <a:t>THE RULES</a:t>
            </a:r>
            <a:endParaRPr lang="en-US" sz="12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200" b="1" dirty="0">
                <a:solidFill>
                  <a:srgbClr val="14213D"/>
                </a:solidFill>
                <a:latin typeface="Cambria" pitchFamily="34" charset="0"/>
                <a:ea typeface="Cambria" pitchFamily="34" charset="-122"/>
                <a:cs typeface="Cambria" pitchFamily="34" charset="-120"/>
              </a:rPr>
              <a:t>Binding rules are never for sale</a:t>
            </a:r>
            <a:endParaRPr lang="en-US" sz="3200" dirty="0"/>
          </a:p>
        </p:txBody>
      </p:sp>
      <p:sp>
        <p:nvSpPr>
          <p:cNvPr id="4" name="Shape 2"/>
          <p:cNvSpPr/>
          <p:nvPr/>
        </p:nvSpPr>
        <p:spPr>
          <a:xfrm>
            <a:off x="548640" y="1645920"/>
            <a:ext cx="5440680" cy="4389120"/>
          </a:xfrm>
          <a:prstGeom prst="roundRect">
            <a:avLst>
              <a:gd name="adj" fmla="val 1667"/>
            </a:avLst>
          </a:prstGeom>
          <a:solidFill>
            <a:srgbClr val="14213D"/>
          </a:solidFill>
          <a:ln w="9525">
            <a:solidFill>
              <a:srgbClr val="14213D"/>
            </a:solidFill>
            <a:prstDash val="solid"/>
          </a:ln>
        </p:spPr>
        <p:txBody>
          <a:bodyPr/>
          <a:p/>
        </p:txBody>
      </p:sp>
      <p:sp>
        <p:nvSpPr>
          <p:cNvPr id="5" name="Text 3"/>
          <p:cNvSpPr txBox="1"/>
          <p:nvPr/>
        </p:nvSpPr>
        <p:spPr>
          <a:xfrm>
            <a:off x="822960" y="1828800"/>
            <a:ext cx="4937760" cy="457200"/>
          </a:xfrm>
          <a:prstGeom prst="rect">
            <a:avLst/>
          </a:prstGeom>
          <a:noFill/>
          <a:ln/>
        </p:spPr>
        <p:txBody>
          <a:bodyPr wrap="square" lIns="0" tIns="0" rIns="0" bIns="0" rtlCol="0" anchor="t"/>
          <a:lstStyle/>
          <a:p>
            <a:pPr indent="0" marL="0">
              <a:buNone/>
            </a:pPr>
            <a:r>
              <a:rPr lang="en-US" sz="2400" b="1" dirty="0">
                <a:solidFill>
                  <a:srgbClr val="7FD1C7"/>
                </a:solidFill>
                <a:latin typeface="Calibri" pitchFamily="34" charset="0"/>
                <a:ea typeface="Calibri" pitchFamily="34" charset="-122"/>
                <a:cs typeface="Calibri" pitchFamily="34" charset="-120"/>
              </a:rPr>
              <a:t>Binding</a:t>
            </a:r>
            <a:endParaRPr lang="en-US" sz="2400" dirty="0"/>
          </a:p>
        </p:txBody>
      </p:sp>
      <p:sp>
        <p:nvSpPr>
          <p:cNvPr id="6" name="Text 4"/>
          <p:cNvSpPr txBox="1"/>
          <p:nvPr/>
        </p:nvSpPr>
        <p:spPr>
          <a:xfrm>
            <a:off x="822960" y="2377440"/>
            <a:ext cx="4892040" cy="822960"/>
          </a:xfrm>
          <a:prstGeom prst="rect">
            <a:avLst/>
          </a:prstGeom>
          <a:noFill/>
          <a:ln/>
        </p:spPr>
        <p:txBody>
          <a:bodyPr wrap="square" lIns="0" tIns="0" rIns="0" bIns="0" rtlCol="0" anchor="t"/>
          <a:lstStyle/>
          <a:p>
            <a:pPr indent="0" marL="0">
              <a:buNone/>
            </a:pPr>
            <a:r>
              <a:rPr lang="en-US" sz="1500" dirty="0">
                <a:solidFill>
                  <a:srgbClr val="BFC7D6"/>
                </a:solidFill>
                <a:latin typeface="Calibri" pitchFamily="34" charset="0"/>
                <a:ea typeface="Calibri" pitchFamily="34" charset="-122"/>
                <a:cs typeface="Calibri" pitchFamily="34" charset="-120"/>
              </a:rPr>
              <a:t>Break one and the portfolio is not allowed. No amount of return buys it back.</a:t>
            </a:r>
            <a:endParaRPr lang="en-US" sz="1500" dirty="0"/>
          </a:p>
        </p:txBody>
      </p:sp>
      <p:sp>
        <p:nvSpPr>
          <p:cNvPr id="7" name="Text 5"/>
          <p:cNvSpPr txBox="1"/>
          <p:nvPr/>
        </p:nvSpPr>
        <p:spPr>
          <a:xfrm>
            <a:off x="822960" y="3291840"/>
            <a:ext cx="4892040" cy="16459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F6F3EC"/>
                </a:solidFill>
                <a:latin typeface="Calibri" pitchFamily="34" charset="0"/>
                <a:ea typeface="Calibri" pitchFamily="34" charset="-122"/>
                <a:cs typeface="Calibri" pitchFamily="34" charset="-120"/>
              </a:rPr>
              <a:t>Exactly 3 holdings, equal weight</a:t>
            </a:r>
            <a:endParaRPr lang="en-US" sz="1800" dirty="0"/>
          </a:p>
          <a:p>
            <a:pPr marL="342900" indent="-342900">
              <a:spcAft>
                <a:spcPts val="800"/>
              </a:spcAft>
              <a:buSzPct val="100000"/>
              <a:buChar char="•"/>
            </a:pPr>
            <a:r>
              <a:rPr lang="en-US" sz="1800" dirty="0">
                <a:solidFill>
                  <a:srgbClr val="F6F3EC"/>
                </a:solidFill>
                <a:latin typeface="Calibri" pitchFamily="34" charset="0"/>
                <a:ea typeface="Calibri" pitchFamily="34" charset="-122"/>
                <a:cs typeface="Calibri" pitchFamily="34" charset="-120"/>
              </a:rPr>
              <a:t>Chance of a big monthly loss at most 10 %. Loss size: 8 % / 5 % / 3 %</a:t>
            </a:r>
            <a:endParaRPr lang="en-US" sz="1800" dirty="0"/>
          </a:p>
        </p:txBody>
      </p:sp>
      <p:sp>
        <p:nvSpPr>
          <p:cNvPr id="8" name="Text 6"/>
          <p:cNvSpPr txBox="1"/>
          <p:nvPr/>
        </p:nvSpPr>
        <p:spPr>
          <a:xfrm>
            <a:off x="822960" y="5120640"/>
            <a:ext cx="4892040" cy="457200"/>
          </a:xfrm>
          <a:prstGeom prst="rect">
            <a:avLst/>
          </a:prstGeom>
          <a:noFill/>
          <a:ln/>
        </p:spPr>
        <p:txBody>
          <a:bodyPr wrap="square" lIns="0" tIns="0" rIns="0" bIns="0" rtlCol="0" anchor="t"/>
          <a:lstStyle/>
          <a:p>
            <a:pPr indent="0" marL="0">
              <a:buNone/>
            </a:pPr>
            <a:r>
              <a:rPr lang="en-US" sz="1600" dirty="0">
                <a:solidFill>
                  <a:srgbClr val="F2B77B"/>
                </a:solidFill>
                <a:latin typeface="Calibri" pitchFamily="34" charset="0"/>
                <a:ea typeface="Calibri" pitchFamily="34" charset="-122"/>
                <a:cs typeface="Calibri" pitchFamily="34" charset="-120"/>
              </a:rPr>
              <a:t>Checked exactly, not guessed.</a:t>
            </a:r>
            <a:endParaRPr lang="en-US" sz="1600" dirty="0"/>
          </a:p>
        </p:txBody>
      </p:sp>
      <p:sp>
        <p:nvSpPr>
          <p:cNvPr id="9" name="Shape 7"/>
          <p:cNvSpPr/>
          <p:nvPr/>
        </p:nvSpPr>
        <p:spPr>
          <a:xfrm>
            <a:off x="6199632" y="1645920"/>
            <a:ext cx="5440680" cy="4389120"/>
          </a:xfrm>
          <a:prstGeom prst="roundRect">
            <a:avLst>
              <a:gd name="adj" fmla="val 1667"/>
            </a:avLst>
          </a:prstGeom>
          <a:solidFill>
            <a:srgbClr val="F4F6F8"/>
          </a:solidFill>
          <a:ln w="9525">
            <a:solidFill>
              <a:srgbClr val="F4F6F8"/>
            </a:solidFill>
            <a:prstDash val="solid"/>
          </a:ln>
        </p:spPr>
        <p:txBody>
          <a:bodyPr/>
          <a:p/>
        </p:txBody>
      </p:sp>
      <p:sp>
        <p:nvSpPr>
          <p:cNvPr id="10" name="Text 8"/>
          <p:cNvSpPr txBox="1"/>
          <p:nvPr/>
        </p:nvSpPr>
        <p:spPr>
          <a:xfrm>
            <a:off x="6473952" y="1828800"/>
            <a:ext cx="4937760" cy="457200"/>
          </a:xfrm>
          <a:prstGeom prst="rect">
            <a:avLst/>
          </a:prstGeom>
          <a:noFill/>
          <a:ln/>
        </p:spPr>
        <p:txBody>
          <a:bodyPr wrap="square" lIns="0" tIns="0" rIns="0" bIns="0" rtlCol="0" anchor="t"/>
          <a:lstStyle/>
          <a:p>
            <a:pPr indent="0" marL="0">
              <a:buNone/>
            </a:pPr>
            <a:r>
              <a:rPr lang="en-US" sz="2400" b="1" dirty="0">
                <a:solidFill>
                  <a:srgbClr val="B4561A"/>
                </a:solidFill>
                <a:latin typeface="Calibri" pitchFamily="34" charset="0"/>
                <a:ea typeface="Calibri" pitchFamily="34" charset="-122"/>
                <a:cs typeface="Calibri" pitchFamily="34" charset="-120"/>
              </a:rPr>
              <a:t>Preferences</a:t>
            </a:r>
            <a:endParaRPr lang="en-US" sz="2400" dirty="0"/>
          </a:p>
        </p:txBody>
      </p:sp>
      <p:sp>
        <p:nvSpPr>
          <p:cNvPr id="11" name="Text 9"/>
          <p:cNvSpPr txBox="1"/>
          <p:nvPr/>
        </p:nvSpPr>
        <p:spPr>
          <a:xfrm>
            <a:off x="6473952" y="2377440"/>
            <a:ext cx="4892040" cy="457200"/>
          </a:xfrm>
          <a:prstGeom prst="rect">
            <a:avLst/>
          </a:prstGeom>
          <a:noFill/>
          <a:ln/>
        </p:spPr>
        <p:txBody>
          <a:bodyPr wrap="square" lIns="0" tIns="0" rIns="0" bIns="0" rtlCol="0" anchor="t"/>
          <a:lstStyle/>
          <a:p>
            <a:pPr indent="0" marL="0">
              <a:buNone/>
            </a:pPr>
            <a:r>
              <a:rPr lang="en-US" sz="1500" dirty="0">
                <a:solidFill>
                  <a:srgbClr val="4A5568"/>
                </a:solidFill>
                <a:latin typeface="Calibri" pitchFamily="34" charset="0"/>
                <a:ea typeface="Calibri" pitchFamily="34" charset="-122"/>
                <a:cs typeface="Calibri" pitchFamily="34" charset="-120"/>
              </a:rPr>
              <a:t>Weighed against each other in one score.</a:t>
            </a:r>
            <a:endParaRPr lang="en-US" sz="1500" dirty="0"/>
          </a:p>
        </p:txBody>
      </p:sp>
      <p:sp>
        <p:nvSpPr>
          <p:cNvPr id="12" name="Text 10"/>
          <p:cNvSpPr txBox="1"/>
          <p:nvPr/>
        </p:nvSpPr>
        <p:spPr>
          <a:xfrm>
            <a:off x="6473952" y="2926080"/>
            <a:ext cx="4892040" cy="21031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14213D"/>
                </a:solidFill>
                <a:latin typeface="Calibri" pitchFamily="34" charset="0"/>
                <a:ea typeface="Calibri" pitchFamily="34" charset="-122"/>
                <a:cs typeface="Calibri" pitchFamily="34" charset="-120"/>
              </a:rPr>
              <a:t>Higher return</a:t>
            </a:r>
            <a:endParaRPr lang="en-US" sz="1800" dirty="0"/>
          </a:p>
          <a:p>
            <a:pPr marL="342900" indent="-342900">
              <a:spcAft>
                <a:spcPts val="800"/>
              </a:spcAft>
              <a:buSzPct val="100000"/>
              <a:buChar char="•"/>
            </a:pPr>
            <a:r>
              <a:rPr lang="en-US" sz="1800" dirty="0">
                <a:solidFill>
                  <a:srgbClr val="14213D"/>
                </a:solidFill>
                <a:latin typeface="Calibri" pitchFamily="34" charset="0"/>
                <a:ea typeface="Calibri" pitchFamily="34" charset="-122"/>
                <a:cs typeface="Calibri" pitchFamily="34" charset="-120"/>
              </a:rPr>
              <a:t>Lower risk (weight 1 / 5 / 20)</a:t>
            </a:r>
            <a:endParaRPr lang="en-US" sz="1800" dirty="0"/>
          </a:p>
          <a:p>
            <a:pPr marL="342900" indent="-342900">
              <a:spcAft>
                <a:spcPts val="800"/>
              </a:spcAft>
              <a:buSzPct val="100000"/>
              <a:buChar char="•"/>
            </a:pPr>
            <a:r>
              <a:rPr lang="en-US" sz="1800" dirty="0">
                <a:solidFill>
                  <a:srgbClr val="14213D"/>
                </a:solidFill>
                <a:latin typeface="Calibri" pitchFamily="34" charset="0"/>
                <a:ea typeface="Calibri" pitchFamily="34" charset="-122"/>
                <a:cs typeface="Calibri" pitchFamily="34" charset="-120"/>
              </a:rPr>
              <a:t>Fewer changes (small switching cost)</a:t>
            </a:r>
            <a:endParaRPr lang="en-US" sz="1800" dirty="0"/>
          </a:p>
          <a:p>
            <a:pPr marL="342900" indent="-342900">
              <a:spcAft>
                <a:spcPts val="800"/>
              </a:spcAft>
              <a:buSzPct val="100000"/>
              <a:buChar char="•"/>
            </a:pPr>
            <a:r>
              <a:rPr lang="en-US" sz="1800" dirty="0">
                <a:solidFill>
                  <a:srgbClr val="14213D"/>
                </a:solidFill>
                <a:latin typeface="Calibri" pitchFamily="34" charset="0"/>
                <a:ea typeface="Calibri" pitchFamily="34" charset="-122"/>
                <a:cs typeface="Calibri" pitchFamily="34" charset="-120"/>
              </a:rPr>
              <a:t>Tech weight limit 100 % / 35 % / 20 %</a:t>
            </a:r>
            <a:endParaRPr lang="en-US" sz="1800" dirty="0"/>
          </a:p>
        </p:txBody>
      </p:sp>
      <p:sp>
        <p:nvSpPr>
          <p:cNvPr id="13" name="Text 11"/>
          <p:cNvSpPr txBox="1"/>
          <p:nvPr/>
        </p:nvSpPr>
        <p:spPr>
          <a:xfrm>
            <a:off x="6473952" y="5120640"/>
            <a:ext cx="4892040" cy="457200"/>
          </a:xfrm>
          <a:prstGeom prst="rect">
            <a:avLst/>
          </a:prstGeom>
          <a:noFill/>
          <a:ln/>
        </p:spPr>
        <p:txBody>
          <a:bodyPr wrap="square" lIns="0" tIns="0" rIns="0" bIns="0" rtlCol="0" anchor="t"/>
          <a:lstStyle/>
          <a:p>
            <a:pPr indent="0" marL="0">
              <a:buNone/>
            </a:pPr>
            <a:r>
              <a:rPr lang="en-US" sz="1600" dirty="0">
                <a:solidFill>
                  <a:srgbClr val="B4561A"/>
                </a:solidFill>
                <a:latin typeface="Calibri" pitchFamily="34" charset="0"/>
                <a:ea typeface="Calibri" pitchFamily="34" charset="-122"/>
                <a:cs typeface="Calibri" pitchFamily="34" charset="-120"/>
              </a:rPr>
              <a:t>The tech limit is a preference, by team decision.</a:t>
            </a:r>
            <a:endParaRPr lang="en-US" sz="1600" dirty="0"/>
          </a:p>
        </p:txBody>
      </p:sp>
      <p:sp>
        <p:nvSpPr>
          <p:cNvPr id="14" name="Text 12"/>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100" dirty="0">
                <a:solidFill>
                  <a:srgbClr val="5A626B"/>
                </a:solidFill>
                <a:latin typeface="Calibri" pitchFamily="34" charset="0"/>
                <a:ea typeface="Calibri" pitchFamily="34" charset="-122"/>
                <a:cs typeface="Calibri" pitchFamily="34" charset="-120"/>
              </a:rPr>
              <a:t>If everything sat in one score, enough return could “buy” a violation. Values are organiser assumptions.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200" b="1" spc="300" kern="0" dirty="0">
                <a:solidFill>
                  <a:srgbClr val="17756F"/>
                </a:solidFill>
                <a:latin typeface="Calibri" pitchFamily="34" charset="0"/>
                <a:ea typeface="Calibri" pitchFamily="34" charset="-122"/>
                <a:cs typeface="Calibri" pitchFamily="34" charset="-120"/>
              </a:rPr>
              <a:t>THE 20 OPTIONS</a:t>
            </a:r>
            <a:endParaRPr lang="en-US" sz="12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200" b="1" dirty="0">
                <a:solidFill>
                  <a:srgbClr val="14213D"/>
                </a:solidFill>
                <a:latin typeface="Cambria" pitchFamily="34" charset="0"/>
                <a:ea typeface="Cambria" pitchFamily="34" charset="-122"/>
                <a:cs typeface="Cambria" pitchFamily="34" charset="-120"/>
              </a:rPr>
              <a:t>Six switches, twenty legal settings</a:t>
            </a:r>
            <a:endParaRPr lang="en-US" sz="3200" dirty="0"/>
          </a:p>
        </p:txBody>
      </p:sp>
      <p:sp>
        <p:nvSpPr>
          <p:cNvPr id="4" name="Text 2"/>
          <p:cNvSpPr txBox="1"/>
          <p:nvPr/>
        </p:nvSpPr>
        <p:spPr>
          <a:xfrm>
            <a:off x="548640" y="1463040"/>
            <a:ext cx="11064240" cy="548640"/>
          </a:xfrm>
          <a:prstGeom prst="rect">
            <a:avLst/>
          </a:prstGeom>
          <a:noFill/>
          <a:ln/>
        </p:spPr>
        <p:txBody>
          <a:bodyPr wrap="square" lIns="0" tIns="0" rIns="0" bIns="0" rtlCol="0" anchor="t"/>
          <a:lstStyle/>
          <a:p>
            <a:pPr indent="0" marL="0">
              <a:buNone/>
            </a:pPr>
            <a:r>
              <a:rPr lang="en-US" sz="1500" dirty="0">
                <a:solidFill>
                  <a:srgbClr val="4A5568"/>
                </a:solidFill>
                <a:latin typeface="Calibri" pitchFamily="34" charset="0"/>
                <a:ea typeface="Calibri" pitchFamily="34" charset="-122"/>
                <a:cs typeface="Calibri" pitchFamily="34" charset="-120"/>
              </a:rPr>
              <a:t>Each industry is a switch (on = held). 64 settings, only 20 with exactly three on. A normal computer checks all 20 instantly: our answer key.</a:t>
            </a:r>
            <a:endParaRPr lang="en-US" sz="1500" dirty="0"/>
          </a:p>
        </p:txBody>
      </p:sp>
      <p:sp>
        <p:nvSpPr>
          <p:cNvPr id="5" name="Shape 3"/>
          <p:cNvSpPr/>
          <p:nvPr/>
        </p:nvSpPr>
        <p:spPr>
          <a:xfrm>
            <a:off x="548640" y="2194560"/>
            <a:ext cx="6126480" cy="3971109"/>
          </a:xfrm>
          <a:prstGeom prst="rect">
            <a:avLst/>
          </a:prstGeom>
          <a:solidFill>
            <a:srgbClr val="FFFFFF"/>
          </a:solidFill>
          <a:ln w="9525">
            <a:solidFill>
              <a:srgbClr val="D5DAE0"/>
            </a:solidFill>
            <a:prstDash val="solid"/>
          </a:ln>
        </p:spPr>
        <p:txBody>
          <a:bodyPr/>
          <a:p/>
        </p:txBody>
      </p:sp>
      <p:pic>
        <p:nvPicPr>
          <p:cNvPr id="6" name="Image 0" descr="Risk and return of the 20 possible portfolios, current holding and proposal marked">    </p:cNvPr>
          <p:cNvPicPr>
            <a:picLocks noChangeAspect="1"/>
          </p:cNvPicPr>
          <p:nvPr/>
        </p:nvPicPr>
        <p:blipFill>
          <a:blip r:embed="rId1"/>
          <a:stretch>
            <a:fillRect/>
          </a:stretch>
        </p:blipFill>
        <p:spPr>
          <a:xfrm>
            <a:off x="594360" y="2240280"/>
            <a:ext cx="6035040" cy="3879669"/>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040880" y="2240280"/>
          <a:ext cx="4572000" cy="914400"/>
        </p:xfrm>
        <a:graphic>
          <a:graphicData uri="http://schemas.openxmlformats.org/drawingml/2006/table">
            <a:tbl>
              <a:tblPr/>
              <a:tblGrid>
                <a:gridCol w="2011680"/>
                <a:gridCol w="1280160"/>
                <a:gridCol w="1280160"/>
              </a:tblGrid>
              <a:tr h="45720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2015–19 monthly</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421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Current</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421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Proposal</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4213D"/>
                    </a:solidFill>
                  </a:tcPr>
                </a:tc>
              </a:tr>
              <a:tr h="45720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Average return</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0.73 %</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1.02 %</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45720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Volatility</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2.71 %</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3.05 %</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45720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Worst month</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−8.11 %</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−7.08 %</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45720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Loss above 3 %</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8.3 %</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10.0 %</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bl>
          </a:graphicData>
        </a:graphic>
      </p:graphicFrame>
      <p:sp>
        <p:nvSpPr>
          <p:cNvPr id="8" name="Text 4"/>
          <p:cNvSpPr txBox="1"/>
          <p:nvPr/>
        </p:nvSpPr>
        <p:spPr>
          <a:xfrm>
            <a:off x="7040880" y="4754880"/>
            <a:ext cx="4572000" cy="731520"/>
          </a:xfrm>
          <a:prstGeom prst="rect">
            <a:avLst/>
          </a:prstGeom>
          <a:noFill/>
          <a:ln/>
        </p:spPr>
        <p:txBody>
          <a:bodyPr wrap="square" lIns="0" tIns="0" rIns="0" bIns="0" rtlCol="0" anchor="t"/>
          <a:lstStyle/>
          <a:p>
            <a:pPr indent="0" marL="0">
              <a:buNone/>
            </a:pPr>
            <a:r>
              <a:rPr lang="en-US" sz="1400" dirty="0">
                <a:solidFill>
                  <a:srgbClr val="5A626B"/>
                </a:solidFill>
                <a:latin typeface="Calibri" pitchFamily="34" charset="0"/>
                <a:ea typeface="Calibri" pitchFamily="34" charset="-122"/>
                <a:cs typeface="Calibri" pitchFamily="34" charset="-120"/>
              </a:rPr>
              <a:t>Risk measures disagree. Which one counts is a choice, not a fact.</a:t>
            </a:r>
            <a:endParaRPr lang="en-US" sz="1400" dirty="0"/>
          </a:p>
        </p:txBody>
      </p:sp>
      <p:sp>
        <p:nvSpPr>
          <p:cNvPr id="9" name="Text 5"/>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100" dirty="0">
                <a:solidFill>
                  <a:srgbClr val="5A626B"/>
                </a:solidFill>
                <a:latin typeface="Calibri" pitchFamily="34" charset="0"/>
                <a:ea typeface="Calibri" pitchFamily="34" charset="-122"/>
                <a:cs typeface="Calibri" pitchFamily="34" charset="-120"/>
              </a:rPr>
              <a:t>Source: supplied data 2015–19, canonical run (fig_risk_return)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200" b="1" spc="300" kern="0" dirty="0">
                <a:solidFill>
                  <a:srgbClr val="7FD1C7"/>
                </a:solidFill>
                <a:latin typeface="Calibri" pitchFamily="34" charset="0"/>
                <a:ea typeface="Calibri" pitchFamily="34" charset="-122"/>
                <a:cs typeface="Calibri" pitchFamily="34" charset="-120"/>
              </a:rPr>
              <a:t>HOW IT WORKS</a:t>
            </a:r>
            <a:endParaRPr lang="en-US" sz="12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200" b="1" dirty="0">
                <a:solidFill>
                  <a:srgbClr val="F6F3EC"/>
                </a:solidFill>
                <a:latin typeface="Cambria" pitchFamily="34" charset="0"/>
                <a:ea typeface="Cambria" pitchFamily="34" charset="-122"/>
                <a:cs typeface="Cambria" pitchFamily="34" charset="-120"/>
              </a:rPr>
              <a:t>One qubit per sector, rules built into the circuit</a:t>
            </a:r>
            <a:endParaRPr lang="en-US" sz="3200" dirty="0"/>
          </a:p>
        </p:txBody>
      </p:sp>
      <p:sp>
        <p:nvSpPr>
          <p:cNvPr id="4" name="Shape 2"/>
          <p:cNvSpPr/>
          <p:nvPr/>
        </p:nvSpPr>
        <p:spPr>
          <a:xfrm>
            <a:off x="548640" y="1828800"/>
            <a:ext cx="868680" cy="868680"/>
          </a:xfrm>
          <a:prstGeom prst="ellipse">
            <a:avLst/>
          </a:prstGeom>
          <a:solidFill>
            <a:srgbClr val="7FD1C7"/>
          </a:solidFill>
          <a:ln w="12700">
            <a:solidFill>
              <a:srgbClr val="7FD1C7"/>
            </a:solidFill>
            <a:prstDash val="solid"/>
          </a:ln>
        </p:spPr>
        <p:txBody>
          <a:bodyPr/>
          <a:p/>
        </p:txBody>
      </p:sp>
      <p:sp>
        <p:nvSpPr>
          <p:cNvPr id="5" name="Text 3"/>
          <p:cNvSpPr txBox="1"/>
          <p:nvPr/>
        </p:nvSpPr>
        <p:spPr>
          <a:xfrm>
            <a:off x="548640" y="1828800"/>
            <a:ext cx="868680" cy="86868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NoDur</a:t>
            </a:r>
            <a:endParaRPr lang="en-US" sz="1400" dirty="0"/>
          </a:p>
        </p:txBody>
      </p:sp>
      <p:sp>
        <p:nvSpPr>
          <p:cNvPr id="6" name="Shape 4"/>
          <p:cNvSpPr/>
          <p:nvPr/>
        </p:nvSpPr>
        <p:spPr>
          <a:xfrm>
            <a:off x="1554480" y="1828800"/>
            <a:ext cx="868680" cy="868680"/>
          </a:xfrm>
          <a:prstGeom prst="ellipse">
            <a:avLst/>
          </a:prstGeom>
          <a:solidFill>
            <a:srgbClr val="2A3A5E"/>
          </a:solidFill>
          <a:ln w="12700">
            <a:solidFill>
              <a:srgbClr val="2A3A5E"/>
            </a:solidFill>
            <a:prstDash val="solid"/>
          </a:ln>
        </p:spPr>
        <p:txBody>
          <a:bodyPr/>
          <a:p/>
        </p:txBody>
      </p:sp>
      <p:sp>
        <p:nvSpPr>
          <p:cNvPr id="7" name="Text 5"/>
          <p:cNvSpPr txBox="1"/>
          <p:nvPr/>
        </p:nvSpPr>
        <p:spPr>
          <a:xfrm>
            <a:off x="1554480" y="1828800"/>
            <a:ext cx="868680" cy="868680"/>
          </a:xfrm>
          <a:prstGeom prst="rect">
            <a:avLst/>
          </a:prstGeom>
          <a:noFill/>
          <a:ln/>
        </p:spPr>
        <p:txBody>
          <a:bodyPr wrap="square" lIns="0" tIns="0" rIns="0" bIns="0" rtlCol="0" anchor="ctr"/>
          <a:lstStyle/>
          <a:p>
            <a:pPr algn="ctr" indent="0" marL="0">
              <a:buNone/>
            </a:pPr>
            <a:r>
              <a:rPr lang="en-US" sz="1400" dirty="0">
                <a:solidFill>
                  <a:srgbClr val="BFC7D6"/>
                </a:solidFill>
                <a:latin typeface="Calibri" pitchFamily="34" charset="0"/>
                <a:ea typeface="Calibri" pitchFamily="34" charset="-122"/>
                <a:cs typeface="Calibri" pitchFamily="34" charset="-120"/>
              </a:rPr>
              <a:t>Manuf</a:t>
            </a:r>
            <a:endParaRPr lang="en-US" sz="1400" dirty="0"/>
          </a:p>
        </p:txBody>
      </p:sp>
      <p:sp>
        <p:nvSpPr>
          <p:cNvPr id="8" name="Shape 6"/>
          <p:cNvSpPr/>
          <p:nvPr/>
        </p:nvSpPr>
        <p:spPr>
          <a:xfrm>
            <a:off x="2560320" y="1828800"/>
            <a:ext cx="868680" cy="868680"/>
          </a:xfrm>
          <a:prstGeom prst="ellipse">
            <a:avLst/>
          </a:prstGeom>
          <a:solidFill>
            <a:srgbClr val="2A3A5E"/>
          </a:solidFill>
          <a:ln w="12700">
            <a:solidFill>
              <a:srgbClr val="2A3A5E"/>
            </a:solidFill>
            <a:prstDash val="solid"/>
          </a:ln>
        </p:spPr>
        <p:txBody>
          <a:bodyPr/>
          <a:p/>
        </p:txBody>
      </p:sp>
      <p:sp>
        <p:nvSpPr>
          <p:cNvPr id="9" name="Text 7"/>
          <p:cNvSpPr txBox="1"/>
          <p:nvPr/>
        </p:nvSpPr>
        <p:spPr>
          <a:xfrm>
            <a:off x="2560320" y="1828800"/>
            <a:ext cx="868680" cy="868680"/>
          </a:xfrm>
          <a:prstGeom prst="rect">
            <a:avLst/>
          </a:prstGeom>
          <a:noFill/>
          <a:ln/>
        </p:spPr>
        <p:txBody>
          <a:bodyPr wrap="square" lIns="0" tIns="0" rIns="0" bIns="0" rtlCol="0" anchor="ctr"/>
          <a:lstStyle/>
          <a:p>
            <a:pPr algn="ctr" indent="0" marL="0">
              <a:buNone/>
            </a:pPr>
            <a:r>
              <a:rPr lang="en-US" sz="1400" dirty="0">
                <a:solidFill>
                  <a:srgbClr val="BFC7D6"/>
                </a:solidFill>
                <a:latin typeface="Calibri" pitchFamily="34" charset="0"/>
                <a:ea typeface="Calibri" pitchFamily="34" charset="-122"/>
                <a:cs typeface="Calibri" pitchFamily="34" charset="-120"/>
              </a:rPr>
              <a:t>Enrgy</a:t>
            </a:r>
            <a:endParaRPr lang="en-US" sz="1400" dirty="0"/>
          </a:p>
        </p:txBody>
      </p:sp>
      <p:sp>
        <p:nvSpPr>
          <p:cNvPr id="10" name="Shape 8"/>
          <p:cNvSpPr/>
          <p:nvPr/>
        </p:nvSpPr>
        <p:spPr>
          <a:xfrm>
            <a:off x="3566160" y="1828800"/>
            <a:ext cx="868680" cy="868680"/>
          </a:xfrm>
          <a:prstGeom prst="ellipse">
            <a:avLst/>
          </a:prstGeom>
          <a:solidFill>
            <a:srgbClr val="2A3A5E"/>
          </a:solidFill>
          <a:ln w="12700">
            <a:solidFill>
              <a:srgbClr val="2A3A5E"/>
            </a:solidFill>
            <a:prstDash val="solid"/>
          </a:ln>
        </p:spPr>
        <p:txBody>
          <a:bodyPr/>
          <a:p/>
        </p:txBody>
      </p:sp>
      <p:sp>
        <p:nvSpPr>
          <p:cNvPr id="11" name="Text 9"/>
          <p:cNvSpPr txBox="1"/>
          <p:nvPr/>
        </p:nvSpPr>
        <p:spPr>
          <a:xfrm>
            <a:off x="3566160" y="1828800"/>
            <a:ext cx="868680" cy="868680"/>
          </a:xfrm>
          <a:prstGeom prst="rect">
            <a:avLst/>
          </a:prstGeom>
          <a:noFill/>
          <a:ln/>
        </p:spPr>
        <p:txBody>
          <a:bodyPr wrap="square" lIns="0" tIns="0" rIns="0" bIns="0" rtlCol="0" anchor="ctr"/>
          <a:lstStyle/>
          <a:p>
            <a:pPr algn="ctr" indent="0" marL="0">
              <a:buNone/>
            </a:pPr>
            <a:r>
              <a:rPr lang="en-US" sz="1400" dirty="0">
                <a:solidFill>
                  <a:srgbClr val="BFC7D6"/>
                </a:solidFill>
                <a:latin typeface="Calibri" pitchFamily="34" charset="0"/>
                <a:ea typeface="Calibri" pitchFamily="34" charset="-122"/>
                <a:cs typeface="Calibri" pitchFamily="34" charset="-120"/>
              </a:rPr>
              <a:t>HiTec</a:t>
            </a:r>
            <a:endParaRPr lang="en-US" sz="1400" dirty="0"/>
          </a:p>
        </p:txBody>
      </p:sp>
      <p:sp>
        <p:nvSpPr>
          <p:cNvPr id="12" name="Shape 10"/>
          <p:cNvSpPr/>
          <p:nvPr/>
        </p:nvSpPr>
        <p:spPr>
          <a:xfrm>
            <a:off x="4572000" y="1828800"/>
            <a:ext cx="868680" cy="868680"/>
          </a:xfrm>
          <a:prstGeom prst="ellipse">
            <a:avLst/>
          </a:prstGeom>
          <a:solidFill>
            <a:srgbClr val="7FD1C7"/>
          </a:solidFill>
          <a:ln w="12700">
            <a:solidFill>
              <a:srgbClr val="7FD1C7"/>
            </a:solidFill>
            <a:prstDash val="solid"/>
          </a:ln>
        </p:spPr>
        <p:txBody>
          <a:bodyPr/>
          <a:p/>
        </p:txBody>
      </p:sp>
      <p:sp>
        <p:nvSpPr>
          <p:cNvPr id="13" name="Text 11"/>
          <p:cNvSpPr txBox="1"/>
          <p:nvPr/>
        </p:nvSpPr>
        <p:spPr>
          <a:xfrm>
            <a:off x="4572000" y="1828800"/>
            <a:ext cx="868680" cy="86868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Hlth</a:t>
            </a:r>
            <a:endParaRPr lang="en-US" sz="1400" dirty="0"/>
          </a:p>
        </p:txBody>
      </p:sp>
      <p:sp>
        <p:nvSpPr>
          <p:cNvPr id="14" name="Shape 12"/>
          <p:cNvSpPr/>
          <p:nvPr/>
        </p:nvSpPr>
        <p:spPr>
          <a:xfrm>
            <a:off x="5577840" y="1828800"/>
            <a:ext cx="868680" cy="868680"/>
          </a:xfrm>
          <a:prstGeom prst="ellipse">
            <a:avLst/>
          </a:prstGeom>
          <a:solidFill>
            <a:srgbClr val="7FD1C7"/>
          </a:solidFill>
          <a:ln w="12700">
            <a:solidFill>
              <a:srgbClr val="7FD1C7"/>
            </a:solidFill>
            <a:prstDash val="solid"/>
          </a:ln>
        </p:spPr>
        <p:txBody>
          <a:bodyPr/>
          <a:p/>
        </p:txBody>
      </p:sp>
      <p:sp>
        <p:nvSpPr>
          <p:cNvPr id="15" name="Text 13"/>
          <p:cNvSpPr txBox="1"/>
          <p:nvPr/>
        </p:nvSpPr>
        <p:spPr>
          <a:xfrm>
            <a:off x="5577840" y="1828800"/>
            <a:ext cx="868680" cy="86868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Utils</a:t>
            </a:r>
            <a:endParaRPr lang="en-US" sz="1400" dirty="0"/>
          </a:p>
        </p:txBody>
      </p:sp>
      <p:sp>
        <p:nvSpPr>
          <p:cNvPr id="16" name="Text 14"/>
          <p:cNvSpPr txBox="1"/>
          <p:nvPr/>
        </p:nvSpPr>
        <p:spPr>
          <a:xfrm>
            <a:off x="6766560" y="1965960"/>
            <a:ext cx="4846320" cy="640080"/>
          </a:xfrm>
          <a:prstGeom prst="rect">
            <a:avLst/>
          </a:prstGeom>
          <a:noFill/>
          <a:ln/>
        </p:spPr>
        <p:txBody>
          <a:bodyPr wrap="square" lIns="0" tIns="0" rIns="0" bIns="0" rtlCol="0" anchor="t"/>
          <a:lstStyle/>
          <a:p>
            <a:pPr indent="0" marL="0">
              <a:buNone/>
            </a:pPr>
            <a:r>
              <a:rPr lang="en-US" sz="1600" dirty="0">
                <a:solidFill>
                  <a:srgbClr val="D9DEE8"/>
                </a:solidFill>
                <a:latin typeface="Calibri" pitchFamily="34" charset="0"/>
                <a:ea typeface="Calibri" pitchFamily="34" charset="-122"/>
                <a:cs typeface="Calibri" pitchFamily="34" charset="-120"/>
              </a:rPr>
              <a:t>One qubit per sector. Light = held. This is today’s holding.</a:t>
            </a:r>
            <a:endParaRPr lang="en-US" sz="1600" dirty="0"/>
          </a:p>
        </p:txBody>
      </p:sp>
      <p:sp>
        <p:nvSpPr>
          <p:cNvPr id="17" name="Shape 15"/>
          <p:cNvSpPr/>
          <p:nvPr/>
        </p:nvSpPr>
        <p:spPr>
          <a:xfrm>
            <a:off x="548640" y="3200400"/>
            <a:ext cx="2651760" cy="2011680"/>
          </a:xfrm>
          <a:prstGeom prst="roundRect">
            <a:avLst>
              <a:gd name="adj" fmla="val 3636"/>
            </a:avLst>
          </a:prstGeom>
          <a:solidFill>
            <a:srgbClr val="1E2E52"/>
          </a:solidFill>
          <a:ln w="9525">
            <a:solidFill>
              <a:srgbClr val="1E2E52"/>
            </a:solidFill>
            <a:prstDash val="solid"/>
          </a:ln>
        </p:spPr>
        <p:txBody>
          <a:bodyPr/>
          <a:p/>
        </p:txBody>
      </p:sp>
      <p:sp>
        <p:nvSpPr>
          <p:cNvPr id="18" name="Text 16"/>
          <p:cNvSpPr txBox="1"/>
          <p:nvPr/>
        </p:nvSpPr>
        <p:spPr>
          <a:xfrm>
            <a:off x="731520" y="3337560"/>
            <a:ext cx="2286000" cy="320040"/>
          </a:xfrm>
          <a:prstGeom prst="rect">
            <a:avLst/>
          </a:prstGeom>
          <a:noFill/>
          <a:ln/>
        </p:spPr>
        <p:txBody>
          <a:bodyPr wrap="square" lIns="0" tIns="0" rIns="0" bIns="0" rtlCol="0" anchor="t"/>
          <a:lstStyle/>
          <a:p>
            <a:pPr indent="0" marL="0">
              <a:buNone/>
            </a:pPr>
            <a:r>
              <a:rPr lang="en-US" sz="1200" b="1" dirty="0">
                <a:solidFill>
                  <a:srgbClr val="7FD1C7"/>
                </a:solidFill>
                <a:latin typeface="Calibri" pitchFamily="34" charset="0"/>
                <a:ea typeface="Calibri" pitchFamily="34" charset="-122"/>
                <a:cs typeface="Calibri" pitchFamily="34" charset="-120"/>
              </a:rPr>
              <a:t>STEP 1 · START</a:t>
            </a:r>
            <a:endParaRPr lang="en-US" sz="1200" dirty="0"/>
          </a:p>
        </p:txBody>
      </p:sp>
      <p:sp>
        <p:nvSpPr>
          <p:cNvPr id="19" name="Text 17"/>
          <p:cNvSpPr txBox="1"/>
          <p:nvPr/>
        </p:nvSpPr>
        <p:spPr>
          <a:xfrm>
            <a:off x="731520" y="3749040"/>
            <a:ext cx="2286000" cy="1371600"/>
          </a:xfrm>
          <a:prstGeom prst="rect">
            <a:avLst/>
          </a:prstGeom>
          <a:noFill/>
          <a:ln/>
        </p:spPr>
        <p:txBody>
          <a:bodyPr wrap="square" lIns="0" tIns="0" rIns="0" bIns="0" rtlCol="0" anchor="t"/>
          <a:lstStyle/>
          <a:p>
            <a:pPr indent="0" marL="0">
              <a:buNone/>
            </a:pPr>
            <a:r>
              <a:rPr lang="en-US" sz="1700" dirty="0">
                <a:solidFill>
                  <a:srgbClr val="F6F3EC"/>
                </a:solidFill>
                <a:latin typeface="Calibri" pitchFamily="34" charset="0"/>
                <a:ea typeface="Calibri" pitchFamily="34" charset="-122"/>
                <a:cs typeface="Calibri" pitchFamily="34" charset="-120"/>
              </a:rPr>
              <a:t>Spread evenly over all legal portfolios</a:t>
            </a:r>
            <a:endParaRPr lang="en-US" sz="1700" dirty="0"/>
          </a:p>
        </p:txBody>
      </p:sp>
      <p:sp>
        <p:nvSpPr>
          <p:cNvPr id="20" name="Shape 18"/>
          <p:cNvSpPr/>
          <p:nvPr/>
        </p:nvSpPr>
        <p:spPr>
          <a:xfrm>
            <a:off x="3364992" y="3200400"/>
            <a:ext cx="2651760" cy="2011680"/>
          </a:xfrm>
          <a:prstGeom prst="roundRect">
            <a:avLst>
              <a:gd name="adj" fmla="val 3636"/>
            </a:avLst>
          </a:prstGeom>
          <a:solidFill>
            <a:srgbClr val="1E2E52"/>
          </a:solidFill>
          <a:ln w="9525">
            <a:solidFill>
              <a:srgbClr val="1E2E52"/>
            </a:solidFill>
            <a:prstDash val="solid"/>
          </a:ln>
        </p:spPr>
        <p:txBody>
          <a:bodyPr/>
          <a:p/>
        </p:txBody>
      </p:sp>
      <p:sp>
        <p:nvSpPr>
          <p:cNvPr id="21" name="Text 19"/>
          <p:cNvSpPr txBox="1"/>
          <p:nvPr/>
        </p:nvSpPr>
        <p:spPr>
          <a:xfrm>
            <a:off x="3547872" y="3337560"/>
            <a:ext cx="2286000" cy="320040"/>
          </a:xfrm>
          <a:prstGeom prst="rect">
            <a:avLst/>
          </a:prstGeom>
          <a:noFill/>
          <a:ln/>
        </p:spPr>
        <p:txBody>
          <a:bodyPr wrap="square" lIns="0" tIns="0" rIns="0" bIns="0" rtlCol="0" anchor="t"/>
          <a:lstStyle/>
          <a:p>
            <a:pPr indent="0" marL="0">
              <a:buNone/>
            </a:pPr>
            <a:r>
              <a:rPr lang="en-US" sz="1200" b="1" dirty="0">
                <a:solidFill>
                  <a:srgbClr val="7FD1C7"/>
                </a:solidFill>
                <a:latin typeface="Calibri" pitchFamily="34" charset="0"/>
                <a:ea typeface="Calibri" pitchFamily="34" charset="-122"/>
                <a:cs typeface="Calibri" pitchFamily="34" charset="-120"/>
              </a:rPr>
              <a:t>STEP 2 · COST</a:t>
            </a:r>
            <a:endParaRPr lang="en-US" sz="1200" dirty="0"/>
          </a:p>
        </p:txBody>
      </p:sp>
      <p:sp>
        <p:nvSpPr>
          <p:cNvPr id="22" name="Text 20"/>
          <p:cNvSpPr txBox="1"/>
          <p:nvPr/>
        </p:nvSpPr>
        <p:spPr>
          <a:xfrm>
            <a:off x="3547872" y="3749040"/>
            <a:ext cx="2286000" cy="1371600"/>
          </a:xfrm>
          <a:prstGeom prst="rect">
            <a:avLst/>
          </a:prstGeom>
          <a:noFill/>
          <a:ln/>
        </p:spPr>
        <p:txBody>
          <a:bodyPr wrap="square" lIns="0" tIns="0" rIns="0" bIns="0" rtlCol="0" anchor="t"/>
          <a:lstStyle/>
          <a:p>
            <a:pPr indent="0" marL="0">
              <a:buNone/>
            </a:pPr>
            <a:r>
              <a:rPr lang="en-US" sz="1700" dirty="0">
                <a:solidFill>
                  <a:srgbClr val="F6F3EC"/>
                </a:solidFill>
                <a:latin typeface="Calibri" pitchFamily="34" charset="0"/>
                <a:ea typeface="Calibri" pitchFamily="34" charset="-122"/>
                <a:cs typeface="Calibri" pitchFamily="34" charset="-120"/>
              </a:rPr>
              <a:t>Tilt: cheap portfolios become more likely</a:t>
            </a:r>
            <a:endParaRPr lang="en-US" sz="1700" dirty="0"/>
          </a:p>
        </p:txBody>
      </p:sp>
      <p:sp>
        <p:nvSpPr>
          <p:cNvPr id="23" name="Shape 21"/>
          <p:cNvSpPr/>
          <p:nvPr/>
        </p:nvSpPr>
        <p:spPr>
          <a:xfrm>
            <a:off x="6181344" y="3200400"/>
            <a:ext cx="2651760" cy="2011680"/>
          </a:xfrm>
          <a:prstGeom prst="roundRect">
            <a:avLst>
              <a:gd name="adj" fmla="val 3636"/>
            </a:avLst>
          </a:prstGeom>
          <a:solidFill>
            <a:srgbClr val="1E2E52"/>
          </a:solidFill>
          <a:ln w="9525">
            <a:solidFill>
              <a:srgbClr val="1E2E52"/>
            </a:solidFill>
            <a:prstDash val="solid"/>
          </a:ln>
        </p:spPr>
        <p:txBody>
          <a:bodyPr/>
          <a:p/>
        </p:txBody>
      </p:sp>
      <p:sp>
        <p:nvSpPr>
          <p:cNvPr id="24" name="Text 22"/>
          <p:cNvSpPr txBox="1"/>
          <p:nvPr/>
        </p:nvSpPr>
        <p:spPr>
          <a:xfrm>
            <a:off x="6364224" y="3337560"/>
            <a:ext cx="2286000" cy="320040"/>
          </a:xfrm>
          <a:prstGeom prst="rect">
            <a:avLst/>
          </a:prstGeom>
          <a:noFill/>
          <a:ln/>
        </p:spPr>
        <p:txBody>
          <a:bodyPr wrap="square" lIns="0" tIns="0" rIns="0" bIns="0" rtlCol="0" anchor="t"/>
          <a:lstStyle/>
          <a:p>
            <a:pPr indent="0" marL="0">
              <a:buNone/>
            </a:pPr>
            <a:r>
              <a:rPr lang="en-US" sz="1200" b="1" dirty="0">
                <a:solidFill>
                  <a:srgbClr val="7FD1C7"/>
                </a:solidFill>
                <a:latin typeface="Calibri" pitchFamily="34" charset="0"/>
                <a:ea typeface="Calibri" pitchFamily="34" charset="-122"/>
                <a:cs typeface="Calibri" pitchFamily="34" charset="-120"/>
              </a:rPr>
              <a:t>STEP 3 · MIX</a:t>
            </a:r>
            <a:endParaRPr lang="en-US" sz="1200" dirty="0"/>
          </a:p>
        </p:txBody>
      </p:sp>
      <p:sp>
        <p:nvSpPr>
          <p:cNvPr id="25" name="Text 23"/>
          <p:cNvSpPr txBox="1"/>
          <p:nvPr/>
        </p:nvSpPr>
        <p:spPr>
          <a:xfrm>
            <a:off x="6364224" y="3749040"/>
            <a:ext cx="2286000" cy="1371600"/>
          </a:xfrm>
          <a:prstGeom prst="rect">
            <a:avLst/>
          </a:prstGeom>
          <a:noFill/>
          <a:ln/>
        </p:spPr>
        <p:txBody>
          <a:bodyPr wrap="square" lIns="0" tIns="0" rIns="0" bIns="0" rtlCol="0" anchor="t"/>
          <a:lstStyle/>
          <a:p>
            <a:pPr indent="0" marL="0">
              <a:buNone/>
            </a:pPr>
            <a:r>
              <a:rPr lang="en-US" sz="1700" dirty="0">
                <a:solidFill>
                  <a:srgbClr val="F6F3EC"/>
                </a:solidFill>
                <a:latin typeface="Calibri" pitchFamily="34" charset="0"/>
                <a:ea typeface="Calibri" pitchFamily="34" charset="-122"/>
                <a:cs typeface="Calibri" pitchFamily="34" charset="-120"/>
              </a:rPr>
              <a:t>Stir: let the cloud move to neighbours</a:t>
            </a:r>
            <a:endParaRPr lang="en-US" sz="1700" dirty="0"/>
          </a:p>
        </p:txBody>
      </p:sp>
      <p:sp>
        <p:nvSpPr>
          <p:cNvPr id="26" name="Shape 24"/>
          <p:cNvSpPr/>
          <p:nvPr/>
        </p:nvSpPr>
        <p:spPr>
          <a:xfrm>
            <a:off x="8997696" y="3200400"/>
            <a:ext cx="2651760" cy="2011680"/>
          </a:xfrm>
          <a:prstGeom prst="roundRect">
            <a:avLst>
              <a:gd name="adj" fmla="val 3636"/>
            </a:avLst>
          </a:prstGeom>
          <a:solidFill>
            <a:srgbClr val="1E2E52"/>
          </a:solidFill>
          <a:ln w="9525">
            <a:solidFill>
              <a:srgbClr val="1E2E52"/>
            </a:solidFill>
            <a:prstDash val="solid"/>
          </a:ln>
        </p:spPr>
        <p:txBody>
          <a:bodyPr/>
          <a:p/>
        </p:txBody>
      </p:sp>
      <p:sp>
        <p:nvSpPr>
          <p:cNvPr id="27" name="Text 25"/>
          <p:cNvSpPr txBox="1"/>
          <p:nvPr/>
        </p:nvSpPr>
        <p:spPr>
          <a:xfrm>
            <a:off x="9180576" y="3337560"/>
            <a:ext cx="2286000" cy="320040"/>
          </a:xfrm>
          <a:prstGeom prst="rect">
            <a:avLst/>
          </a:prstGeom>
          <a:noFill/>
          <a:ln/>
        </p:spPr>
        <p:txBody>
          <a:bodyPr wrap="square" lIns="0" tIns="0" rIns="0" bIns="0" rtlCol="0" anchor="t"/>
          <a:lstStyle/>
          <a:p>
            <a:pPr indent="0" marL="0">
              <a:buNone/>
            </a:pPr>
            <a:r>
              <a:rPr lang="en-US" sz="1200" b="1" dirty="0">
                <a:solidFill>
                  <a:srgbClr val="F2B77B"/>
                </a:solidFill>
                <a:latin typeface="Calibri" pitchFamily="34" charset="0"/>
                <a:ea typeface="Calibri" pitchFamily="34" charset="-122"/>
                <a:cs typeface="Calibri" pitchFamily="34" charset="-120"/>
              </a:rPr>
              <a:t>REPEAT · LEARN</a:t>
            </a:r>
            <a:endParaRPr lang="en-US" sz="1200" dirty="0"/>
          </a:p>
        </p:txBody>
      </p:sp>
      <p:sp>
        <p:nvSpPr>
          <p:cNvPr id="28" name="Text 26"/>
          <p:cNvSpPr txBox="1"/>
          <p:nvPr/>
        </p:nvSpPr>
        <p:spPr>
          <a:xfrm>
            <a:off x="9180576" y="3749040"/>
            <a:ext cx="2286000" cy="1371600"/>
          </a:xfrm>
          <a:prstGeom prst="rect">
            <a:avLst/>
          </a:prstGeom>
          <a:noFill/>
          <a:ln/>
        </p:spPr>
        <p:txBody>
          <a:bodyPr wrap="square" lIns="0" tIns="0" rIns="0" bIns="0" rtlCol="0" anchor="t"/>
          <a:lstStyle/>
          <a:p>
            <a:pPr indent="0" marL="0">
              <a:buNone/>
            </a:pPr>
            <a:r>
              <a:rPr lang="en-US" sz="1700" dirty="0">
                <a:solidFill>
                  <a:srgbClr val="F6F3EC"/>
                </a:solidFill>
                <a:latin typeface="Calibri" pitchFamily="34" charset="0"/>
                <a:ea typeface="Calibri" pitchFamily="34" charset="-122"/>
                <a:cs typeface="Calibri" pitchFamily="34" charset="-120"/>
              </a:rPr>
              <a:t>A normal computer tunes two knobs, tries again, then we measure</a:t>
            </a:r>
            <a:endParaRPr lang="en-US" sz="1700" dirty="0"/>
          </a:p>
        </p:txBody>
      </p:sp>
      <p:sp>
        <p:nvSpPr>
          <p:cNvPr id="29" name="Text 27"/>
          <p:cNvSpPr txBox="1"/>
          <p:nvPr/>
        </p:nvSpPr>
        <p:spPr>
          <a:xfrm>
            <a:off x="548640" y="5486400"/>
            <a:ext cx="11064240" cy="457200"/>
          </a:xfrm>
          <a:prstGeom prst="rect">
            <a:avLst/>
          </a:prstGeom>
          <a:noFill/>
          <a:ln/>
        </p:spPr>
        <p:txBody>
          <a:bodyPr wrap="square" lIns="0" tIns="0" rIns="0" bIns="0" rtlCol="0" anchor="t"/>
          <a:lstStyle/>
          <a:p>
            <a:pPr indent="0" marL="0">
              <a:buNone/>
            </a:pPr>
            <a:r>
              <a:rPr lang="en-US" sz="1600" dirty="0">
                <a:solidFill>
                  <a:srgbClr val="D9DEE8"/>
                </a:solidFill>
                <a:latin typeface="Calibri" pitchFamily="34" charset="0"/>
                <a:ea typeface="Calibri" pitchFamily="34" charset="-122"/>
                <a:cs typeface="Calibri" pitchFamily="34" charset="-120"/>
              </a:rPr>
              <a:t>This is QAOA. We run it on a laptop simulator, many times with different seeds.</a:t>
            </a:r>
            <a:endParaRPr lang="en-US" sz="1600" dirty="0"/>
          </a:p>
        </p:txBody>
      </p:sp>
      <p:sp>
        <p:nvSpPr>
          <p:cNvPr id="30" name="Text 28"/>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100" dirty="0">
                <a:solidFill>
                  <a:srgbClr val="BFC7D6"/>
                </a:solidFill>
                <a:latin typeface="Calibri" pitchFamily="34" charset="0"/>
                <a:ea typeface="Calibri" pitchFamily="34" charset="-122"/>
                <a:cs typeface="Calibri" pitchFamily="34" charset="-120"/>
              </a:rPr>
              <a:t>Quantum is one component. The loss rule and the verdict stay classical.</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200" b="1" spc="300" kern="0" dirty="0">
                <a:solidFill>
                  <a:srgbClr val="17756F"/>
                </a:solidFill>
                <a:latin typeface="Calibri" pitchFamily="34" charset="0"/>
                <a:ea typeface="Calibri" pitchFamily="34" charset="-122"/>
                <a:cs typeface="Calibri" pitchFamily="34" charset="-120"/>
              </a:rPr>
              <a:t>QUANTUM VS QUANTUM</a:t>
            </a:r>
            <a:endParaRPr lang="en-US" sz="12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200" b="1" dirty="0">
                <a:solidFill>
                  <a:srgbClr val="14213D"/>
                </a:solidFill>
                <a:latin typeface="Cambria" pitchFamily="34" charset="0"/>
                <a:ea typeface="Cambria" pitchFamily="34" charset="-122"/>
                <a:cs typeface="Cambria" pitchFamily="34" charset="-120"/>
              </a:rPr>
              <a:t>Fence around the road, or no road at all</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5212080" cy="914400"/>
        </p:xfrm>
        <a:graphic>
          <a:graphicData uri="http://schemas.openxmlformats.org/drawingml/2006/table">
            <a:tbl>
              <a:tblPr/>
              <a:tblGrid>
                <a:gridCol w="1280160"/>
                <a:gridCol w="1920240"/>
                <a:gridCol w="2011680"/>
              </a:tblGrid>
              <a:tr h="502920">
                <a:tc>
                  <a:txBody>
                    <a:bodyPr/>
                    <a:lstStyle/>
                    <a:p>
                      <a:pPr algn="l" indent="0" marL="0">
                        <a:buNone/>
                      </a:pP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Organiser’s penalty QAOA</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Our rule-preserving QAOA</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4213D"/>
                    </a:solidFill>
                  </a:tcPr>
                </a:tc>
              </a:tr>
              <a:tr h="50292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Start</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All 64 settings</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Only the 20 legal ones</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50292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Stirring</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Flips single switches</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Swaps on and off, count stays 3</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50292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3 holdings</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Big punishment in the cost</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Cannot be broken</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50292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Illegal samples</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Yes, 2–68 %</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None</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bl>
          </a:graphicData>
        </a:graphic>
      </p:graphicFrame>
      <p:sp>
        <p:nvSpPr>
          <p:cNvPr id="5" name="Text 2"/>
          <p:cNvSpPr txBox="1"/>
          <p:nvPr/>
        </p:nvSpPr>
        <p:spPr>
          <a:xfrm>
            <a:off x="548640" y="4389120"/>
            <a:ext cx="5212080" cy="822960"/>
          </a:xfrm>
          <a:prstGeom prst="rect">
            <a:avLst/>
          </a:prstGeom>
          <a:noFill/>
          <a:ln/>
        </p:spPr>
        <p:txBody>
          <a:bodyPr wrap="square" lIns="0" tIns="0" rIns="0" bIns="0" rtlCol="0" anchor="t"/>
          <a:lstStyle/>
          <a:p>
            <a:pPr indent="0" marL="0">
              <a:buNone/>
            </a:pPr>
            <a:r>
              <a:rPr lang="en-US" sz="1600" b="1" dirty="0">
                <a:solidFill>
                  <a:srgbClr val="B4561A"/>
                </a:solidFill>
                <a:latin typeface="Calibri" pitchFamily="34" charset="0"/>
                <a:ea typeface="Calibri" pitchFamily="34" charset="-122"/>
                <a:cs typeface="Calibri" pitchFamily="34" charset="-120"/>
              </a:rPr>
              <a:t>Penalty: </a:t>
            </a:r>
            <a:pPr indent="0" marL="0">
              <a:buNone/>
            </a:pPr>
            <a:r>
              <a:rPr lang="en-US" sz="1600" dirty="0">
                <a:solidFill>
                  <a:srgbClr val="B4561A"/>
                </a:solidFill>
                <a:latin typeface="Calibri" pitchFamily="34" charset="0"/>
                <a:ea typeface="Calibri" pitchFamily="34" charset="-122"/>
                <a:cs typeface="Calibri" pitchFamily="34" charset="-120"/>
              </a:rPr>
              <a:t>a fence around a field, and the sheep still wander into the road.</a:t>
            </a:r>
            <a:endParaRPr lang="en-US" sz="1600" dirty="0"/>
          </a:p>
        </p:txBody>
      </p:sp>
      <p:sp>
        <p:nvSpPr>
          <p:cNvPr id="6" name="Text 3"/>
          <p:cNvSpPr txBox="1"/>
          <p:nvPr/>
        </p:nvSpPr>
        <p:spPr>
          <a:xfrm>
            <a:off x="548640" y="5303520"/>
            <a:ext cx="5212080" cy="548640"/>
          </a:xfrm>
          <a:prstGeom prst="rect">
            <a:avLst/>
          </a:prstGeom>
          <a:noFill/>
          <a:ln/>
        </p:spPr>
        <p:txBody>
          <a:bodyPr wrap="square" lIns="0" tIns="0" rIns="0" bIns="0" rtlCol="0" anchor="t"/>
          <a:lstStyle/>
          <a:p>
            <a:pPr indent="0" marL="0">
              <a:buNone/>
            </a:pPr>
            <a:r>
              <a:rPr lang="en-US" sz="1600" b="1" dirty="0">
                <a:solidFill>
                  <a:srgbClr val="17756F"/>
                </a:solidFill>
                <a:latin typeface="Calibri" pitchFamily="34" charset="0"/>
                <a:ea typeface="Calibri" pitchFamily="34" charset="-122"/>
                <a:cs typeface="Calibri" pitchFamily="34" charset="-120"/>
              </a:rPr>
              <a:t>Ours: </a:t>
            </a:r>
            <a:pPr indent="0" marL="0">
              <a:buNone/>
            </a:pPr>
            <a:r>
              <a:rPr lang="en-US" sz="1600" dirty="0">
                <a:solidFill>
                  <a:srgbClr val="17756F"/>
                </a:solidFill>
                <a:latin typeface="Calibri" pitchFamily="34" charset="0"/>
                <a:ea typeface="Calibri" pitchFamily="34" charset="-122"/>
                <a:cs typeface="Calibri" pitchFamily="34" charset="-120"/>
              </a:rPr>
              <a:t>a field where the road does not exist.</a:t>
            </a:r>
            <a:endParaRPr lang="en-US" sz="1600" dirty="0"/>
          </a:p>
        </p:txBody>
      </p:sp>
      <p:sp>
        <p:nvSpPr>
          <p:cNvPr id="7" name="Shape 4"/>
          <p:cNvSpPr/>
          <p:nvPr/>
        </p:nvSpPr>
        <p:spPr>
          <a:xfrm>
            <a:off x="6263640" y="1554480"/>
            <a:ext cx="5486400" cy="4407408"/>
          </a:xfrm>
          <a:prstGeom prst="rect">
            <a:avLst/>
          </a:prstGeom>
          <a:solidFill>
            <a:srgbClr val="FFFFFF"/>
          </a:solidFill>
          <a:ln w="9525">
            <a:solidFill>
              <a:srgbClr val="D5DAE0"/>
            </a:solidFill>
            <a:prstDash val="solid"/>
          </a:ln>
        </p:spPr>
        <p:txBody>
          <a:bodyPr/>
          <a:p/>
        </p:txBody>
      </p:sp>
      <p:pic>
        <p:nvPicPr>
          <p:cNvPr id="8" name="Image 0" descr="Quantum circuits of the penalty QAOA and the Dicke plus XY QAOA">    </p:cNvPr>
          <p:cNvPicPr>
            <a:picLocks noChangeAspect="1"/>
          </p:cNvPicPr>
          <p:nvPr/>
        </p:nvPicPr>
        <p:blipFill>
          <a:blip r:embed="rId1"/>
          <a:stretch>
            <a:fillRect/>
          </a:stretch>
        </p:blipFill>
        <p:spPr>
          <a:xfrm>
            <a:off x="6309360" y="1600200"/>
            <a:ext cx="5394960" cy="4315968"/>
          </a:xfrm>
          <a:prstGeom prst="rect">
            <a:avLst/>
          </a:prstGeom>
        </p:spPr>
      </p:pic>
      <p:sp>
        <p:nvSpPr>
          <p:cNvPr id="9" name="Text 5"/>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100" dirty="0">
                <a:solidFill>
                  <a:srgbClr val="5A626B"/>
                </a:solidFill>
                <a:latin typeface="Calibri" pitchFamily="34" charset="0"/>
                <a:ea typeface="Calibri" pitchFamily="34" charset="-122"/>
                <a:cs typeface="Calibri" pitchFamily="34" charset="-120"/>
              </a:rPr>
              <a:t>Quantum against quantum. Our circuit is deeper but never leaves the legal set. Exact enumeration is only the answer key.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200" b="1" spc="300" kern="0" dirty="0">
                <a:solidFill>
                  <a:srgbClr val="17756F"/>
                </a:solidFill>
                <a:latin typeface="Calibri" pitchFamily="34" charset="0"/>
                <a:ea typeface="Calibri" pitchFamily="34" charset="-122"/>
                <a:cs typeface="Calibri" pitchFamily="34" charset="-120"/>
              </a:rPr>
              <a:t>RESULTS · CANONICAL RUN</a:t>
            </a:r>
            <a:endParaRPr lang="en-US" sz="12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200" b="1" dirty="0">
                <a:solidFill>
                  <a:srgbClr val="14213D"/>
                </a:solidFill>
                <a:latin typeface="Cambria" pitchFamily="34" charset="0"/>
                <a:ea typeface="Cambria" pitchFamily="34" charset="-122"/>
                <a:cs typeface="Cambria" pitchFamily="34" charset="-120"/>
              </a:rPr>
              <a:t>Chance of sampling the exact best portfolio</a:t>
            </a:r>
            <a:endParaRPr lang="en-US" sz="3200" dirty="0"/>
          </a:p>
        </p:txBody>
      </p:sp>
      <p:sp>
        <p:nvSpPr>
          <p:cNvPr id="4" name="Shape 2"/>
          <p:cNvSpPr/>
          <p:nvPr/>
        </p:nvSpPr>
        <p:spPr>
          <a:xfrm>
            <a:off x="548640" y="1554480"/>
            <a:ext cx="7406640" cy="4053840"/>
          </a:xfrm>
          <a:prstGeom prst="rect">
            <a:avLst/>
          </a:prstGeom>
          <a:solidFill>
            <a:srgbClr val="FFFFFF"/>
          </a:solidFill>
          <a:ln w="9525">
            <a:solidFill>
              <a:srgbClr val="D5DAE0"/>
            </a:solidFill>
            <a:prstDash val="solid"/>
          </a:ln>
        </p:spPr>
        <p:txBody>
          <a:bodyPr/>
          <a:p/>
        </p:txBody>
      </p:sp>
      <p:pic>
        <p:nvPicPr>
          <p:cNvPr id="5" name="Image 0" descr="Median probability of the best portfolio for six QAOA variants and three profiles, with min-max bars">    </p:cNvPr>
          <p:cNvPicPr>
            <a:picLocks noChangeAspect="1"/>
          </p:cNvPicPr>
          <p:nvPr/>
        </p:nvPicPr>
        <p:blipFill>
          <a:blip r:embed="rId1"/>
          <a:stretch>
            <a:fillRect/>
          </a:stretch>
        </p:blipFill>
        <p:spPr>
          <a:xfrm>
            <a:off x="594360" y="1600200"/>
            <a:ext cx="7315200" cy="3962400"/>
          </a:xfrm>
          <a:prstGeom prst="rect">
            <a:avLst/>
          </a:prstGeom>
        </p:spPr>
      </p:pic>
      <p:sp>
        <p:nvSpPr>
          <p:cNvPr id="6" name="Text 3"/>
          <p:cNvSpPr txBox="1"/>
          <p:nvPr/>
        </p:nvSpPr>
        <p:spPr>
          <a:xfrm>
            <a:off x="8321040" y="1600200"/>
            <a:ext cx="3337560" cy="1188720"/>
          </a:xfrm>
          <a:prstGeom prst="rect">
            <a:avLst/>
          </a:prstGeom>
          <a:noFill/>
          <a:ln/>
        </p:spPr>
        <p:txBody>
          <a:bodyPr wrap="square" lIns="0" tIns="0" rIns="0" bIns="0" rtlCol="0" anchor="t"/>
          <a:lstStyle/>
          <a:p>
            <a:pPr indent="0" marL="0">
              <a:buNone/>
            </a:pPr>
            <a:r>
              <a:rPr lang="en-US" sz="1200" dirty="0">
                <a:solidFill>
                  <a:srgbClr val="5A626B"/>
                </a:solidFill>
                <a:latin typeface="Calibri" pitchFamily="34" charset="0"/>
                <a:ea typeface="Calibri" pitchFamily="34" charset="-122"/>
                <a:cs typeface="Calibri" pitchFamily="34" charset="-120"/>
              </a:rPr>
              <a:t>Six variants: organiser’s penalty QAOA, tuned penalty, our rule-preserving QAOA, each also with a CVaR objective. Median of 10 seeds, 3 layers. Guessing: 0.05.</a:t>
            </a:r>
            <a:endParaRPr lang="en-US" sz="1200" dirty="0"/>
          </a:p>
        </p:txBody>
      </p:sp>
      <p:sp>
        <p:nvSpPr>
          <p:cNvPr id="7" name="Text 4"/>
          <p:cNvSpPr txBox="1"/>
          <p:nvPr/>
        </p:nvSpPr>
        <p:spPr>
          <a:xfrm>
            <a:off x="8321040" y="2926080"/>
            <a:ext cx="3337560" cy="3017520"/>
          </a:xfrm>
          <a:prstGeom prst="rect">
            <a:avLst/>
          </a:prstGeom>
          <a:noFill/>
          <a:ln/>
        </p:spPr>
        <p:txBody>
          <a:bodyPr wrap="square" lIns="0" tIns="0" rIns="0" bIns="0" rtlCol="0" anchor="t"/>
          <a:lstStyle/>
          <a:p>
            <a:pPr indent="0" marL="0">
              <a:spcAft>
                <a:spcPts val="1000"/>
              </a:spcAft>
              <a:buNone/>
            </a:pPr>
            <a:r>
              <a:rPr lang="en-US" sz="1500" b="1" dirty="0">
                <a:solidFill>
                  <a:srgbClr val="14213D"/>
                </a:solidFill>
                <a:latin typeface="Calibri" pitchFamily="34" charset="0"/>
                <a:ea typeface="Calibri" pitchFamily="34" charset="-122"/>
                <a:cs typeface="Calibri" pitchFamily="34" charset="-120"/>
              </a:rPr>
              <a:t>Risk-sensitive: </a:t>
            </a:r>
            <a:pPr indent="0" marL="0">
              <a:spcAft>
                <a:spcPts val="1000"/>
              </a:spcAft>
              <a:buNone/>
            </a:pPr>
            <a:r>
              <a:rPr lang="en-US" sz="1500" dirty="0">
                <a:solidFill>
                  <a:srgbClr val="14213D"/>
                </a:solidFill>
                <a:latin typeface="Calibri" pitchFamily="34" charset="0"/>
                <a:ea typeface="Calibri" pitchFamily="34" charset="-122"/>
                <a:cs typeface="Calibri" pitchFamily="34" charset="-120"/>
              </a:rPr>
              <a:t>ours 0.77 vs 0.05 (organiser), 0.07 (tuned)</a:t>
            </a:r>
            <a:endParaRPr lang="en-US" sz="1500" dirty="0"/>
          </a:p>
          <a:p>
            <a:pPr indent="0" marL="0">
              <a:spcAft>
                <a:spcPts val="1000"/>
              </a:spcAft>
              <a:buNone/>
            </a:pPr>
            <a:r>
              <a:rPr lang="en-US" sz="1500" b="1" dirty="0">
                <a:solidFill>
                  <a:srgbClr val="14213D"/>
                </a:solidFill>
                <a:latin typeface="Calibri" pitchFamily="34" charset="0"/>
                <a:ea typeface="Calibri" pitchFamily="34" charset="-122"/>
                <a:cs typeface="Calibri" pitchFamily="34" charset="-120"/>
              </a:rPr>
              <a:t>Growth: </a:t>
            </a:r>
            <a:pPr indent="0" marL="0">
              <a:spcAft>
                <a:spcPts val="1000"/>
              </a:spcAft>
              <a:buNone/>
            </a:pPr>
            <a:r>
              <a:rPr lang="en-US" sz="1500" dirty="0">
                <a:solidFill>
                  <a:srgbClr val="14213D"/>
                </a:solidFill>
                <a:latin typeface="Calibri" pitchFamily="34" charset="0"/>
                <a:ea typeface="Calibri" pitchFamily="34" charset="-122"/>
                <a:cs typeface="Calibri" pitchFamily="34" charset="-120"/>
              </a:rPr>
              <a:t>ours 0.23 (CVaR 0.25) vs 0.05, 0.09</a:t>
            </a:r>
            <a:endParaRPr lang="en-US" sz="1500" dirty="0"/>
          </a:p>
          <a:p>
            <a:pPr indent="0" marL="0">
              <a:spcAft>
                <a:spcPts val="1000"/>
              </a:spcAft>
              <a:buNone/>
            </a:pPr>
            <a:r>
              <a:rPr lang="en-US" sz="1500" b="1" dirty="0">
                <a:solidFill>
                  <a:srgbClr val="14213D"/>
                </a:solidFill>
                <a:latin typeface="Calibri" pitchFamily="34" charset="0"/>
                <a:ea typeface="Calibri" pitchFamily="34" charset="-122"/>
                <a:cs typeface="Calibri" pitchFamily="34" charset="-120"/>
              </a:rPr>
              <a:t>Balanced: </a:t>
            </a:r>
            <a:pPr indent="0" marL="0">
              <a:spcAft>
                <a:spcPts val="1000"/>
              </a:spcAft>
              <a:buNone/>
            </a:pPr>
            <a:r>
              <a:rPr lang="en-US" sz="1500" dirty="0">
                <a:solidFill>
                  <a:srgbClr val="14213D"/>
                </a:solidFill>
                <a:latin typeface="Calibri" pitchFamily="34" charset="0"/>
                <a:ea typeface="Calibri" pitchFamily="34" charset="-122"/>
                <a:cs typeface="Calibri" pitchFamily="34" charset="-120"/>
              </a:rPr>
              <a:t>near-tie. Ours 0.04, with CVaR 0.25</a:t>
            </a:r>
            <a:endParaRPr lang="en-US" sz="1500" dirty="0"/>
          </a:p>
          <a:p>
            <a:pPr indent="0" marL="0">
              <a:spcAft>
                <a:spcPts val="1000"/>
              </a:spcAft>
              <a:buNone/>
            </a:pPr>
            <a:r>
              <a:rPr lang="en-US" sz="1500" b="1" dirty="0">
                <a:solidFill>
                  <a:srgbClr val="14213D"/>
                </a:solidFill>
                <a:latin typeface="Calibri" pitchFamily="34" charset="0"/>
                <a:ea typeface="Calibri" pitchFamily="34" charset="-122"/>
                <a:cs typeface="Calibri" pitchFamily="34" charset="-120"/>
              </a:rPr>
              <a:t>Valid portfolios: </a:t>
            </a:r>
            <a:pPr indent="0" marL="0">
              <a:spcAft>
                <a:spcPts val="1000"/>
              </a:spcAft>
              <a:buNone/>
            </a:pPr>
            <a:r>
              <a:rPr lang="en-US" sz="1500" dirty="0">
                <a:solidFill>
                  <a:srgbClr val="14213D"/>
                </a:solidFill>
                <a:latin typeface="Calibri" pitchFamily="34" charset="0"/>
                <a:ea typeface="Calibri" pitchFamily="34" charset="-122"/>
                <a:cs typeface="Calibri" pitchFamily="34" charset="-120"/>
              </a:rPr>
              <a:t>100 % ours, 32–98 % penalty versions</a:t>
            </a:r>
            <a:endParaRPr lang="en-US" sz="1500" dirty="0"/>
          </a:p>
        </p:txBody>
      </p:sp>
      <p:sp>
        <p:nvSpPr>
          <p:cNvPr id="8" name="Text 5"/>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100" dirty="0">
                <a:solidFill>
                  <a:srgbClr val="5A626B"/>
                </a:solidFill>
                <a:latin typeface="Calibri" pitchFamily="34" charset="0"/>
                <a:ea typeface="Calibri" pitchFamily="34" charset="-122"/>
                <a:cs typeface="Calibri" pitchFamily="34" charset="-120"/>
              </a:rPr>
              <a:t>Ideal simulation. Seeds vary a lot (min–max bars). Exact enumeration is the answer key. No quantum advantage.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200" b="1" spc="300" kern="0" dirty="0">
                <a:solidFill>
                  <a:srgbClr val="17756F"/>
                </a:solidFill>
                <a:latin typeface="Calibri" pitchFamily="34" charset="0"/>
                <a:ea typeface="Calibri" pitchFamily="34" charset="-122"/>
                <a:cs typeface="Calibri" pitchFamily="34" charset="-120"/>
              </a:rPr>
              <a:t>RESULTS · CANONICAL RUN</a:t>
            </a:r>
            <a:endParaRPr lang="en-US" sz="12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200" b="1" dirty="0">
                <a:solidFill>
                  <a:srgbClr val="14213D"/>
                </a:solidFill>
                <a:latin typeface="Cambria" pitchFamily="34" charset="0"/>
                <a:ea typeface="Cambria" pitchFamily="34" charset="-122"/>
                <a:cs typeface="Cambria" pitchFamily="34" charset="-120"/>
              </a:rPr>
              <a:t>One proposal, three different answers</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1737360"/>
                <a:gridCol w="1280160"/>
                <a:gridCol w="2743200"/>
                <a:gridCol w="5303520"/>
              </a:tblGrid>
              <a:tr h="45720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Profile</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Verdict</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Portfolio</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Evidence</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4213D"/>
                    </a:solidFill>
                  </a:tcPr>
                </a:tc>
              </a:tr>
              <a:tr h="45720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Growth</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Switch</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HiTec + Hlth + Utils</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Same winner in 3 scenarios; beats current in 89 % of resamples</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45720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Balanced</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Review</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Hold; committee decides</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Return stress flips it; beats current in 74 %</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45720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Risk-sensitive</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Keep</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NoDur + Hlth + Utils</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Winner in 3 scenarios; passes loss rule in 76 %</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bl>
          </a:graphicData>
        </a:graphic>
      </p:graphicFrame>
      <p:sp>
        <p:nvSpPr>
          <p:cNvPr id="5" name="Shape 2"/>
          <p:cNvSpPr/>
          <p:nvPr/>
        </p:nvSpPr>
        <p:spPr>
          <a:xfrm>
            <a:off x="548640" y="3611880"/>
            <a:ext cx="5212080" cy="2651760"/>
          </a:xfrm>
          <a:prstGeom prst="rect">
            <a:avLst/>
          </a:prstGeom>
          <a:solidFill>
            <a:srgbClr val="FFFFFF"/>
          </a:solidFill>
          <a:ln w="9525">
            <a:solidFill>
              <a:srgbClr val="D5DAE0"/>
            </a:solidFill>
            <a:prstDash val="solid"/>
          </a:ln>
        </p:spPr>
        <p:txBody>
          <a:bodyPr/>
          <a:p/>
        </p:txBody>
      </p:sp>
      <p:pic>
        <p:nvPicPr>
          <p:cNvPr id="6" name="Image 0" descr="How often each portfolio is best across 500 bootstrap resamples, per profile">    </p:cNvPr>
          <p:cNvPicPr>
            <a:picLocks noChangeAspect="1"/>
          </p:cNvPicPr>
          <p:nvPr/>
        </p:nvPicPr>
        <p:blipFill>
          <a:blip r:embed="rId1"/>
          <a:stretch>
            <a:fillRect/>
          </a:stretch>
        </p:blipFill>
        <p:spPr>
          <a:xfrm>
            <a:off x="594360" y="3657600"/>
            <a:ext cx="5120640" cy="2560320"/>
          </a:xfrm>
          <a:prstGeom prst="rect">
            <a:avLst/>
          </a:prstGeom>
        </p:spPr>
      </p:pic>
      <p:sp>
        <p:nvSpPr>
          <p:cNvPr id="7" name="Text 3"/>
          <p:cNvSpPr txBox="1"/>
          <p:nvPr/>
        </p:nvSpPr>
        <p:spPr>
          <a:xfrm>
            <a:off x="6126480" y="3657600"/>
            <a:ext cx="5486400" cy="237744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Switch </a:t>
            </a:r>
            <a:pPr indent="0" marL="0">
              <a:buNone/>
            </a:pPr>
            <a:r>
              <a:rPr lang="en-US" sz="1500" dirty="0">
                <a:solidFill>
                  <a:srgbClr val="14213D"/>
                </a:solidFill>
                <a:latin typeface="Calibri" pitchFamily="34" charset="0"/>
                <a:ea typeface="Calibri" pitchFamily="34" charset="-122"/>
                <a:cs typeface="Calibri" pitchFamily="34" charset="-120"/>
              </a:rPr>
              <a:t>needs the same winner everywhere and at least 70 % of 500 resamples in favour. </a:t>
            </a:r>
            <a:pPr indent="0" marL="0">
              <a:buNone/>
            </a:pPr>
            <a:r>
              <a:rPr lang="en-US" sz="1500" b="1" dirty="0">
                <a:solidFill>
                  <a:srgbClr val="14213D"/>
                </a:solidFill>
                <a:latin typeface="Calibri" pitchFamily="34" charset="0"/>
                <a:ea typeface="Calibri" pitchFamily="34" charset="-122"/>
                <a:cs typeface="Calibri" pitchFamily="34" charset="-120"/>
              </a:rPr>
              <a:t>Keep </a:t>
            </a:r>
            <a:pPr indent="0" marL="0">
              <a:buNone/>
            </a:pPr>
            <a:r>
              <a:rPr lang="en-US" sz="1500" dirty="0">
                <a:solidFill>
                  <a:srgbClr val="14213D"/>
                </a:solidFill>
                <a:latin typeface="Calibri" pitchFamily="34" charset="0"/>
                <a:ea typeface="Calibri" pitchFamily="34" charset="-122"/>
                <a:cs typeface="Calibri" pitchFamily="34" charset="-120"/>
              </a:rPr>
              <a:t>needs the current tilt best and admissible in 70 %.</a:t>
            </a:r>
            <a:endParaRPr lang="en-US" sz="1500" dirty="0"/>
          </a:p>
          <a:p>
            <a:pPr indent="0" marL="0">
              <a:buNone/>
            </a:pPr>
            <a:r>
              <a:rPr lang="en-US" sz="800" dirty="0">
                <a:solidFill>
                  <a:srgbClr val="14213D"/>
                </a:solidFill>
                <a:latin typeface="Calibri" pitchFamily="34" charset="0"/>
                <a:ea typeface="Calibri" pitchFamily="34" charset="-122"/>
                <a:cs typeface="Calibri" pitchFamily="34" charset="-120"/>
              </a:rPr>
              <a:t> </a:t>
            </a:r>
            <a:endParaRPr lang="en-US" sz="1500" dirty="0"/>
          </a:p>
          <a:p>
            <a:pPr indent="0" marL="0">
              <a:buNone/>
            </a:pPr>
            <a:r>
              <a:rPr lang="en-US" sz="1500" dirty="0">
                <a:solidFill>
                  <a:srgbClr val="14213D"/>
                </a:solidFill>
                <a:latin typeface="Calibri" pitchFamily="34" charset="0"/>
                <a:ea typeface="Calibri" pitchFamily="34" charset="-122"/>
                <a:cs typeface="Calibri" pitchFamily="34" charset="-120"/>
              </a:rPr>
              <a:t>Balanced is the assumed default, so the fragile answer lands on people who did not choose.</a:t>
            </a:r>
            <a:endParaRPr lang="en-US" sz="1500" dirty="0"/>
          </a:p>
        </p:txBody>
      </p:sp>
      <p:sp>
        <p:nvSpPr>
          <p:cNvPr id="8" name="Text 4"/>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100" dirty="0">
                <a:solidFill>
                  <a:srgbClr val="5A626B"/>
                </a:solidFill>
                <a:latin typeface="Calibri" pitchFamily="34" charset="0"/>
                <a:ea typeface="Calibri" pitchFamily="34" charset="-122"/>
                <a:cs typeface="Calibri" pitchFamily="34" charset="-120"/>
              </a:rPr>
              <a:t>Canonical run. Bootstrap = resampling the 60 months (fig_bootstrap). Tech limit is a preference; same verdicts without it.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200" b="1" spc="300" kern="0" dirty="0">
                <a:solidFill>
                  <a:srgbClr val="17756F"/>
                </a:solidFill>
                <a:latin typeface="Calibri" pitchFamily="34" charset="0"/>
                <a:ea typeface="Calibri" pitchFamily="34" charset="-122"/>
                <a:cs typeface="Calibri" pitchFamily="34" charset="-120"/>
              </a:rPr>
              <a:t>WHAT WOULD CHANGE THE ANSWER</a:t>
            </a:r>
            <a:endParaRPr lang="en-US" sz="12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200" b="1" dirty="0">
                <a:solidFill>
                  <a:srgbClr val="14213D"/>
                </a:solidFill>
                <a:latin typeface="Cambria" pitchFamily="34" charset="0"/>
                <a:ea typeface="Cambria" pitchFamily="34" charset="-122"/>
                <a:cs typeface="Cambria" pitchFamily="34" charset="-120"/>
              </a:rPr>
              <a:t>Balanced sits right on the edge</a:t>
            </a:r>
            <a:endParaRPr lang="en-US" sz="3200" dirty="0"/>
          </a:p>
        </p:txBody>
      </p:sp>
      <p:sp>
        <p:nvSpPr>
          <p:cNvPr id="4" name="Shape 2"/>
          <p:cNvSpPr/>
          <p:nvPr/>
        </p:nvSpPr>
        <p:spPr>
          <a:xfrm>
            <a:off x="548640" y="1554480"/>
            <a:ext cx="3566160" cy="1097280"/>
          </a:xfrm>
          <a:prstGeom prst="roundRect">
            <a:avLst>
              <a:gd name="adj" fmla="val 6667"/>
            </a:avLst>
          </a:prstGeom>
          <a:solidFill>
            <a:srgbClr val="FBEFE6"/>
          </a:solidFill>
          <a:ln w="9525">
            <a:solidFill>
              <a:srgbClr val="F0D3BC"/>
            </a:solidFill>
            <a:prstDash val="solid"/>
          </a:ln>
        </p:spPr>
        <p:txBody>
          <a:bodyPr/>
          <a:p/>
        </p:txBody>
      </p:sp>
      <p:sp>
        <p:nvSpPr>
          <p:cNvPr id="5" name="Text 3"/>
          <p:cNvSpPr txBox="1"/>
          <p:nvPr/>
        </p:nvSpPr>
        <p:spPr>
          <a:xfrm>
            <a:off x="731520" y="1645920"/>
            <a:ext cx="3200400" cy="411480"/>
          </a:xfrm>
          <a:prstGeom prst="rect">
            <a:avLst/>
          </a:prstGeom>
          <a:noFill/>
          <a:ln/>
        </p:spPr>
        <p:txBody>
          <a:bodyPr wrap="square" lIns="0" tIns="0" rIns="0" bIns="0" rtlCol="0" anchor="t"/>
          <a:lstStyle/>
          <a:p>
            <a:pPr indent="0" marL="0">
              <a:buNone/>
            </a:pPr>
            <a:r>
              <a:rPr lang="en-US" sz="1800" b="1" dirty="0">
                <a:solidFill>
                  <a:srgbClr val="B4561A"/>
                </a:solidFill>
                <a:latin typeface="Calibri" pitchFamily="34" charset="0"/>
                <a:ea typeface="Calibri" pitchFamily="34" charset="-122"/>
                <a:cs typeface="Calibri" pitchFamily="34" charset="-120"/>
              </a:rPr>
              <a:t>Tech edge −0.37 pts</a:t>
            </a:r>
            <a:endParaRPr lang="en-US" sz="1800" dirty="0"/>
          </a:p>
        </p:txBody>
      </p:sp>
      <p:sp>
        <p:nvSpPr>
          <p:cNvPr id="6" name="Text 4"/>
          <p:cNvSpPr txBox="1"/>
          <p:nvPr/>
        </p:nvSpPr>
        <p:spPr>
          <a:xfrm>
            <a:off x="731520" y="2103120"/>
            <a:ext cx="3200400" cy="457200"/>
          </a:xfrm>
          <a:prstGeom prst="rect">
            <a:avLst/>
          </a:prstGeom>
          <a:noFill/>
          <a:ln/>
        </p:spPr>
        <p:txBody>
          <a:bodyPr wrap="square" lIns="0" tIns="0" rIns="0" bIns="0" rtlCol="0" anchor="t"/>
          <a:lstStyle/>
          <a:p>
            <a:pPr indent="0" marL="0">
              <a:buNone/>
            </a:pPr>
            <a:r>
              <a:rPr lang="en-US" sz="1400" dirty="0">
                <a:solidFill>
                  <a:srgbClr val="14213D"/>
                </a:solidFill>
                <a:latin typeface="Calibri" pitchFamily="34" charset="0"/>
                <a:ea typeface="Calibri" pitchFamily="34" charset="-122"/>
                <a:cs typeface="Calibri" pitchFamily="34" charset="-120"/>
              </a:rPr>
              <a:t>per month (supplied stress: −0.50)</a:t>
            </a:r>
            <a:endParaRPr lang="en-US" sz="1400" dirty="0"/>
          </a:p>
        </p:txBody>
      </p:sp>
      <p:sp>
        <p:nvSpPr>
          <p:cNvPr id="7" name="Shape 5"/>
          <p:cNvSpPr/>
          <p:nvPr/>
        </p:nvSpPr>
        <p:spPr>
          <a:xfrm>
            <a:off x="4297680" y="1554480"/>
            <a:ext cx="3566160" cy="1097280"/>
          </a:xfrm>
          <a:prstGeom prst="roundRect">
            <a:avLst>
              <a:gd name="adj" fmla="val 6667"/>
            </a:avLst>
          </a:prstGeom>
          <a:solidFill>
            <a:srgbClr val="FBEFE6"/>
          </a:solidFill>
          <a:ln w="9525">
            <a:solidFill>
              <a:srgbClr val="F0D3BC"/>
            </a:solidFill>
            <a:prstDash val="solid"/>
          </a:ln>
        </p:spPr>
        <p:txBody>
          <a:bodyPr/>
          <a:p/>
        </p:txBody>
      </p:sp>
      <p:sp>
        <p:nvSpPr>
          <p:cNvPr id="8" name="Text 6"/>
          <p:cNvSpPr txBox="1"/>
          <p:nvPr/>
        </p:nvSpPr>
        <p:spPr>
          <a:xfrm>
            <a:off x="4480560" y="1645920"/>
            <a:ext cx="3200400" cy="411480"/>
          </a:xfrm>
          <a:prstGeom prst="rect">
            <a:avLst/>
          </a:prstGeom>
          <a:noFill/>
          <a:ln/>
        </p:spPr>
        <p:txBody>
          <a:bodyPr wrap="square" lIns="0" tIns="0" rIns="0" bIns="0" rtlCol="0" anchor="t"/>
          <a:lstStyle/>
          <a:p>
            <a:pPr indent="0" marL="0">
              <a:buNone/>
            </a:pPr>
            <a:r>
              <a:rPr lang="en-US" sz="1800" b="1" dirty="0">
                <a:solidFill>
                  <a:srgbClr val="B4561A"/>
                </a:solidFill>
                <a:latin typeface="Calibri" pitchFamily="34" charset="0"/>
                <a:ea typeface="Calibri" pitchFamily="34" charset="-122"/>
                <a:cs typeface="Calibri" pitchFamily="34" charset="-120"/>
              </a:rPr>
              <a:t>Switching cost 0.0057</a:t>
            </a:r>
            <a:endParaRPr lang="en-US" sz="1800" dirty="0"/>
          </a:p>
        </p:txBody>
      </p:sp>
      <p:sp>
        <p:nvSpPr>
          <p:cNvPr id="9" name="Text 7"/>
          <p:cNvSpPr txBox="1"/>
          <p:nvPr/>
        </p:nvSpPr>
        <p:spPr>
          <a:xfrm>
            <a:off x="4480560" y="2103120"/>
            <a:ext cx="3200400" cy="457200"/>
          </a:xfrm>
          <a:prstGeom prst="rect">
            <a:avLst/>
          </a:prstGeom>
          <a:noFill/>
          <a:ln/>
        </p:spPr>
        <p:txBody>
          <a:bodyPr wrap="square" lIns="0" tIns="0" rIns="0" bIns="0" rtlCol="0" anchor="t"/>
          <a:lstStyle/>
          <a:p>
            <a:pPr indent="0" marL="0">
              <a:buNone/>
            </a:pPr>
            <a:r>
              <a:rPr lang="en-US" sz="1400" dirty="0">
                <a:solidFill>
                  <a:srgbClr val="14213D"/>
                </a:solidFill>
                <a:latin typeface="Calibri" pitchFamily="34" charset="0"/>
                <a:ea typeface="Calibri" pitchFamily="34" charset="-122"/>
                <a:cs typeface="Calibri" pitchFamily="34" charset="-120"/>
              </a:rPr>
              <a:t>about 3× the base 0.002</a:t>
            </a:r>
            <a:endParaRPr lang="en-US" sz="1400" dirty="0"/>
          </a:p>
        </p:txBody>
      </p:sp>
      <p:sp>
        <p:nvSpPr>
          <p:cNvPr id="10" name="Shape 8"/>
          <p:cNvSpPr/>
          <p:nvPr/>
        </p:nvSpPr>
        <p:spPr>
          <a:xfrm>
            <a:off x="8046720" y="1554480"/>
            <a:ext cx="3566160" cy="1097280"/>
          </a:xfrm>
          <a:prstGeom prst="roundRect">
            <a:avLst>
              <a:gd name="adj" fmla="val 6667"/>
            </a:avLst>
          </a:prstGeom>
          <a:solidFill>
            <a:srgbClr val="FBEFE6"/>
          </a:solidFill>
          <a:ln w="9525">
            <a:solidFill>
              <a:srgbClr val="F0D3BC"/>
            </a:solidFill>
            <a:prstDash val="solid"/>
          </a:ln>
        </p:spPr>
        <p:txBody>
          <a:bodyPr/>
          <a:p/>
        </p:txBody>
      </p:sp>
      <p:sp>
        <p:nvSpPr>
          <p:cNvPr id="11" name="Text 9"/>
          <p:cNvSpPr txBox="1"/>
          <p:nvPr/>
        </p:nvSpPr>
        <p:spPr>
          <a:xfrm>
            <a:off x="8229600" y="1645920"/>
            <a:ext cx="3200400" cy="411480"/>
          </a:xfrm>
          <a:prstGeom prst="rect">
            <a:avLst/>
          </a:prstGeom>
          <a:noFill/>
          <a:ln/>
        </p:spPr>
        <p:txBody>
          <a:bodyPr wrap="square" lIns="0" tIns="0" rIns="0" bIns="0" rtlCol="0" anchor="t"/>
          <a:lstStyle/>
          <a:p>
            <a:pPr indent="0" marL="0">
              <a:buNone/>
            </a:pPr>
            <a:r>
              <a:rPr lang="en-US" sz="1800" b="1" dirty="0">
                <a:solidFill>
                  <a:srgbClr val="B4561A"/>
                </a:solidFill>
                <a:latin typeface="Calibri" pitchFamily="34" charset="0"/>
                <a:ea typeface="Calibri" pitchFamily="34" charset="-122"/>
                <a:cs typeface="Calibri" pitchFamily="34" charset="-120"/>
              </a:rPr>
              <a:t>Risk weight 7.5 / 14.9</a:t>
            </a:r>
            <a:endParaRPr lang="en-US" sz="1800" dirty="0"/>
          </a:p>
        </p:txBody>
      </p:sp>
      <p:sp>
        <p:nvSpPr>
          <p:cNvPr id="12" name="Text 10"/>
          <p:cNvSpPr txBox="1"/>
          <p:nvPr/>
        </p:nvSpPr>
        <p:spPr>
          <a:xfrm>
            <a:off x="8229600" y="2103120"/>
            <a:ext cx="3200400" cy="457200"/>
          </a:xfrm>
          <a:prstGeom prst="rect">
            <a:avLst/>
          </a:prstGeom>
          <a:noFill/>
          <a:ln/>
        </p:spPr>
        <p:txBody>
          <a:bodyPr wrap="square" lIns="0" tIns="0" rIns="0" bIns="0" rtlCol="0" anchor="t"/>
          <a:lstStyle/>
          <a:p>
            <a:pPr indent="0" marL="0">
              <a:buNone/>
            </a:pPr>
            <a:r>
              <a:rPr lang="en-US" sz="1400" dirty="0">
                <a:solidFill>
                  <a:srgbClr val="14213D"/>
                </a:solidFill>
                <a:latin typeface="Calibri" pitchFamily="34" charset="0"/>
                <a:ea typeface="Calibri" pitchFamily="34" charset="-122"/>
                <a:cs typeface="Calibri" pitchFamily="34" charset="-120"/>
              </a:rPr>
              <a:t>to NoDur+HiTec+Utils / to current (base 5)</a:t>
            </a:r>
            <a:endParaRPr lang="en-US" sz="1400" dirty="0"/>
          </a:p>
        </p:txBody>
      </p:sp>
      <p:sp>
        <p:nvSpPr>
          <p:cNvPr id="13" name="Shape 11"/>
          <p:cNvSpPr/>
          <p:nvPr/>
        </p:nvSpPr>
        <p:spPr>
          <a:xfrm>
            <a:off x="548640" y="2880360"/>
            <a:ext cx="5394960" cy="3273552"/>
          </a:xfrm>
          <a:prstGeom prst="rect">
            <a:avLst/>
          </a:prstGeom>
          <a:solidFill>
            <a:srgbClr val="FFFFFF"/>
          </a:solidFill>
          <a:ln w="9525">
            <a:solidFill>
              <a:srgbClr val="D5DAE0"/>
            </a:solidFill>
            <a:prstDash val="solid"/>
          </a:ln>
        </p:spPr>
        <p:txBody>
          <a:bodyPr/>
          <a:p/>
        </p:txBody>
      </p:sp>
      <p:pic>
        <p:nvPicPr>
          <p:cNvPr id="14" name="Image 0" descr="Decision map: best portfolio by risk weight and HiTec return shift">    </p:cNvPr>
          <p:cNvPicPr>
            <a:picLocks noChangeAspect="1"/>
          </p:cNvPicPr>
          <p:nvPr/>
        </p:nvPicPr>
        <p:blipFill>
          <a:blip r:embed="rId1"/>
          <a:stretch>
            <a:fillRect/>
          </a:stretch>
        </p:blipFill>
        <p:spPr>
          <a:xfrm>
            <a:off x="594360" y="2926080"/>
            <a:ext cx="5303520" cy="3182112"/>
          </a:xfrm>
          <a:prstGeom prst="rect">
            <a:avLst/>
          </a:prstGeom>
        </p:spPr>
      </p:pic>
      <p:sp>
        <p:nvSpPr>
          <p:cNvPr id="15" name="Shape 12"/>
          <p:cNvSpPr/>
          <p:nvPr/>
        </p:nvSpPr>
        <p:spPr>
          <a:xfrm>
            <a:off x="6217920" y="2880360"/>
            <a:ext cx="5394960" cy="3273552"/>
          </a:xfrm>
          <a:prstGeom prst="rect">
            <a:avLst/>
          </a:prstGeom>
          <a:solidFill>
            <a:srgbClr val="FFFFFF"/>
          </a:solidFill>
          <a:ln w="9525">
            <a:solidFill>
              <a:srgbClr val="D5DAE0"/>
            </a:solidFill>
            <a:prstDash val="solid"/>
          </a:ln>
        </p:spPr>
        <p:txBody>
          <a:bodyPr/>
          <a:p/>
        </p:txBody>
      </p:sp>
      <p:pic>
        <p:nvPicPr>
          <p:cNvPr id="16" name="Image 1" descr="Decision map: best portfolio by risk weight and switching cost">    </p:cNvPr>
          <p:cNvPicPr>
            <a:picLocks noChangeAspect="1"/>
          </p:cNvPicPr>
          <p:nvPr/>
        </p:nvPicPr>
        <p:blipFill>
          <a:blip r:embed="rId2"/>
          <a:stretch>
            <a:fillRect/>
          </a:stretch>
        </p:blipFill>
        <p:spPr>
          <a:xfrm>
            <a:off x="6263640" y="2926080"/>
            <a:ext cx="5303520" cy="3182112"/>
          </a:xfrm>
          <a:prstGeom prst="rect">
            <a:avLst/>
          </a:prstGeom>
        </p:spPr>
      </p:pic>
      <p:sp>
        <p:nvSpPr>
          <p:cNvPr id="17" name="Text 13"/>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100" dirty="0">
                <a:solidFill>
                  <a:srgbClr val="5A626B"/>
                </a:solidFill>
                <a:latin typeface="Calibri" pitchFamily="34" charset="0"/>
                <a:ea typeface="Calibri" pitchFamily="34" charset="-122"/>
                <a:cs typeface="Calibri" pitchFamily="34" charset="-120"/>
              </a:rPr>
              <a:t>Score margin is only 0.0012 per month. Switch only if you believe tech’s edge stays above about 0.37 points.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200" b="1" spc="300" kern="0" dirty="0">
                <a:solidFill>
                  <a:srgbClr val="17756F"/>
                </a:solidFill>
                <a:latin typeface="Calibri" pitchFamily="34" charset="0"/>
                <a:ea typeface="Calibri" pitchFamily="34" charset="-122"/>
                <a:cs typeface="Calibri" pitchFamily="34" charset="-120"/>
              </a:rPr>
              <a:t>HINDSIGHT, 2020–2024</a:t>
            </a:r>
            <a:endParaRPr lang="en-US" sz="12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200" b="1" dirty="0">
                <a:solidFill>
                  <a:srgbClr val="14213D"/>
                </a:solidFill>
                <a:latin typeface="Cambria" pitchFamily="34" charset="0"/>
                <a:ea typeface="Cambria" pitchFamily="34" charset="-122"/>
                <a:cs typeface="Cambria" pitchFamily="34" charset="-120"/>
              </a:rPr>
              <a:t>Tech won, and losses came more often</a:t>
            </a:r>
            <a:endParaRPr lang="en-US" sz="3200" dirty="0"/>
          </a:p>
        </p:txBody>
      </p:sp>
      <p:sp>
        <p:nvSpPr>
          <p:cNvPr id="4" name="Shape 2"/>
          <p:cNvSpPr/>
          <p:nvPr/>
        </p:nvSpPr>
        <p:spPr>
          <a:xfrm>
            <a:off x="548640" y="1600200"/>
            <a:ext cx="6858000" cy="3880714"/>
          </a:xfrm>
          <a:prstGeom prst="rect">
            <a:avLst/>
          </a:prstGeom>
          <a:solidFill>
            <a:srgbClr val="FFFFFF"/>
          </a:solidFill>
          <a:ln w="9525">
            <a:solidFill>
              <a:srgbClr val="D5DAE0"/>
            </a:solidFill>
            <a:prstDash val="solid"/>
          </a:ln>
        </p:spPr>
        <p:txBody>
          <a:bodyPr/>
          <a:p/>
        </p:txBody>
      </p:sp>
      <p:pic>
        <p:nvPicPr>
          <p:cNvPr id="5" name="Image 0" descr="2020-24 hold-out: wealth, drawdown and loss frequency of the current holding and the proposal">    </p:cNvPr>
          <p:cNvPicPr>
            <a:picLocks noChangeAspect="1"/>
          </p:cNvPicPr>
          <p:nvPr/>
        </p:nvPicPr>
        <p:blipFill>
          <a:blip r:embed="rId1"/>
          <a:stretch>
            <a:fillRect/>
          </a:stretch>
        </p:blipFill>
        <p:spPr>
          <a:xfrm>
            <a:off x="594360" y="1645920"/>
            <a:ext cx="6766560" cy="3789274"/>
          </a:xfrm>
          <a:prstGeom prst="rect">
            <a:avLst/>
          </a:prstGeom>
        </p:spPr>
      </p:pic>
      <p:sp>
        <p:nvSpPr>
          <p:cNvPr id="6" name="Text 3"/>
          <p:cNvSpPr txBox="1"/>
          <p:nvPr/>
        </p:nvSpPr>
        <p:spPr>
          <a:xfrm>
            <a:off x="7863840" y="1645920"/>
            <a:ext cx="3749040" cy="4206240"/>
          </a:xfrm>
          <a:prstGeom prst="rect">
            <a:avLst/>
          </a:prstGeom>
          <a:noFill/>
          <a:ln/>
        </p:spPr>
        <p:txBody>
          <a:bodyPr wrap="square" lIns="0" tIns="0" rIns="0" bIns="0" rtlCol="0" anchor="t"/>
          <a:lstStyle/>
          <a:p>
            <a:pPr indent="0" marL="0">
              <a:spcAft>
                <a:spcPts val="1200"/>
              </a:spcAft>
              <a:buNone/>
            </a:pPr>
            <a:r>
              <a:rPr lang="en-US" sz="1500" b="1" dirty="0">
                <a:solidFill>
                  <a:srgbClr val="14213D"/>
                </a:solidFill>
                <a:latin typeface="Calibri" pitchFamily="34" charset="0"/>
                <a:ea typeface="Calibri" pitchFamily="34" charset="-122"/>
                <a:cs typeface="Calibri" pitchFamily="34" charset="-120"/>
              </a:rPr>
              <a:t>Wealth </a:t>
            </a:r>
            <a:pPr indent="0" marL="0">
              <a:spcAft>
                <a:spcPts val="1200"/>
              </a:spcAft>
              <a:buNone/>
            </a:pPr>
            <a:r>
              <a:rPr lang="en-US" sz="1500" dirty="0">
                <a:solidFill>
                  <a:srgbClr val="14213D"/>
                </a:solidFill>
                <a:latin typeface="Calibri" pitchFamily="34" charset="0"/>
                <a:ea typeface="Calibri" pitchFamily="34" charset="-122"/>
                <a:cs typeface="Calibri" pitchFamily="34" charset="-120"/>
              </a:rPr>
              <a:t>(incl. switch cost): 1.86 proposal vs 1.38 current</a:t>
            </a:r>
            <a:endParaRPr lang="en-US" sz="1500" dirty="0"/>
          </a:p>
          <a:p>
            <a:pPr indent="0" marL="0">
              <a:spcAft>
                <a:spcPts val="1200"/>
              </a:spcAft>
              <a:buNone/>
            </a:pPr>
            <a:r>
              <a:rPr lang="en-US" sz="1500" b="1" dirty="0">
                <a:solidFill>
                  <a:srgbClr val="14213D"/>
                </a:solidFill>
                <a:latin typeface="Calibri" pitchFamily="34" charset="0"/>
                <a:ea typeface="Calibri" pitchFamily="34" charset="-122"/>
                <a:cs typeface="Calibri" pitchFamily="34" charset="-120"/>
              </a:rPr>
              <a:t>Drawdown: </a:t>
            </a:r>
            <a:pPr indent="0" marL="0">
              <a:spcAft>
                <a:spcPts val="1200"/>
              </a:spcAft>
              <a:buNone/>
            </a:pPr>
            <a:r>
              <a:rPr lang="en-US" sz="1500" dirty="0">
                <a:solidFill>
                  <a:srgbClr val="14213D"/>
                </a:solidFill>
                <a:latin typeface="Calibri" pitchFamily="34" charset="0"/>
                <a:ea typeface="Calibri" pitchFamily="34" charset="-122"/>
                <a:cs typeface="Calibri" pitchFamily="34" charset="-120"/>
              </a:rPr>
              <a:t>−21 % vs −17 %</a:t>
            </a:r>
            <a:endParaRPr lang="en-US" sz="1500" dirty="0"/>
          </a:p>
          <a:p>
            <a:pPr indent="0" marL="0">
              <a:spcAft>
                <a:spcPts val="1200"/>
              </a:spcAft>
              <a:buNone/>
            </a:pPr>
            <a:r>
              <a:rPr lang="en-US" sz="1500" b="1" dirty="0">
                <a:solidFill>
                  <a:srgbClr val="14213D"/>
                </a:solidFill>
                <a:latin typeface="Calibri" pitchFamily="34" charset="0"/>
                <a:ea typeface="Calibri" pitchFamily="34" charset="-122"/>
                <a:cs typeface="Calibri" pitchFamily="34" charset="-120"/>
              </a:rPr>
              <a:t>Months above each profile’s loss threshold: </a:t>
            </a:r>
            <a:pPr indent="0" marL="0">
              <a:spcAft>
                <a:spcPts val="1200"/>
              </a:spcAft>
              <a:buNone/>
            </a:pPr>
            <a:r>
              <a:rPr lang="en-US" sz="1500" dirty="0">
                <a:solidFill>
                  <a:srgbClr val="14213D"/>
                </a:solidFill>
                <a:latin typeface="Calibri" pitchFamily="34" charset="0"/>
                <a:ea typeface="Calibri" pitchFamily="34" charset="-122"/>
                <a:cs typeface="Calibri" pitchFamily="34" charset="-120"/>
              </a:rPr>
              <a:t>growth 5 % vs 3 %, balanced 13 % vs 8 %, risk-sensitive 20 % both</a:t>
            </a:r>
            <a:endParaRPr lang="en-US" sz="1500" dirty="0"/>
          </a:p>
          <a:p>
            <a:pPr indent="0" marL="0">
              <a:spcAft>
                <a:spcPts val="1200"/>
              </a:spcAft>
              <a:buNone/>
            </a:pPr>
            <a:r>
              <a:rPr lang="en-US" sz="1500" dirty="0">
                <a:solidFill>
                  <a:srgbClr val="14213D"/>
                </a:solidFill>
                <a:latin typeface="Calibri" pitchFamily="34" charset="0"/>
                <a:ea typeface="Calibri" pitchFamily="34" charset="-122"/>
                <a:cs typeface="Calibri" pitchFamily="34" charset="-120"/>
              </a:rPr>
              <a:t>Rebalancing at 2 % or 5 % drift did not beat holding the proposal.</a:t>
            </a:r>
            <a:endParaRPr lang="en-US" sz="1500" dirty="0"/>
          </a:p>
        </p:txBody>
      </p:sp>
      <p:sp>
        <p:nvSpPr>
          <p:cNvPr id="7" name="Text 4"/>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100" dirty="0">
                <a:solidFill>
                  <a:srgbClr val="5A626B"/>
                </a:solidFill>
                <a:latin typeface="Calibri" pitchFamily="34" charset="0"/>
                <a:ea typeface="Calibri" pitchFamily="34" charset="-122"/>
                <a:cs typeface="Calibri" pitchFamily="34" charset="-120"/>
              </a:rPr>
              <a:t>Evaluation only, never a decision input. One path does not prove the 2019 decision right or wrong.</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200" b="1" spc="300" kern="0" dirty="0">
                <a:solidFill>
                  <a:srgbClr val="7FD1C7"/>
                </a:solidFill>
                <a:latin typeface="Calibri" pitchFamily="34" charset="0"/>
                <a:ea typeface="Calibri" pitchFamily="34" charset="-122"/>
                <a:cs typeface="Calibri" pitchFamily="34" charset="-120"/>
              </a:rPr>
              <a:t>RESPONSIBILITY</a:t>
            </a:r>
            <a:endParaRPr lang="en-US" sz="12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200" b="1" dirty="0">
                <a:solidFill>
                  <a:srgbClr val="F6F3EC"/>
                </a:solidFill>
                <a:latin typeface="Cambria" pitchFamily="34" charset="0"/>
                <a:ea typeface="Cambria" pitchFamily="34" charset="-122"/>
                <a:cs typeface="Cambria" pitchFamily="34" charset="-120"/>
              </a:rPr>
              <a:t>Is the difference in the world, or in our computer?</a:t>
            </a:r>
            <a:endParaRPr lang="en-US" sz="3200" dirty="0"/>
          </a:p>
        </p:txBody>
      </p:sp>
      <p:sp>
        <p:nvSpPr>
          <p:cNvPr id="4" name="Shape 2"/>
          <p:cNvSpPr/>
          <p:nvPr/>
        </p:nvSpPr>
        <p:spPr>
          <a:xfrm>
            <a:off x="548640" y="1645920"/>
            <a:ext cx="5440680" cy="1920240"/>
          </a:xfrm>
          <a:prstGeom prst="roundRect">
            <a:avLst>
              <a:gd name="adj" fmla="val 3810"/>
            </a:avLst>
          </a:prstGeom>
          <a:solidFill>
            <a:srgbClr val="1E2E52"/>
          </a:solidFill>
          <a:ln w="9525">
            <a:solidFill>
              <a:srgbClr val="1E2E52"/>
            </a:solidFill>
            <a:prstDash val="solid"/>
          </a:ln>
        </p:spPr>
        <p:txBody>
          <a:bodyPr/>
          <a:p/>
        </p:txBody>
      </p:sp>
      <p:sp>
        <p:nvSpPr>
          <p:cNvPr id="5" name="Text 3"/>
          <p:cNvSpPr txBox="1"/>
          <p:nvPr/>
        </p:nvSpPr>
        <p:spPr>
          <a:xfrm>
            <a:off x="777240" y="1783080"/>
            <a:ext cx="4937760" cy="365760"/>
          </a:xfrm>
          <a:prstGeom prst="rect">
            <a:avLst/>
          </a:prstGeom>
          <a:noFill/>
          <a:ln/>
        </p:spPr>
        <p:txBody>
          <a:bodyPr wrap="square" lIns="0" tIns="0" rIns="0" bIns="0" rtlCol="0" anchor="t"/>
          <a:lstStyle/>
          <a:p>
            <a:pPr indent="0" marL="0">
              <a:buNone/>
            </a:pPr>
            <a:r>
              <a:rPr lang="en-US" sz="2000" b="1" dirty="0">
                <a:solidFill>
                  <a:srgbClr val="7FD1C7"/>
                </a:solidFill>
                <a:latin typeface="Calibri" pitchFamily="34" charset="0"/>
                <a:ea typeface="Calibri" pitchFamily="34" charset="-122"/>
                <a:cs typeface="Calibri" pitchFamily="34" charset="-120"/>
              </a:rPr>
              <a:t>Estimation uncertainty</a:t>
            </a:r>
            <a:endParaRPr lang="en-US" sz="2000" dirty="0"/>
          </a:p>
        </p:txBody>
      </p:sp>
      <p:sp>
        <p:nvSpPr>
          <p:cNvPr id="6" name="Text 4"/>
          <p:cNvSpPr txBox="1"/>
          <p:nvPr/>
        </p:nvSpPr>
        <p:spPr>
          <a:xfrm>
            <a:off x="777240" y="2240280"/>
            <a:ext cx="4937760" cy="731520"/>
          </a:xfrm>
          <a:prstGeom prst="rect">
            <a:avLst/>
          </a:prstGeom>
          <a:noFill/>
          <a:ln/>
        </p:spPr>
        <p:txBody>
          <a:bodyPr wrap="square" lIns="0" tIns="0" rIns="0" bIns="0" rtlCol="0" anchor="t"/>
          <a:lstStyle/>
          <a:p>
            <a:pPr indent="0" marL="0">
              <a:buNone/>
            </a:pPr>
            <a:r>
              <a:rPr lang="en-US" sz="1500" dirty="0">
                <a:solidFill>
                  <a:srgbClr val="D9DEE8"/>
                </a:solidFill>
                <a:latin typeface="Calibri" pitchFamily="34" charset="0"/>
                <a:ea typeface="Calibri" pitchFamily="34" charset="-122"/>
                <a:cs typeface="Calibri" pitchFamily="34" charset="-120"/>
              </a:rPr>
              <a:t>Only 60 months. Measured by resampling the months at least 500 times.</a:t>
            </a:r>
            <a:endParaRPr lang="en-US" sz="1500" dirty="0"/>
          </a:p>
        </p:txBody>
      </p:sp>
      <p:sp>
        <p:nvSpPr>
          <p:cNvPr id="7" name="Text 5"/>
          <p:cNvSpPr txBox="1"/>
          <p:nvPr/>
        </p:nvSpPr>
        <p:spPr>
          <a:xfrm>
            <a:off x="777240" y="3063240"/>
            <a:ext cx="4937760" cy="365760"/>
          </a:xfrm>
          <a:prstGeom prst="rect">
            <a:avLst/>
          </a:prstGeom>
          <a:noFill/>
          <a:ln/>
        </p:spPr>
        <p:txBody>
          <a:bodyPr wrap="square" lIns="0" tIns="0" rIns="0" bIns="0" rtlCol="0" anchor="t"/>
          <a:lstStyle/>
          <a:p>
            <a:pPr indent="0" marL="0">
              <a:buNone/>
            </a:pPr>
            <a:r>
              <a:rPr lang="en-US" sz="1300" dirty="0">
                <a:solidFill>
                  <a:srgbClr val="F2B77B"/>
                </a:solidFill>
                <a:latin typeface="Calibri" pitchFamily="34" charset="0"/>
                <a:ea typeface="Calibri" pitchFamily="34" charset="-122"/>
                <a:cs typeface="Calibri" pitchFamily="34" charset="-120"/>
              </a:rPr>
              <a:t>Decides Review vs Switch.</a:t>
            </a:r>
            <a:endParaRPr lang="en-US" sz="1300" dirty="0"/>
          </a:p>
        </p:txBody>
      </p:sp>
      <p:sp>
        <p:nvSpPr>
          <p:cNvPr id="8" name="Shape 6"/>
          <p:cNvSpPr/>
          <p:nvPr/>
        </p:nvSpPr>
        <p:spPr>
          <a:xfrm>
            <a:off x="6199632" y="1645920"/>
            <a:ext cx="5440680" cy="1920240"/>
          </a:xfrm>
          <a:prstGeom prst="roundRect">
            <a:avLst>
              <a:gd name="adj" fmla="val 3810"/>
            </a:avLst>
          </a:prstGeom>
          <a:solidFill>
            <a:srgbClr val="1E2E52"/>
          </a:solidFill>
          <a:ln w="9525">
            <a:solidFill>
              <a:srgbClr val="1E2E52"/>
            </a:solidFill>
            <a:prstDash val="solid"/>
          </a:ln>
        </p:spPr>
        <p:txBody>
          <a:bodyPr/>
          <a:p/>
        </p:txBody>
      </p:sp>
      <p:sp>
        <p:nvSpPr>
          <p:cNvPr id="9" name="Text 7"/>
          <p:cNvSpPr txBox="1"/>
          <p:nvPr/>
        </p:nvSpPr>
        <p:spPr>
          <a:xfrm>
            <a:off x="6428232" y="1783080"/>
            <a:ext cx="4937760" cy="365760"/>
          </a:xfrm>
          <a:prstGeom prst="rect">
            <a:avLst/>
          </a:prstGeom>
          <a:noFill/>
          <a:ln/>
        </p:spPr>
        <p:txBody>
          <a:bodyPr wrap="square" lIns="0" tIns="0" rIns="0" bIns="0" rtlCol="0" anchor="t"/>
          <a:lstStyle/>
          <a:p>
            <a:pPr indent="0" marL="0">
              <a:buNone/>
            </a:pPr>
            <a:r>
              <a:rPr lang="en-US" sz="2000" b="1" dirty="0">
                <a:solidFill>
                  <a:srgbClr val="7FD1C7"/>
                </a:solidFill>
                <a:latin typeface="Calibri" pitchFamily="34" charset="0"/>
                <a:ea typeface="Calibri" pitchFamily="34" charset="-122"/>
                <a:cs typeface="Calibri" pitchFamily="34" charset="-120"/>
              </a:rPr>
              <a:t>Computational variation</a:t>
            </a:r>
            <a:endParaRPr lang="en-US" sz="2000" dirty="0"/>
          </a:p>
        </p:txBody>
      </p:sp>
      <p:sp>
        <p:nvSpPr>
          <p:cNvPr id="10" name="Text 8"/>
          <p:cNvSpPr txBox="1"/>
          <p:nvPr/>
        </p:nvSpPr>
        <p:spPr>
          <a:xfrm>
            <a:off x="6428232" y="2240280"/>
            <a:ext cx="4937760" cy="731520"/>
          </a:xfrm>
          <a:prstGeom prst="rect">
            <a:avLst/>
          </a:prstGeom>
          <a:noFill/>
          <a:ln/>
        </p:spPr>
        <p:txBody>
          <a:bodyPr wrap="square" lIns="0" tIns="0" rIns="0" bIns="0" rtlCol="0" anchor="t"/>
          <a:lstStyle/>
          <a:p>
            <a:pPr indent="0" marL="0">
              <a:buNone/>
            </a:pPr>
            <a:r>
              <a:rPr lang="en-US" sz="1500" dirty="0">
                <a:solidFill>
                  <a:srgbClr val="D9DEE8"/>
                </a:solidFill>
                <a:latin typeface="Calibri" pitchFamily="34" charset="0"/>
                <a:ea typeface="Calibri" pitchFamily="34" charset="-122"/>
                <a:cs typeface="Calibri" pitchFamily="34" charset="-120"/>
              </a:rPr>
              <a:t>Random seeds, shots, depth. Measured by repeating the quantum run.</a:t>
            </a:r>
            <a:endParaRPr lang="en-US" sz="1500" dirty="0"/>
          </a:p>
        </p:txBody>
      </p:sp>
      <p:sp>
        <p:nvSpPr>
          <p:cNvPr id="11" name="Text 9"/>
          <p:cNvSpPr txBox="1"/>
          <p:nvPr/>
        </p:nvSpPr>
        <p:spPr>
          <a:xfrm>
            <a:off x="6428232" y="3063240"/>
            <a:ext cx="4937760" cy="365760"/>
          </a:xfrm>
          <a:prstGeom prst="rect">
            <a:avLst/>
          </a:prstGeom>
          <a:noFill/>
          <a:ln/>
        </p:spPr>
        <p:txBody>
          <a:bodyPr wrap="square" lIns="0" tIns="0" rIns="0" bIns="0" rtlCol="0" anchor="t"/>
          <a:lstStyle/>
          <a:p>
            <a:pPr indent="0" marL="0">
              <a:buNone/>
            </a:pPr>
            <a:r>
              <a:rPr lang="en-US" sz="1300" dirty="0">
                <a:solidFill>
                  <a:srgbClr val="F2B77B"/>
                </a:solidFill>
                <a:latin typeface="Calibri" pitchFamily="34" charset="0"/>
                <a:ea typeface="Calibri" pitchFamily="34" charset="-122"/>
                <a:cs typeface="Calibri" pitchFamily="34" charset="-120"/>
              </a:rPr>
              <a:t>Never decides: the exact optimum is always computed.</a:t>
            </a:r>
            <a:endParaRPr lang="en-US" sz="1300" dirty="0"/>
          </a:p>
        </p:txBody>
      </p:sp>
      <p:sp>
        <p:nvSpPr>
          <p:cNvPr id="12" name="Text 10"/>
          <p:cNvSpPr txBox="1"/>
          <p:nvPr/>
        </p:nvSpPr>
        <p:spPr>
          <a:xfrm>
            <a:off x="548640" y="3886200"/>
            <a:ext cx="11064240" cy="2194560"/>
          </a:xfrm>
          <a:prstGeom prst="rect">
            <a:avLst/>
          </a:prstGeom>
          <a:noFill/>
          <a:ln/>
        </p:spPr>
        <p:txBody>
          <a:bodyPr wrap="square" lIns="0" tIns="0" rIns="0" bIns="0" rtlCol="0" anchor="t"/>
          <a:lstStyle/>
          <a:p>
            <a:pPr marL="342900" indent="-342900">
              <a:spcAft>
                <a:spcPts val="1000"/>
              </a:spcAft>
              <a:buSzPct val="100000"/>
              <a:buChar char="•"/>
            </a:pPr>
            <a:r>
              <a:rPr lang="en-US" sz="1600" b="1" dirty="0">
                <a:solidFill>
                  <a:srgbClr val="F6F3EC"/>
                </a:solidFill>
                <a:latin typeface="Calibri" pitchFamily="34" charset="0"/>
                <a:ea typeface="Calibri" pitchFamily="34" charset="-122"/>
                <a:cs typeface="Calibri" pitchFamily="34" charset="-120"/>
              </a:rPr>
              <a:t>Active choice: </a:t>
            </a:r>
            <a:pPr indent="0" marL="0">
              <a:spcAft>
                <a:spcPts val="1000"/>
              </a:spcAft>
              <a:buNone/>
            </a:pPr>
            <a:r>
              <a:rPr lang="en-US" sz="1600" dirty="0">
                <a:solidFill>
                  <a:srgbClr val="F6F3EC"/>
                </a:solidFill>
                <a:latin typeface="Calibri" pitchFamily="34" charset="0"/>
                <a:ea typeface="Calibri" pitchFamily="34" charset="-122"/>
                <a:cs typeface="Calibri" pitchFamily="34" charset="-120"/>
              </a:rPr>
              <a:t>the insured each pick a profile, so it must be explained in plain words.</a:t>
            </a:r>
            <a:endParaRPr lang="en-US" sz="1600" dirty="0"/>
          </a:p>
          <a:p>
            <a:pPr marL="342900" indent="-342900">
              <a:spcAft>
                <a:spcPts val="1000"/>
              </a:spcAft>
              <a:buSzPct val="100000"/>
              <a:buChar char="•"/>
            </a:pPr>
            <a:r>
              <a:rPr lang="en-US" sz="1600" b="1" dirty="0">
                <a:solidFill>
                  <a:srgbClr val="F6F3EC"/>
                </a:solidFill>
                <a:latin typeface="Calibri" pitchFamily="34" charset="0"/>
                <a:ea typeface="Calibri" pitchFamily="34" charset="-122"/>
                <a:cs typeface="Calibri" pitchFamily="34" charset="-120"/>
              </a:rPr>
              <a:t>Default effect: </a:t>
            </a:r>
            <a:pPr indent="0" marL="0">
              <a:spcAft>
                <a:spcPts val="1000"/>
              </a:spcAft>
              <a:buNone/>
            </a:pPr>
            <a:r>
              <a:rPr lang="en-US" sz="1600" dirty="0">
                <a:solidFill>
                  <a:srgbClr val="F6F3EC"/>
                </a:solidFill>
                <a:latin typeface="Calibri" pitchFamily="34" charset="0"/>
                <a:ea typeface="Calibri" pitchFamily="34" charset="-122"/>
                <a:cs typeface="Calibri" pitchFamily="34" charset="-120"/>
              </a:rPr>
              <a:t>non-choosers get balanced, the most fragile answer. A default needs a justification.</a:t>
            </a:r>
            <a:endParaRPr lang="en-US" sz="1600" dirty="0"/>
          </a:p>
          <a:p>
            <a:pPr marL="342900" indent="-342900">
              <a:spcAft>
                <a:spcPts val="1000"/>
              </a:spcAft>
              <a:buSzPct val="100000"/>
              <a:buChar char="•"/>
            </a:pPr>
            <a:r>
              <a:rPr lang="en-US" sz="1600" b="1" dirty="0">
                <a:solidFill>
                  <a:srgbClr val="F6F3EC"/>
                </a:solidFill>
                <a:latin typeface="Calibri" pitchFamily="34" charset="0"/>
                <a:ea typeface="Calibri" pitchFamily="34" charset="-122"/>
                <a:cs typeface="Calibri" pitchFamily="34" charset="-120"/>
              </a:rPr>
              <a:t>Outside the model: </a:t>
            </a:r>
            <a:pPr indent="0" marL="0">
              <a:spcAft>
                <a:spcPts val="1000"/>
              </a:spcAft>
              <a:buNone/>
            </a:pPr>
            <a:r>
              <a:rPr lang="en-US" sz="1600" dirty="0">
                <a:solidFill>
                  <a:srgbClr val="F6F3EC"/>
                </a:solidFill>
                <a:latin typeface="Calibri" pitchFamily="34" charset="0"/>
                <a:ea typeface="Calibri" pitchFamily="34" charset="-122"/>
                <a:cs typeface="Calibri" pitchFamily="34" charset="-120"/>
              </a:rPr>
              <a:t>tilt size, the core, liquidity, tax, global universe, politics.</a:t>
            </a:r>
            <a:endParaRPr lang="en-US" sz="1600" dirty="0"/>
          </a:p>
        </p:txBody>
      </p:sp>
      <p:sp>
        <p:nvSpPr>
          <p:cNvPr id="13" name="Text 11"/>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100" dirty="0">
                <a:solidFill>
                  <a:srgbClr val="BFC7D6"/>
                </a:solidFill>
                <a:latin typeface="Calibri" pitchFamily="34" charset="0"/>
                <a:ea typeface="Calibri" pitchFamily="34" charset="-122"/>
                <a:cs typeface="Calibri" pitchFamily="34" charset="-120"/>
              </a:rPr>
              <a:t>Supervision and DORA applicability are our reading and still to be confirmed. Details: docs/responsibility.md</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200" b="1" spc="300" kern="0" dirty="0">
                <a:solidFill>
                  <a:srgbClr val="17756F"/>
                </a:solidFill>
                <a:latin typeface="Calibri" pitchFamily="34" charset="0"/>
                <a:ea typeface="Calibri" pitchFamily="34" charset="-122"/>
                <a:cs typeface="Calibri" pitchFamily="34" charset="-120"/>
              </a:rPr>
              <a:t>LIMITS</a:t>
            </a:r>
            <a:endParaRPr lang="en-US" sz="12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200" b="1" dirty="0">
                <a:solidFill>
                  <a:srgbClr val="14213D"/>
                </a:solidFill>
                <a:latin typeface="Cambria" pitchFamily="34" charset="0"/>
                <a:ea typeface="Cambria" pitchFamily="34" charset="-122"/>
                <a:cs typeface="Cambria" pitchFamily="34" charset="-120"/>
              </a:rPr>
              <a:t>No quantum advantage, and we say so</a:t>
            </a:r>
            <a:endParaRPr lang="en-US" sz="3200" dirty="0"/>
          </a:p>
        </p:txBody>
      </p:sp>
      <p:sp>
        <p:nvSpPr>
          <p:cNvPr id="4" name="Shape 2"/>
          <p:cNvSpPr/>
          <p:nvPr/>
        </p:nvSpPr>
        <p:spPr>
          <a:xfrm>
            <a:off x="548640" y="1645920"/>
            <a:ext cx="5440680" cy="3566160"/>
          </a:xfrm>
          <a:prstGeom prst="roundRect">
            <a:avLst>
              <a:gd name="adj" fmla="val 2051"/>
            </a:avLst>
          </a:prstGeom>
          <a:solidFill>
            <a:srgbClr val="F4F6F8"/>
          </a:solidFill>
          <a:ln w="9525">
            <a:solidFill>
              <a:srgbClr val="F4F6F8"/>
            </a:solidFill>
            <a:prstDash val="solid"/>
          </a:ln>
        </p:spPr>
        <p:txBody>
          <a:bodyPr/>
          <a:p/>
        </p:txBody>
      </p:sp>
      <p:sp>
        <p:nvSpPr>
          <p:cNvPr id="5" name="Text 3"/>
          <p:cNvSpPr txBox="1"/>
          <p:nvPr/>
        </p:nvSpPr>
        <p:spPr>
          <a:xfrm>
            <a:off x="822960" y="1828800"/>
            <a:ext cx="4937760" cy="457200"/>
          </a:xfrm>
          <a:prstGeom prst="rect">
            <a:avLst/>
          </a:prstGeom>
          <a:noFill/>
          <a:ln/>
        </p:spPr>
        <p:txBody>
          <a:bodyPr wrap="square" lIns="0" tIns="0" rIns="0" bIns="0" rtlCol="0" anchor="t"/>
          <a:lstStyle/>
          <a:p>
            <a:pPr indent="0" marL="0">
              <a:buNone/>
            </a:pPr>
            <a:r>
              <a:rPr lang="en-US" sz="2000" b="1" dirty="0">
                <a:solidFill>
                  <a:srgbClr val="17756F"/>
                </a:solidFill>
                <a:latin typeface="Calibri" pitchFamily="34" charset="0"/>
                <a:ea typeface="Calibri" pitchFamily="34" charset="-122"/>
                <a:cs typeface="Calibri" pitchFamily="34" charset="-120"/>
              </a:rPr>
              <a:t>What we do show</a:t>
            </a:r>
            <a:endParaRPr lang="en-US" sz="2000" dirty="0"/>
          </a:p>
        </p:txBody>
      </p:sp>
      <p:sp>
        <p:nvSpPr>
          <p:cNvPr id="6" name="Text 4"/>
          <p:cNvSpPr txBox="1"/>
          <p:nvPr/>
        </p:nvSpPr>
        <p:spPr>
          <a:xfrm>
            <a:off x="822960" y="2377440"/>
            <a:ext cx="4937760" cy="25603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4213D"/>
                </a:solidFill>
                <a:latin typeface="Calibri" pitchFamily="34" charset="0"/>
                <a:ea typeface="Calibri" pitchFamily="34" charset="-122"/>
                <a:cs typeface="Calibri" pitchFamily="34" charset="-120"/>
              </a:rPr>
              <a:t>A checked encoding that keeps the rules</a:t>
            </a:r>
            <a:endParaRPr lang="en-US" sz="1600" dirty="0"/>
          </a:p>
          <a:p>
            <a:pPr marL="342900" indent="-342900">
              <a:spcAft>
                <a:spcPts val="800"/>
              </a:spcAft>
              <a:buSzPct val="100000"/>
              <a:buChar char="•"/>
            </a:pPr>
            <a:r>
              <a:rPr lang="en-US" sz="1600" dirty="0">
                <a:solidFill>
                  <a:srgbClr val="14213D"/>
                </a:solidFill>
                <a:latin typeface="Calibri" pitchFamily="34" charset="0"/>
                <a:ea typeface="Calibri" pitchFamily="34" charset="-122"/>
                <a:cs typeface="Calibri" pitchFamily="34" charset="-120"/>
              </a:rPr>
              <a:t>Every result graded against the exact answer</a:t>
            </a:r>
            <a:endParaRPr lang="en-US" sz="1600" dirty="0"/>
          </a:p>
          <a:p>
            <a:pPr marL="342900" indent="-342900">
              <a:spcAft>
                <a:spcPts val="800"/>
              </a:spcAft>
              <a:buSzPct val="100000"/>
              <a:buChar char="•"/>
            </a:pPr>
            <a:r>
              <a:rPr lang="en-US" sz="1600" dirty="0">
                <a:solidFill>
                  <a:srgbClr val="14213D"/>
                </a:solidFill>
                <a:latin typeface="Calibri" pitchFamily="34" charset="0"/>
                <a:ea typeface="Calibri" pitchFamily="34" charset="-122"/>
                <a:cs typeface="Calibri" pitchFamily="34" charset="-120"/>
              </a:rPr>
              <a:t>A map of what flips the answer</a:t>
            </a:r>
            <a:endParaRPr lang="en-US" sz="1600" dirty="0"/>
          </a:p>
          <a:p>
            <a:pPr marL="342900" indent="-342900">
              <a:spcAft>
                <a:spcPts val="800"/>
              </a:spcAft>
              <a:buSzPct val="100000"/>
              <a:buChar char="•"/>
            </a:pPr>
            <a:r>
              <a:rPr lang="en-US" sz="1600" dirty="0">
                <a:solidFill>
                  <a:srgbClr val="14213D"/>
                </a:solidFill>
                <a:latin typeface="Calibri" pitchFamily="34" charset="0"/>
                <a:ea typeface="Calibri" pitchFamily="34" charset="-122"/>
                <a:cs typeface="Calibri" pitchFamily="34" charset="-120"/>
              </a:rPr>
              <a:t>Same numbers on a second laptop</a:t>
            </a:r>
            <a:endParaRPr lang="en-US" sz="1600" dirty="0"/>
          </a:p>
        </p:txBody>
      </p:sp>
      <p:sp>
        <p:nvSpPr>
          <p:cNvPr id="7" name="Shape 5"/>
          <p:cNvSpPr/>
          <p:nvPr/>
        </p:nvSpPr>
        <p:spPr>
          <a:xfrm>
            <a:off x="6199632" y="1645920"/>
            <a:ext cx="5440680" cy="3566160"/>
          </a:xfrm>
          <a:prstGeom prst="roundRect">
            <a:avLst>
              <a:gd name="adj" fmla="val 2051"/>
            </a:avLst>
          </a:prstGeom>
          <a:solidFill>
            <a:srgbClr val="F4F6F8"/>
          </a:solidFill>
          <a:ln w="9525">
            <a:solidFill>
              <a:srgbClr val="F4F6F8"/>
            </a:solidFill>
            <a:prstDash val="solid"/>
          </a:ln>
        </p:spPr>
        <p:txBody>
          <a:bodyPr/>
          <a:p/>
        </p:txBody>
      </p:sp>
      <p:sp>
        <p:nvSpPr>
          <p:cNvPr id="8" name="Text 6"/>
          <p:cNvSpPr txBox="1"/>
          <p:nvPr/>
        </p:nvSpPr>
        <p:spPr>
          <a:xfrm>
            <a:off x="6473952" y="1828800"/>
            <a:ext cx="4937760" cy="457200"/>
          </a:xfrm>
          <a:prstGeom prst="rect">
            <a:avLst/>
          </a:prstGeom>
          <a:noFill/>
          <a:ln/>
        </p:spPr>
        <p:txBody>
          <a:bodyPr wrap="square" lIns="0" tIns="0" rIns="0" bIns="0" rtlCol="0" anchor="t"/>
          <a:lstStyle/>
          <a:p>
            <a:pPr indent="0" marL="0">
              <a:buNone/>
            </a:pPr>
            <a:r>
              <a:rPr lang="en-US" sz="2000" b="1" dirty="0">
                <a:solidFill>
                  <a:srgbClr val="B4561A"/>
                </a:solidFill>
                <a:latin typeface="Calibri" pitchFamily="34" charset="0"/>
                <a:ea typeface="Calibri" pitchFamily="34" charset="-122"/>
                <a:cs typeface="Calibri" pitchFamily="34" charset="-120"/>
              </a:rPr>
              <a:t>What we do not show</a:t>
            </a:r>
            <a:endParaRPr lang="en-US" sz="2000" dirty="0"/>
          </a:p>
        </p:txBody>
      </p:sp>
      <p:sp>
        <p:nvSpPr>
          <p:cNvPr id="9" name="Text 7"/>
          <p:cNvSpPr txBox="1"/>
          <p:nvPr/>
        </p:nvSpPr>
        <p:spPr>
          <a:xfrm>
            <a:off x="6473952" y="2377440"/>
            <a:ext cx="4937760" cy="26517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4213D"/>
                </a:solidFill>
                <a:latin typeface="Calibri" pitchFamily="34" charset="0"/>
                <a:ea typeface="Calibri" pitchFamily="34" charset="-122"/>
                <a:cs typeface="Calibri" pitchFamily="34" charset="-120"/>
              </a:rPr>
              <a:t>That quantum beats classical: 20 options are trivial</a:t>
            </a:r>
            <a:endParaRPr lang="en-US" sz="1600" dirty="0"/>
          </a:p>
          <a:p>
            <a:pPr marL="342900" indent="-342900">
              <a:spcAft>
                <a:spcPts val="800"/>
              </a:spcAft>
              <a:buSzPct val="100000"/>
              <a:buChar char="•"/>
            </a:pPr>
            <a:r>
              <a:rPr lang="en-US" sz="1600" dirty="0">
                <a:solidFill>
                  <a:srgbClr val="14213D"/>
                </a:solidFill>
                <a:latin typeface="Calibri" pitchFamily="34" charset="0"/>
                <a:ea typeface="Calibri" pitchFamily="34" charset="-122"/>
                <a:cs typeface="Calibri" pitchFamily="34" charset="-120"/>
              </a:rPr>
              <a:t>Hardware results: simulator only, no noise</a:t>
            </a:r>
            <a:endParaRPr lang="en-US" sz="1600" dirty="0"/>
          </a:p>
          <a:p>
            <a:pPr marL="342900" indent="-342900">
              <a:spcAft>
                <a:spcPts val="800"/>
              </a:spcAft>
              <a:buSzPct val="100000"/>
              <a:buChar char="•"/>
            </a:pPr>
            <a:r>
              <a:rPr lang="en-US" sz="1600" dirty="0">
                <a:solidFill>
                  <a:srgbClr val="14213D"/>
                </a:solidFill>
                <a:latin typeface="Calibri" pitchFamily="34" charset="0"/>
                <a:ea typeface="Calibri" pitchFamily="34" charset="-122"/>
                <a:cs typeface="Calibri" pitchFamily="34" charset="-120"/>
              </a:rPr>
              <a:t>Real-fund fit: 60 months, US sectors, no liquidity, tax or ESG</a:t>
            </a:r>
            <a:endParaRPr lang="en-US" sz="1600" dirty="0"/>
          </a:p>
          <a:p>
            <a:pPr marL="342900" indent="-342900">
              <a:spcAft>
                <a:spcPts val="800"/>
              </a:spcAft>
              <a:buSzPct val="100000"/>
              <a:buChar char="•"/>
            </a:pPr>
            <a:r>
              <a:rPr lang="en-US" sz="1600" dirty="0">
                <a:solidFill>
                  <a:srgbClr val="14213D"/>
                </a:solidFill>
                <a:latin typeface="Calibri" pitchFamily="34" charset="0"/>
                <a:ea typeface="Calibri" pitchFamily="34" charset="-122"/>
                <a:cs typeface="Calibri" pitchFamily="34" charset="-120"/>
              </a:rPr>
              <a:t>Real mandate numbers: ours are assumptions</a:t>
            </a:r>
            <a:endParaRPr lang="en-US" sz="1600" dirty="0"/>
          </a:p>
        </p:txBody>
      </p:sp>
      <p:sp>
        <p:nvSpPr>
          <p:cNvPr id="10" name="Text 8"/>
          <p:cNvSpPr txBox="1"/>
          <p:nvPr/>
        </p:nvSpPr>
        <p:spPr>
          <a:xfrm>
            <a:off x="548640" y="5440680"/>
            <a:ext cx="11064240" cy="548640"/>
          </a:xfrm>
          <a:prstGeom prst="rect">
            <a:avLst/>
          </a:prstGeom>
          <a:noFill/>
          <a:ln/>
        </p:spPr>
        <p:txBody>
          <a:bodyPr wrap="square" lIns="0" tIns="0" rIns="0" bIns="0" rtlCol="0" anchor="t"/>
          <a:lstStyle/>
          <a:p>
            <a:pPr indent="0" marL="0">
              <a:buNone/>
            </a:pPr>
            <a:r>
              <a:rPr lang="en-US" sz="1600" dirty="0">
                <a:solidFill>
                  <a:srgbClr val="4A5568"/>
                </a:solidFill>
                <a:latin typeface="Calibri" pitchFamily="34" charset="0"/>
                <a:ea typeface="Calibri" pitchFamily="34" charset="-122"/>
                <a:cs typeface="Calibri" pitchFamily="34" charset="-120"/>
              </a:rPr>
              <a:t>Equal weights and exactly 3 holdings are simplifications. The switching cost is a proxy, not a fee model.</a:t>
            </a:r>
            <a:endParaRPr lang="en-US" sz="1600" dirty="0"/>
          </a:p>
        </p:txBody>
      </p:sp>
      <p:sp>
        <p:nvSpPr>
          <p:cNvPr id="11" name="Text 9"/>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100" dirty="0">
                <a:solidFill>
                  <a:srgbClr val="5A626B"/>
                </a:solidFill>
                <a:latin typeface="Calibri" pitchFamily="34" charset="0"/>
                <a:ea typeface="Calibri" pitchFamily="34" charset="-122"/>
                <a:cs typeface="Calibri" pitchFamily="34" charset="-120"/>
              </a:rPr>
              <a:t>A small, transparent result beats a big unexplained one.</a:t>
            </a:r>
            <a:endParaRPr lang="en-US" sz="11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20040"/>
            <a:ext cx="10972800" cy="274320"/>
          </a:xfrm>
          <a:prstGeom prst="rect">
            <a:avLst/>
          </a:prstGeom>
          <a:noFill/>
        </p:spPr>
        <p:txBody>
          <a:bodyPr wrap="square" anchor="ctr" lIns="0" rIns="0" tIns="0" bIns="0">
            <a:spAutoFit/>
          </a:bodyPr>
          <a:lstStyle/>
          <a:p>
            <a:pPr algn="l"/>
            <a:r>
              <a:rPr sz="1200" b="1" spc="300">
                <a:solidFill>
                  <a:srgbClr val="17756F"/>
                </a:solidFill>
                <a:latin typeface="Calibri"/>
              </a:rPr>
              <a:t>THE STORY WE WANT TO TELL</a:t>
            </a:r>
          </a:p>
        </p:txBody>
      </p:sp>
      <p:sp>
        <p:nvSpPr>
          <p:cNvPr id="3" name="Title"/>
          <p:cNvSpPr txBox="1"/>
          <p:nvPr/>
        </p:nvSpPr>
        <p:spPr>
          <a:xfrm>
            <a:off x="548640" y="640080"/>
            <a:ext cx="11064240" cy="822960"/>
          </a:xfrm>
          <a:prstGeom prst="rect">
            <a:avLst/>
          </a:prstGeom>
          <a:noFill/>
        </p:spPr>
        <p:txBody>
          <a:bodyPr wrap="square" anchor="t" lIns="0" rIns="0" tIns="0" bIns="0">
            <a:spAutoFit/>
          </a:bodyPr>
          <a:lstStyle/>
          <a:p>
            <a:pPr algn="l"/>
            <a:r>
              <a:rPr sz="3200" b="1">
                <a:solidFill>
                  <a:srgbClr val="14213D"/>
                </a:solidFill>
                <a:latin typeface="Cambria"/>
              </a:rPr>
              <a:t>A pension fund that decides under changing assumptions</a:t>
            </a:r>
          </a:p>
        </p:txBody>
      </p:sp>
      <p:sp>
        <p:nvSpPr>
          <p:cNvPr id="4" name="Story card 1"/>
          <p:cNvSpPr/>
          <p:nvPr/>
        </p:nvSpPr>
        <p:spPr>
          <a:xfrm>
            <a:off x="548640" y="1737360"/>
            <a:ext cx="2651760" cy="329184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965960"/>
            <a:ext cx="2194560" cy="274320"/>
          </a:xfrm>
          <a:prstGeom prst="rect">
            <a:avLst/>
          </a:prstGeom>
          <a:noFill/>
        </p:spPr>
        <p:txBody>
          <a:bodyPr wrap="square" anchor="t" lIns="0" rIns="0" tIns="0" bIns="0">
            <a:spAutoFit/>
          </a:bodyPr>
          <a:lstStyle/>
          <a:p>
            <a:pPr algn="l"/>
            <a:r>
              <a:rPr sz="1200" b="1">
                <a:solidFill>
                  <a:srgbClr val="17756F"/>
                </a:solidFill>
                <a:latin typeface="Calibri"/>
              </a:rPr>
              <a:t>01 · HERO</a:t>
            </a:r>
          </a:p>
        </p:txBody>
      </p:sp>
      <p:sp>
        <p:nvSpPr>
          <p:cNvPr id="6" name="TextBox 5"/>
          <p:cNvSpPr txBox="1"/>
          <p:nvPr/>
        </p:nvSpPr>
        <p:spPr>
          <a:xfrm>
            <a:off x="777240" y="2377440"/>
            <a:ext cx="2194560" cy="822960"/>
          </a:xfrm>
          <a:prstGeom prst="rect">
            <a:avLst/>
          </a:prstGeom>
          <a:noFill/>
        </p:spPr>
        <p:txBody>
          <a:bodyPr wrap="square" anchor="t" lIns="0" rIns="0" tIns="0" bIns="0">
            <a:spAutoFit/>
          </a:bodyPr>
          <a:lstStyle/>
          <a:p>
            <a:pPr algn="l"/>
            <a:r>
              <a:rPr sz="2200" b="1">
                <a:solidFill>
                  <a:srgbClr val="14213D"/>
                </a:solidFill>
                <a:latin typeface="Calibri"/>
              </a:rPr>
              <a:t>The insured</a:t>
            </a:r>
          </a:p>
        </p:txBody>
      </p:sp>
      <p:sp>
        <p:nvSpPr>
          <p:cNvPr id="7" name="TextBox 6"/>
          <p:cNvSpPr txBox="1"/>
          <p:nvPr/>
        </p:nvSpPr>
        <p:spPr>
          <a:xfrm>
            <a:off x="777240" y="3291840"/>
            <a:ext cx="2194560" cy="1554480"/>
          </a:xfrm>
          <a:prstGeom prst="rect">
            <a:avLst/>
          </a:prstGeom>
          <a:noFill/>
        </p:spPr>
        <p:txBody>
          <a:bodyPr wrap="square" anchor="t" lIns="0" rIns="0" tIns="0" bIns="0">
            <a:spAutoFit/>
          </a:bodyPr>
          <a:lstStyle/>
          <a:p>
            <a:pPr algn="l"/>
            <a:r>
              <a:rPr sz="1600" b="0">
                <a:solidFill>
                  <a:srgbClr val="4A5568"/>
                </a:solidFill>
                <a:latin typeface="Calibri"/>
              </a:rPr>
              <a:t>They bear every loss of the new public Kapitalrente fund.</a:t>
            </a:r>
          </a:p>
        </p:txBody>
      </p:sp>
      <p:sp>
        <p:nvSpPr>
          <p:cNvPr id="8" name="Story card 2"/>
          <p:cNvSpPr/>
          <p:nvPr/>
        </p:nvSpPr>
        <p:spPr>
          <a:xfrm>
            <a:off x="3346704" y="1737360"/>
            <a:ext cx="2651760" cy="329184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75304" y="1965960"/>
            <a:ext cx="2194560" cy="274320"/>
          </a:xfrm>
          <a:prstGeom prst="rect">
            <a:avLst/>
          </a:prstGeom>
          <a:noFill/>
        </p:spPr>
        <p:txBody>
          <a:bodyPr wrap="square" anchor="t" lIns="0" rIns="0" tIns="0" bIns="0">
            <a:spAutoFit/>
          </a:bodyPr>
          <a:lstStyle/>
          <a:p>
            <a:pPr algn="l"/>
            <a:r>
              <a:rPr sz="1200" b="1">
                <a:solidFill>
                  <a:srgbClr val="17756F"/>
                </a:solidFill>
                <a:latin typeface="Calibri"/>
              </a:rPr>
              <a:t>02 · CHALLENGE</a:t>
            </a:r>
          </a:p>
        </p:txBody>
      </p:sp>
      <p:sp>
        <p:nvSpPr>
          <p:cNvPr id="10" name="TextBox 9"/>
          <p:cNvSpPr txBox="1"/>
          <p:nvPr/>
        </p:nvSpPr>
        <p:spPr>
          <a:xfrm>
            <a:off x="3575304" y="2377440"/>
            <a:ext cx="2194560" cy="822960"/>
          </a:xfrm>
          <a:prstGeom prst="rect">
            <a:avLst/>
          </a:prstGeom>
          <a:noFill/>
        </p:spPr>
        <p:txBody>
          <a:bodyPr wrap="square" anchor="t" lIns="0" rIns="0" tIns="0" bIns="0">
            <a:spAutoFit/>
          </a:bodyPr>
          <a:lstStyle/>
          <a:p>
            <a:pPr algn="l"/>
            <a:r>
              <a:rPr sz="2200" b="1">
                <a:solidFill>
                  <a:srgbClr val="14213D"/>
                </a:solidFill>
                <a:latin typeface="Calibri"/>
              </a:rPr>
              <a:t>Switch or keep?</a:t>
            </a:r>
          </a:p>
        </p:txBody>
      </p:sp>
      <p:sp>
        <p:nvSpPr>
          <p:cNvPr id="11" name="TextBox 10"/>
          <p:cNvSpPr txBox="1"/>
          <p:nvPr/>
        </p:nvSpPr>
        <p:spPr>
          <a:xfrm>
            <a:off x="3575304" y="3291840"/>
            <a:ext cx="2194560" cy="1554480"/>
          </a:xfrm>
          <a:prstGeom prst="rect">
            <a:avLst/>
          </a:prstGeom>
          <a:noFill/>
        </p:spPr>
        <p:txBody>
          <a:bodyPr wrap="square" anchor="t" lIns="0" rIns="0" tIns="0" bIns="0">
            <a:spAutoFit/>
          </a:bodyPr>
          <a:lstStyle/>
          <a:p>
            <a:pPr algn="l"/>
            <a:r>
              <a:rPr sz="1600" b="0">
                <a:solidFill>
                  <a:srgbClr val="4A5568"/>
                </a:solidFill>
                <a:latin typeface="Calibri"/>
              </a:rPr>
              <a:t>Swap consumer goods for tech? The answer flips when assumptions move.</a:t>
            </a:r>
          </a:p>
        </p:txBody>
      </p:sp>
      <p:sp>
        <p:nvSpPr>
          <p:cNvPr id="12" name="Story card 3"/>
          <p:cNvSpPr/>
          <p:nvPr/>
        </p:nvSpPr>
        <p:spPr>
          <a:xfrm>
            <a:off x="6144768" y="1737360"/>
            <a:ext cx="2651760" cy="329184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3368" y="1965960"/>
            <a:ext cx="2194560" cy="274320"/>
          </a:xfrm>
          <a:prstGeom prst="rect">
            <a:avLst/>
          </a:prstGeom>
          <a:noFill/>
        </p:spPr>
        <p:txBody>
          <a:bodyPr wrap="square" anchor="t" lIns="0" rIns="0" tIns="0" bIns="0">
            <a:spAutoFit/>
          </a:bodyPr>
          <a:lstStyle/>
          <a:p>
            <a:pPr algn="l"/>
            <a:r>
              <a:rPr sz="1200" b="1">
                <a:solidFill>
                  <a:srgbClr val="17756F"/>
                </a:solidFill>
                <a:latin typeface="Calibri"/>
              </a:rPr>
              <a:t>03 · GUIDE</a:t>
            </a:r>
          </a:p>
        </p:txBody>
      </p:sp>
      <p:sp>
        <p:nvSpPr>
          <p:cNvPr id="14" name="TextBox 13"/>
          <p:cNvSpPr txBox="1"/>
          <p:nvPr/>
        </p:nvSpPr>
        <p:spPr>
          <a:xfrm>
            <a:off x="6373368" y="2377440"/>
            <a:ext cx="2194560" cy="822960"/>
          </a:xfrm>
          <a:prstGeom prst="rect">
            <a:avLst/>
          </a:prstGeom>
          <a:noFill/>
        </p:spPr>
        <p:txBody>
          <a:bodyPr wrap="square" anchor="t" lIns="0" rIns="0" tIns="0" bIns="0">
            <a:spAutoFit/>
          </a:bodyPr>
          <a:lstStyle/>
          <a:p>
            <a:pPr algn="l"/>
            <a:r>
              <a:rPr sz="2200" b="1">
                <a:solidFill>
                  <a:srgbClr val="14213D"/>
                </a:solidFill>
                <a:latin typeface="Calibri"/>
              </a:rPr>
              <a:t>Rule-safe quantum</a:t>
            </a:r>
          </a:p>
        </p:txBody>
      </p:sp>
      <p:sp>
        <p:nvSpPr>
          <p:cNvPr id="15" name="TextBox 14"/>
          <p:cNvSpPr txBox="1"/>
          <p:nvPr/>
        </p:nvSpPr>
        <p:spPr>
          <a:xfrm>
            <a:off x="6373368" y="3291840"/>
            <a:ext cx="2194560" cy="1554480"/>
          </a:xfrm>
          <a:prstGeom prst="rect">
            <a:avLst/>
          </a:prstGeom>
          <a:noFill/>
        </p:spPr>
        <p:txBody>
          <a:bodyPr wrap="square" anchor="t" lIns="0" rIns="0" tIns="0" bIns="0">
            <a:spAutoFit/>
          </a:bodyPr>
          <a:lstStyle/>
          <a:p>
            <a:pPr algn="l"/>
            <a:r>
              <a:rPr sz="1600" b="0">
                <a:solidFill>
                  <a:srgbClr val="4A5568"/>
                </a:solidFill>
                <a:latin typeface="Calibri"/>
              </a:rPr>
              <a:t>A QAOA circuit that can only produce valid portfolios.</a:t>
            </a:r>
          </a:p>
        </p:txBody>
      </p:sp>
      <p:sp>
        <p:nvSpPr>
          <p:cNvPr id="16" name="Story card 4"/>
          <p:cNvSpPr/>
          <p:nvPr/>
        </p:nvSpPr>
        <p:spPr>
          <a:xfrm>
            <a:off x="8942832" y="1737360"/>
            <a:ext cx="2651760" cy="329184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71432" y="1965960"/>
            <a:ext cx="2194560" cy="274320"/>
          </a:xfrm>
          <a:prstGeom prst="rect">
            <a:avLst/>
          </a:prstGeom>
          <a:noFill/>
        </p:spPr>
        <p:txBody>
          <a:bodyPr wrap="square" anchor="t" lIns="0" rIns="0" tIns="0" bIns="0">
            <a:spAutoFit/>
          </a:bodyPr>
          <a:lstStyle/>
          <a:p>
            <a:pPr algn="l"/>
            <a:r>
              <a:rPr sz="1200" b="1">
                <a:solidFill>
                  <a:srgbClr val="D6EBE8"/>
                </a:solidFill>
                <a:latin typeface="Calibri"/>
              </a:rPr>
              <a:t>04 · OUTCOME</a:t>
            </a:r>
          </a:p>
        </p:txBody>
      </p:sp>
      <p:sp>
        <p:nvSpPr>
          <p:cNvPr id="18" name="TextBox 17"/>
          <p:cNvSpPr txBox="1"/>
          <p:nvPr/>
        </p:nvSpPr>
        <p:spPr>
          <a:xfrm>
            <a:off x="9171432" y="2377440"/>
            <a:ext cx="2194560" cy="822960"/>
          </a:xfrm>
          <a:prstGeom prst="rect">
            <a:avLst/>
          </a:prstGeom>
          <a:noFill/>
        </p:spPr>
        <p:txBody>
          <a:bodyPr wrap="square" anchor="t" lIns="0" rIns="0" tIns="0" bIns="0">
            <a:spAutoFit/>
          </a:bodyPr>
          <a:lstStyle/>
          <a:p>
            <a:pPr algn="l"/>
            <a:r>
              <a:rPr sz="2200" b="1">
                <a:solidFill>
                  <a:srgbClr val="FFFFFF"/>
                </a:solidFill>
                <a:latin typeface="Calibri"/>
              </a:rPr>
              <a:t>A Decision Card</a:t>
            </a:r>
          </a:p>
        </p:txBody>
      </p:sp>
      <p:sp>
        <p:nvSpPr>
          <p:cNvPr id="19" name="TextBox 18"/>
          <p:cNvSpPr txBox="1"/>
          <p:nvPr/>
        </p:nvSpPr>
        <p:spPr>
          <a:xfrm>
            <a:off x="9171432" y="3291840"/>
            <a:ext cx="2194560" cy="1554480"/>
          </a:xfrm>
          <a:prstGeom prst="rect">
            <a:avLst/>
          </a:prstGeom>
          <a:noFill/>
        </p:spPr>
        <p:txBody>
          <a:bodyPr wrap="square" anchor="t" lIns="0" rIns="0" tIns="0" bIns="0">
            <a:spAutoFit/>
          </a:bodyPr>
          <a:lstStyle/>
          <a:p>
            <a:pPr algn="l"/>
            <a:r>
              <a:rPr sz="1600" b="0">
                <a:solidFill>
                  <a:srgbClr val="E2E8F0"/>
                </a:solidFill>
                <a:latin typeface="Calibri"/>
              </a:rPr>
              <a:t>Keep, switch or review: with the reason and the break-even.</a:t>
            </a:r>
          </a:p>
        </p:txBody>
      </p:sp>
      <p:sp>
        <p:nvSpPr>
          <p:cNvPr id="20" name="Footer"/>
          <p:cNvSpPr txBox="1"/>
          <p:nvPr/>
        </p:nvSpPr>
        <p:spPr>
          <a:xfrm>
            <a:off x="548640" y="6355080"/>
            <a:ext cx="11064240" cy="274320"/>
          </a:xfrm>
          <a:prstGeom prst="rect">
            <a:avLst/>
          </a:prstGeom>
          <a:noFill/>
        </p:spPr>
        <p:txBody>
          <a:bodyPr wrap="square" anchor="t" lIns="0" rIns="0" tIns="0" bIns="0">
            <a:spAutoFit/>
          </a:bodyPr>
          <a:lstStyle/>
          <a:p>
            <a:pPr algn="l"/>
            <a:r>
              <a:rPr sz="1100" b="0">
                <a:solidFill>
                  <a:srgbClr val="5A626B"/>
                </a:solidFill>
                <a:latin typeface="Calibri"/>
              </a:rPr>
              <a:t>Hero = who it is for · Challenge = the decision · Guide = our method · Outcome = what the committee gets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20040"/>
            <a:ext cx="10972800" cy="274320"/>
          </a:xfrm>
          <a:prstGeom prst="rect">
            <a:avLst/>
          </a:prstGeom>
          <a:noFill/>
        </p:spPr>
        <p:txBody>
          <a:bodyPr wrap="square" anchor="ctr" lIns="0" rIns="0" tIns="0" bIns="0">
            <a:spAutoFit/>
          </a:bodyPr>
          <a:lstStyle/>
          <a:p>
            <a:pPr algn="l"/>
            <a:r>
              <a:rPr sz="1200" b="1" spc="300">
                <a:solidFill>
                  <a:srgbClr val="17756F"/>
                </a:solidFill>
                <a:latin typeface="Calibri"/>
              </a:rPr>
              <a:t>WHAT HAPPENED SO FAR</a:t>
            </a:r>
          </a:p>
        </p:txBody>
      </p:sp>
      <p:sp>
        <p:nvSpPr>
          <p:cNvPr id="3" name="Title"/>
          <p:cNvSpPr txBox="1"/>
          <p:nvPr/>
        </p:nvSpPr>
        <p:spPr>
          <a:xfrm>
            <a:off x="548640" y="640080"/>
            <a:ext cx="11064240" cy="822960"/>
          </a:xfrm>
          <a:prstGeom prst="rect">
            <a:avLst/>
          </a:prstGeom>
          <a:noFill/>
        </p:spPr>
        <p:txBody>
          <a:bodyPr wrap="square" anchor="t" lIns="0" rIns="0" tIns="0" bIns="0">
            <a:spAutoFit/>
          </a:bodyPr>
          <a:lstStyle/>
          <a:p>
            <a:pPr algn="l"/>
            <a:r>
              <a:rPr sz="3200" b="1">
                <a:solidFill>
                  <a:srgbClr val="14213D"/>
                </a:solidFill>
                <a:latin typeface="Cambria"/>
              </a:rPr>
              <a:t>Two sprint days: from idea to a checked pipeline</a:t>
            </a:r>
          </a:p>
        </p:txBody>
      </p:sp>
      <p:sp>
        <p:nvSpPr>
          <p:cNvPr id="4" name="Step 1"/>
          <p:cNvSpPr/>
          <p:nvPr/>
        </p:nvSpPr>
        <p:spPr>
          <a:xfrm>
            <a:off x="548640" y="1691640"/>
            <a:ext cx="11064240" cy="713232"/>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91640"/>
            <a:ext cx="731520" cy="713232"/>
          </a:xfrm>
          <a:prstGeom prst="rect">
            <a:avLst/>
          </a:prstGeom>
          <a:noFill/>
        </p:spPr>
        <p:txBody>
          <a:bodyPr wrap="square" anchor="ctr" lIns="0" rIns="0" tIns="0" bIns="0">
            <a:spAutoFit/>
          </a:bodyPr>
          <a:lstStyle/>
          <a:p>
            <a:pPr algn="l"/>
            <a:r>
              <a:rPr sz="2600" b="1">
                <a:solidFill>
                  <a:srgbClr val="17756F"/>
                </a:solidFill>
                <a:latin typeface="Cambria"/>
              </a:rPr>
              <a:t>01</a:t>
            </a:r>
          </a:p>
        </p:txBody>
      </p:sp>
      <p:sp>
        <p:nvSpPr>
          <p:cNvPr id="6" name="TextBox 5"/>
          <p:cNvSpPr txBox="1"/>
          <p:nvPr/>
        </p:nvSpPr>
        <p:spPr>
          <a:xfrm>
            <a:off x="1645920" y="1691640"/>
            <a:ext cx="9784080" cy="713232"/>
          </a:xfrm>
          <a:prstGeom prst="rect">
            <a:avLst/>
          </a:prstGeom>
          <a:noFill/>
        </p:spPr>
        <p:txBody>
          <a:bodyPr wrap="square" anchor="ctr" lIns="0" rIns="0" tIns="0" bIns="0">
            <a:spAutoFit/>
          </a:bodyPr>
          <a:lstStyle/>
          <a:p>
            <a:pPr algn="l"/>
            <a:r>
              <a:rPr sz="1800" b="1">
                <a:solidFill>
                  <a:srgbClr val="14213D"/>
                </a:solidFill>
                <a:latin typeface="Calibri"/>
              </a:rPr>
              <a:t>Route C, Allocation: </a:t>
            </a:r>
            <a:r>
              <a:rPr sz="1800" b="0">
                <a:solidFill>
                  <a:srgbClr val="14213D"/>
                </a:solidFill>
                <a:latin typeface="Calibri"/>
              </a:rPr>
              <a:t>pick 3 of 6 industries as a QUBO, solved with QAOA</a:t>
            </a:r>
          </a:p>
        </p:txBody>
      </p:sp>
      <p:sp>
        <p:nvSpPr>
          <p:cNvPr id="7" name="Step 2"/>
          <p:cNvSpPr/>
          <p:nvPr/>
        </p:nvSpPr>
        <p:spPr>
          <a:xfrm>
            <a:off x="548640" y="2560320"/>
            <a:ext cx="11064240" cy="713232"/>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60320"/>
            <a:ext cx="731520" cy="713232"/>
          </a:xfrm>
          <a:prstGeom prst="rect">
            <a:avLst/>
          </a:prstGeom>
          <a:noFill/>
        </p:spPr>
        <p:txBody>
          <a:bodyPr wrap="square" anchor="ctr" lIns="0" rIns="0" tIns="0" bIns="0">
            <a:spAutoFit/>
          </a:bodyPr>
          <a:lstStyle/>
          <a:p>
            <a:pPr algn="l"/>
            <a:r>
              <a:rPr sz="2600" b="1">
                <a:solidFill>
                  <a:srgbClr val="17756F"/>
                </a:solidFill>
                <a:latin typeface="Cambria"/>
              </a:rPr>
              <a:t>02</a:t>
            </a:r>
          </a:p>
        </p:txBody>
      </p:sp>
      <p:sp>
        <p:nvSpPr>
          <p:cNvPr id="9" name="TextBox 8"/>
          <p:cNvSpPr txBox="1"/>
          <p:nvPr/>
        </p:nvSpPr>
        <p:spPr>
          <a:xfrm>
            <a:off x="1645920" y="2560320"/>
            <a:ext cx="9784080" cy="713232"/>
          </a:xfrm>
          <a:prstGeom prst="rect">
            <a:avLst/>
          </a:prstGeom>
          <a:noFill/>
        </p:spPr>
        <p:txBody>
          <a:bodyPr wrap="square" anchor="ctr" lIns="0" rIns="0" tIns="0" bIns="0">
            <a:spAutoFit/>
          </a:bodyPr>
          <a:lstStyle/>
          <a:p>
            <a:pPr algn="l"/>
            <a:r>
              <a:rPr sz="1800" b="1">
                <a:solidFill>
                  <a:srgbClr val="14213D"/>
                </a:solidFill>
                <a:latin typeface="Calibri"/>
              </a:rPr>
              <a:t>Client fixed: </a:t>
            </a:r>
            <a:r>
              <a:rPr sz="1800" b="0">
                <a:solidFill>
                  <a:srgbClr val="14213D"/>
                </a:solidFill>
                <a:latin typeface="Calibri"/>
              </a:rPr>
              <a:t>the public Kapitalrente fund, profiles chosen by the insured</a:t>
            </a:r>
          </a:p>
        </p:txBody>
      </p:sp>
      <p:sp>
        <p:nvSpPr>
          <p:cNvPr id="10" name="Step 3"/>
          <p:cNvSpPr/>
          <p:nvPr/>
        </p:nvSpPr>
        <p:spPr>
          <a:xfrm>
            <a:off x="548640" y="3429000"/>
            <a:ext cx="11064240" cy="713232"/>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429000"/>
            <a:ext cx="731520" cy="713232"/>
          </a:xfrm>
          <a:prstGeom prst="rect">
            <a:avLst/>
          </a:prstGeom>
          <a:noFill/>
        </p:spPr>
        <p:txBody>
          <a:bodyPr wrap="square" anchor="ctr" lIns="0" rIns="0" tIns="0" bIns="0">
            <a:spAutoFit/>
          </a:bodyPr>
          <a:lstStyle/>
          <a:p>
            <a:pPr algn="l"/>
            <a:r>
              <a:rPr sz="2600" b="1">
                <a:solidFill>
                  <a:srgbClr val="17756F"/>
                </a:solidFill>
                <a:latin typeface="Cambria"/>
              </a:rPr>
              <a:t>03</a:t>
            </a:r>
          </a:p>
        </p:txBody>
      </p:sp>
      <p:sp>
        <p:nvSpPr>
          <p:cNvPr id="12" name="TextBox 11"/>
          <p:cNvSpPr txBox="1"/>
          <p:nvPr/>
        </p:nvSpPr>
        <p:spPr>
          <a:xfrm>
            <a:off x="1645920" y="3429000"/>
            <a:ext cx="9784080" cy="713232"/>
          </a:xfrm>
          <a:prstGeom prst="rect">
            <a:avLst/>
          </a:prstGeom>
          <a:noFill/>
        </p:spPr>
        <p:txBody>
          <a:bodyPr wrap="square" anchor="ctr" lIns="0" rIns="0" tIns="0" bIns="0">
            <a:spAutoFit/>
          </a:bodyPr>
          <a:lstStyle/>
          <a:p>
            <a:pPr algn="l"/>
            <a:r>
              <a:rPr sz="1800" b="1">
                <a:solidFill>
                  <a:srgbClr val="14213D"/>
                </a:solidFill>
                <a:latin typeface="Calibri"/>
              </a:rPr>
              <a:t>Quantum vs quantum: </a:t>
            </a:r>
            <a:r>
              <a:rPr sz="1800" b="0">
                <a:solidFill>
                  <a:srgbClr val="14213D"/>
                </a:solidFill>
                <a:latin typeface="Calibri"/>
              </a:rPr>
              <a:t>our rule-preserving QAOA vs the organiser’s penalty QAOA</a:t>
            </a:r>
          </a:p>
        </p:txBody>
      </p:sp>
      <p:sp>
        <p:nvSpPr>
          <p:cNvPr id="13" name="Step 4"/>
          <p:cNvSpPr/>
          <p:nvPr/>
        </p:nvSpPr>
        <p:spPr>
          <a:xfrm>
            <a:off x="548640" y="4297679"/>
            <a:ext cx="11064240" cy="713232"/>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297679"/>
            <a:ext cx="731520" cy="713232"/>
          </a:xfrm>
          <a:prstGeom prst="rect">
            <a:avLst/>
          </a:prstGeom>
          <a:noFill/>
        </p:spPr>
        <p:txBody>
          <a:bodyPr wrap="square" anchor="ctr" lIns="0" rIns="0" tIns="0" bIns="0">
            <a:spAutoFit/>
          </a:bodyPr>
          <a:lstStyle/>
          <a:p>
            <a:pPr algn="l"/>
            <a:r>
              <a:rPr sz="2600" b="1">
                <a:solidFill>
                  <a:srgbClr val="17756F"/>
                </a:solidFill>
                <a:latin typeface="Cambria"/>
              </a:rPr>
              <a:t>04</a:t>
            </a:r>
          </a:p>
        </p:txBody>
      </p:sp>
      <p:sp>
        <p:nvSpPr>
          <p:cNvPr id="15" name="TextBox 14"/>
          <p:cNvSpPr txBox="1"/>
          <p:nvPr/>
        </p:nvSpPr>
        <p:spPr>
          <a:xfrm>
            <a:off x="1645920" y="4297679"/>
            <a:ext cx="9784080" cy="713232"/>
          </a:xfrm>
          <a:prstGeom prst="rect">
            <a:avLst/>
          </a:prstGeom>
          <a:noFill/>
        </p:spPr>
        <p:txBody>
          <a:bodyPr wrap="square" anchor="ctr" lIns="0" rIns="0" tIns="0" bIns="0">
            <a:spAutoFit/>
          </a:bodyPr>
          <a:lstStyle/>
          <a:p>
            <a:pPr algn="l"/>
            <a:r>
              <a:rPr sz="1800" b="1">
                <a:solidFill>
                  <a:srgbClr val="14213D"/>
                </a:solidFill>
                <a:latin typeface="Calibri"/>
              </a:rPr>
              <a:t>Switching needs proof: </a:t>
            </a:r>
            <a:r>
              <a:rPr sz="1800" b="0">
                <a:solidFill>
                  <a:srgbClr val="14213D"/>
                </a:solidFill>
                <a:latin typeface="Calibri"/>
              </a:rPr>
              <a:t>same winner in all 3 scenarios and ≥ 70 % bootstrap support</a:t>
            </a:r>
          </a:p>
        </p:txBody>
      </p:sp>
      <p:sp>
        <p:nvSpPr>
          <p:cNvPr id="16" name="Step 5"/>
          <p:cNvSpPr/>
          <p:nvPr/>
        </p:nvSpPr>
        <p:spPr>
          <a:xfrm>
            <a:off x="548640" y="5166360"/>
            <a:ext cx="11064240" cy="713232"/>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166360"/>
            <a:ext cx="731520" cy="713232"/>
          </a:xfrm>
          <a:prstGeom prst="rect">
            <a:avLst/>
          </a:prstGeom>
          <a:noFill/>
        </p:spPr>
        <p:txBody>
          <a:bodyPr wrap="square" anchor="ctr" lIns="0" rIns="0" tIns="0" bIns="0">
            <a:spAutoFit/>
          </a:bodyPr>
          <a:lstStyle/>
          <a:p>
            <a:pPr algn="l"/>
            <a:r>
              <a:rPr sz="2600" b="1">
                <a:solidFill>
                  <a:srgbClr val="17756F"/>
                </a:solidFill>
                <a:latin typeface="Cambria"/>
              </a:rPr>
              <a:t>05</a:t>
            </a:r>
          </a:p>
        </p:txBody>
      </p:sp>
      <p:sp>
        <p:nvSpPr>
          <p:cNvPr id="18" name="TextBox 17"/>
          <p:cNvSpPr txBox="1"/>
          <p:nvPr/>
        </p:nvSpPr>
        <p:spPr>
          <a:xfrm>
            <a:off x="1645920" y="5166360"/>
            <a:ext cx="9784080" cy="713232"/>
          </a:xfrm>
          <a:prstGeom prst="rect">
            <a:avLst/>
          </a:prstGeom>
          <a:noFill/>
        </p:spPr>
        <p:txBody>
          <a:bodyPr wrap="square" anchor="ctr" lIns="0" rIns="0" tIns="0" bIns="0">
            <a:spAutoFit/>
          </a:bodyPr>
          <a:lstStyle/>
          <a:p>
            <a:pPr algn="l"/>
            <a:r>
              <a:rPr sz="1800" b="1">
                <a:solidFill>
                  <a:srgbClr val="14213D"/>
                </a:solidFill>
                <a:latin typeface="Calibri"/>
              </a:rPr>
              <a:t>Pipeline built: </a:t>
            </a:r>
            <a:r>
              <a:rPr sz="1800" b="0">
                <a:solidFill>
                  <a:srgbClr val="14213D"/>
                </a:solidFill>
                <a:latin typeface="Calibri"/>
              </a:rPr>
              <a:t>one config, tests, a canonical run anyone can reproduce</a:t>
            </a:r>
          </a:p>
        </p:txBody>
      </p:sp>
      <p:sp>
        <p:nvSpPr>
          <p:cNvPr id="19" name="Footer"/>
          <p:cNvSpPr txBox="1"/>
          <p:nvPr/>
        </p:nvSpPr>
        <p:spPr>
          <a:xfrm>
            <a:off x="548640" y="6355080"/>
            <a:ext cx="11064240" cy="274320"/>
          </a:xfrm>
          <a:prstGeom prst="rect">
            <a:avLst/>
          </a:prstGeom>
          <a:noFill/>
        </p:spPr>
        <p:txBody>
          <a:bodyPr wrap="square" anchor="t" lIns="0" rIns="0" tIns="0" bIns="0">
            <a:spAutoFit/>
          </a:bodyPr>
          <a:lstStyle/>
          <a:p>
            <a:pPr algn="l"/>
            <a:r>
              <a:rPr sz="1100" b="0">
                <a:solidFill>
                  <a:srgbClr val="5A626B"/>
                </a:solidFill>
                <a:latin typeface="Calibri"/>
              </a:rPr>
              <a:t>Decision log with every deviation from the organiser notebook (the AI baseline): docs/decisions.md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20040"/>
            <a:ext cx="10972800" cy="274320"/>
          </a:xfrm>
          <a:prstGeom prst="rect">
            <a:avLst/>
          </a:prstGeom>
          <a:noFill/>
        </p:spPr>
        <p:txBody>
          <a:bodyPr wrap="square" anchor="ctr" lIns="0" rIns="0" tIns="0" bIns="0">
            <a:spAutoFit/>
          </a:bodyPr>
          <a:lstStyle/>
          <a:p>
            <a:pPr algn="l"/>
            <a:r>
              <a:rPr sz="1200" b="1" spc="300">
                <a:solidFill>
                  <a:srgbClr val="17756F"/>
                </a:solidFill>
                <a:latin typeface="Calibri"/>
              </a:rPr>
              <a:t>MAJOR MILESTONES</a:t>
            </a:r>
          </a:p>
        </p:txBody>
      </p:sp>
      <p:sp>
        <p:nvSpPr>
          <p:cNvPr id="3" name="Title"/>
          <p:cNvSpPr txBox="1"/>
          <p:nvPr/>
        </p:nvSpPr>
        <p:spPr>
          <a:xfrm>
            <a:off x="548640" y="640080"/>
            <a:ext cx="11064240" cy="822960"/>
          </a:xfrm>
          <a:prstGeom prst="rect">
            <a:avLst/>
          </a:prstGeom>
          <a:noFill/>
        </p:spPr>
        <p:txBody>
          <a:bodyPr wrap="square" anchor="t" lIns="0" rIns="0" tIns="0" bIns="0">
            <a:spAutoFit/>
          </a:bodyPr>
          <a:lstStyle/>
          <a:p>
            <a:pPr algn="l"/>
            <a:r>
              <a:rPr sz="3200" b="1">
                <a:solidFill>
                  <a:srgbClr val="14213D"/>
                </a:solidFill>
                <a:latin typeface="Cambria"/>
              </a:rPr>
              <a:t>Done in the sprint, next until 30 October</a:t>
            </a:r>
          </a:p>
        </p:txBody>
      </p:sp>
      <p:sp>
        <p:nvSpPr>
          <p:cNvPr id="4" name="Done"/>
          <p:cNvSpPr/>
          <p:nvPr/>
        </p:nvSpPr>
        <p:spPr>
          <a:xfrm>
            <a:off x="548640" y="1691640"/>
            <a:ext cx="3566160" cy="43434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74519"/>
            <a:ext cx="3108960" cy="320040"/>
          </a:xfrm>
          <a:prstGeom prst="rect">
            <a:avLst/>
          </a:prstGeom>
          <a:noFill/>
        </p:spPr>
        <p:txBody>
          <a:bodyPr wrap="square" anchor="t" lIns="0" rIns="0" tIns="0" bIns="0">
            <a:spAutoFit/>
          </a:bodyPr>
          <a:lstStyle/>
          <a:p>
            <a:pPr algn="l"/>
            <a:r>
              <a:rPr sz="1400" b="1">
                <a:solidFill>
                  <a:srgbClr val="D6EBE8"/>
                </a:solidFill>
                <a:latin typeface="Calibri"/>
              </a:rPr>
              <a:t>DONE</a:t>
            </a:r>
          </a:p>
        </p:txBody>
      </p:sp>
      <p:sp>
        <p:nvSpPr>
          <p:cNvPr id="6" name="TextBox 5"/>
          <p:cNvSpPr txBox="1"/>
          <p:nvPr/>
        </p:nvSpPr>
        <p:spPr>
          <a:xfrm>
            <a:off x="777240" y="2331720"/>
            <a:ext cx="3108960" cy="3474720"/>
          </a:xfrm>
          <a:prstGeom prst="rect">
            <a:avLst/>
          </a:prstGeom>
          <a:noFill/>
        </p:spPr>
        <p:txBody>
          <a:bodyPr wrap="square" anchor="t" lIns="0" rIns="0" tIns="0" bIns="0">
            <a:spAutoFit/>
          </a:bodyPr>
          <a:lstStyle/>
          <a:p>
            <a:pPr algn="l"/>
            <a:r>
              <a:rPr sz="1600" b="0">
                <a:solidFill>
                  <a:srgbClr val="FFFFFF"/>
                </a:solidFill>
                <a:latin typeface="Calibri"/>
              </a:rPr>
              <a:t>✓  Model frozen in one config</a:t>
            </a:r>
          </a:p>
          <a:p>
            <a:pPr algn="l">
              <a:spcBef>
                <a:spcPts val="800"/>
              </a:spcBef>
            </a:pPr>
            <a:r>
              <a:rPr sz="1600" b="0">
                <a:solidFill>
                  <a:srgbClr val="FFFFFF"/>
                </a:solidFill>
                <a:latin typeface="Calibri"/>
              </a:rPr>
              <a:t>✓  Answer key + tests</a:t>
            </a:r>
          </a:p>
          <a:p>
            <a:pPr algn="l">
              <a:spcBef>
                <a:spcPts val="800"/>
              </a:spcBef>
            </a:pPr>
            <a:r>
              <a:rPr sz="1600" b="0">
                <a:solidFill>
                  <a:srgbClr val="FFFFFF"/>
                </a:solidFill>
                <a:latin typeface="Calibri"/>
              </a:rPr>
              <a:t>✓  QAOA runs, p = 1–3, 10 seeds</a:t>
            </a:r>
          </a:p>
          <a:p>
            <a:pPr algn="l">
              <a:spcBef>
                <a:spcPts val="800"/>
              </a:spcBef>
            </a:pPr>
            <a:r>
              <a:rPr sz="1600" b="0">
                <a:solidFill>
                  <a:srgbClr val="FFFFFF"/>
                </a:solidFill>
                <a:latin typeface="Calibri"/>
              </a:rPr>
              <a:t>✓  Bootstrap, break-even, hindsight</a:t>
            </a:r>
          </a:p>
          <a:p>
            <a:pPr algn="l">
              <a:spcBef>
                <a:spcPts val="800"/>
              </a:spcBef>
            </a:pPr>
            <a:r>
              <a:rPr sz="1600" b="0">
                <a:solidFill>
                  <a:srgbClr val="FFFFFF"/>
                </a:solidFill>
                <a:latin typeface="Calibri"/>
              </a:rPr>
              <a:t>✓  Draft Decision Card</a:t>
            </a:r>
          </a:p>
        </p:txBody>
      </p:sp>
      <p:sp>
        <p:nvSpPr>
          <p:cNvPr id="7" name="Next 1"/>
          <p:cNvSpPr/>
          <p:nvPr/>
        </p:nvSpPr>
        <p:spPr>
          <a:xfrm>
            <a:off x="4343400" y="1691640"/>
            <a:ext cx="3566160" cy="210312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892808"/>
            <a:ext cx="3108960" cy="365760"/>
          </a:xfrm>
          <a:prstGeom prst="rect">
            <a:avLst/>
          </a:prstGeom>
          <a:noFill/>
        </p:spPr>
        <p:txBody>
          <a:bodyPr wrap="square" anchor="t" lIns="0" rIns="0" tIns="0" bIns="0">
            <a:spAutoFit/>
          </a:bodyPr>
          <a:lstStyle/>
          <a:p>
            <a:pPr algn="l"/>
            <a:r>
              <a:rPr sz="2000" b="1">
                <a:solidFill>
                  <a:srgbClr val="14213D"/>
                </a:solidFill>
                <a:latin typeface="Calibri"/>
              </a:rPr>
              <a:t>Numbers</a:t>
            </a:r>
          </a:p>
        </p:txBody>
      </p:sp>
      <p:sp>
        <p:nvSpPr>
          <p:cNvPr id="9" name="TextBox 8"/>
          <p:cNvSpPr txBox="1"/>
          <p:nvPr/>
        </p:nvSpPr>
        <p:spPr>
          <a:xfrm>
            <a:off x="4572000" y="2423160"/>
            <a:ext cx="3108960" cy="1188720"/>
          </a:xfrm>
          <a:prstGeom prst="rect">
            <a:avLst/>
          </a:prstGeom>
          <a:noFill/>
        </p:spPr>
        <p:txBody>
          <a:bodyPr wrap="square" anchor="t" lIns="0" rIns="0" tIns="0" bIns="0">
            <a:spAutoFit/>
          </a:bodyPr>
          <a:lstStyle/>
          <a:p>
            <a:pPr algn="l"/>
            <a:r>
              <a:rPr sz="1600" b="0">
                <a:solidFill>
                  <a:srgbClr val="4A5568"/>
                </a:solidFill>
                <a:latin typeface="Calibri"/>
              </a:rPr>
              <a:t>More seeds, shot-noise runs, final reruns</a:t>
            </a:r>
          </a:p>
        </p:txBody>
      </p:sp>
      <p:sp>
        <p:nvSpPr>
          <p:cNvPr id="10" name="Next 2"/>
          <p:cNvSpPr/>
          <p:nvPr/>
        </p:nvSpPr>
        <p:spPr>
          <a:xfrm>
            <a:off x="8046720" y="1691640"/>
            <a:ext cx="3566160" cy="210312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20" y="1892808"/>
            <a:ext cx="3108960" cy="365760"/>
          </a:xfrm>
          <a:prstGeom prst="rect">
            <a:avLst/>
          </a:prstGeom>
          <a:noFill/>
        </p:spPr>
        <p:txBody>
          <a:bodyPr wrap="square" anchor="t" lIns="0" rIns="0" tIns="0" bIns="0">
            <a:spAutoFit/>
          </a:bodyPr>
          <a:lstStyle/>
          <a:p>
            <a:pPr algn="l"/>
            <a:r>
              <a:rPr sz="2000" b="1">
                <a:solidFill>
                  <a:srgbClr val="14213D"/>
                </a:solidFill>
                <a:latin typeface="Calibri"/>
              </a:rPr>
              <a:t>Stress</a:t>
            </a:r>
          </a:p>
        </p:txBody>
      </p:sp>
      <p:sp>
        <p:nvSpPr>
          <p:cNvPr id="12" name="TextBox 11"/>
          <p:cNvSpPr txBox="1"/>
          <p:nvPr/>
        </p:nvSpPr>
        <p:spPr>
          <a:xfrm>
            <a:off x="8275320" y="2423160"/>
            <a:ext cx="3108960" cy="1188720"/>
          </a:xfrm>
          <a:prstGeom prst="rect">
            <a:avLst/>
          </a:prstGeom>
          <a:noFill/>
        </p:spPr>
        <p:txBody>
          <a:bodyPr wrap="square" anchor="t" lIns="0" rIns="0" tIns="0" bIns="0">
            <a:spAutoFit/>
          </a:bodyPr>
          <a:lstStyle/>
          <a:p>
            <a:pPr algn="l"/>
            <a:r>
              <a:rPr sz="1600" b="0">
                <a:solidFill>
                  <a:srgbClr val="4A5568"/>
                </a:solidFill>
                <a:latin typeface="Calibri"/>
              </a:rPr>
              <a:t>Ledoit–Wolf, shrunk means, energy exclusion, the mid-hackathon change</a:t>
            </a:r>
          </a:p>
        </p:txBody>
      </p:sp>
      <p:sp>
        <p:nvSpPr>
          <p:cNvPr id="13" name="Next 3"/>
          <p:cNvSpPr/>
          <p:nvPr/>
        </p:nvSpPr>
        <p:spPr>
          <a:xfrm>
            <a:off x="4343400" y="3931920"/>
            <a:ext cx="3566160" cy="210312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4133088"/>
            <a:ext cx="3108960" cy="365760"/>
          </a:xfrm>
          <a:prstGeom prst="rect">
            <a:avLst/>
          </a:prstGeom>
          <a:noFill/>
        </p:spPr>
        <p:txBody>
          <a:bodyPr wrap="square" anchor="t" lIns="0" rIns="0" tIns="0" bIns="0">
            <a:spAutoFit/>
          </a:bodyPr>
          <a:lstStyle/>
          <a:p>
            <a:pPr algn="l"/>
            <a:r>
              <a:rPr sz="2000" b="1">
                <a:solidFill>
                  <a:srgbClr val="14213D"/>
                </a:solidFill>
                <a:latin typeface="Calibri"/>
              </a:rPr>
              <a:t>Policy</a:t>
            </a:r>
          </a:p>
        </p:txBody>
      </p:sp>
      <p:sp>
        <p:nvSpPr>
          <p:cNvPr id="15" name="TextBox 14"/>
          <p:cNvSpPr txBox="1"/>
          <p:nvPr/>
        </p:nvSpPr>
        <p:spPr>
          <a:xfrm>
            <a:off x="4572000" y="4663440"/>
            <a:ext cx="3108960" cy="1188720"/>
          </a:xfrm>
          <a:prstGeom prst="rect">
            <a:avLst/>
          </a:prstGeom>
          <a:noFill/>
        </p:spPr>
        <p:txBody>
          <a:bodyPr wrap="square" anchor="t" lIns="0" rIns="0" tIns="0" bIns="0">
            <a:spAutoFit/>
          </a:bodyPr>
          <a:lstStyle/>
          <a:p>
            <a:pPr algn="l"/>
            <a:r>
              <a:rPr sz="1600" b="0">
                <a:solidFill>
                  <a:srgbClr val="4A5568"/>
                </a:solidFill>
                <a:latin typeface="Calibri"/>
              </a:rPr>
              <a:t>Confirm supervision and our DORA reading</a:t>
            </a:r>
          </a:p>
        </p:txBody>
      </p:sp>
      <p:sp>
        <p:nvSpPr>
          <p:cNvPr id="16" name="Next 4"/>
          <p:cNvSpPr/>
          <p:nvPr/>
        </p:nvSpPr>
        <p:spPr>
          <a:xfrm>
            <a:off x="8046720" y="3931920"/>
            <a:ext cx="3566160" cy="2103120"/>
          </a:xfrm>
          <a:prstGeom prst="rect">
            <a:avLst/>
          </a:prstGeom>
          <a:solidFill>
            <a:srgbClr val="D6E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5320" y="4133088"/>
            <a:ext cx="3108960" cy="365760"/>
          </a:xfrm>
          <a:prstGeom prst="rect">
            <a:avLst/>
          </a:prstGeom>
          <a:noFill/>
        </p:spPr>
        <p:txBody>
          <a:bodyPr wrap="square" anchor="t" lIns="0" rIns="0" tIns="0" bIns="0">
            <a:spAutoFit/>
          </a:bodyPr>
          <a:lstStyle/>
          <a:p>
            <a:pPr algn="l"/>
            <a:r>
              <a:rPr sz="2000" b="1">
                <a:solidFill>
                  <a:srgbClr val="17756F"/>
                </a:solidFill>
                <a:latin typeface="Calibri"/>
              </a:rPr>
              <a:t>Final pitch · 30 Oct</a:t>
            </a:r>
          </a:p>
        </p:txBody>
      </p:sp>
      <p:sp>
        <p:nvSpPr>
          <p:cNvPr id="18" name="TextBox 17"/>
          <p:cNvSpPr txBox="1"/>
          <p:nvPr/>
        </p:nvSpPr>
        <p:spPr>
          <a:xfrm>
            <a:off x="8275320" y="4663440"/>
            <a:ext cx="3108960" cy="1188720"/>
          </a:xfrm>
          <a:prstGeom prst="rect">
            <a:avLst/>
          </a:prstGeom>
          <a:noFill/>
        </p:spPr>
        <p:txBody>
          <a:bodyPr wrap="square" anchor="t" lIns="0" rIns="0" tIns="0" bIns="0">
            <a:spAutoFit/>
          </a:bodyPr>
          <a:lstStyle/>
          <a:p>
            <a:pPr algn="l"/>
            <a:r>
              <a:rPr sz="1600" b="0">
                <a:solidFill>
                  <a:srgbClr val="4A5568"/>
                </a:solidFill>
                <a:latin typeface="Calibri"/>
              </a:rPr>
              <a:t>Decision Card, findings note, everyone can explain their part</a:t>
            </a:r>
          </a:p>
        </p:txBody>
      </p:sp>
      <p:sp>
        <p:nvSpPr>
          <p:cNvPr id="19" name="Footer"/>
          <p:cNvSpPr txBox="1"/>
          <p:nvPr/>
        </p:nvSpPr>
        <p:spPr>
          <a:xfrm>
            <a:off x="548640" y="6355080"/>
            <a:ext cx="11064240" cy="274320"/>
          </a:xfrm>
          <a:prstGeom prst="rect">
            <a:avLst/>
          </a:prstGeom>
          <a:noFill/>
        </p:spPr>
        <p:txBody>
          <a:bodyPr wrap="square" anchor="t" lIns="0" rIns="0" tIns="0" bIns="0">
            <a:spAutoFit/>
          </a:bodyPr>
          <a:lstStyle/>
          <a:p>
            <a:pPr algn="l"/>
            <a:r>
              <a:rPr sz="1100" b="0">
                <a:solidFill>
                  <a:srgbClr val="5A626B"/>
                </a:solidFill>
                <a:latin typeface="Calibri"/>
              </a:rPr>
              <a:t>Full canonical run: about 21 minutes on a laptop, one command: python scripts/run_all.py run --canonical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20040"/>
            <a:ext cx="10972800" cy="274320"/>
          </a:xfrm>
          <a:prstGeom prst="rect">
            <a:avLst/>
          </a:prstGeom>
          <a:noFill/>
        </p:spPr>
        <p:txBody>
          <a:bodyPr wrap="square" anchor="ctr" lIns="0" rIns="0" tIns="0" bIns="0">
            <a:spAutoFit/>
          </a:bodyPr>
          <a:lstStyle/>
          <a:p>
            <a:pPr algn="l"/>
            <a:r>
              <a:rPr sz="1200" b="1" spc="300">
                <a:solidFill>
                  <a:srgbClr val="17756F"/>
                </a:solidFill>
                <a:latin typeface="Calibri"/>
              </a:rPr>
              <a:t>FALLBACKS</a:t>
            </a:r>
          </a:p>
        </p:txBody>
      </p:sp>
      <p:sp>
        <p:nvSpPr>
          <p:cNvPr id="3" name="Title"/>
          <p:cNvSpPr txBox="1"/>
          <p:nvPr/>
        </p:nvSpPr>
        <p:spPr>
          <a:xfrm>
            <a:off x="548640" y="640080"/>
            <a:ext cx="11064240" cy="822960"/>
          </a:xfrm>
          <a:prstGeom prst="rect">
            <a:avLst/>
          </a:prstGeom>
          <a:noFill/>
        </p:spPr>
        <p:txBody>
          <a:bodyPr wrap="square" anchor="t" lIns="0" rIns="0" tIns="0" bIns="0">
            <a:spAutoFit/>
          </a:bodyPr>
          <a:lstStyle/>
          <a:p>
            <a:pPr algn="l"/>
            <a:r>
              <a:rPr sz="3200" b="1">
                <a:solidFill>
                  <a:srgbClr val="14213D"/>
                </a:solidFill>
                <a:latin typeface="Cambria"/>
              </a:rPr>
              <a:t>If something does not happen</a:t>
            </a:r>
          </a:p>
        </p:txBody>
      </p:sp>
      <p:graphicFrame>
        <p:nvGraphicFramePr>
          <p:cNvPr id="4" name="Table 3"/>
          <p:cNvGraphicFramePr>
            <a:graphicFrameLocks noGrp="1"/>
          </p:cNvGraphicFramePr>
          <p:nvPr/>
        </p:nvGraphicFramePr>
        <p:xfrm>
          <a:off x="548640" y="1691640"/>
          <a:ext cx="11064240" cy="4133088"/>
        </p:xfrm>
        <a:graphic>
          <a:graphicData uri="http://schemas.openxmlformats.org/drawingml/2006/table">
            <a:tbl>
              <a:tblPr firstRow="1" bandRow="1">
                <a:tableStyleId>{5C22544A-7EE6-4342-B048-85BDC9FD1C3A}</a:tableStyleId>
              </a:tblPr>
              <a:tblGrid>
                <a:gridCol w="4572000"/>
                <a:gridCol w="6492240"/>
              </a:tblGrid>
              <a:tr h="566928">
                <a:tc>
                  <a:txBody>
                    <a:bodyPr/>
                    <a:lstStyle/>
                    <a:p>
                      <a:r>
                        <a:rPr sz="1400" b="1">
                          <a:solidFill>
                            <a:srgbClr val="FFFFFF"/>
                          </a:solidFill>
                          <a:latin typeface="Calibri"/>
                        </a:rPr>
                        <a:t>IF</a:t>
                      </a:r>
                    </a:p>
                  </a:txBody>
                  <a:tcPr anchor="ctr" marL="182880" marR="182880">
                    <a:solidFill>
                      <a:srgbClr val="14213D"/>
                    </a:solidFill>
                  </a:tcPr>
                </a:tc>
                <a:tc>
                  <a:txBody>
                    <a:bodyPr/>
                    <a:lstStyle/>
                    <a:p>
                      <a:r>
                        <a:rPr sz="1400" b="1">
                          <a:solidFill>
                            <a:srgbClr val="FFFFFF"/>
                          </a:solidFill>
                          <a:latin typeface="Calibri"/>
                        </a:rPr>
                        <a:t>THEN</a:t>
                      </a:r>
                    </a:p>
                  </a:txBody>
                  <a:tcPr anchor="ctr" marL="182880" marR="182880">
                    <a:solidFill>
                      <a:srgbClr val="14213D"/>
                    </a:solidFill>
                  </a:tcPr>
                </a:tc>
              </a:tr>
              <a:tr h="713232">
                <a:tc>
                  <a:txBody>
                    <a:bodyPr/>
                    <a:lstStyle/>
                    <a:p>
                      <a:r>
                        <a:rPr sz="1600" b="1">
                          <a:solidFill>
                            <a:srgbClr val="14213D"/>
                          </a:solidFill>
                          <a:latin typeface="Calibri"/>
                        </a:rPr>
                        <a:t>Quantum results jump between seeds</a:t>
                      </a:r>
                    </a:p>
                  </a:txBody>
                  <a:tcPr anchor="ctr" marL="182880" marR="182880">
                    <a:solidFill>
                      <a:srgbClr val="F4F6F8"/>
                    </a:solidFill>
                  </a:tcPr>
                </a:tc>
                <a:tc>
                  <a:txBody>
                    <a:bodyPr/>
                    <a:lstStyle/>
                    <a:p>
                      <a:r>
                        <a:rPr sz="1600" b="0">
                          <a:solidFill>
                            <a:srgbClr val="14213D"/>
                          </a:solidFill>
                          <a:latin typeface="Calibri"/>
                        </a:rPr>
                        <a:t>Report median and min–max; the exact optimum always decides</a:t>
                      </a:r>
                    </a:p>
                  </a:txBody>
                  <a:tcPr anchor="ctr" marL="182880" marR="182880">
                    <a:solidFill>
                      <a:srgbClr val="F4F6F8"/>
                    </a:solidFill>
                  </a:tcPr>
                </a:tc>
              </a:tr>
              <a:tr h="713232">
                <a:tc>
                  <a:txBody>
                    <a:bodyPr/>
                    <a:lstStyle/>
                    <a:p>
                      <a:r>
                        <a:rPr sz="1600" b="1">
                          <a:solidFill>
                            <a:srgbClr val="14213D"/>
                          </a:solidFill>
                          <a:latin typeface="Calibri"/>
                        </a:rPr>
                        <a:t>Shot noise erases our edge</a:t>
                      </a:r>
                    </a:p>
                  </a:txBody>
                  <a:tcPr anchor="ctr" marL="182880" marR="182880">
                    <a:solidFill>
                      <a:srgbClr val="FFFFFF"/>
                    </a:solidFill>
                  </a:tcPr>
                </a:tc>
                <a:tc>
                  <a:txBody>
                    <a:bodyPr/>
                    <a:lstStyle/>
                    <a:p>
                      <a:r>
                        <a:rPr sz="1600" b="0">
                          <a:solidFill>
                            <a:srgbClr val="14213D"/>
                          </a:solidFill>
                          <a:latin typeface="Calibri"/>
                        </a:rPr>
                        <a:t>Say so openly; show validity, which needs no luck: 100 % vs 32–98 %</a:t>
                      </a:r>
                    </a:p>
                  </a:txBody>
                  <a:tcPr anchor="ctr" marL="182880" marR="182880">
                    <a:solidFill>
                      <a:srgbClr val="FFFFFF"/>
                    </a:solidFill>
                  </a:tcPr>
                </a:tc>
              </a:tr>
              <a:tr h="713232">
                <a:tc>
                  <a:txBody>
                    <a:bodyPr/>
                    <a:lstStyle/>
                    <a:p>
                      <a:r>
                        <a:rPr sz="1600" b="1">
                          <a:solidFill>
                            <a:srgbClr val="14213D"/>
                          </a:solidFill>
                          <a:latin typeface="Calibri"/>
                        </a:rPr>
                        <a:t>The balanced near-tie stays unresolved</a:t>
                      </a:r>
                    </a:p>
                  </a:txBody>
                  <a:tcPr anchor="ctr" marL="182880" marR="182880">
                    <a:solidFill>
                      <a:srgbClr val="F4F6F8"/>
                    </a:solidFill>
                  </a:tcPr>
                </a:tc>
                <a:tc>
                  <a:txBody>
                    <a:bodyPr/>
                    <a:lstStyle/>
                    <a:p>
                      <a:r>
                        <a:rPr sz="1600" b="0">
                          <a:solidFill>
                            <a:srgbClr val="14213D"/>
                          </a:solidFill>
                          <a:latin typeface="Calibri"/>
                        </a:rPr>
                        <a:t>“Review” is a valid verdict: show the break-even instead</a:t>
                      </a:r>
                    </a:p>
                  </a:txBody>
                  <a:tcPr anchor="ctr" marL="182880" marR="182880">
                    <a:solidFill>
                      <a:srgbClr val="F4F6F8"/>
                    </a:solidFill>
                  </a:tcPr>
                </a:tc>
              </a:tr>
              <a:tr h="713232">
                <a:tc>
                  <a:txBody>
                    <a:bodyPr/>
                    <a:lstStyle/>
                    <a:p>
                      <a:r>
                        <a:rPr sz="1600" b="1">
                          <a:solidFill>
                            <a:srgbClr val="14213D"/>
                          </a:solidFill>
                          <a:latin typeface="Calibri"/>
                        </a:rPr>
                        <a:t>Advisers can’t confirm DORA in time</a:t>
                      </a:r>
                    </a:p>
                  </a:txBody>
                  <a:tcPr anchor="ctr" marL="182880" marR="182880">
                    <a:solidFill>
                      <a:srgbClr val="FFFFFF"/>
                    </a:solidFill>
                  </a:tcPr>
                </a:tc>
                <a:tc>
                  <a:txBody>
                    <a:bodyPr/>
                    <a:lstStyle/>
                    <a:p>
                      <a:r>
                        <a:rPr sz="1600" b="0">
                          <a:solidFill>
                            <a:srgbClr val="14213D"/>
                          </a:solidFill>
                          <a:latin typeface="Calibri"/>
                        </a:rPr>
                        <a:t>Present it as our reading; keep compute local, no foreign cloud</a:t>
                      </a:r>
                    </a:p>
                  </a:txBody>
                  <a:tcPr anchor="ctr" marL="182880" marR="182880">
                    <a:solidFill>
                      <a:srgbClr val="FFFFFF"/>
                    </a:solidFill>
                  </a:tcPr>
                </a:tc>
              </a:tr>
              <a:tr h="713232">
                <a:tc>
                  <a:txBody>
                    <a:bodyPr/>
                    <a:lstStyle/>
                    <a:p>
                      <a:r>
                        <a:rPr sz="1600" b="1">
                          <a:solidFill>
                            <a:srgbClr val="14213D"/>
                          </a:solidFill>
                          <a:latin typeface="Calibri"/>
                        </a:rPr>
                        <a:t>The organisers change the task mid-hackathon</a:t>
                      </a:r>
                    </a:p>
                  </a:txBody>
                  <a:tcPr anchor="ctr" marL="182880" marR="182880">
                    <a:solidFill>
                      <a:srgbClr val="F4F6F8"/>
                    </a:solidFill>
                  </a:tcPr>
                </a:tc>
                <a:tc>
                  <a:txBody>
                    <a:bodyPr/>
                    <a:lstStyle/>
                    <a:p>
                      <a:r>
                        <a:rPr sz="1600" b="0">
                          <a:solidFill>
                            <a:srgbClr val="14213D"/>
                          </a:solidFill>
                          <a:latin typeface="Calibri"/>
                        </a:rPr>
                        <a:t>Change one setting, rerun, and diff: we see which verdict flipped</a:t>
                      </a:r>
                    </a:p>
                  </a:txBody>
                  <a:tcPr anchor="ctr" marL="182880" marR="182880">
                    <a:solidFill>
                      <a:srgbClr val="F4F6F8"/>
                    </a:solidFill>
                  </a:tcPr>
                </a:tc>
              </a:tr>
            </a:tbl>
          </a:graphicData>
        </a:graphic>
      </p:graphicFrame>
      <p:sp>
        <p:nvSpPr>
          <p:cNvPr id="5" name="Footer"/>
          <p:cNvSpPr txBox="1"/>
          <p:nvPr/>
        </p:nvSpPr>
        <p:spPr>
          <a:xfrm>
            <a:off x="548640" y="6355080"/>
            <a:ext cx="11064240" cy="274320"/>
          </a:xfrm>
          <a:prstGeom prst="rect">
            <a:avLst/>
          </a:prstGeom>
          <a:noFill/>
        </p:spPr>
        <p:txBody>
          <a:bodyPr wrap="square" anchor="t" lIns="0" rIns="0" tIns="0" bIns="0">
            <a:spAutoFit/>
          </a:bodyPr>
          <a:lstStyle/>
          <a:p>
            <a:pPr algn="l"/>
            <a:r>
              <a:rPr sz="1100" b="0">
                <a:solidFill>
                  <a:srgbClr val="5A626B"/>
                </a:solidFill>
                <a:latin typeface="Calibri"/>
              </a:rPr>
              <a:t>The exact answer for all 20 portfolios always exists, so a correct decision can be shown whatever fails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20040"/>
            <a:ext cx="10972800" cy="274320"/>
          </a:xfrm>
          <a:prstGeom prst="rect">
            <a:avLst/>
          </a:prstGeom>
          <a:noFill/>
        </p:spPr>
        <p:txBody>
          <a:bodyPr wrap="square" anchor="ctr" lIns="0" rIns="0" tIns="0" bIns="0">
            <a:spAutoFit/>
          </a:bodyPr>
          <a:lstStyle/>
          <a:p>
            <a:pPr algn="l"/>
            <a:r>
              <a:rPr sz="1200" b="1" spc="300">
                <a:solidFill>
                  <a:srgbClr val="17756F"/>
                </a:solidFill>
                <a:latin typeface="Calibri"/>
              </a:rPr>
              <a:t>WHAT WE NEED FROM YOU</a:t>
            </a:r>
          </a:p>
        </p:txBody>
      </p:sp>
      <p:sp>
        <p:nvSpPr>
          <p:cNvPr id="3" name="Title"/>
          <p:cNvSpPr txBox="1"/>
          <p:nvPr/>
        </p:nvSpPr>
        <p:spPr>
          <a:xfrm>
            <a:off x="548640" y="640080"/>
            <a:ext cx="11064240" cy="822960"/>
          </a:xfrm>
          <a:prstGeom prst="rect">
            <a:avLst/>
          </a:prstGeom>
          <a:noFill/>
        </p:spPr>
        <p:txBody>
          <a:bodyPr wrap="square" anchor="t" lIns="0" rIns="0" tIns="0" bIns="0">
            <a:spAutoFit/>
          </a:bodyPr>
          <a:lstStyle/>
          <a:p>
            <a:pPr algn="l"/>
            <a:r>
              <a:rPr sz="3200" b="1">
                <a:solidFill>
                  <a:srgbClr val="14213D"/>
                </a:solidFill>
                <a:latin typeface="Cambria"/>
              </a:rPr>
              <a:t>Appointments, resources, help</a:t>
            </a:r>
          </a:p>
        </p:txBody>
      </p:sp>
      <p:sp>
        <p:nvSpPr>
          <p:cNvPr id="4" name="Ask 1"/>
          <p:cNvSpPr/>
          <p:nvPr/>
        </p:nvSpPr>
        <p:spPr>
          <a:xfrm>
            <a:off x="548640" y="1691640"/>
            <a:ext cx="3566160" cy="27432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1920240"/>
            <a:ext cx="320040" cy="320040"/>
          </a:xfrm>
          <a:prstGeom prst="ellipse">
            <a:avLst/>
          </a:prstGeom>
          <a:solidFill>
            <a:srgbClr val="1775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1874519"/>
            <a:ext cx="2743200" cy="411480"/>
          </a:xfrm>
          <a:prstGeom prst="rect">
            <a:avLst/>
          </a:prstGeom>
          <a:noFill/>
        </p:spPr>
        <p:txBody>
          <a:bodyPr wrap="square" anchor="t" lIns="0" rIns="0" tIns="0" bIns="0">
            <a:spAutoFit/>
          </a:bodyPr>
          <a:lstStyle/>
          <a:p>
            <a:pPr algn="l"/>
            <a:r>
              <a:rPr sz="2200" b="1">
                <a:solidFill>
                  <a:srgbClr val="14213D"/>
                </a:solidFill>
                <a:latin typeface="Calibri"/>
              </a:rPr>
              <a:t>GTPP advisers</a:t>
            </a:r>
          </a:p>
        </p:txBody>
      </p:sp>
      <p:sp>
        <p:nvSpPr>
          <p:cNvPr id="7" name="TextBox 6"/>
          <p:cNvSpPr txBox="1"/>
          <p:nvPr/>
        </p:nvSpPr>
        <p:spPr>
          <a:xfrm>
            <a:off x="777240" y="2514600"/>
            <a:ext cx="3108960" cy="1737360"/>
          </a:xfrm>
          <a:prstGeom prst="rect">
            <a:avLst/>
          </a:prstGeom>
          <a:noFill/>
        </p:spPr>
        <p:txBody>
          <a:bodyPr wrap="square" anchor="t" lIns="0" rIns="0" tIns="0" bIns="0">
            <a:spAutoFit/>
          </a:bodyPr>
          <a:lstStyle/>
          <a:p>
            <a:pPr algn="l"/>
            <a:r>
              <a:rPr sz="1600" b="0">
                <a:solidFill>
                  <a:srgbClr val="4A5568"/>
                </a:solidFill>
                <a:latin typeface="Calibri"/>
              </a:rPr>
              <a:t>Does DORA apply? Which responsibility issue do we build into the model?</a:t>
            </a:r>
          </a:p>
        </p:txBody>
      </p:sp>
      <p:sp>
        <p:nvSpPr>
          <p:cNvPr id="8" name="Ask 2"/>
          <p:cNvSpPr/>
          <p:nvPr/>
        </p:nvSpPr>
        <p:spPr>
          <a:xfrm>
            <a:off x="4297679" y="1691640"/>
            <a:ext cx="3566160" cy="27432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26279" y="1920240"/>
            <a:ext cx="320040" cy="320040"/>
          </a:xfrm>
          <a:prstGeom prst="ellipse">
            <a:avLst/>
          </a:prstGeom>
          <a:solidFill>
            <a:srgbClr val="9A7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83479" y="1874519"/>
            <a:ext cx="2743200" cy="411480"/>
          </a:xfrm>
          <a:prstGeom prst="rect">
            <a:avLst/>
          </a:prstGeom>
          <a:noFill/>
        </p:spPr>
        <p:txBody>
          <a:bodyPr wrap="square" anchor="t" lIns="0" rIns="0" tIns="0" bIns="0">
            <a:spAutoFit/>
          </a:bodyPr>
          <a:lstStyle/>
          <a:p>
            <a:pPr algn="l"/>
            <a:r>
              <a:rPr sz="2200" b="1">
                <a:solidFill>
                  <a:srgbClr val="14213D"/>
                </a:solidFill>
                <a:latin typeface="Calibri"/>
              </a:rPr>
              <a:t>Quantum mentor</a:t>
            </a:r>
          </a:p>
        </p:txBody>
      </p:sp>
      <p:sp>
        <p:nvSpPr>
          <p:cNvPr id="11" name="TextBox 10"/>
          <p:cNvSpPr txBox="1"/>
          <p:nvPr/>
        </p:nvSpPr>
        <p:spPr>
          <a:xfrm>
            <a:off x="4526279" y="2514600"/>
            <a:ext cx="3108960" cy="1737360"/>
          </a:xfrm>
          <a:prstGeom prst="rect">
            <a:avLst/>
          </a:prstGeom>
          <a:noFill/>
        </p:spPr>
        <p:txBody>
          <a:bodyPr wrap="square" anchor="t" lIns="0" rIns="0" tIns="0" bIns="0">
            <a:spAutoFit/>
          </a:bodyPr>
          <a:lstStyle/>
          <a:p>
            <a:pPr algn="l"/>
            <a:r>
              <a:rPr sz="1600" b="0">
                <a:solidFill>
                  <a:srgbClr val="4A5568"/>
                </a:solidFill>
                <a:latin typeface="Calibri"/>
              </a:rPr>
              <a:t>Review of our Dicke-state and XY-mixer circuit</a:t>
            </a:r>
          </a:p>
        </p:txBody>
      </p:sp>
      <p:sp>
        <p:nvSpPr>
          <p:cNvPr id="12" name="Ask 3"/>
          <p:cNvSpPr/>
          <p:nvPr/>
        </p:nvSpPr>
        <p:spPr>
          <a:xfrm>
            <a:off x="8046719" y="1691640"/>
            <a:ext cx="3566160" cy="27432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75319" y="1920240"/>
            <a:ext cx="320040" cy="320040"/>
          </a:xfrm>
          <a:prstGeom prst="ellipse">
            <a:avLst/>
          </a:prstGeom>
          <a:solidFill>
            <a:srgbClr val="B45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32519" y="1874519"/>
            <a:ext cx="2743200" cy="411480"/>
          </a:xfrm>
          <a:prstGeom prst="rect">
            <a:avLst/>
          </a:prstGeom>
          <a:noFill/>
        </p:spPr>
        <p:txBody>
          <a:bodyPr wrap="square" anchor="t" lIns="0" rIns="0" tIns="0" bIns="0">
            <a:spAutoFit/>
          </a:bodyPr>
          <a:lstStyle/>
          <a:p>
            <a:pPr algn="l"/>
            <a:r>
              <a:rPr sz="2200" b="1">
                <a:solidFill>
                  <a:srgbClr val="FFFFFF"/>
                </a:solidFill>
                <a:latin typeface="Calibri"/>
              </a:rPr>
              <a:t>Still open in our team</a:t>
            </a:r>
          </a:p>
        </p:txBody>
      </p:sp>
      <p:sp>
        <p:nvSpPr>
          <p:cNvPr id="15" name="TextBox 14"/>
          <p:cNvSpPr txBox="1"/>
          <p:nvPr/>
        </p:nvSpPr>
        <p:spPr>
          <a:xfrm>
            <a:off x="8275319" y="2514600"/>
            <a:ext cx="3108960" cy="1737360"/>
          </a:xfrm>
          <a:prstGeom prst="rect">
            <a:avLst/>
          </a:prstGeom>
          <a:noFill/>
        </p:spPr>
        <p:txBody>
          <a:bodyPr wrap="square" anchor="t" lIns="0" rIns="0" tIns="0" bIns="0">
            <a:spAutoFit/>
          </a:bodyPr>
          <a:lstStyle/>
          <a:p>
            <a:pPr algn="l"/>
            <a:r>
              <a:rPr sz="1600" b="0">
                <a:solidFill>
                  <a:srgbClr val="E2E8F0"/>
                </a:solidFill>
                <a:latin typeface="Calibri"/>
              </a:rPr>
              <a:t>Default profile for non-choosers, and who presents which part on 30 October</a:t>
            </a:r>
          </a:p>
        </p:txBody>
      </p:sp>
      <p:sp>
        <p:nvSpPr>
          <p:cNvPr id="16" name="Condition"/>
          <p:cNvSpPr/>
          <p:nvPr/>
        </p:nvSpPr>
        <p:spPr>
          <a:xfrm>
            <a:off x="548640" y="4709160"/>
            <a:ext cx="11064240" cy="1051560"/>
          </a:xfrm>
          <a:prstGeom prst="rect">
            <a:avLst/>
          </a:prstGeom>
          <a:solidFill>
            <a:srgbClr val="D6E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709160"/>
            <a:ext cx="10607040" cy="1051560"/>
          </a:xfrm>
          <a:prstGeom prst="rect">
            <a:avLst/>
          </a:prstGeom>
          <a:noFill/>
        </p:spPr>
        <p:txBody>
          <a:bodyPr wrap="square" anchor="ctr" lIns="0" rIns="0" tIns="0" bIns="0">
            <a:spAutoFit/>
          </a:bodyPr>
          <a:lstStyle/>
          <a:p>
            <a:pPr algn="l"/>
            <a:r>
              <a:rPr sz="1800" b="1">
                <a:solidFill>
                  <a:srgbClr val="14213D"/>
                </a:solidFill>
                <a:latin typeface="Calibri"/>
              </a:rPr>
              <a:t>The one condition on the Decision Card: </a:t>
            </a:r>
            <a:r>
              <a:rPr sz="1800" b="0">
                <a:solidFill>
                  <a:srgbClr val="14213D"/>
                </a:solidFill>
                <a:latin typeface="Calibri"/>
              </a:rPr>
              <a:t>do not follow the switch if tech’s edge came from a rally you do not expect to continue.</a:t>
            </a:r>
          </a:p>
        </p:txBody>
      </p:sp>
      <p:sp>
        <p:nvSpPr>
          <p:cNvPr id="18" name="TextBox 17"/>
          <p:cNvSpPr txBox="1"/>
          <p:nvPr/>
        </p:nvSpPr>
        <p:spPr>
          <a:xfrm>
            <a:off x="548640" y="5897880"/>
            <a:ext cx="11064240" cy="365760"/>
          </a:xfrm>
          <a:prstGeom prst="rect">
            <a:avLst/>
          </a:prstGeom>
          <a:noFill/>
        </p:spPr>
        <p:txBody>
          <a:bodyPr wrap="square" anchor="t" lIns="0" rIns="0" tIns="0" bIns="0">
            <a:spAutoFit/>
          </a:bodyPr>
          <a:lstStyle/>
          <a:p>
            <a:pPr algn="l"/>
            <a:r>
              <a:rPr sz="2000" b="1">
                <a:solidFill>
                  <a:srgbClr val="17756F"/>
                </a:solidFill>
                <a:latin typeface="Cambria"/>
              </a:rPr>
              <a:t>Thank you. Questions?</a:t>
            </a:r>
          </a:p>
        </p:txBody>
      </p:sp>
      <p:sp>
        <p:nvSpPr>
          <p:cNvPr id="19" name="Footer"/>
          <p:cNvSpPr txBox="1"/>
          <p:nvPr/>
        </p:nvSpPr>
        <p:spPr>
          <a:xfrm>
            <a:off x="548640" y="6355080"/>
            <a:ext cx="11064240" cy="274320"/>
          </a:xfrm>
          <a:prstGeom prst="rect">
            <a:avLst/>
          </a:prstGeom>
          <a:noFill/>
        </p:spPr>
        <p:txBody>
          <a:bodyPr wrap="square" anchor="t" lIns="0" rIns="0" tIns="0" bIns="0">
            <a:spAutoFit/>
          </a:bodyPr>
          <a:lstStyle/>
          <a:p>
            <a:pPr algn="l"/>
            <a:r>
              <a:rPr sz="1100" b="0">
                <a:solidFill>
                  <a:srgbClr val="5A626B"/>
                </a:solidFill>
                <a:latin typeface="Calibri"/>
              </a:rPr>
              <a:t>Code and docs: GitHub repository, README · Sprint presentation · Project Plan · 16 October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Quantum Hackathon Finance – Project Plan</dc:title>
  <dc:subject>PptxGenJS Presentation</dc:subject>
  <dc:creator>TUM Quantum Hackathon, Finance team</dc:creator>
  <cp:lastModifiedBy>TUM Quantum Hackathon, Finance team</cp:lastModifiedBy>
  <cp:revision>1</cp:revision>
  <dcterms:created xsi:type="dcterms:W3CDTF">2026-10-16T12:30:11Z</dcterms:created>
  <dcterms:modified xsi:type="dcterms:W3CDTF">2026-10-16T12:30:11Z</dcterms:modified>
</cp:coreProperties>
</file>